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502920"/>
            <a:ext cx="6355080" cy="2926080"/>
          </a:xfrm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5400" b="1" i="0" lang="en-GB">
                <a:solidFill>
                  <a:srgbClr val="F2F2F2"/>
                </a:solidFill>
                <a:latin typeface="Arial"/>
              </a:rPr>
              <a:t>Regions, Running Numbers and Fleet Identity</a:t>
            </a:r>
          </a:p>
        </p:txBody>
      </p:sp>
      <p:pic>
        <p:nvPicPr>
          <p:cNvPr id="3" name="R01_pannier_visual_probe_v004" descr="Early test model of a tank engine (a yellow 'visual probe') on a short length of track. Not final art."/>
          <p:cNvPicPr>
            <a:picLocks noChangeAspect="1"/>
          </p:cNvPicPr>
          <p:nvPr/>
        </p:nvPicPr>
        <p:blipFill>
          <a:blip r:embed="rId2"/>
          <a:srcRect l="31466" r="25745"/>
          <a:stretch>
            <a:fillRect/>
          </a:stretch>
        </p:blipFill>
        <p:spPr>
          <a:xfrm>
            <a:off x="7132320" y="457200"/>
            <a:ext cx="4507992" cy="5852160"/>
          </a:xfrm>
          <a:prstGeom prst="roundRect">
            <a:avLst>
              <a:gd name="adj" fmla="val 1622"/>
            </a:avLst>
          </a:prstGeom>
        </p:spPr>
      </p:pic>
      <p:sp>
        <p:nvSpPr>
          <p:cNvPr id="4" name="CREDIT"/>
          <p:cNvSpPr txBox="1"/>
          <p:nvPr/>
        </p:nvSpPr>
        <p:spPr>
          <a:xfrm>
            <a:off x="7132320" y="6364224"/>
            <a:ext cx="4507992" cy="20116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Early Locomotion project render. Early test model, not final art.</a:t>
            </a:r>
          </a:p>
        </p:txBody>
      </p:sp>
      <p:sp>
        <p:nvSpPr>
          <p:cNvPr id="5" name="orange rule"/>
          <p:cNvSpPr/>
          <p:nvPr/>
        </p:nvSpPr>
        <p:spPr>
          <a:xfrm>
            <a:off x="548640" y="3611880"/>
            <a:ext cx="164592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PTION"/>
          <p:cNvSpPr txBox="1"/>
          <p:nvPr/>
        </p:nvSpPr>
        <p:spPr>
          <a:xfrm>
            <a:off x="548640" y="3886200"/>
            <a:ext cx="5943600" cy="11887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How the mod gives every engine a look, a number and a hidden identity.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Tag legend" descr="Legend: five tags and what each means. Agreed is decided, Proposed is suggested, Provisional is a test number, Undecided is an open question, Background is a real-world fact."/>
          <p:cNvGrpSpPr/>
          <p:nvPr/>
        </p:nvGrpSpPr>
        <p:grpSpPr>
          <a:xfrm>
            <a:off x="548640" y="1371600"/>
            <a:ext cx="7315200" cy="4069080"/>
            <a:chOff x="548640" y="1371600"/>
            <a:chExt cx="7315200" cy="4069080"/>
          </a:xfrm>
        </p:grpSpPr>
        <p:sp>
          <p:nvSpPr>
            <p:cNvPr id="4" name="legend panel"/>
            <p:cNvSpPr/>
            <p:nvPr/>
          </p:nvSpPr>
          <p:spPr>
            <a:xfrm>
              <a:off x="548640" y="1371600"/>
              <a:ext cx="7315200" cy="4069080"/>
            </a:xfrm>
            <a:prstGeom prst="roundRect">
              <a:avLst>
                <a:gd name="adj" fmla="val 179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HIP LEGEND"/>
            <p:cNvSpPr/>
            <p:nvPr/>
          </p:nvSpPr>
          <p:spPr>
            <a:xfrm>
              <a:off x="868680" y="1572768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LEGEND TEXT"/>
            <p:cNvSpPr txBox="1"/>
            <p:nvPr/>
          </p:nvSpPr>
          <p:spPr>
            <a:xfrm>
              <a:off x="2743200" y="1481328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  <p:sp>
          <p:nvSpPr>
            <p:cNvPr id="7" name="CHIP LEGEND"/>
            <p:cNvSpPr/>
            <p:nvPr/>
          </p:nvSpPr>
          <p:spPr>
            <a:xfrm>
              <a:off x="868680" y="2359152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8" name="LEGEND TEXT"/>
            <p:cNvSpPr txBox="1"/>
            <p:nvPr/>
          </p:nvSpPr>
          <p:spPr>
            <a:xfrm>
              <a:off x="2743200" y="2267712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  <p:sp>
          <p:nvSpPr>
            <p:cNvPr id="9" name="CHIP LEGEND"/>
            <p:cNvSpPr/>
            <p:nvPr/>
          </p:nvSpPr>
          <p:spPr>
            <a:xfrm>
              <a:off x="868680" y="3145536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0" name="LEGEND TEXT"/>
            <p:cNvSpPr txBox="1"/>
            <p:nvPr/>
          </p:nvSpPr>
          <p:spPr>
            <a:xfrm>
              <a:off x="2743200" y="3054096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  <p:sp>
          <p:nvSpPr>
            <p:cNvPr id="11" name="CHIP LEGEND"/>
            <p:cNvSpPr/>
            <p:nvPr/>
          </p:nvSpPr>
          <p:spPr>
            <a:xfrm>
              <a:off x="868680" y="3931920"/>
              <a:ext cx="1554480" cy="365760"/>
            </a:xfrm>
            <a:prstGeom prst="roundRect">
              <a:avLst>
                <a:gd name="adj" fmla="val 3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2" name="LEGEND TEXT"/>
            <p:cNvSpPr txBox="1"/>
            <p:nvPr/>
          </p:nvSpPr>
          <p:spPr>
            <a:xfrm>
              <a:off x="2743200" y="384048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  <p:sp>
          <p:nvSpPr>
            <p:cNvPr id="13" name="CHIP LEGEND"/>
            <p:cNvSpPr/>
            <p:nvPr/>
          </p:nvSpPr>
          <p:spPr>
            <a:xfrm>
              <a:off x="868680" y="4718304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14" name="LEGEND TEXT"/>
            <p:cNvSpPr txBox="1"/>
            <p:nvPr/>
          </p:nvSpPr>
          <p:spPr>
            <a:xfrm>
              <a:off x="2743200" y="4626864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grpSp>
        <p:nvGrpSpPr>
          <p:cNvPr id="15" name="Corner sketch" descr="Sketch of a slide with a tag in its top-right corner."/>
          <p:cNvGrpSpPr/>
          <p:nvPr/>
        </p:nvGrpSpPr>
        <p:grpSpPr>
          <a:xfrm>
            <a:off x="8412480" y="1737360"/>
            <a:ext cx="3200400" cy="1801368"/>
            <a:chOff x="8412480" y="1737360"/>
            <a:chExt cx="3200400" cy="1801368"/>
          </a:xfrm>
        </p:grpSpPr>
        <p:sp>
          <p:nvSpPr>
            <p:cNvPr id="16" name="slide sketch"/>
            <p:cNvSpPr/>
            <p:nvPr/>
          </p:nvSpPr>
          <p:spPr>
            <a:xfrm>
              <a:off x="8412480" y="1737360"/>
              <a:ext cx="3200400" cy="1801368"/>
            </a:xfrm>
            <a:prstGeom prst="roundRect">
              <a:avLst>
                <a:gd name="adj" fmla="val 4060"/>
              </a:avLst>
            </a:prstGeom>
            <a:solidFill>
              <a:srgbClr val="1E212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itle line"/>
            <p:cNvSpPr/>
            <p:nvPr/>
          </p:nvSpPr>
          <p:spPr>
            <a:xfrm>
              <a:off x="8641080" y="1965960"/>
              <a:ext cx="137160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body line"/>
            <p:cNvSpPr/>
            <p:nvPr/>
          </p:nvSpPr>
          <p:spPr>
            <a:xfrm>
              <a:off x="8641080" y="2286000"/>
              <a:ext cx="2011680" cy="7315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body line"/>
            <p:cNvSpPr/>
            <p:nvPr/>
          </p:nvSpPr>
          <p:spPr>
            <a:xfrm>
              <a:off x="8641080" y="2468880"/>
              <a:ext cx="1645920" cy="7315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ag sketch"/>
            <p:cNvSpPr/>
            <p:nvPr/>
          </p:nvSpPr>
          <p:spPr>
            <a:xfrm>
              <a:off x="10698480" y="1920240"/>
              <a:ext cx="731520" cy="237744"/>
            </a:xfrm>
            <a:prstGeom prst="roundRect">
              <a:avLst>
                <a:gd name="adj" fmla="val 30769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" name="pointer"/>
            <p:cNvCxnSpPr/>
            <p:nvPr/>
          </p:nvCxnSpPr>
          <p:spPr>
            <a:xfrm flipV="1">
              <a:off x="10058400" y="2194560"/>
              <a:ext cx="822960" cy="54864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2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CAPTION"/>
          <p:cNvSpPr txBox="1"/>
          <p:nvPr/>
        </p:nvSpPr>
        <p:spPr>
          <a:xfrm>
            <a:off x="822960" y="5760720"/>
            <a:ext cx="1042416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</a:p>
        </p:txBody>
      </p:sp>
      <p:sp>
        <p:nvSpPr>
          <p:cNvPr id="25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One world, one style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World card" descr="A world card with a selector offering three example regional styles: British, North American and Continental European. One style is chosen for the whole world."/>
          <p:cNvGrpSpPr/>
          <p:nvPr/>
        </p:nvGrpSpPr>
        <p:grpSpPr>
          <a:xfrm>
            <a:off x="1371600" y="1417320"/>
            <a:ext cx="9418320" cy="3154680"/>
            <a:chOff x="1371600" y="1417320"/>
            <a:chExt cx="9418320" cy="3154680"/>
          </a:xfrm>
        </p:grpSpPr>
        <p:sp>
          <p:nvSpPr>
            <p:cNvPr id="5" name="world card"/>
            <p:cNvSpPr/>
            <p:nvPr/>
          </p:nvSpPr>
          <p:spPr>
            <a:xfrm>
              <a:off x="1371600" y="1417320"/>
              <a:ext cx="9418320" cy="3154680"/>
            </a:xfrm>
            <a:prstGeom prst="roundRect">
              <a:avLst>
                <a:gd name="adj" fmla="val 3478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globe"/>
            <p:cNvSpPr/>
            <p:nvPr/>
          </p:nvSpPr>
          <p:spPr>
            <a:xfrm>
              <a:off x="1920240" y="2103120"/>
              <a:ext cx="1828800" cy="1828800"/>
            </a:xfrm>
            <a:prstGeom prst="ellipse">
              <a:avLst/>
            </a:prstGeom>
            <a:solidFill>
              <a:srgbClr val="2D5F8B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meridian"/>
            <p:cNvSpPr/>
            <p:nvPr/>
          </p:nvSpPr>
          <p:spPr>
            <a:xfrm>
              <a:off x="2423160" y="2103120"/>
              <a:ext cx="822960" cy="1828800"/>
            </a:xfrm>
            <a:prstGeom prst="ellipse">
              <a:avLst/>
            </a:prstGeom>
            <a:noFill/>
            <a:ln w="15875">
              <a:solidFill>
                <a:srgbClr val="AEB3B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axis"/>
            <p:cNvCxnSpPr/>
            <p:nvPr/>
          </p:nvCxnSpPr>
          <p:spPr>
            <a:xfrm>
              <a:off x="2834640" y="2103120"/>
              <a:ext cx="0" cy="1828800"/>
            </a:xfrm>
            <a:prstGeom prst="line">
              <a:avLst/>
            </a:prstGeom>
            <a:ln w="15875">
              <a:solidFill>
                <a:srgbClr val="AEB3B7"/>
              </a:solidFill>
            </a:ln>
          </p:spPr>
        </p:cxnSp>
        <p:cxnSp>
          <p:nvCxnSpPr>
            <p:cNvPr id="9" name="equator"/>
            <p:cNvCxnSpPr/>
            <p:nvPr/>
          </p:nvCxnSpPr>
          <p:spPr>
            <a:xfrm>
              <a:off x="1920240" y="3017520"/>
              <a:ext cx="1828799" cy="0"/>
            </a:xfrm>
            <a:prstGeom prst="line">
              <a:avLst/>
            </a:prstGeom>
            <a:ln w="15875">
              <a:solidFill>
                <a:srgbClr val="AEB3B7"/>
              </a:solidFill>
            </a:ln>
          </p:spPr>
        </p:cxnSp>
        <p:sp>
          <p:nvSpPr>
            <p:cNvPr id="10" name="land"/>
            <p:cNvSpPr/>
            <p:nvPr/>
          </p:nvSpPr>
          <p:spPr>
            <a:xfrm>
              <a:off x="2331720" y="2468879"/>
              <a:ext cx="594360" cy="502921"/>
            </a:xfrm>
            <a:custGeom>
              <a:avLst/>
              <a:gdLst/>
              <a:ahLst/>
              <a:cxnLst/>
              <a:rect l="l" t="t" r="r" b="b"/>
              <a:pathLst>
                <a:path w="594360" h="502921">
                  <a:moveTo>
                    <a:pt x="0" y="228600"/>
                  </a:moveTo>
                  <a:lnTo>
                    <a:pt x="320040" y="0"/>
                  </a:lnTo>
                  <a:lnTo>
                    <a:pt x="594360" y="228600"/>
                  </a:lnTo>
                  <a:lnTo>
                    <a:pt x="411480" y="502921"/>
                  </a:lnTo>
                  <a:lnTo>
                    <a:pt x="45720" y="502921"/>
                  </a:lnTo>
                  <a:close/>
                </a:path>
              </a:pathLst>
            </a:custGeom>
            <a:solidFill>
              <a:srgbClr val="4F8F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land"/>
            <p:cNvSpPr/>
            <p:nvPr/>
          </p:nvSpPr>
          <p:spPr>
            <a:xfrm>
              <a:off x="2971800" y="3108960"/>
              <a:ext cx="411480" cy="457200"/>
            </a:xfrm>
            <a:custGeom>
              <a:avLst/>
              <a:gdLst/>
              <a:ahLst/>
              <a:cxnLst/>
              <a:rect l="l" t="t" r="r" b="b"/>
              <a:pathLst>
                <a:path w="411480" h="457200">
                  <a:moveTo>
                    <a:pt x="45720" y="0"/>
                  </a:moveTo>
                  <a:lnTo>
                    <a:pt x="411480" y="91440"/>
                  </a:lnTo>
                  <a:lnTo>
                    <a:pt x="274320" y="457200"/>
                  </a:lnTo>
                  <a:lnTo>
                    <a:pt x="0" y="320040"/>
                  </a:lnTo>
                  <a:close/>
                </a:path>
              </a:pathLst>
            </a:custGeom>
            <a:solidFill>
              <a:srgbClr val="4F8F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ard heading"/>
            <p:cNvSpPr txBox="1"/>
            <p:nvPr/>
          </p:nvSpPr>
          <p:spPr>
            <a:xfrm>
              <a:off x="4297680" y="1600200"/>
              <a:ext cx="365760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A9B0B8"/>
                  </a:solidFill>
                  <a:latin typeface="Arial"/>
                </a:rPr>
                <a:t>World style</a:t>
              </a:r>
            </a:p>
          </p:txBody>
        </p:sp>
        <p:sp>
          <p:nvSpPr>
            <p:cNvPr id="13" name="style chip"/>
            <p:cNvSpPr/>
            <p:nvPr/>
          </p:nvSpPr>
          <p:spPr>
            <a:xfrm>
              <a:off x="4297680" y="2057400"/>
              <a:ext cx="4480560" cy="566928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adio"/>
            <p:cNvSpPr/>
            <p:nvPr/>
          </p:nvSpPr>
          <p:spPr>
            <a:xfrm>
              <a:off x="4526280" y="2203704"/>
              <a:ext cx="274320" cy="274320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tyle name"/>
            <p:cNvSpPr txBox="1"/>
            <p:nvPr/>
          </p:nvSpPr>
          <p:spPr>
            <a:xfrm>
              <a:off x="4983480" y="2057400"/>
              <a:ext cx="3566160" cy="56692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British</a:t>
              </a:r>
            </a:p>
          </p:txBody>
        </p:sp>
        <p:sp>
          <p:nvSpPr>
            <p:cNvPr id="16" name="style chip"/>
            <p:cNvSpPr/>
            <p:nvPr/>
          </p:nvSpPr>
          <p:spPr>
            <a:xfrm>
              <a:off x="4297680" y="2770632"/>
              <a:ext cx="4480560" cy="566928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adio"/>
            <p:cNvSpPr/>
            <p:nvPr/>
          </p:nvSpPr>
          <p:spPr>
            <a:xfrm>
              <a:off x="4526280" y="2916936"/>
              <a:ext cx="274320" cy="274320"/>
            </a:xfrm>
            <a:prstGeom prst="ellipse">
              <a:avLst/>
            </a:prstGeom>
            <a:noFill/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tyle name"/>
            <p:cNvSpPr txBox="1"/>
            <p:nvPr/>
          </p:nvSpPr>
          <p:spPr>
            <a:xfrm>
              <a:off x="4983480" y="2770632"/>
              <a:ext cx="3566160" cy="56692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North American</a:t>
              </a:r>
            </a:p>
          </p:txBody>
        </p:sp>
        <p:sp>
          <p:nvSpPr>
            <p:cNvPr id="19" name="style chip"/>
            <p:cNvSpPr/>
            <p:nvPr/>
          </p:nvSpPr>
          <p:spPr>
            <a:xfrm>
              <a:off x="4297680" y="3483864"/>
              <a:ext cx="4480560" cy="566928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adio"/>
            <p:cNvSpPr/>
            <p:nvPr/>
          </p:nvSpPr>
          <p:spPr>
            <a:xfrm>
              <a:off x="4526280" y="3630168"/>
              <a:ext cx="274320" cy="274320"/>
            </a:xfrm>
            <a:prstGeom prst="ellipse">
              <a:avLst/>
            </a:prstGeom>
            <a:noFill/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tyle name"/>
            <p:cNvSpPr txBox="1"/>
            <p:nvPr/>
          </p:nvSpPr>
          <p:spPr>
            <a:xfrm>
              <a:off x="4983480" y="3483864"/>
              <a:ext cx="3566160" cy="56692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Continental European</a:t>
              </a:r>
            </a:p>
          </p:txBody>
        </p:sp>
        <p:sp>
          <p:nvSpPr>
            <p:cNvPr id="22" name="examples label"/>
            <p:cNvSpPr txBox="1"/>
            <p:nvPr/>
          </p:nvSpPr>
          <p:spPr>
            <a:xfrm>
              <a:off x="4297680" y="4160520"/>
              <a:ext cx="2743200" cy="2743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0" i="0" lang="en-GB">
                  <a:solidFill>
                    <a:srgbClr val="A9B0B8"/>
                  </a:solidFill>
                  <a:latin typeface="Arial"/>
                </a:rPr>
                <a:t>Examples only</a:t>
              </a:r>
            </a:p>
          </p:txBody>
        </p:sp>
        <p:sp>
          <p:nvSpPr>
            <p:cNvPr id="23" name="platform"/>
            <p:cNvSpPr/>
            <p:nvPr/>
          </p:nvSpPr>
          <p:spPr>
            <a:xfrm>
              <a:off x="9098280" y="3685032"/>
              <a:ext cx="1463040" cy="109728"/>
            </a:xfrm>
            <a:prstGeom prst="rect">
              <a:avLst/>
            </a:prstGeom>
            <a:solidFill>
              <a:srgbClr val="5A606A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building"/>
            <p:cNvSpPr/>
            <p:nvPr/>
          </p:nvSpPr>
          <p:spPr>
            <a:xfrm>
              <a:off x="9244584" y="3136392"/>
              <a:ext cx="950976" cy="548640"/>
            </a:xfrm>
            <a:prstGeom prst="rect">
              <a:avLst/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gable roof"/>
            <p:cNvSpPr/>
            <p:nvPr/>
          </p:nvSpPr>
          <p:spPr>
            <a:xfrm>
              <a:off x="9189719" y="2770632"/>
              <a:ext cx="1060705" cy="365760"/>
            </a:xfrm>
            <a:custGeom>
              <a:avLst/>
              <a:gdLst/>
              <a:ahLst/>
              <a:cxnLst/>
              <a:rect l="l" t="t" r="r" b="b"/>
              <a:pathLst>
                <a:path w="1060705" h="365760">
                  <a:moveTo>
                    <a:pt x="0" y="365760"/>
                  </a:moveTo>
                  <a:lnTo>
                    <a:pt x="530353" y="0"/>
                  </a:lnTo>
                  <a:lnTo>
                    <a:pt x="1060705" y="365760"/>
                  </a:lnTo>
                  <a:close/>
                </a:path>
              </a:pathLst>
            </a:custGeom>
            <a:solidFill>
              <a:srgbClr val="1B75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chimney"/>
            <p:cNvSpPr/>
            <p:nvPr/>
          </p:nvSpPr>
          <p:spPr>
            <a:xfrm>
              <a:off x="9976104" y="2807208"/>
              <a:ext cx="100584" cy="237744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window"/>
            <p:cNvSpPr/>
            <p:nvPr/>
          </p:nvSpPr>
          <p:spPr>
            <a:xfrm>
              <a:off x="9336024" y="3282696"/>
              <a:ext cx="182880" cy="18288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window"/>
            <p:cNvSpPr/>
            <p:nvPr/>
          </p:nvSpPr>
          <p:spPr>
            <a:xfrm>
              <a:off x="9902952" y="3282696"/>
              <a:ext cx="182880" cy="18288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oor"/>
            <p:cNvSpPr/>
            <p:nvPr/>
          </p:nvSpPr>
          <p:spPr>
            <a:xfrm>
              <a:off x="9628632" y="3246120"/>
              <a:ext cx="164592" cy="438912"/>
            </a:xfrm>
            <a:prstGeom prst="rect">
              <a:avLst/>
            </a:prstGeom>
            <a:solidFill>
              <a:srgbClr val="17636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0" name="ICHIP"/>
          <p:cNvSpPr/>
          <p:nvPr/>
        </p:nvSpPr>
        <p:spPr>
          <a:xfrm>
            <a:off x="1371600" y="4846320"/>
            <a:ext cx="3274613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Launch regions: undecided (OQ06)</a:t>
            </a:r>
          </a:p>
        </p:txBody>
      </p:sp>
      <p:sp>
        <p:nvSpPr>
          <p:cNvPr id="31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CAPTION"/>
          <p:cNvSpPr txBox="1"/>
          <p:nvPr/>
        </p:nvSpPr>
        <p:spPr>
          <a:xfrm>
            <a:off x="822960" y="5760720"/>
            <a:ext cx="1042416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world picks one regional style. It is not a personal setting.</a:t>
            </a:r>
          </a:p>
        </p:txBody>
      </p:sp>
      <p:sp>
        <p:nvSpPr>
          <p:cNvPr id="34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Why not per player?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Two players, two styles" descr="Two player screens side by side. Each shows a different station style, and a red cross between them says this is not allowed."/>
          <p:cNvGrpSpPr/>
          <p:nvPr/>
        </p:nvGrpSpPr>
        <p:grpSpPr>
          <a:xfrm>
            <a:off x="1737360" y="1417320"/>
            <a:ext cx="8732520" cy="2825496"/>
            <a:chOff x="1737360" y="1417320"/>
            <a:chExt cx="8732520" cy="2825496"/>
          </a:xfrm>
        </p:grpSpPr>
        <p:sp>
          <p:nvSpPr>
            <p:cNvPr id="5" name="monitor frame"/>
            <p:cNvSpPr/>
            <p:nvPr/>
          </p:nvSpPr>
          <p:spPr>
            <a:xfrm>
              <a:off x="1737360" y="1417320"/>
              <a:ext cx="3566160" cy="2148840"/>
            </a:xfrm>
            <a:prstGeom prst="roundRect">
              <a:avLst>
                <a:gd name="adj" fmla="val 4255"/>
              </a:avLst>
            </a:prstGeom>
            <a:solidFill>
              <a:srgbClr val="343A43"/>
            </a:solidFill>
            <a:ln w="317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creen"/>
            <p:cNvSpPr/>
            <p:nvPr/>
          </p:nvSpPr>
          <p:spPr>
            <a:xfrm>
              <a:off x="1847088" y="1527048"/>
              <a:ext cx="3346704" cy="1929384"/>
            </a:xfrm>
            <a:prstGeom prst="roundRect">
              <a:avLst>
                <a:gd name="adj" fmla="val 1895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monitor stand"/>
            <p:cNvSpPr/>
            <p:nvPr/>
          </p:nvSpPr>
          <p:spPr>
            <a:xfrm>
              <a:off x="3108959" y="3566160"/>
              <a:ext cx="822961" cy="256032"/>
            </a:xfrm>
            <a:custGeom>
              <a:avLst/>
              <a:gdLst/>
              <a:ahLst/>
              <a:cxnLst/>
              <a:rect l="l" t="t" r="r" b="b"/>
              <a:pathLst>
                <a:path w="822961" h="256032">
                  <a:moveTo>
                    <a:pt x="137161" y="0"/>
                  </a:moveTo>
                  <a:lnTo>
                    <a:pt x="685800" y="0"/>
                  </a:lnTo>
                  <a:lnTo>
                    <a:pt x="822961" y="256032"/>
                  </a:lnTo>
                  <a:lnTo>
                    <a:pt x="0" y="256032"/>
                  </a:lnTo>
                  <a:close/>
                </a:path>
              </a:pathLst>
            </a:custGeom>
            <a:solidFill>
              <a:srgbClr val="343A43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monitor base"/>
            <p:cNvSpPr/>
            <p:nvPr/>
          </p:nvSpPr>
          <p:spPr>
            <a:xfrm>
              <a:off x="2880359" y="3803904"/>
              <a:ext cx="1280160" cy="64008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ail"/>
            <p:cNvSpPr/>
            <p:nvPr/>
          </p:nvSpPr>
          <p:spPr>
            <a:xfrm>
              <a:off x="1984248" y="2999232"/>
              <a:ext cx="3072384" cy="6400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platform"/>
            <p:cNvSpPr/>
            <p:nvPr/>
          </p:nvSpPr>
          <p:spPr>
            <a:xfrm>
              <a:off x="2642616" y="2867558"/>
              <a:ext cx="1755648" cy="131673"/>
            </a:xfrm>
            <a:prstGeom prst="rect">
              <a:avLst/>
            </a:prstGeom>
            <a:solidFill>
              <a:srgbClr val="5A606A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uilding"/>
            <p:cNvSpPr/>
            <p:nvPr/>
          </p:nvSpPr>
          <p:spPr>
            <a:xfrm>
              <a:off x="2818180" y="2209190"/>
              <a:ext cx="1141171" cy="658368"/>
            </a:xfrm>
            <a:prstGeom prst="rect">
              <a:avLst/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gable roof"/>
            <p:cNvSpPr/>
            <p:nvPr/>
          </p:nvSpPr>
          <p:spPr>
            <a:xfrm>
              <a:off x="2752344" y="1770278"/>
              <a:ext cx="1272844" cy="438912"/>
            </a:xfrm>
            <a:custGeom>
              <a:avLst/>
              <a:gdLst/>
              <a:ahLst/>
              <a:cxnLst/>
              <a:rect l="l" t="t" r="r" b="b"/>
              <a:pathLst>
                <a:path w="1272844" h="438912">
                  <a:moveTo>
                    <a:pt x="0" y="438912"/>
                  </a:moveTo>
                  <a:lnTo>
                    <a:pt x="636422" y="0"/>
                  </a:lnTo>
                  <a:lnTo>
                    <a:pt x="1272844" y="438912"/>
                  </a:lnTo>
                  <a:close/>
                </a:path>
              </a:pathLst>
            </a:custGeom>
            <a:solidFill>
              <a:srgbClr val="1B75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chimney"/>
            <p:cNvSpPr/>
            <p:nvPr/>
          </p:nvSpPr>
          <p:spPr>
            <a:xfrm>
              <a:off x="3696004" y="1814169"/>
              <a:ext cx="120700" cy="285292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window"/>
            <p:cNvSpPr/>
            <p:nvPr/>
          </p:nvSpPr>
          <p:spPr>
            <a:xfrm>
              <a:off x="2927908" y="2384755"/>
              <a:ext cx="219456" cy="21945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window"/>
            <p:cNvSpPr/>
            <p:nvPr/>
          </p:nvSpPr>
          <p:spPr>
            <a:xfrm>
              <a:off x="3608222" y="2384755"/>
              <a:ext cx="219456" cy="21945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oor"/>
            <p:cNvSpPr/>
            <p:nvPr/>
          </p:nvSpPr>
          <p:spPr>
            <a:xfrm>
              <a:off x="3279038" y="2340864"/>
              <a:ext cx="197510" cy="526694"/>
            </a:xfrm>
            <a:prstGeom prst="rect">
              <a:avLst/>
            </a:prstGeom>
            <a:solidFill>
              <a:srgbClr val="17636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player label"/>
            <p:cNvSpPr txBox="1"/>
            <p:nvPr/>
          </p:nvSpPr>
          <p:spPr>
            <a:xfrm>
              <a:off x="1737360" y="3913632"/>
              <a:ext cx="3566160" cy="329184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Player 1</a:t>
              </a:r>
            </a:p>
          </p:txBody>
        </p:sp>
        <p:sp>
          <p:nvSpPr>
            <p:cNvPr id="18" name="monitor frame"/>
            <p:cNvSpPr/>
            <p:nvPr/>
          </p:nvSpPr>
          <p:spPr>
            <a:xfrm>
              <a:off x="6903720" y="1417320"/>
              <a:ext cx="3566160" cy="2148840"/>
            </a:xfrm>
            <a:prstGeom prst="roundRect">
              <a:avLst>
                <a:gd name="adj" fmla="val 4255"/>
              </a:avLst>
            </a:prstGeom>
            <a:solidFill>
              <a:srgbClr val="343A43"/>
            </a:solidFill>
            <a:ln w="317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creen"/>
            <p:cNvSpPr/>
            <p:nvPr/>
          </p:nvSpPr>
          <p:spPr>
            <a:xfrm>
              <a:off x="7013448" y="1527048"/>
              <a:ext cx="3346704" cy="1929384"/>
            </a:xfrm>
            <a:prstGeom prst="roundRect">
              <a:avLst>
                <a:gd name="adj" fmla="val 1895"/>
              </a:avLst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monitor stand"/>
            <p:cNvSpPr/>
            <p:nvPr/>
          </p:nvSpPr>
          <p:spPr>
            <a:xfrm>
              <a:off x="8275320" y="3566160"/>
              <a:ext cx="822960" cy="256032"/>
            </a:xfrm>
            <a:custGeom>
              <a:avLst/>
              <a:gdLst/>
              <a:ahLst/>
              <a:cxnLst/>
              <a:rect l="l" t="t" r="r" b="b"/>
              <a:pathLst>
                <a:path w="822960" h="256032">
                  <a:moveTo>
                    <a:pt x="137160" y="0"/>
                  </a:moveTo>
                  <a:lnTo>
                    <a:pt x="685800" y="0"/>
                  </a:lnTo>
                  <a:lnTo>
                    <a:pt x="822960" y="256032"/>
                  </a:lnTo>
                  <a:lnTo>
                    <a:pt x="0" y="256032"/>
                  </a:lnTo>
                  <a:close/>
                </a:path>
              </a:pathLst>
            </a:custGeom>
            <a:solidFill>
              <a:srgbClr val="343A43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monitor base"/>
            <p:cNvSpPr/>
            <p:nvPr/>
          </p:nvSpPr>
          <p:spPr>
            <a:xfrm>
              <a:off x="8046720" y="3803904"/>
              <a:ext cx="1280160" cy="64008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ail"/>
            <p:cNvSpPr/>
            <p:nvPr/>
          </p:nvSpPr>
          <p:spPr>
            <a:xfrm>
              <a:off x="7150608" y="2999232"/>
              <a:ext cx="3072384" cy="6400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platform"/>
            <p:cNvSpPr/>
            <p:nvPr/>
          </p:nvSpPr>
          <p:spPr>
            <a:xfrm>
              <a:off x="7808975" y="2867558"/>
              <a:ext cx="1755648" cy="131673"/>
            </a:xfrm>
            <a:prstGeom prst="rect">
              <a:avLst/>
            </a:prstGeom>
            <a:solidFill>
              <a:srgbClr val="5A606A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building"/>
            <p:cNvSpPr/>
            <p:nvPr/>
          </p:nvSpPr>
          <p:spPr>
            <a:xfrm>
              <a:off x="7984540" y="2318918"/>
              <a:ext cx="1185062" cy="548640"/>
            </a:xfrm>
            <a:prstGeom prst="rect">
              <a:avLst/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false front"/>
            <p:cNvSpPr/>
            <p:nvPr/>
          </p:nvSpPr>
          <p:spPr>
            <a:xfrm>
              <a:off x="7984540" y="2055571"/>
              <a:ext cx="1185062" cy="263347"/>
            </a:xfrm>
            <a:prstGeom prst="rect">
              <a:avLst/>
            </a:prstGeom>
            <a:solidFill>
              <a:srgbClr val="DE80A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of"/>
            <p:cNvSpPr/>
            <p:nvPr/>
          </p:nvSpPr>
          <p:spPr>
            <a:xfrm>
              <a:off x="7940649" y="2296972"/>
              <a:ext cx="1272844" cy="65836"/>
            </a:xfrm>
            <a:prstGeom prst="rect">
              <a:avLst/>
            </a:prstGeom>
            <a:solidFill>
              <a:srgbClr val="803A5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window"/>
            <p:cNvSpPr/>
            <p:nvPr/>
          </p:nvSpPr>
          <p:spPr>
            <a:xfrm>
              <a:off x="8116214" y="2494483"/>
              <a:ext cx="219456" cy="21945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window"/>
            <p:cNvSpPr/>
            <p:nvPr/>
          </p:nvSpPr>
          <p:spPr>
            <a:xfrm>
              <a:off x="8774582" y="2494483"/>
              <a:ext cx="219456" cy="21945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oor"/>
            <p:cNvSpPr/>
            <p:nvPr/>
          </p:nvSpPr>
          <p:spPr>
            <a:xfrm>
              <a:off x="8445398" y="2450592"/>
              <a:ext cx="219456" cy="482803"/>
            </a:xfrm>
            <a:prstGeom prst="rect">
              <a:avLst/>
            </a:prstGeom>
            <a:solidFill>
              <a:srgbClr val="75355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ank"/>
            <p:cNvSpPr/>
            <p:nvPr/>
          </p:nvSpPr>
          <p:spPr>
            <a:xfrm>
              <a:off x="9257385" y="1638604"/>
              <a:ext cx="307238" cy="285292"/>
            </a:xfrm>
            <a:prstGeom prst="roundRect">
              <a:avLst>
                <a:gd name="adj" fmla="val 7692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ank leg"/>
            <p:cNvSpPr/>
            <p:nvPr/>
          </p:nvSpPr>
          <p:spPr>
            <a:xfrm>
              <a:off x="9279331" y="1923897"/>
              <a:ext cx="21945" cy="94366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ank leg"/>
            <p:cNvSpPr/>
            <p:nvPr/>
          </p:nvSpPr>
          <p:spPr>
            <a:xfrm>
              <a:off x="9520732" y="1923897"/>
              <a:ext cx="21945" cy="94366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player label"/>
            <p:cNvSpPr txBox="1"/>
            <p:nvPr/>
          </p:nvSpPr>
          <p:spPr>
            <a:xfrm>
              <a:off x="6903720" y="3913632"/>
              <a:ext cx="3566160" cy="329184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Player 2</a:t>
              </a:r>
            </a:p>
          </p:txBody>
        </p:sp>
        <p:sp>
          <p:nvSpPr>
            <p:cNvPr id="34" name="cross disc"/>
            <p:cNvSpPr/>
            <p:nvPr/>
          </p:nvSpPr>
          <p:spPr>
            <a:xfrm>
              <a:off x="5669280" y="2057400"/>
              <a:ext cx="868680" cy="868680"/>
            </a:xfrm>
            <a:prstGeom prst="ellipse">
              <a:avLst/>
            </a:prstGeom>
            <a:solidFill>
              <a:srgbClr val="1E2126"/>
            </a:solidFill>
            <a:ln w="38100">
              <a:solidFill>
                <a:srgbClr val="E5484D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cross"/>
            <p:cNvCxnSpPr/>
            <p:nvPr/>
          </p:nvCxnSpPr>
          <p:spPr>
            <a:xfrm>
              <a:off x="5884164" y="2272284"/>
              <a:ext cx="438912" cy="438912"/>
            </a:xfrm>
            <a:prstGeom prst="line">
              <a:avLst/>
            </a:prstGeom>
            <a:ln w="101600">
              <a:solidFill>
                <a:srgbClr val="E5484D"/>
              </a:solidFill>
            </a:ln>
          </p:spPr>
        </p:cxnSp>
        <p:cxnSp>
          <p:nvCxnSpPr>
            <p:cNvPr id="36" name="cross"/>
            <p:cNvCxnSpPr/>
            <p:nvPr/>
          </p:nvCxnSpPr>
          <p:spPr>
            <a:xfrm flipV="1">
              <a:off x="5884164" y="2272284"/>
              <a:ext cx="438912" cy="438912"/>
            </a:xfrm>
            <a:prstGeom prst="line">
              <a:avLst/>
            </a:prstGeom>
            <a:ln w="101600">
              <a:solidFill>
                <a:srgbClr val="E5484D"/>
              </a:solidFill>
            </a:ln>
          </p:spPr>
        </p:cxnSp>
      </p:grpSp>
      <p:grpSp>
        <p:nvGrpSpPr>
          <p:cNvPr id="37" name="One shared world style" descr="One shared world card with a single style for every player, marked with a tick."/>
          <p:cNvGrpSpPr/>
          <p:nvPr/>
        </p:nvGrpSpPr>
        <p:grpSpPr>
          <a:xfrm>
            <a:off x="3108960" y="4434840"/>
            <a:ext cx="5943600" cy="1097280"/>
            <a:chOff x="3108960" y="4434840"/>
            <a:chExt cx="5943600" cy="1097280"/>
          </a:xfrm>
        </p:grpSpPr>
        <p:sp>
          <p:nvSpPr>
            <p:cNvPr id="38" name="shared world card"/>
            <p:cNvSpPr/>
            <p:nvPr/>
          </p:nvSpPr>
          <p:spPr>
            <a:xfrm>
              <a:off x="3108960" y="4434840"/>
              <a:ext cx="5943600" cy="1097280"/>
            </a:xfrm>
            <a:prstGeom prst="roundRect">
              <a:avLst>
                <a:gd name="adj" fmla="val 10000"/>
              </a:avLst>
            </a:prstGeom>
            <a:solidFill>
              <a:srgbClr val="2B2F36"/>
            </a:solidFill>
            <a:ln w="25400">
              <a:solidFill>
                <a:srgbClr val="3FB950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globe"/>
            <p:cNvSpPr/>
            <p:nvPr/>
          </p:nvSpPr>
          <p:spPr>
            <a:xfrm>
              <a:off x="3611880" y="4572000"/>
              <a:ext cx="822960" cy="822960"/>
            </a:xfrm>
            <a:prstGeom prst="ellipse">
              <a:avLst/>
            </a:prstGeom>
            <a:solidFill>
              <a:srgbClr val="2D5F8B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meridian"/>
            <p:cNvSpPr/>
            <p:nvPr/>
          </p:nvSpPr>
          <p:spPr>
            <a:xfrm>
              <a:off x="3838194" y="4572000"/>
              <a:ext cx="370332" cy="822960"/>
            </a:xfrm>
            <a:prstGeom prst="ellipse">
              <a:avLst/>
            </a:prstGeom>
            <a:noFill/>
            <a:ln w="15875">
              <a:solidFill>
                <a:srgbClr val="AEB3B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axis"/>
            <p:cNvCxnSpPr/>
            <p:nvPr/>
          </p:nvCxnSpPr>
          <p:spPr>
            <a:xfrm>
              <a:off x="4023360" y="4572000"/>
              <a:ext cx="0" cy="822960"/>
            </a:xfrm>
            <a:prstGeom prst="line">
              <a:avLst/>
            </a:prstGeom>
            <a:ln w="15875">
              <a:solidFill>
                <a:srgbClr val="AEB3B7"/>
              </a:solidFill>
            </a:ln>
          </p:spPr>
        </p:cxnSp>
        <p:cxnSp>
          <p:nvCxnSpPr>
            <p:cNvPr id="42" name="equator"/>
            <p:cNvCxnSpPr/>
            <p:nvPr/>
          </p:nvCxnSpPr>
          <p:spPr>
            <a:xfrm>
              <a:off x="3611880" y="4983480"/>
              <a:ext cx="822960" cy="0"/>
            </a:xfrm>
            <a:prstGeom prst="line">
              <a:avLst/>
            </a:prstGeom>
            <a:ln w="15875">
              <a:solidFill>
                <a:srgbClr val="AEB3B7"/>
              </a:solidFill>
            </a:ln>
          </p:spPr>
        </p:cxnSp>
        <p:sp>
          <p:nvSpPr>
            <p:cNvPr id="43" name="land"/>
            <p:cNvSpPr/>
            <p:nvPr/>
          </p:nvSpPr>
          <p:spPr>
            <a:xfrm>
              <a:off x="3797046" y="4736592"/>
              <a:ext cx="267462" cy="226314"/>
            </a:xfrm>
            <a:custGeom>
              <a:avLst/>
              <a:gdLst/>
              <a:ahLst/>
              <a:cxnLst/>
              <a:rect l="l" t="t" r="r" b="b"/>
              <a:pathLst>
                <a:path w="267462" h="226314">
                  <a:moveTo>
                    <a:pt x="0" y="102870"/>
                  </a:moveTo>
                  <a:lnTo>
                    <a:pt x="144018" y="0"/>
                  </a:lnTo>
                  <a:lnTo>
                    <a:pt x="267462" y="102870"/>
                  </a:lnTo>
                  <a:lnTo>
                    <a:pt x="185166" y="226314"/>
                  </a:lnTo>
                  <a:lnTo>
                    <a:pt x="20574" y="226314"/>
                  </a:lnTo>
                  <a:close/>
                </a:path>
              </a:pathLst>
            </a:custGeom>
            <a:solidFill>
              <a:srgbClr val="4F8F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land"/>
            <p:cNvSpPr/>
            <p:nvPr/>
          </p:nvSpPr>
          <p:spPr>
            <a:xfrm>
              <a:off x="4085082" y="5024628"/>
              <a:ext cx="185166" cy="205740"/>
            </a:xfrm>
            <a:custGeom>
              <a:avLst/>
              <a:gdLst/>
              <a:ahLst/>
              <a:cxnLst/>
              <a:rect l="l" t="t" r="r" b="b"/>
              <a:pathLst>
                <a:path w="185166" h="205740">
                  <a:moveTo>
                    <a:pt x="20574" y="0"/>
                  </a:moveTo>
                  <a:lnTo>
                    <a:pt x="185166" y="41148"/>
                  </a:lnTo>
                  <a:lnTo>
                    <a:pt x="123444" y="205740"/>
                  </a:lnTo>
                  <a:lnTo>
                    <a:pt x="0" y="144018"/>
                  </a:lnTo>
                  <a:close/>
                </a:path>
              </a:pathLst>
            </a:custGeom>
            <a:solidFill>
              <a:srgbClr val="4F8F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shared label"/>
            <p:cNvSpPr txBox="1"/>
            <p:nvPr/>
          </p:nvSpPr>
          <p:spPr>
            <a:xfrm>
              <a:off x="4617720" y="4434840"/>
              <a:ext cx="3474720" cy="10972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One shared world style</a:t>
              </a:r>
            </a:p>
          </p:txBody>
        </p:sp>
        <p:sp>
          <p:nvSpPr>
            <p:cNvPr id="46" name="tick"/>
            <p:cNvSpPr/>
            <p:nvPr/>
          </p:nvSpPr>
          <p:spPr>
            <a:xfrm>
              <a:off x="8092440" y="4800600"/>
              <a:ext cx="457200" cy="356616"/>
            </a:xfrm>
            <a:custGeom>
              <a:avLst/>
              <a:gdLst/>
              <a:ahLst/>
              <a:cxnLst/>
              <a:rect l="l" t="t" r="r" b="b"/>
              <a:pathLst>
                <a:path w="457200" h="356616">
                  <a:moveTo>
                    <a:pt x="0" y="182880"/>
                  </a:moveTo>
                  <a:lnTo>
                    <a:pt x="173735" y="356616"/>
                  </a:lnTo>
                  <a:lnTo>
                    <a:pt x="457200" y="0"/>
                  </a:lnTo>
                </a:path>
              </a:pathLst>
            </a:custGeom>
            <a:noFill/>
            <a:ln w="76200">
              <a:solidFill>
                <a:srgbClr val="3FB950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4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CAPTION"/>
          <p:cNvSpPr txBox="1"/>
          <p:nvPr/>
        </p:nvSpPr>
        <p:spPr>
          <a:xfrm>
            <a:off x="822960" y="5760720"/>
            <a:ext cx="1042416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Two players seeing different stations would be confusing. So the style belongs to the world.</a:t>
            </a:r>
          </a:p>
        </p:txBody>
      </p:sp>
      <p:sp>
        <p:nvSpPr>
          <p:cNvPr id="50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What changes with the region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Before and after strip" descr="A before and after strip. A station, an engine and a wagon each change their look when the region changes, and stock you already own changes too."/>
          <p:cNvGrpSpPr/>
          <p:nvPr/>
        </p:nvGrpSpPr>
        <p:grpSpPr>
          <a:xfrm>
            <a:off x="548640" y="1261872"/>
            <a:ext cx="11018520" cy="3813048"/>
            <a:chOff x="548640" y="1261872"/>
            <a:chExt cx="11018520" cy="3813048"/>
          </a:xfrm>
        </p:grpSpPr>
        <p:sp>
          <p:nvSpPr>
            <p:cNvPr id="5" name="column heading"/>
            <p:cNvSpPr txBox="1"/>
            <p:nvPr/>
          </p:nvSpPr>
          <p:spPr>
            <a:xfrm>
              <a:off x="1783080" y="1261872"/>
              <a:ext cx="310896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Station</a:t>
              </a:r>
            </a:p>
          </p:txBody>
        </p:sp>
        <p:sp>
          <p:nvSpPr>
            <p:cNvPr id="6" name="column heading"/>
            <p:cNvSpPr txBox="1"/>
            <p:nvPr/>
          </p:nvSpPr>
          <p:spPr>
            <a:xfrm>
              <a:off x="5120640" y="1261872"/>
              <a:ext cx="310896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Engine</a:t>
              </a:r>
            </a:p>
          </p:txBody>
        </p:sp>
        <p:sp>
          <p:nvSpPr>
            <p:cNvPr id="7" name="column heading"/>
            <p:cNvSpPr txBox="1"/>
            <p:nvPr/>
          </p:nvSpPr>
          <p:spPr>
            <a:xfrm>
              <a:off x="8458200" y="1261872"/>
              <a:ext cx="310896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Wagon</a:t>
              </a:r>
            </a:p>
          </p:txBody>
        </p:sp>
        <p:sp>
          <p:nvSpPr>
            <p:cNvPr id="8" name="row heading"/>
            <p:cNvSpPr txBox="1"/>
            <p:nvPr/>
          </p:nvSpPr>
          <p:spPr>
            <a:xfrm>
              <a:off x="548640" y="1737360"/>
              <a:ext cx="1188720" cy="14173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Before</a:t>
              </a:r>
            </a:p>
          </p:txBody>
        </p:sp>
        <p:sp>
          <p:nvSpPr>
            <p:cNvPr id="9" name="row heading"/>
            <p:cNvSpPr txBox="1"/>
            <p:nvPr/>
          </p:nvSpPr>
          <p:spPr>
            <a:xfrm>
              <a:off x="548640" y="3657600"/>
              <a:ext cx="1188720" cy="14173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After</a:t>
              </a:r>
            </a:p>
          </p:txBody>
        </p:sp>
        <p:sp>
          <p:nvSpPr>
            <p:cNvPr id="10" name="panel"/>
            <p:cNvSpPr/>
            <p:nvPr/>
          </p:nvSpPr>
          <p:spPr>
            <a:xfrm>
              <a:off x="1783080" y="1737360"/>
              <a:ext cx="3108960" cy="1417320"/>
            </a:xfrm>
            <a:prstGeom prst="roundRect">
              <a:avLst>
                <a:gd name="adj" fmla="val 6451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panel"/>
            <p:cNvSpPr/>
            <p:nvPr/>
          </p:nvSpPr>
          <p:spPr>
            <a:xfrm>
              <a:off x="5120640" y="1737360"/>
              <a:ext cx="3108960" cy="1417320"/>
            </a:xfrm>
            <a:prstGeom prst="roundRect">
              <a:avLst>
                <a:gd name="adj" fmla="val 6451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panel"/>
            <p:cNvSpPr/>
            <p:nvPr/>
          </p:nvSpPr>
          <p:spPr>
            <a:xfrm>
              <a:off x="8458200" y="1737360"/>
              <a:ext cx="3108960" cy="1417320"/>
            </a:xfrm>
            <a:prstGeom prst="roundRect">
              <a:avLst>
                <a:gd name="adj" fmla="val 6451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ail"/>
            <p:cNvSpPr/>
            <p:nvPr/>
          </p:nvSpPr>
          <p:spPr>
            <a:xfrm>
              <a:off x="1965960" y="2944368"/>
              <a:ext cx="274320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ail"/>
            <p:cNvSpPr/>
            <p:nvPr/>
          </p:nvSpPr>
          <p:spPr>
            <a:xfrm>
              <a:off x="5303520" y="2944368"/>
              <a:ext cx="274320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ail"/>
            <p:cNvSpPr/>
            <p:nvPr/>
          </p:nvSpPr>
          <p:spPr>
            <a:xfrm>
              <a:off x="8641080" y="2944368"/>
              <a:ext cx="274320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platform"/>
            <p:cNvSpPr/>
            <p:nvPr/>
          </p:nvSpPr>
          <p:spPr>
            <a:xfrm>
              <a:off x="2642615" y="2840126"/>
              <a:ext cx="1389888" cy="104241"/>
            </a:xfrm>
            <a:prstGeom prst="rect">
              <a:avLst/>
            </a:prstGeom>
            <a:solidFill>
              <a:srgbClr val="5A606A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building"/>
            <p:cNvSpPr/>
            <p:nvPr/>
          </p:nvSpPr>
          <p:spPr>
            <a:xfrm>
              <a:off x="2781604" y="2318918"/>
              <a:ext cx="903427" cy="521208"/>
            </a:xfrm>
            <a:prstGeom prst="rect">
              <a:avLst/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gable roof"/>
            <p:cNvSpPr/>
            <p:nvPr/>
          </p:nvSpPr>
          <p:spPr>
            <a:xfrm>
              <a:off x="2729484" y="1971446"/>
              <a:ext cx="1007668" cy="347472"/>
            </a:xfrm>
            <a:custGeom>
              <a:avLst/>
              <a:gdLst/>
              <a:ahLst/>
              <a:cxnLst/>
              <a:rect l="l" t="t" r="r" b="b"/>
              <a:pathLst>
                <a:path w="1007668" h="347472">
                  <a:moveTo>
                    <a:pt x="0" y="347472"/>
                  </a:moveTo>
                  <a:lnTo>
                    <a:pt x="503834" y="0"/>
                  </a:lnTo>
                  <a:lnTo>
                    <a:pt x="1007668" y="347472"/>
                  </a:lnTo>
                  <a:close/>
                </a:path>
              </a:pathLst>
            </a:custGeom>
            <a:solidFill>
              <a:srgbClr val="1B75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chimney"/>
            <p:cNvSpPr/>
            <p:nvPr/>
          </p:nvSpPr>
          <p:spPr>
            <a:xfrm>
              <a:off x="3476548" y="2006193"/>
              <a:ext cx="95554" cy="225856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window"/>
            <p:cNvSpPr/>
            <p:nvPr/>
          </p:nvSpPr>
          <p:spPr>
            <a:xfrm>
              <a:off x="2868472" y="2457907"/>
              <a:ext cx="173736" cy="17373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window"/>
            <p:cNvSpPr/>
            <p:nvPr/>
          </p:nvSpPr>
          <p:spPr>
            <a:xfrm>
              <a:off x="3407054" y="2457907"/>
              <a:ext cx="173736" cy="17373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oor"/>
            <p:cNvSpPr/>
            <p:nvPr/>
          </p:nvSpPr>
          <p:spPr>
            <a:xfrm>
              <a:off x="3146450" y="2423159"/>
              <a:ext cx="156362" cy="416966"/>
            </a:xfrm>
            <a:prstGeom prst="rect">
              <a:avLst/>
            </a:prstGeom>
            <a:solidFill>
              <a:srgbClr val="17636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nder frame"/>
            <p:cNvSpPr/>
            <p:nvPr/>
          </p:nvSpPr>
          <p:spPr>
            <a:xfrm>
              <a:off x="5447538" y="2745486"/>
              <a:ext cx="562355" cy="61721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nder body"/>
            <p:cNvSpPr/>
            <p:nvPr/>
          </p:nvSpPr>
          <p:spPr>
            <a:xfrm>
              <a:off x="5447538" y="2519172"/>
              <a:ext cx="562355" cy="226314"/>
            </a:xfrm>
            <a:prstGeom prst="roundRect">
              <a:avLst>
                <a:gd name="adj" fmla="val 303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nder coal"/>
            <p:cNvSpPr/>
            <p:nvPr/>
          </p:nvSpPr>
          <p:spPr>
            <a:xfrm>
              <a:off x="5468112" y="2423160"/>
              <a:ext cx="521208" cy="96012"/>
            </a:xfrm>
            <a:custGeom>
              <a:avLst/>
              <a:gdLst/>
              <a:ahLst/>
              <a:cxnLst/>
              <a:rect l="l" t="t" r="r" b="b"/>
              <a:pathLst>
                <a:path w="521208" h="96012">
                  <a:moveTo>
                    <a:pt x="0" y="96012"/>
                  </a:moveTo>
                  <a:lnTo>
                    <a:pt x="102869" y="6858"/>
                  </a:lnTo>
                  <a:lnTo>
                    <a:pt x="308610" y="0"/>
                  </a:lnTo>
                  <a:lnTo>
                    <a:pt x="521208" y="9601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coupling"/>
            <p:cNvSpPr/>
            <p:nvPr/>
          </p:nvSpPr>
          <p:spPr>
            <a:xfrm>
              <a:off x="6009894" y="2663189"/>
              <a:ext cx="48006" cy="20573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wheel"/>
            <p:cNvSpPr/>
            <p:nvPr/>
          </p:nvSpPr>
          <p:spPr>
            <a:xfrm>
              <a:off x="5488686" y="2752344"/>
              <a:ext cx="192024" cy="19202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ub"/>
            <p:cNvSpPr/>
            <p:nvPr/>
          </p:nvSpPr>
          <p:spPr>
            <a:xfrm>
              <a:off x="5559734" y="2823392"/>
              <a:ext cx="49926" cy="4992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wheel"/>
            <p:cNvSpPr/>
            <p:nvPr/>
          </p:nvSpPr>
          <p:spPr>
            <a:xfrm>
              <a:off x="5776721" y="2752344"/>
              <a:ext cx="192024" cy="19202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ub"/>
            <p:cNvSpPr/>
            <p:nvPr/>
          </p:nvSpPr>
          <p:spPr>
            <a:xfrm>
              <a:off x="5847770" y="2823392"/>
              <a:ext cx="49926" cy="4992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frame"/>
            <p:cNvSpPr/>
            <p:nvPr/>
          </p:nvSpPr>
          <p:spPr>
            <a:xfrm>
              <a:off x="6057899" y="2745486"/>
              <a:ext cx="1803654" cy="61721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cab"/>
            <p:cNvSpPr/>
            <p:nvPr/>
          </p:nvSpPr>
          <p:spPr>
            <a:xfrm>
              <a:off x="6057899" y="2368296"/>
              <a:ext cx="274320" cy="377190"/>
            </a:xfrm>
            <a:prstGeom prst="roundRect">
              <a:avLst>
                <a:gd name="adj" fmla="val 25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cab roof"/>
            <p:cNvSpPr/>
            <p:nvPr/>
          </p:nvSpPr>
          <p:spPr>
            <a:xfrm>
              <a:off x="6044183" y="2334006"/>
              <a:ext cx="301752" cy="34290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cab window"/>
            <p:cNvSpPr/>
            <p:nvPr/>
          </p:nvSpPr>
          <p:spPr>
            <a:xfrm>
              <a:off x="6126479" y="2423160"/>
              <a:ext cx="123444" cy="12344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boiler"/>
            <p:cNvSpPr/>
            <p:nvPr/>
          </p:nvSpPr>
          <p:spPr>
            <a:xfrm>
              <a:off x="6332219" y="2402585"/>
              <a:ext cx="1392174" cy="274320"/>
            </a:xfrm>
            <a:prstGeom prst="roundRect">
              <a:avLst>
                <a:gd name="adj" fmla="val 250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boiler band"/>
            <p:cNvSpPr/>
            <p:nvPr/>
          </p:nvSpPr>
          <p:spPr>
            <a:xfrm>
              <a:off x="6749872" y="2402585"/>
              <a:ext cx="9601" cy="274320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boiler band"/>
            <p:cNvSpPr/>
            <p:nvPr/>
          </p:nvSpPr>
          <p:spPr>
            <a:xfrm>
              <a:off x="7097915" y="2402585"/>
              <a:ext cx="9601" cy="274320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boiler band"/>
            <p:cNvSpPr/>
            <p:nvPr/>
          </p:nvSpPr>
          <p:spPr>
            <a:xfrm>
              <a:off x="7445959" y="2402585"/>
              <a:ext cx="9601" cy="274320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mokebox"/>
            <p:cNvSpPr/>
            <p:nvPr/>
          </p:nvSpPr>
          <p:spPr>
            <a:xfrm>
              <a:off x="7724394" y="2402585"/>
              <a:ext cx="137160" cy="274320"/>
            </a:xfrm>
            <a:prstGeom prst="roundRect">
              <a:avLst>
                <a:gd name="adj" fmla="val 12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chimney"/>
            <p:cNvSpPr/>
            <p:nvPr/>
          </p:nvSpPr>
          <p:spPr>
            <a:xfrm>
              <a:off x="7751825" y="2258568"/>
              <a:ext cx="82296" cy="14401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chimney lip"/>
            <p:cNvSpPr/>
            <p:nvPr/>
          </p:nvSpPr>
          <p:spPr>
            <a:xfrm>
              <a:off x="7731252" y="2237994"/>
              <a:ext cx="123444" cy="34290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ome"/>
            <p:cNvSpPr/>
            <p:nvPr/>
          </p:nvSpPr>
          <p:spPr>
            <a:xfrm>
              <a:off x="6889089" y="2327148"/>
              <a:ext cx="123444" cy="75437"/>
            </a:xfrm>
            <a:prstGeom prst="roundRect">
              <a:avLst>
                <a:gd name="adj" fmla="val 36363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wheel"/>
            <p:cNvSpPr/>
            <p:nvPr/>
          </p:nvSpPr>
          <p:spPr>
            <a:xfrm>
              <a:off x="6078473" y="2670048"/>
              <a:ext cx="274320" cy="27432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ub"/>
            <p:cNvSpPr/>
            <p:nvPr/>
          </p:nvSpPr>
          <p:spPr>
            <a:xfrm>
              <a:off x="6179972" y="2771546"/>
              <a:ext cx="71323" cy="713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wheel"/>
            <p:cNvSpPr/>
            <p:nvPr/>
          </p:nvSpPr>
          <p:spPr>
            <a:xfrm>
              <a:off x="6387083" y="2670048"/>
              <a:ext cx="274320" cy="27432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ub"/>
            <p:cNvSpPr/>
            <p:nvPr/>
          </p:nvSpPr>
          <p:spPr>
            <a:xfrm>
              <a:off x="6488582" y="2771546"/>
              <a:ext cx="71323" cy="713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wheel"/>
            <p:cNvSpPr/>
            <p:nvPr/>
          </p:nvSpPr>
          <p:spPr>
            <a:xfrm>
              <a:off x="6695693" y="2670048"/>
              <a:ext cx="274320" cy="27432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ub"/>
            <p:cNvSpPr/>
            <p:nvPr/>
          </p:nvSpPr>
          <p:spPr>
            <a:xfrm>
              <a:off x="6797192" y="2771546"/>
              <a:ext cx="71323" cy="713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wheel"/>
            <p:cNvSpPr/>
            <p:nvPr/>
          </p:nvSpPr>
          <p:spPr>
            <a:xfrm>
              <a:off x="7004303" y="2670048"/>
              <a:ext cx="274320" cy="27432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ub"/>
            <p:cNvSpPr/>
            <p:nvPr/>
          </p:nvSpPr>
          <p:spPr>
            <a:xfrm>
              <a:off x="7105802" y="2771546"/>
              <a:ext cx="71323" cy="713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wheel"/>
            <p:cNvSpPr/>
            <p:nvPr/>
          </p:nvSpPr>
          <p:spPr>
            <a:xfrm>
              <a:off x="7381494" y="2793491"/>
              <a:ext cx="150876" cy="1508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ub"/>
            <p:cNvSpPr/>
            <p:nvPr/>
          </p:nvSpPr>
          <p:spPr>
            <a:xfrm>
              <a:off x="7437318" y="2849316"/>
              <a:ext cx="39227" cy="3922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coupling rod"/>
            <p:cNvSpPr/>
            <p:nvPr/>
          </p:nvSpPr>
          <p:spPr>
            <a:xfrm>
              <a:off x="6215633" y="2729026"/>
              <a:ext cx="925830" cy="1920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buffer beam"/>
            <p:cNvSpPr/>
            <p:nvPr/>
          </p:nvSpPr>
          <p:spPr>
            <a:xfrm>
              <a:off x="7861554" y="2683763"/>
              <a:ext cx="41148" cy="123443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wagon frame"/>
            <p:cNvSpPr/>
            <p:nvPr/>
          </p:nvSpPr>
          <p:spPr>
            <a:xfrm>
              <a:off x="9409176" y="2560320"/>
              <a:ext cx="1207008" cy="10972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wagon body"/>
            <p:cNvSpPr/>
            <p:nvPr/>
          </p:nvSpPr>
          <p:spPr>
            <a:xfrm>
              <a:off x="9409176" y="1984248"/>
              <a:ext cx="1207008" cy="576072"/>
            </a:xfrm>
            <a:prstGeom prst="roundRect">
              <a:avLst>
                <a:gd name="adj" fmla="val 238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wagon roof"/>
            <p:cNvSpPr/>
            <p:nvPr/>
          </p:nvSpPr>
          <p:spPr>
            <a:xfrm>
              <a:off x="9381744" y="1915667"/>
              <a:ext cx="1261872" cy="68580"/>
            </a:xfrm>
            <a:prstGeom prst="rect">
              <a:avLst/>
            </a:prstGeom>
            <a:solidFill>
              <a:srgbClr val="1E7E7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door line"/>
            <p:cNvSpPr/>
            <p:nvPr/>
          </p:nvSpPr>
          <p:spPr>
            <a:xfrm>
              <a:off x="9867839" y="2011679"/>
              <a:ext cx="32918" cy="521207"/>
            </a:xfrm>
            <a:prstGeom prst="rect">
              <a:avLst/>
            </a:prstGeom>
            <a:solidFill>
              <a:srgbClr val="196C6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door line"/>
            <p:cNvSpPr/>
            <p:nvPr/>
          </p:nvSpPr>
          <p:spPr>
            <a:xfrm>
              <a:off x="10157520" y="2011679"/>
              <a:ext cx="32918" cy="521207"/>
            </a:xfrm>
            <a:prstGeom prst="rect">
              <a:avLst/>
            </a:prstGeom>
            <a:solidFill>
              <a:srgbClr val="196C6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wheel"/>
            <p:cNvSpPr/>
            <p:nvPr/>
          </p:nvSpPr>
          <p:spPr>
            <a:xfrm>
              <a:off x="9491472" y="2615183"/>
              <a:ext cx="329184" cy="329184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hub"/>
            <p:cNvSpPr/>
            <p:nvPr/>
          </p:nvSpPr>
          <p:spPr>
            <a:xfrm>
              <a:off x="9613270" y="2736982"/>
              <a:ext cx="85587" cy="8558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wheel"/>
            <p:cNvSpPr/>
            <p:nvPr/>
          </p:nvSpPr>
          <p:spPr>
            <a:xfrm>
              <a:off x="10204704" y="2615183"/>
              <a:ext cx="329184" cy="329184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hub"/>
            <p:cNvSpPr/>
            <p:nvPr/>
          </p:nvSpPr>
          <p:spPr>
            <a:xfrm>
              <a:off x="10326502" y="2736982"/>
              <a:ext cx="85587" cy="8558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panel"/>
            <p:cNvSpPr/>
            <p:nvPr/>
          </p:nvSpPr>
          <p:spPr>
            <a:xfrm>
              <a:off x="1783080" y="3657600"/>
              <a:ext cx="3108960" cy="1417320"/>
            </a:xfrm>
            <a:prstGeom prst="roundRect">
              <a:avLst>
                <a:gd name="adj" fmla="val 6451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panel"/>
            <p:cNvSpPr/>
            <p:nvPr/>
          </p:nvSpPr>
          <p:spPr>
            <a:xfrm>
              <a:off x="5120640" y="3657600"/>
              <a:ext cx="3108960" cy="1417320"/>
            </a:xfrm>
            <a:prstGeom prst="roundRect">
              <a:avLst>
                <a:gd name="adj" fmla="val 6451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panel"/>
            <p:cNvSpPr/>
            <p:nvPr/>
          </p:nvSpPr>
          <p:spPr>
            <a:xfrm>
              <a:off x="8458200" y="3657600"/>
              <a:ext cx="3108960" cy="1417320"/>
            </a:xfrm>
            <a:prstGeom prst="roundRect">
              <a:avLst>
                <a:gd name="adj" fmla="val 6451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ail"/>
            <p:cNvSpPr/>
            <p:nvPr/>
          </p:nvSpPr>
          <p:spPr>
            <a:xfrm>
              <a:off x="1965960" y="4864608"/>
              <a:ext cx="274320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ail"/>
            <p:cNvSpPr/>
            <p:nvPr/>
          </p:nvSpPr>
          <p:spPr>
            <a:xfrm>
              <a:off x="5303520" y="4864608"/>
              <a:ext cx="274320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ail"/>
            <p:cNvSpPr/>
            <p:nvPr/>
          </p:nvSpPr>
          <p:spPr>
            <a:xfrm>
              <a:off x="8641080" y="4864608"/>
              <a:ext cx="274320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platform"/>
            <p:cNvSpPr/>
            <p:nvPr/>
          </p:nvSpPr>
          <p:spPr>
            <a:xfrm>
              <a:off x="2642615" y="4760366"/>
              <a:ext cx="1389888" cy="104241"/>
            </a:xfrm>
            <a:prstGeom prst="rect">
              <a:avLst/>
            </a:prstGeom>
            <a:solidFill>
              <a:srgbClr val="5A606A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building"/>
            <p:cNvSpPr/>
            <p:nvPr/>
          </p:nvSpPr>
          <p:spPr>
            <a:xfrm>
              <a:off x="2781604" y="4326026"/>
              <a:ext cx="938174" cy="434340"/>
            </a:xfrm>
            <a:prstGeom prst="rect">
              <a:avLst/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false front"/>
            <p:cNvSpPr/>
            <p:nvPr/>
          </p:nvSpPr>
          <p:spPr>
            <a:xfrm>
              <a:off x="2781604" y="4117543"/>
              <a:ext cx="938174" cy="208483"/>
            </a:xfrm>
            <a:prstGeom prst="rect">
              <a:avLst/>
            </a:prstGeom>
            <a:solidFill>
              <a:srgbClr val="DE80A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oof"/>
            <p:cNvSpPr/>
            <p:nvPr/>
          </p:nvSpPr>
          <p:spPr>
            <a:xfrm>
              <a:off x="2746857" y="4308652"/>
              <a:ext cx="1007668" cy="52120"/>
            </a:xfrm>
            <a:prstGeom prst="rect">
              <a:avLst/>
            </a:prstGeom>
            <a:solidFill>
              <a:srgbClr val="803A5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window"/>
            <p:cNvSpPr/>
            <p:nvPr/>
          </p:nvSpPr>
          <p:spPr>
            <a:xfrm>
              <a:off x="2885846" y="4465015"/>
              <a:ext cx="173736" cy="17373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window"/>
            <p:cNvSpPr/>
            <p:nvPr/>
          </p:nvSpPr>
          <p:spPr>
            <a:xfrm>
              <a:off x="3407054" y="4465015"/>
              <a:ext cx="173736" cy="17373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door"/>
            <p:cNvSpPr/>
            <p:nvPr/>
          </p:nvSpPr>
          <p:spPr>
            <a:xfrm>
              <a:off x="3146450" y="4430268"/>
              <a:ext cx="173736" cy="382219"/>
            </a:xfrm>
            <a:prstGeom prst="rect">
              <a:avLst/>
            </a:prstGeom>
            <a:solidFill>
              <a:srgbClr val="75355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ank"/>
            <p:cNvSpPr/>
            <p:nvPr/>
          </p:nvSpPr>
          <p:spPr>
            <a:xfrm>
              <a:off x="3789273" y="3787444"/>
              <a:ext cx="243230" cy="225856"/>
            </a:xfrm>
            <a:prstGeom prst="roundRect">
              <a:avLst>
                <a:gd name="adj" fmla="val 7692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tank leg"/>
            <p:cNvSpPr/>
            <p:nvPr/>
          </p:nvSpPr>
          <p:spPr>
            <a:xfrm>
              <a:off x="3806647" y="4013301"/>
              <a:ext cx="17373" cy="7470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ank leg"/>
            <p:cNvSpPr/>
            <p:nvPr/>
          </p:nvSpPr>
          <p:spPr>
            <a:xfrm>
              <a:off x="3997756" y="4013301"/>
              <a:ext cx="17373" cy="7470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tender frame"/>
            <p:cNvSpPr/>
            <p:nvPr/>
          </p:nvSpPr>
          <p:spPr>
            <a:xfrm>
              <a:off x="5474970" y="4645152"/>
              <a:ext cx="630936" cy="61722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nder body"/>
            <p:cNvSpPr/>
            <p:nvPr/>
          </p:nvSpPr>
          <p:spPr>
            <a:xfrm>
              <a:off x="5474970" y="4370832"/>
              <a:ext cx="630936" cy="274320"/>
            </a:xfrm>
            <a:prstGeom prst="roundRect">
              <a:avLst>
                <a:gd name="adj" fmla="val 25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tender coal"/>
            <p:cNvSpPr/>
            <p:nvPr/>
          </p:nvSpPr>
          <p:spPr>
            <a:xfrm>
              <a:off x="5495544" y="4281678"/>
              <a:ext cx="589787" cy="89154"/>
            </a:xfrm>
            <a:custGeom>
              <a:avLst/>
              <a:gdLst/>
              <a:ahLst/>
              <a:cxnLst/>
              <a:rect l="l" t="t" r="r" b="b"/>
              <a:pathLst>
                <a:path w="589787" h="89154">
                  <a:moveTo>
                    <a:pt x="0" y="89154"/>
                  </a:moveTo>
                  <a:lnTo>
                    <a:pt x="102870" y="6858"/>
                  </a:lnTo>
                  <a:lnTo>
                    <a:pt x="336042" y="0"/>
                  </a:lnTo>
                  <a:lnTo>
                    <a:pt x="589787" y="89154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coupling"/>
            <p:cNvSpPr/>
            <p:nvPr/>
          </p:nvSpPr>
          <p:spPr>
            <a:xfrm>
              <a:off x="6105906" y="4542282"/>
              <a:ext cx="54864" cy="20573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wheel"/>
            <p:cNvSpPr/>
            <p:nvPr/>
          </p:nvSpPr>
          <p:spPr>
            <a:xfrm>
              <a:off x="5516118" y="4700016"/>
              <a:ext cx="164592" cy="16459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hub"/>
            <p:cNvSpPr/>
            <p:nvPr/>
          </p:nvSpPr>
          <p:spPr>
            <a:xfrm>
              <a:off x="5577017" y="4760915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wheel"/>
            <p:cNvSpPr/>
            <p:nvPr/>
          </p:nvSpPr>
          <p:spPr>
            <a:xfrm>
              <a:off x="5653278" y="4700016"/>
              <a:ext cx="164592" cy="16459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hub"/>
            <p:cNvSpPr/>
            <p:nvPr/>
          </p:nvSpPr>
          <p:spPr>
            <a:xfrm>
              <a:off x="5714177" y="4760915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wheel"/>
            <p:cNvSpPr/>
            <p:nvPr/>
          </p:nvSpPr>
          <p:spPr>
            <a:xfrm>
              <a:off x="5763006" y="4700016"/>
              <a:ext cx="164592" cy="16459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hub"/>
            <p:cNvSpPr/>
            <p:nvPr/>
          </p:nvSpPr>
          <p:spPr>
            <a:xfrm>
              <a:off x="5823905" y="4760915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wheel"/>
            <p:cNvSpPr/>
            <p:nvPr/>
          </p:nvSpPr>
          <p:spPr>
            <a:xfrm>
              <a:off x="5900166" y="4700016"/>
              <a:ext cx="164592" cy="16459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hub"/>
            <p:cNvSpPr/>
            <p:nvPr/>
          </p:nvSpPr>
          <p:spPr>
            <a:xfrm>
              <a:off x="5961065" y="4760915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frame"/>
            <p:cNvSpPr/>
            <p:nvPr/>
          </p:nvSpPr>
          <p:spPr>
            <a:xfrm>
              <a:off x="6160770" y="4645152"/>
              <a:ext cx="1571304" cy="61722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cab"/>
            <p:cNvSpPr/>
            <p:nvPr/>
          </p:nvSpPr>
          <p:spPr>
            <a:xfrm>
              <a:off x="6160770" y="4178808"/>
              <a:ext cx="315468" cy="466344"/>
            </a:xfrm>
            <a:prstGeom prst="roundRect">
              <a:avLst>
                <a:gd name="adj" fmla="val 217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cab roof"/>
            <p:cNvSpPr/>
            <p:nvPr/>
          </p:nvSpPr>
          <p:spPr>
            <a:xfrm>
              <a:off x="6133338" y="4137660"/>
              <a:ext cx="370332" cy="411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cab window"/>
            <p:cNvSpPr/>
            <p:nvPr/>
          </p:nvSpPr>
          <p:spPr>
            <a:xfrm>
              <a:off x="6236207" y="4247388"/>
              <a:ext cx="137160" cy="15087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boiler"/>
            <p:cNvSpPr/>
            <p:nvPr/>
          </p:nvSpPr>
          <p:spPr>
            <a:xfrm>
              <a:off x="6476238" y="4219956"/>
              <a:ext cx="1022664" cy="342900"/>
            </a:xfrm>
            <a:prstGeom prst="roundRect">
              <a:avLst>
                <a:gd name="adj" fmla="val 220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smokebox"/>
            <p:cNvSpPr/>
            <p:nvPr/>
          </p:nvSpPr>
          <p:spPr>
            <a:xfrm>
              <a:off x="7498902" y="4219956"/>
              <a:ext cx="164592" cy="342900"/>
            </a:xfrm>
            <a:prstGeom prst="roundRect">
              <a:avLst>
                <a:gd name="adj" fmla="val 1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funnel stack"/>
            <p:cNvSpPr/>
            <p:nvPr/>
          </p:nvSpPr>
          <p:spPr>
            <a:xfrm>
              <a:off x="7492044" y="3986784"/>
              <a:ext cx="164592" cy="233172"/>
            </a:xfrm>
            <a:custGeom>
              <a:avLst/>
              <a:gdLst/>
              <a:ahLst/>
              <a:cxnLst/>
              <a:rect l="l" t="t" r="r" b="b"/>
              <a:pathLst>
                <a:path w="164592" h="233172">
                  <a:moveTo>
                    <a:pt x="54864" y="233172"/>
                  </a:moveTo>
                  <a:lnTo>
                    <a:pt x="54864" y="164592"/>
                  </a:lnTo>
                  <a:lnTo>
                    <a:pt x="0" y="0"/>
                  </a:lnTo>
                  <a:lnTo>
                    <a:pt x="164592" y="0"/>
                  </a:lnTo>
                  <a:lnTo>
                    <a:pt x="109728" y="164592"/>
                  </a:lnTo>
                  <a:lnTo>
                    <a:pt x="109728" y="233172"/>
                  </a:lnTo>
                  <a:close/>
                </a:path>
              </a:pathLst>
            </a:cu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headlamp"/>
            <p:cNvSpPr/>
            <p:nvPr/>
          </p:nvSpPr>
          <p:spPr>
            <a:xfrm>
              <a:off x="7622346" y="4110228"/>
              <a:ext cx="102869" cy="102869"/>
            </a:xfrm>
            <a:prstGeom prst="ellipse">
              <a:avLst/>
            </a:prstGeom>
            <a:solidFill>
              <a:srgbClr val="F2C14E"/>
            </a:solidFill>
            <a:ln w="127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sand dome"/>
            <p:cNvSpPr/>
            <p:nvPr/>
          </p:nvSpPr>
          <p:spPr>
            <a:xfrm>
              <a:off x="6762584" y="4137660"/>
              <a:ext cx="123444" cy="82295"/>
            </a:xfrm>
            <a:prstGeom prst="roundRect">
              <a:avLst>
                <a:gd name="adj" fmla="val 3333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steam dome"/>
            <p:cNvSpPr/>
            <p:nvPr/>
          </p:nvSpPr>
          <p:spPr>
            <a:xfrm>
              <a:off x="7110290" y="4123944"/>
              <a:ext cx="137160" cy="96012"/>
            </a:xfrm>
            <a:prstGeom prst="roundRect">
              <a:avLst>
                <a:gd name="adj" fmla="val 28571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pilot"/>
            <p:cNvSpPr/>
            <p:nvPr/>
          </p:nvSpPr>
          <p:spPr>
            <a:xfrm>
              <a:off x="7663494" y="4652010"/>
              <a:ext cx="205740" cy="150876"/>
            </a:xfrm>
            <a:custGeom>
              <a:avLst/>
              <a:gdLst/>
              <a:ahLst/>
              <a:cxnLst/>
              <a:rect l="l" t="t" r="r" b="b"/>
              <a:pathLst>
                <a:path w="205740" h="150876">
                  <a:moveTo>
                    <a:pt x="0" y="0"/>
                  </a:moveTo>
                  <a:lnTo>
                    <a:pt x="205740" y="150876"/>
                  </a:lnTo>
                  <a:lnTo>
                    <a:pt x="0" y="150876"/>
                  </a:lnTo>
                  <a:close/>
                </a:path>
              </a:pathLst>
            </a:custGeom>
            <a:solidFill>
              <a:srgbClr val="3A3F47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bell"/>
            <p:cNvSpPr/>
            <p:nvPr/>
          </p:nvSpPr>
          <p:spPr>
            <a:xfrm>
              <a:off x="6946422" y="4055364"/>
              <a:ext cx="41148" cy="82296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wheel"/>
            <p:cNvSpPr/>
            <p:nvPr/>
          </p:nvSpPr>
          <p:spPr>
            <a:xfrm>
              <a:off x="6208776" y="4604004"/>
              <a:ext cx="260603" cy="26060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hub"/>
            <p:cNvSpPr/>
            <p:nvPr/>
          </p:nvSpPr>
          <p:spPr>
            <a:xfrm>
              <a:off x="6305199" y="4700427"/>
              <a:ext cx="67757" cy="6775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wheel"/>
            <p:cNvSpPr/>
            <p:nvPr/>
          </p:nvSpPr>
          <p:spPr>
            <a:xfrm>
              <a:off x="6500652" y="4604004"/>
              <a:ext cx="260603" cy="26060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hub"/>
            <p:cNvSpPr/>
            <p:nvPr/>
          </p:nvSpPr>
          <p:spPr>
            <a:xfrm>
              <a:off x="6597075" y="4700427"/>
              <a:ext cx="67757" cy="6775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wheel"/>
            <p:cNvSpPr/>
            <p:nvPr/>
          </p:nvSpPr>
          <p:spPr>
            <a:xfrm>
              <a:off x="6792528" y="4604004"/>
              <a:ext cx="260603" cy="26060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hub"/>
            <p:cNvSpPr/>
            <p:nvPr/>
          </p:nvSpPr>
          <p:spPr>
            <a:xfrm>
              <a:off x="6888952" y="4700427"/>
              <a:ext cx="67757" cy="6775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wheel"/>
            <p:cNvSpPr/>
            <p:nvPr/>
          </p:nvSpPr>
          <p:spPr>
            <a:xfrm>
              <a:off x="7389174" y="4727448"/>
              <a:ext cx="137160" cy="13716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hub"/>
            <p:cNvSpPr/>
            <p:nvPr/>
          </p:nvSpPr>
          <p:spPr>
            <a:xfrm>
              <a:off x="7439924" y="4778197"/>
              <a:ext cx="35661" cy="3566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wheel"/>
            <p:cNvSpPr/>
            <p:nvPr/>
          </p:nvSpPr>
          <p:spPr>
            <a:xfrm>
              <a:off x="7540050" y="4727448"/>
              <a:ext cx="137160" cy="13716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hub"/>
            <p:cNvSpPr/>
            <p:nvPr/>
          </p:nvSpPr>
          <p:spPr>
            <a:xfrm>
              <a:off x="7590800" y="4778197"/>
              <a:ext cx="35661" cy="3566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coupling rod"/>
            <p:cNvSpPr/>
            <p:nvPr/>
          </p:nvSpPr>
          <p:spPr>
            <a:xfrm>
              <a:off x="6339078" y="4656124"/>
              <a:ext cx="583752" cy="1920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wagon frame"/>
            <p:cNvSpPr/>
            <p:nvPr/>
          </p:nvSpPr>
          <p:spPr>
            <a:xfrm>
              <a:off x="9409176" y="4480560"/>
              <a:ext cx="1207008" cy="10972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hopper body"/>
            <p:cNvSpPr/>
            <p:nvPr/>
          </p:nvSpPr>
          <p:spPr>
            <a:xfrm>
              <a:off x="9409176" y="3794760"/>
              <a:ext cx="1207008" cy="685800"/>
            </a:xfrm>
            <a:custGeom>
              <a:avLst/>
              <a:gdLst/>
              <a:ahLst/>
              <a:cxnLst/>
              <a:rect l="l" t="t" r="r" b="b"/>
              <a:pathLst>
                <a:path w="1207008" h="685800">
                  <a:moveTo>
                    <a:pt x="0" y="0"/>
                  </a:moveTo>
                  <a:lnTo>
                    <a:pt x="1207008" y="0"/>
                  </a:lnTo>
                  <a:lnTo>
                    <a:pt x="1014983" y="685800"/>
                  </a:lnTo>
                  <a:lnTo>
                    <a:pt x="192024" y="685800"/>
                  </a:lnTo>
                  <a:close/>
                </a:path>
              </a:pathLst>
            </a:cu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hopper rim"/>
            <p:cNvSpPr/>
            <p:nvPr/>
          </p:nvSpPr>
          <p:spPr>
            <a:xfrm>
              <a:off x="9409176" y="3781044"/>
              <a:ext cx="1207008" cy="68580"/>
            </a:xfrm>
            <a:prstGeom prst="rect">
              <a:avLst/>
            </a:prstGeom>
            <a:solidFill>
              <a:srgbClr val="E088B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hopper hatch"/>
            <p:cNvSpPr/>
            <p:nvPr/>
          </p:nvSpPr>
          <p:spPr>
            <a:xfrm>
              <a:off x="9771278" y="4480560"/>
              <a:ext cx="241402" cy="82296"/>
            </a:xfrm>
            <a:custGeom>
              <a:avLst/>
              <a:gdLst/>
              <a:ahLst/>
              <a:cxnLst/>
              <a:rect l="l" t="t" r="r" b="b"/>
              <a:pathLst>
                <a:path w="241402" h="82296">
                  <a:moveTo>
                    <a:pt x="0" y="0"/>
                  </a:moveTo>
                  <a:lnTo>
                    <a:pt x="120701" y="82296"/>
                  </a:lnTo>
                  <a:lnTo>
                    <a:pt x="241402" y="0"/>
                  </a:lnTo>
                  <a:close/>
                </a:path>
              </a:pathLst>
            </a:cu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hopper hatch"/>
            <p:cNvSpPr/>
            <p:nvPr/>
          </p:nvSpPr>
          <p:spPr>
            <a:xfrm>
              <a:off x="10073030" y="4480560"/>
              <a:ext cx="241402" cy="82296"/>
            </a:xfrm>
            <a:custGeom>
              <a:avLst/>
              <a:gdLst/>
              <a:ahLst/>
              <a:cxnLst/>
              <a:rect l="l" t="t" r="r" b="b"/>
              <a:pathLst>
                <a:path w="241402" h="82296">
                  <a:moveTo>
                    <a:pt x="0" y="0"/>
                  </a:moveTo>
                  <a:lnTo>
                    <a:pt x="120701" y="82296"/>
                  </a:lnTo>
                  <a:lnTo>
                    <a:pt x="241402" y="0"/>
                  </a:lnTo>
                  <a:close/>
                </a:path>
              </a:pathLst>
            </a:cu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wheel"/>
            <p:cNvSpPr/>
            <p:nvPr/>
          </p:nvSpPr>
          <p:spPr>
            <a:xfrm>
              <a:off x="9491472" y="4535424"/>
              <a:ext cx="329184" cy="329184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hub"/>
            <p:cNvSpPr/>
            <p:nvPr/>
          </p:nvSpPr>
          <p:spPr>
            <a:xfrm>
              <a:off x="9613270" y="4657222"/>
              <a:ext cx="85587" cy="8558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wheel"/>
            <p:cNvSpPr/>
            <p:nvPr/>
          </p:nvSpPr>
          <p:spPr>
            <a:xfrm>
              <a:off x="10204704" y="4535424"/>
              <a:ext cx="329184" cy="329184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hub"/>
            <p:cNvSpPr/>
            <p:nvPr/>
          </p:nvSpPr>
          <p:spPr>
            <a:xfrm>
              <a:off x="10326502" y="4657222"/>
              <a:ext cx="85587" cy="8558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4" name="change arrow"/>
            <p:cNvCxnSpPr/>
            <p:nvPr/>
          </p:nvCxnSpPr>
          <p:spPr>
            <a:xfrm>
              <a:off x="3337560" y="3200400"/>
              <a:ext cx="0" cy="429768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25" name="change arrow"/>
            <p:cNvCxnSpPr/>
            <p:nvPr/>
          </p:nvCxnSpPr>
          <p:spPr>
            <a:xfrm>
              <a:off x="6675120" y="3200400"/>
              <a:ext cx="0" cy="429768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26" name="change arrow"/>
            <p:cNvCxnSpPr/>
            <p:nvPr/>
          </p:nvCxnSpPr>
          <p:spPr>
            <a:xfrm>
              <a:off x="10012680" y="3200400"/>
              <a:ext cx="0" cy="429768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127" name="ICHIP"/>
          <p:cNvSpPr/>
          <p:nvPr/>
        </p:nvSpPr>
        <p:spPr>
          <a:xfrm>
            <a:off x="10080547" y="5230368"/>
            <a:ext cx="1486612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Not yet tested</a:t>
            </a:r>
          </a:p>
        </p:txBody>
      </p:sp>
      <p:sp>
        <p:nvSpPr>
          <p:cNvPr id="128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CAPTION"/>
          <p:cNvSpPr txBox="1"/>
          <p:nvPr/>
        </p:nvSpPr>
        <p:spPr>
          <a:xfrm>
            <a:off x="822960" y="5760720"/>
            <a:ext cx="1042416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Changing the region restyles stock you already own, not just new builds.</a:t>
            </a:r>
          </a:p>
        </p:txBody>
      </p:sp>
      <p:sp>
        <p:nvSpPr>
          <p:cNvPr id="131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Three sizes, many looks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Three by three engine grid" descr="A grid of nine example locomotive silhouettes. Rows are Small, Medium and Large. Columns are three example regional styles, and each style draws its engines in its own shape."/>
          <p:cNvGrpSpPr/>
          <p:nvPr/>
        </p:nvGrpSpPr>
        <p:grpSpPr>
          <a:xfrm>
            <a:off x="548640" y="1234440"/>
            <a:ext cx="10972800" cy="4224528"/>
            <a:chOff x="548640" y="1234440"/>
            <a:chExt cx="10972800" cy="4224528"/>
          </a:xfrm>
        </p:grpSpPr>
        <p:sp>
          <p:nvSpPr>
            <p:cNvPr id="5" name="region heading"/>
            <p:cNvSpPr/>
            <p:nvPr/>
          </p:nvSpPr>
          <p:spPr>
            <a:xfrm>
              <a:off x="2011680" y="1234440"/>
              <a:ext cx="3108960" cy="36576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British</a:t>
              </a:r>
            </a:p>
          </p:txBody>
        </p:sp>
        <p:sp>
          <p:nvSpPr>
            <p:cNvPr id="6" name="region heading"/>
            <p:cNvSpPr/>
            <p:nvPr/>
          </p:nvSpPr>
          <p:spPr>
            <a:xfrm>
              <a:off x="5212080" y="1234440"/>
              <a:ext cx="3108960" cy="36576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North American</a:t>
              </a:r>
            </a:p>
          </p:txBody>
        </p:sp>
        <p:sp>
          <p:nvSpPr>
            <p:cNvPr id="7" name="region heading"/>
            <p:cNvSpPr/>
            <p:nvPr/>
          </p:nvSpPr>
          <p:spPr>
            <a:xfrm>
              <a:off x="8412480" y="1234440"/>
              <a:ext cx="3108960" cy="36576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Continental European</a:t>
              </a:r>
            </a:p>
          </p:txBody>
        </p:sp>
        <p:sp>
          <p:nvSpPr>
            <p:cNvPr id="8" name="examples label"/>
            <p:cNvSpPr txBox="1"/>
            <p:nvPr/>
          </p:nvSpPr>
          <p:spPr>
            <a:xfrm>
              <a:off x="548640" y="1234440"/>
              <a:ext cx="141732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Examples only</a:t>
              </a:r>
            </a:p>
          </p:txBody>
        </p:sp>
        <p:sp>
          <p:nvSpPr>
            <p:cNvPr id="9" name="row heading"/>
            <p:cNvSpPr txBox="1"/>
            <p:nvPr/>
          </p:nvSpPr>
          <p:spPr>
            <a:xfrm>
              <a:off x="548640" y="1691640"/>
              <a:ext cx="1417320" cy="120700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Small</a:t>
              </a:r>
            </a:p>
          </p:txBody>
        </p:sp>
        <p:sp>
          <p:nvSpPr>
            <p:cNvPr id="10" name="panel"/>
            <p:cNvSpPr/>
            <p:nvPr/>
          </p:nvSpPr>
          <p:spPr>
            <a:xfrm>
              <a:off x="2011680" y="1691640"/>
              <a:ext cx="3108960" cy="1207008"/>
            </a:xfrm>
            <a:prstGeom prst="roundRect">
              <a:avLst>
                <a:gd name="adj" fmla="val 7575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ail"/>
            <p:cNvSpPr/>
            <p:nvPr/>
          </p:nvSpPr>
          <p:spPr>
            <a:xfrm>
              <a:off x="2148840" y="2715768"/>
              <a:ext cx="283464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frame"/>
            <p:cNvSpPr/>
            <p:nvPr/>
          </p:nvSpPr>
          <p:spPr>
            <a:xfrm>
              <a:off x="2810408" y="2523515"/>
              <a:ext cx="1471726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unker"/>
            <p:cNvSpPr/>
            <p:nvPr/>
          </p:nvSpPr>
          <p:spPr>
            <a:xfrm>
              <a:off x="2810408" y="2264968"/>
              <a:ext cx="225399" cy="258546"/>
            </a:xfrm>
            <a:prstGeom prst="roundRect">
              <a:avLst>
                <a:gd name="adj" fmla="val 2941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unker coal"/>
            <p:cNvSpPr/>
            <p:nvPr/>
          </p:nvSpPr>
          <p:spPr>
            <a:xfrm>
              <a:off x="2823667" y="2198674"/>
              <a:ext cx="198882" cy="66294"/>
            </a:xfrm>
            <a:custGeom>
              <a:avLst/>
              <a:gdLst/>
              <a:ahLst/>
              <a:cxnLst/>
              <a:rect l="l" t="t" r="r" b="b"/>
              <a:pathLst>
                <a:path w="198882" h="66294">
                  <a:moveTo>
                    <a:pt x="0" y="66294"/>
                  </a:moveTo>
                  <a:lnTo>
                    <a:pt x="53035" y="6630"/>
                  </a:lnTo>
                  <a:lnTo>
                    <a:pt x="132588" y="0"/>
                  </a:lnTo>
                  <a:lnTo>
                    <a:pt x="198882" y="66294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b"/>
            <p:cNvSpPr/>
            <p:nvPr/>
          </p:nvSpPr>
          <p:spPr>
            <a:xfrm>
              <a:off x="3035808" y="2158898"/>
              <a:ext cx="265176" cy="364617"/>
            </a:xfrm>
            <a:prstGeom prst="roundRect">
              <a:avLst>
                <a:gd name="adj" fmla="val 25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cab roof"/>
            <p:cNvSpPr/>
            <p:nvPr/>
          </p:nvSpPr>
          <p:spPr>
            <a:xfrm>
              <a:off x="3022549" y="2125751"/>
              <a:ext cx="291693" cy="331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cab window"/>
            <p:cNvSpPr/>
            <p:nvPr/>
          </p:nvSpPr>
          <p:spPr>
            <a:xfrm>
              <a:off x="3102102" y="2211933"/>
              <a:ext cx="119329" cy="11932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boiler"/>
            <p:cNvSpPr/>
            <p:nvPr/>
          </p:nvSpPr>
          <p:spPr>
            <a:xfrm>
              <a:off x="3300984" y="2192045"/>
              <a:ext cx="848563" cy="265176"/>
            </a:xfrm>
            <a:prstGeom prst="roundRect">
              <a:avLst>
                <a:gd name="adj" fmla="val 250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ide tank"/>
            <p:cNvSpPr/>
            <p:nvPr/>
          </p:nvSpPr>
          <p:spPr>
            <a:xfrm>
              <a:off x="3300984" y="2284857"/>
              <a:ext cx="782269" cy="232028"/>
            </a:xfrm>
            <a:prstGeom prst="roundRect">
              <a:avLst>
                <a:gd name="adj" fmla="val 14285"/>
              </a:avLst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mokebox"/>
            <p:cNvSpPr/>
            <p:nvPr/>
          </p:nvSpPr>
          <p:spPr>
            <a:xfrm>
              <a:off x="4149547" y="2192045"/>
              <a:ext cx="132588" cy="265176"/>
            </a:xfrm>
            <a:prstGeom prst="roundRect">
              <a:avLst>
                <a:gd name="adj" fmla="val 12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himney"/>
            <p:cNvSpPr/>
            <p:nvPr/>
          </p:nvSpPr>
          <p:spPr>
            <a:xfrm>
              <a:off x="4176064" y="2052828"/>
              <a:ext cx="79552" cy="13921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chimney lip"/>
            <p:cNvSpPr/>
            <p:nvPr/>
          </p:nvSpPr>
          <p:spPr>
            <a:xfrm>
              <a:off x="4156176" y="2032939"/>
              <a:ext cx="119329" cy="331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ome"/>
            <p:cNvSpPr/>
            <p:nvPr/>
          </p:nvSpPr>
          <p:spPr>
            <a:xfrm>
              <a:off x="3657380" y="2119122"/>
              <a:ext cx="119329" cy="72923"/>
            </a:xfrm>
            <a:prstGeom prst="roundRect">
              <a:avLst>
                <a:gd name="adj" fmla="val 36363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wheel"/>
            <p:cNvSpPr/>
            <p:nvPr/>
          </p:nvSpPr>
          <p:spPr>
            <a:xfrm>
              <a:off x="3181654" y="2477109"/>
              <a:ext cx="238658" cy="23865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ub"/>
            <p:cNvSpPr/>
            <p:nvPr/>
          </p:nvSpPr>
          <p:spPr>
            <a:xfrm>
              <a:off x="3269958" y="2565413"/>
              <a:ext cx="62051" cy="620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wheel"/>
            <p:cNvSpPr/>
            <p:nvPr/>
          </p:nvSpPr>
          <p:spPr>
            <a:xfrm>
              <a:off x="3446830" y="2477109"/>
              <a:ext cx="238658" cy="23865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ub"/>
            <p:cNvSpPr/>
            <p:nvPr/>
          </p:nvSpPr>
          <p:spPr>
            <a:xfrm>
              <a:off x="3535134" y="2565413"/>
              <a:ext cx="62051" cy="620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wheel"/>
            <p:cNvSpPr/>
            <p:nvPr/>
          </p:nvSpPr>
          <p:spPr>
            <a:xfrm>
              <a:off x="3712006" y="2477109"/>
              <a:ext cx="238658" cy="23865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ub"/>
            <p:cNvSpPr/>
            <p:nvPr/>
          </p:nvSpPr>
          <p:spPr>
            <a:xfrm>
              <a:off x="3800310" y="2565413"/>
              <a:ext cx="62051" cy="620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coupling rod"/>
            <p:cNvSpPr/>
            <p:nvPr/>
          </p:nvSpPr>
          <p:spPr>
            <a:xfrm>
              <a:off x="3300984" y="2527493"/>
              <a:ext cx="530352" cy="1856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buffer beam"/>
            <p:cNvSpPr/>
            <p:nvPr/>
          </p:nvSpPr>
          <p:spPr>
            <a:xfrm>
              <a:off x="4282135" y="2463850"/>
              <a:ext cx="39776" cy="119329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panel"/>
            <p:cNvSpPr/>
            <p:nvPr/>
          </p:nvSpPr>
          <p:spPr>
            <a:xfrm>
              <a:off x="5212080" y="1691640"/>
              <a:ext cx="3108960" cy="1207008"/>
            </a:xfrm>
            <a:prstGeom prst="roundRect">
              <a:avLst>
                <a:gd name="adj" fmla="val 7575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ail"/>
            <p:cNvSpPr/>
            <p:nvPr/>
          </p:nvSpPr>
          <p:spPr>
            <a:xfrm>
              <a:off x="5349240" y="2715768"/>
              <a:ext cx="283464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nder frame"/>
            <p:cNvSpPr/>
            <p:nvPr/>
          </p:nvSpPr>
          <p:spPr>
            <a:xfrm>
              <a:off x="5765520" y="2503627"/>
              <a:ext cx="609904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nder body"/>
            <p:cNvSpPr/>
            <p:nvPr/>
          </p:nvSpPr>
          <p:spPr>
            <a:xfrm>
              <a:off x="5765520" y="2238451"/>
              <a:ext cx="609904" cy="265176"/>
            </a:xfrm>
            <a:prstGeom prst="roundRect">
              <a:avLst>
                <a:gd name="adj" fmla="val 25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tender coal"/>
            <p:cNvSpPr/>
            <p:nvPr/>
          </p:nvSpPr>
          <p:spPr>
            <a:xfrm>
              <a:off x="5785408" y="2152269"/>
              <a:ext cx="570129" cy="86182"/>
            </a:xfrm>
            <a:custGeom>
              <a:avLst/>
              <a:gdLst/>
              <a:ahLst/>
              <a:cxnLst/>
              <a:rect l="l" t="t" r="r" b="b"/>
              <a:pathLst>
                <a:path w="570129" h="86182">
                  <a:moveTo>
                    <a:pt x="0" y="86182"/>
                  </a:moveTo>
                  <a:lnTo>
                    <a:pt x="99441" y="6629"/>
                  </a:lnTo>
                  <a:lnTo>
                    <a:pt x="324841" y="0"/>
                  </a:lnTo>
                  <a:lnTo>
                    <a:pt x="570129" y="8618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coupling"/>
            <p:cNvSpPr/>
            <p:nvPr/>
          </p:nvSpPr>
          <p:spPr>
            <a:xfrm>
              <a:off x="6375425" y="2404186"/>
              <a:ext cx="53035" cy="1988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wheel"/>
            <p:cNvSpPr/>
            <p:nvPr/>
          </p:nvSpPr>
          <p:spPr>
            <a:xfrm>
              <a:off x="5805297" y="2556662"/>
              <a:ext cx="159105" cy="15910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ub"/>
            <p:cNvSpPr/>
            <p:nvPr/>
          </p:nvSpPr>
          <p:spPr>
            <a:xfrm>
              <a:off x="5864166" y="2615531"/>
              <a:ext cx="41367" cy="413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wheel"/>
            <p:cNvSpPr/>
            <p:nvPr/>
          </p:nvSpPr>
          <p:spPr>
            <a:xfrm>
              <a:off x="5937885" y="2556662"/>
              <a:ext cx="159105" cy="15910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ub"/>
            <p:cNvSpPr/>
            <p:nvPr/>
          </p:nvSpPr>
          <p:spPr>
            <a:xfrm>
              <a:off x="5996754" y="2615531"/>
              <a:ext cx="41367" cy="413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wheel"/>
            <p:cNvSpPr/>
            <p:nvPr/>
          </p:nvSpPr>
          <p:spPr>
            <a:xfrm>
              <a:off x="6043955" y="2556662"/>
              <a:ext cx="159105" cy="15910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ub"/>
            <p:cNvSpPr/>
            <p:nvPr/>
          </p:nvSpPr>
          <p:spPr>
            <a:xfrm>
              <a:off x="6102824" y="2615531"/>
              <a:ext cx="41367" cy="413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wheel"/>
            <p:cNvSpPr/>
            <p:nvPr/>
          </p:nvSpPr>
          <p:spPr>
            <a:xfrm>
              <a:off x="6176543" y="2556662"/>
              <a:ext cx="159105" cy="15910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ub"/>
            <p:cNvSpPr/>
            <p:nvPr/>
          </p:nvSpPr>
          <p:spPr>
            <a:xfrm>
              <a:off x="6235412" y="2615531"/>
              <a:ext cx="41367" cy="413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frame"/>
            <p:cNvSpPr/>
            <p:nvPr/>
          </p:nvSpPr>
          <p:spPr>
            <a:xfrm>
              <a:off x="6428460" y="2503627"/>
              <a:ext cx="1207081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cab"/>
            <p:cNvSpPr/>
            <p:nvPr/>
          </p:nvSpPr>
          <p:spPr>
            <a:xfrm>
              <a:off x="6428460" y="2052828"/>
              <a:ext cx="304952" cy="450799"/>
            </a:xfrm>
            <a:prstGeom prst="roundRect">
              <a:avLst>
                <a:gd name="adj" fmla="val 217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cab roof"/>
            <p:cNvSpPr/>
            <p:nvPr/>
          </p:nvSpPr>
          <p:spPr>
            <a:xfrm>
              <a:off x="6401943" y="2013051"/>
              <a:ext cx="357987" cy="39776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cab window"/>
            <p:cNvSpPr/>
            <p:nvPr/>
          </p:nvSpPr>
          <p:spPr>
            <a:xfrm>
              <a:off x="6501384" y="2119122"/>
              <a:ext cx="132588" cy="14584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boiler"/>
            <p:cNvSpPr/>
            <p:nvPr/>
          </p:nvSpPr>
          <p:spPr>
            <a:xfrm>
              <a:off x="6733413" y="2092604"/>
              <a:ext cx="676729" cy="331470"/>
            </a:xfrm>
            <a:prstGeom prst="roundRect">
              <a:avLst>
                <a:gd name="adj" fmla="val 220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smokebox"/>
            <p:cNvSpPr/>
            <p:nvPr/>
          </p:nvSpPr>
          <p:spPr>
            <a:xfrm>
              <a:off x="7410142" y="2092604"/>
              <a:ext cx="159105" cy="331470"/>
            </a:xfrm>
            <a:prstGeom prst="roundRect">
              <a:avLst>
                <a:gd name="adj" fmla="val 1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funnel stack"/>
            <p:cNvSpPr/>
            <p:nvPr/>
          </p:nvSpPr>
          <p:spPr>
            <a:xfrm>
              <a:off x="7403512" y="1867204"/>
              <a:ext cx="159106" cy="225400"/>
            </a:xfrm>
            <a:custGeom>
              <a:avLst/>
              <a:gdLst/>
              <a:ahLst/>
              <a:cxnLst/>
              <a:rect l="l" t="t" r="r" b="b"/>
              <a:pathLst>
                <a:path w="159106" h="225400">
                  <a:moveTo>
                    <a:pt x="53035" y="225400"/>
                  </a:moveTo>
                  <a:lnTo>
                    <a:pt x="53035" y="159106"/>
                  </a:lnTo>
                  <a:lnTo>
                    <a:pt x="0" y="0"/>
                  </a:lnTo>
                  <a:lnTo>
                    <a:pt x="159106" y="0"/>
                  </a:lnTo>
                  <a:lnTo>
                    <a:pt x="106071" y="159106"/>
                  </a:lnTo>
                  <a:lnTo>
                    <a:pt x="106071" y="225400"/>
                  </a:lnTo>
                  <a:close/>
                </a:path>
              </a:pathLst>
            </a:cu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adlamp"/>
            <p:cNvSpPr/>
            <p:nvPr/>
          </p:nvSpPr>
          <p:spPr>
            <a:xfrm>
              <a:off x="7529471" y="1986534"/>
              <a:ext cx="99440" cy="99440"/>
            </a:xfrm>
            <a:prstGeom prst="ellipse">
              <a:avLst/>
            </a:prstGeom>
            <a:solidFill>
              <a:srgbClr val="F2C14E"/>
            </a:solidFill>
            <a:ln w="127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sand dome"/>
            <p:cNvSpPr/>
            <p:nvPr/>
          </p:nvSpPr>
          <p:spPr>
            <a:xfrm>
              <a:off x="6922897" y="2013051"/>
              <a:ext cx="119329" cy="79552"/>
            </a:xfrm>
            <a:prstGeom prst="roundRect">
              <a:avLst>
                <a:gd name="adj" fmla="val 3333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steam dome"/>
            <p:cNvSpPr/>
            <p:nvPr/>
          </p:nvSpPr>
          <p:spPr>
            <a:xfrm>
              <a:off x="7152985" y="1999792"/>
              <a:ext cx="132588" cy="92811"/>
            </a:xfrm>
            <a:prstGeom prst="roundRect">
              <a:avLst>
                <a:gd name="adj" fmla="val 28571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pilot"/>
            <p:cNvSpPr/>
            <p:nvPr/>
          </p:nvSpPr>
          <p:spPr>
            <a:xfrm>
              <a:off x="7569247" y="2510256"/>
              <a:ext cx="198882" cy="145847"/>
            </a:xfrm>
            <a:custGeom>
              <a:avLst/>
              <a:gdLst/>
              <a:ahLst/>
              <a:cxnLst/>
              <a:rect l="l" t="t" r="r" b="b"/>
              <a:pathLst>
                <a:path w="198882" h="145847">
                  <a:moveTo>
                    <a:pt x="0" y="0"/>
                  </a:moveTo>
                  <a:lnTo>
                    <a:pt x="198882" y="145847"/>
                  </a:lnTo>
                  <a:lnTo>
                    <a:pt x="0" y="145847"/>
                  </a:lnTo>
                  <a:close/>
                </a:path>
              </a:pathLst>
            </a:custGeom>
            <a:solidFill>
              <a:srgbClr val="3A3F47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bell"/>
            <p:cNvSpPr/>
            <p:nvPr/>
          </p:nvSpPr>
          <p:spPr>
            <a:xfrm>
              <a:off x="7032001" y="1933498"/>
              <a:ext cx="39776" cy="7955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wheel"/>
            <p:cNvSpPr/>
            <p:nvPr/>
          </p:nvSpPr>
          <p:spPr>
            <a:xfrm>
              <a:off x="6488125" y="2490368"/>
              <a:ext cx="225399" cy="225399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hub"/>
            <p:cNvSpPr/>
            <p:nvPr/>
          </p:nvSpPr>
          <p:spPr>
            <a:xfrm>
              <a:off x="6571523" y="2573766"/>
              <a:ext cx="58603" cy="5860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wheel"/>
            <p:cNvSpPr/>
            <p:nvPr/>
          </p:nvSpPr>
          <p:spPr>
            <a:xfrm>
              <a:off x="6740572" y="2490368"/>
              <a:ext cx="225399" cy="225399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hub"/>
            <p:cNvSpPr/>
            <p:nvPr/>
          </p:nvSpPr>
          <p:spPr>
            <a:xfrm>
              <a:off x="6823970" y="2573766"/>
              <a:ext cx="58603" cy="5860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wheel"/>
            <p:cNvSpPr/>
            <p:nvPr/>
          </p:nvSpPr>
          <p:spPr>
            <a:xfrm>
              <a:off x="7304071" y="2583180"/>
              <a:ext cx="132588" cy="13258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hub"/>
            <p:cNvSpPr/>
            <p:nvPr/>
          </p:nvSpPr>
          <p:spPr>
            <a:xfrm>
              <a:off x="7353129" y="2632237"/>
              <a:ext cx="34472" cy="3447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wheel"/>
            <p:cNvSpPr/>
            <p:nvPr/>
          </p:nvSpPr>
          <p:spPr>
            <a:xfrm>
              <a:off x="7449918" y="2583180"/>
              <a:ext cx="132588" cy="13258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hub"/>
            <p:cNvSpPr/>
            <p:nvPr/>
          </p:nvSpPr>
          <p:spPr>
            <a:xfrm>
              <a:off x="7498976" y="2632237"/>
              <a:ext cx="34472" cy="3447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coupling rod"/>
            <p:cNvSpPr/>
            <p:nvPr/>
          </p:nvSpPr>
          <p:spPr>
            <a:xfrm>
              <a:off x="6600825" y="2527493"/>
              <a:ext cx="252447" cy="1856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panel"/>
            <p:cNvSpPr/>
            <p:nvPr/>
          </p:nvSpPr>
          <p:spPr>
            <a:xfrm>
              <a:off x="8412480" y="1691640"/>
              <a:ext cx="3108960" cy="1207008"/>
            </a:xfrm>
            <a:prstGeom prst="roundRect">
              <a:avLst>
                <a:gd name="adj" fmla="val 7575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ail"/>
            <p:cNvSpPr/>
            <p:nvPr/>
          </p:nvSpPr>
          <p:spPr>
            <a:xfrm>
              <a:off x="8549640" y="2715768"/>
              <a:ext cx="283464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frame"/>
            <p:cNvSpPr/>
            <p:nvPr/>
          </p:nvSpPr>
          <p:spPr>
            <a:xfrm>
              <a:off x="9211208" y="2523515"/>
              <a:ext cx="1471726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bunker"/>
            <p:cNvSpPr/>
            <p:nvPr/>
          </p:nvSpPr>
          <p:spPr>
            <a:xfrm>
              <a:off x="9211208" y="2264968"/>
              <a:ext cx="225399" cy="258546"/>
            </a:xfrm>
            <a:prstGeom prst="roundRect">
              <a:avLst>
                <a:gd name="adj" fmla="val 2941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bunker coal"/>
            <p:cNvSpPr/>
            <p:nvPr/>
          </p:nvSpPr>
          <p:spPr>
            <a:xfrm>
              <a:off x="9224467" y="2198674"/>
              <a:ext cx="198882" cy="66294"/>
            </a:xfrm>
            <a:custGeom>
              <a:avLst/>
              <a:gdLst/>
              <a:ahLst/>
              <a:cxnLst/>
              <a:rect l="l" t="t" r="r" b="b"/>
              <a:pathLst>
                <a:path w="198882" h="66294">
                  <a:moveTo>
                    <a:pt x="0" y="66294"/>
                  </a:moveTo>
                  <a:lnTo>
                    <a:pt x="53035" y="6630"/>
                  </a:lnTo>
                  <a:lnTo>
                    <a:pt x="132588" y="0"/>
                  </a:lnTo>
                  <a:lnTo>
                    <a:pt x="198882" y="66294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cab"/>
            <p:cNvSpPr/>
            <p:nvPr/>
          </p:nvSpPr>
          <p:spPr>
            <a:xfrm>
              <a:off x="9436607" y="2158898"/>
              <a:ext cx="265176" cy="364617"/>
            </a:xfrm>
            <a:prstGeom prst="roundRect">
              <a:avLst>
                <a:gd name="adj" fmla="val 2500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cab roof"/>
            <p:cNvSpPr/>
            <p:nvPr/>
          </p:nvSpPr>
          <p:spPr>
            <a:xfrm>
              <a:off x="9423349" y="2125751"/>
              <a:ext cx="291693" cy="331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cab window"/>
            <p:cNvSpPr/>
            <p:nvPr/>
          </p:nvSpPr>
          <p:spPr>
            <a:xfrm>
              <a:off x="9502902" y="2211933"/>
              <a:ext cx="119329" cy="11932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boiler"/>
            <p:cNvSpPr/>
            <p:nvPr/>
          </p:nvSpPr>
          <p:spPr>
            <a:xfrm>
              <a:off x="9701784" y="2192045"/>
              <a:ext cx="848563" cy="265176"/>
            </a:xfrm>
            <a:prstGeom prst="roundRect">
              <a:avLst>
                <a:gd name="adj" fmla="val 25000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side tank"/>
            <p:cNvSpPr/>
            <p:nvPr/>
          </p:nvSpPr>
          <p:spPr>
            <a:xfrm>
              <a:off x="9701784" y="2284857"/>
              <a:ext cx="782269" cy="232028"/>
            </a:xfrm>
            <a:prstGeom prst="roundRect">
              <a:avLst>
                <a:gd name="adj" fmla="val 14285"/>
              </a:avLst>
            </a:prstGeom>
            <a:solidFill>
              <a:srgbClr val="9C804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smokebox"/>
            <p:cNvSpPr/>
            <p:nvPr/>
          </p:nvSpPr>
          <p:spPr>
            <a:xfrm>
              <a:off x="10550347" y="2192045"/>
              <a:ext cx="132588" cy="265176"/>
            </a:xfrm>
            <a:prstGeom prst="roundRect">
              <a:avLst>
                <a:gd name="adj" fmla="val 12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chimney"/>
            <p:cNvSpPr/>
            <p:nvPr/>
          </p:nvSpPr>
          <p:spPr>
            <a:xfrm>
              <a:off x="10576864" y="2052828"/>
              <a:ext cx="79552" cy="13921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chimney lip"/>
            <p:cNvSpPr/>
            <p:nvPr/>
          </p:nvSpPr>
          <p:spPr>
            <a:xfrm>
              <a:off x="10556976" y="2032939"/>
              <a:ext cx="119329" cy="331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dome"/>
            <p:cNvSpPr/>
            <p:nvPr/>
          </p:nvSpPr>
          <p:spPr>
            <a:xfrm>
              <a:off x="10058180" y="2119122"/>
              <a:ext cx="119329" cy="72923"/>
            </a:xfrm>
            <a:prstGeom prst="roundRect">
              <a:avLst>
                <a:gd name="adj" fmla="val 36363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slim chimney"/>
            <p:cNvSpPr/>
            <p:nvPr/>
          </p:nvSpPr>
          <p:spPr>
            <a:xfrm>
              <a:off x="10590123" y="1986534"/>
              <a:ext cx="53035" cy="79552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smoke deflector"/>
            <p:cNvSpPr/>
            <p:nvPr/>
          </p:nvSpPr>
          <p:spPr>
            <a:xfrm>
              <a:off x="10377982" y="2013051"/>
              <a:ext cx="159106" cy="225400"/>
            </a:xfrm>
            <a:custGeom>
              <a:avLst/>
              <a:gdLst/>
              <a:ahLst/>
              <a:cxnLst/>
              <a:rect l="l" t="t" r="r" b="b"/>
              <a:pathLst>
                <a:path w="159106" h="225400">
                  <a:moveTo>
                    <a:pt x="0" y="225400"/>
                  </a:moveTo>
                  <a:lnTo>
                    <a:pt x="159106" y="225400"/>
                  </a:lnTo>
                  <a:lnTo>
                    <a:pt x="159106" y="0"/>
                  </a:lnTo>
                  <a:lnTo>
                    <a:pt x="26518" y="39777"/>
                  </a:lnTo>
                  <a:close/>
                </a:path>
              </a:pathLst>
            </a:custGeom>
            <a:solidFill>
              <a:srgbClr val="3A3F47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lamp"/>
            <p:cNvSpPr/>
            <p:nvPr/>
          </p:nvSpPr>
          <p:spPr>
            <a:xfrm>
              <a:off x="10649788" y="2424074"/>
              <a:ext cx="66294" cy="66294"/>
            </a:xfrm>
            <a:prstGeom prst="ellipse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wheel"/>
            <p:cNvSpPr/>
            <p:nvPr/>
          </p:nvSpPr>
          <p:spPr>
            <a:xfrm>
              <a:off x="9582454" y="2477109"/>
              <a:ext cx="238658" cy="23865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hub"/>
            <p:cNvSpPr/>
            <p:nvPr/>
          </p:nvSpPr>
          <p:spPr>
            <a:xfrm>
              <a:off x="9670758" y="2565413"/>
              <a:ext cx="62051" cy="620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wheel"/>
            <p:cNvSpPr/>
            <p:nvPr/>
          </p:nvSpPr>
          <p:spPr>
            <a:xfrm>
              <a:off x="9847630" y="2477109"/>
              <a:ext cx="238658" cy="23865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hub"/>
            <p:cNvSpPr/>
            <p:nvPr/>
          </p:nvSpPr>
          <p:spPr>
            <a:xfrm>
              <a:off x="9935934" y="2565413"/>
              <a:ext cx="62051" cy="620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wheel"/>
            <p:cNvSpPr/>
            <p:nvPr/>
          </p:nvSpPr>
          <p:spPr>
            <a:xfrm>
              <a:off x="10112806" y="2477109"/>
              <a:ext cx="238658" cy="23865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hub"/>
            <p:cNvSpPr/>
            <p:nvPr/>
          </p:nvSpPr>
          <p:spPr>
            <a:xfrm>
              <a:off x="10201110" y="2565413"/>
              <a:ext cx="62051" cy="620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coupling rod"/>
            <p:cNvSpPr/>
            <p:nvPr/>
          </p:nvSpPr>
          <p:spPr>
            <a:xfrm>
              <a:off x="9701784" y="2527493"/>
              <a:ext cx="530352" cy="1856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buffer beam"/>
            <p:cNvSpPr/>
            <p:nvPr/>
          </p:nvSpPr>
          <p:spPr>
            <a:xfrm>
              <a:off x="10682935" y="2463850"/>
              <a:ext cx="39776" cy="119329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row heading"/>
            <p:cNvSpPr txBox="1"/>
            <p:nvPr/>
          </p:nvSpPr>
          <p:spPr>
            <a:xfrm>
              <a:off x="548640" y="2971800"/>
              <a:ext cx="1417320" cy="120700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Medium</a:t>
              </a:r>
            </a:p>
          </p:txBody>
        </p:sp>
        <p:sp>
          <p:nvSpPr>
            <p:cNvPr id="93" name="panel"/>
            <p:cNvSpPr/>
            <p:nvPr/>
          </p:nvSpPr>
          <p:spPr>
            <a:xfrm>
              <a:off x="2011680" y="2971800"/>
              <a:ext cx="3108960" cy="1207008"/>
            </a:xfrm>
            <a:prstGeom prst="roundRect">
              <a:avLst>
                <a:gd name="adj" fmla="val 7575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ail"/>
            <p:cNvSpPr/>
            <p:nvPr/>
          </p:nvSpPr>
          <p:spPr>
            <a:xfrm>
              <a:off x="2148840" y="3995928"/>
              <a:ext cx="283464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tender frame"/>
            <p:cNvSpPr/>
            <p:nvPr/>
          </p:nvSpPr>
          <p:spPr>
            <a:xfrm>
              <a:off x="2379497" y="3803675"/>
              <a:ext cx="543610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nder body"/>
            <p:cNvSpPr/>
            <p:nvPr/>
          </p:nvSpPr>
          <p:spPr>
            <a:xfrm>
              <a:off x="2379497" y="3584905"/>
              <a:ext cx="543610" cy="218770"/>
            </a:xfrm>
            <a:prstGeom prst="roundRect">
              <a:avLst>
                <a:gd name="adj" fmla="val 303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tender coal"/>
            <p:cNvSpPr/>
            <p:nvPr/>
          </p:nvSpPr>
          <p:spPr>
            <a:xfrm>
              <a:off x="2399385" y="3492093"/>
              <a:ext cx="503835" cy="92812"/>
            </a:xfrm>
            <a:custGeom>
              <a:avLst/>
              <a:gdLst/>
              <a:ahLst/>
              <a:cxnLst/>
              <a:rect l="l" t="t" r="r" b="b"/>
              <a:pathLst>
                <a:path w="503835" h="92812">
                  <a:moveTo>
                    <a:pt x="0" y="92812"/>
                  </a:moveTo>
                  <a:lnTo>
                    <a:pt x="99441" y="6630"/>
                  </a:lnTo>
                  <a:lnTo>
                    <a:pt x="298323" y="0"/>
                  </a:lnTo>
                  <a:lnTo>
                    <a:pt x="503835" y="9281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coupling"/>
            <p:cNvSpPr/>
            <p:nvPr/>
          </p:nvSpPr>
          <p:spPr>
            <a:xfrm>
              <a:off x="2923108" y="3724122"/>
              <a:ext cx="46405" cy="1988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wheel"/>
            <p:cNvSpPr/>
            <p:nvPr/>
          </p:nvSpPr>
          <p:spPr>
            <a:xfrm>
              <a:off x="2419273" y="3810304"/>
              <a:ext cx="185623" cy="18562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hub"/>
            <p:cNvSpPr/>
            <p:nvPr/>
          </p:nvSpPr>
          <p:spPr>
            <a:xfrm>
              <a:off x="2487954" y="3878985"/>
              <a:ext cx="48262" cy="4826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wheel"/>
            <p:cNvSpPr/>
            <p:nvPr/>
          </p:nvSpPr>
          <p:spPr>
            <a:xfrm>
              <a:off x="2697708" y="3810304"/>
              <a:ext cx="185623" cy="18562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hub"/>
            <p:cNvSpPr/>
            <p:nvPr/>
          </p:nvSpPr>
          <p:spPr>
            <a:xfrm>
              <a:off x="2766389" y="3878985"/>
              <a:ext cx="48262" cy="4826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frame"/>
            <p:cNvSpPr/>
            <p:nvPr/>
          </p:nvSpPr>
          <p:spPr>
            <a:xfrm>
              <a:off x="2969514" y="3803675"/>
              <a:ext cx="1743532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cab"/>
            <p:cNvSpPr/>
            <p:nvPr/>
          </p:nvSpPr>
          <p:spPr>
            <a:xfrm>
              <a:off x="2969514" y="3439058"/>
              <a:ext cx="265176" cy="364617"/>
            </a:xfrm>
            <a:prstGeom prst="roundRect">
              <a:avLst>
                <a:gd name="adj" fmla="val 25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cab roof"/>
            <p:cNvSpPr/>
            <p:nvPr/>
          </p:nvSpPr>
          <p:spPr>
            <a:xfrm>
              <a:off x="2956255" y="3405911"/>
              <a:ext cx="291693" cy="331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cab window"/>
            <p:cNvSpPr/>
            <p:nvPr/>
          </p:nvSpPr>
          <p:spPr>
            <a:xfrm>
              <a:off x="3035808" y="3492093"/>
              <a:ext cx="119329" cy="11932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boiler"/>
            <p:cNvSpPr/>
            <p:nvPr/>
          </p:nvSpPr>
          <p:spPr>
            <a:xfrm>
              <a:off x="3234690" y="3472205"/>
              <a:ext cx="1345768" cy="265176"/>
            </a:xfrm>
            <a:prstGeom prst="roundRect">
              <a:avLst>
                <a:gd name="adj" fmla="val 250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boiler band"/>
            <p:cNvSpPr/>
            <p:nvPr/>
          </p:nvSpPr>
          <p:spPr>
            <a:xfrm>
              <a:off x="3638420" y="3472205"/>
              <a:ext cx="9281" cy="265176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boiler band"/>
            <p:cNvSpPr/>
            <p:nvPr/>
          </p:nvSpPr>
          <p:spPr>
            <a:xfrm>
              <a:off x="3974862" y="3472205"/>
              <a:ext cx="9281" cy="265176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boiler band"/>
            <p:cNvSpPr/>
            <p:nvPr/>
          </p:nvSpPr>
          <p:spPr>
            <a:xfrm>
              <a:off x="4311304" y="3472205"/>
              <a:ext cx="9281" cy="265176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smokebox"/>
            <p:cNvSpPr/>
            <p:nvPr/>
          </p:nvSpPr>
          <p:spPr>
            <a:xfrm>
              <a:off x="4580458" y="3472205"/>
              <a:ext cx="132588" cy="265176"/>
            </a:xfrm>
            <a:prstGeom prst="roundRect">
              <a:avLst>
                <a:gd name="adj" fmla="val 12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chimney"/>
            <p:cNvSpPr/>
            <p:nvPr/>
          </p:nvSpPr>
          <p:spPr>
            <a:xfrm>
              <a:off x="4606975" y="3332988"/>
              <a:ext cx="79552" cy="13921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chimney lip"/>
            <p:cNvSpPr/>
            <p:nvPr/>
          </p:nvSpPr>
          <p:spPr>
            <a:xfrm>
              <a:off x="4587087" y="3313099"/>
              <a:ext cx="119329" cy="331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dome"/>
            <p:cNvSpPr/>
            <p:nvPr/>
          </p:nvSpPr>
          <p:spPr>
            <a:xfrm>
              <a:off x="3772997" y="3399282"/>
              <a:ext cx="119329" cy="72923"/>
            </a:xfrm>
            <a:prstGeom prst="roundRect">
              <a:avLst>
                <a:gd name="adj" fmla="val 36363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wheel"/>
            <p:cNvSpPr/>
            <p:nvPr/>
          </p:nvSpPr>
          <p:spPr>
            <a:xfrm>
              <a:off x="2989402" y="373075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hub"/>
            <p:cNvSpPr/>
            <p:nvPr/>
          </p:nvSpPr>
          <p:spPr>
            <a:xfrm>
              <a:off x="3087517" y="382886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wheel"/>
            <p:cNvSpPr/>
            <p:nvPr/>
          </p:nvSpPr>
          <p:spPr>
            <a:xfrm>
              <a:off x="3287725" y="373075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hub"/>
            <p:cNvSpPr/>
            <p:nvPr/>
          </p:nvSpPr>
          <p:spPr>
            <a:xfrm>
              <a:off x="3385840" y="382886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wheel"/>
            <p:cNvSpPr/>
            <p:nvPr/>
          </p:nvSpPr>
          <p:spPr>
            <a:xfrm>
              <a:off x="3586048" y="373075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hub"/>
            <p:cNvSpPr/>
            <p:nvPr/>
          </p:nvSpPr>
          <p:spPr>
            <a:xfrm>
              <a:off x="3684163" y="382886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wheel"/>
            <p:cNvSpPr/>
            <p:nvPr/>
          </p:nvSpPr>
          <p:spPr>
            <a:xfrm>
              <a:off x="3884371" y="373075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hub"/>
            <p:cNvSpPr/>
            <p:nvPr/>
          </p:nvSpPr>
          <p:spPr>
            <a:xfrm>
              <a:off x="3982486" y="382886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wheel"/>
            <p:cNvSpPr/>
            <p:nvPr/>
          </p:nvSpPr>
          <p:spPr>
            <a:xfrm>
              <a:off x="4248988" y="3850081"/>
              <a:ext cx="145846" cy="14584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hub"/>
            <p:cNvSpPr/>
            <p:nvPr/>
          </p:nvSpPr>
          <p:spPr>
            <a:xfrm>
              <a:off x="4302951" y="3904044"/>
              <a:ext cx="37920" cy="379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coupling rod"/>
            <p:cNvSpPr/>
            <p:nvPr/>
          </p:nvSpPr>
          <p:spPr>
            <a:xfrm>
              <a:off x="3121990" y="3787764"/>
              <a:ext cx="894968" cy="1856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buffer beam"/>
            <p:cNvSpPr/>
            <p:nvPr/>
          </p:nvSpPr>
          <p:spPr>
            <a:xfrm>
              <a:off x="4713046" y="3744010"/>
              <a:ext cx="39776" cy="119329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panel"/>
            <p:cNvSpPr/>
            <p:nvPr/>
          </p:nvSpPr>
          <p:spPr>
            <a:xfrm>
              <a:off x="5212080" y="2971800"/>
              <a:ext cx="3108960" cy="1207008"/>
            </a:xfrm>
            <a:prstGeom prst="roundRect">
              <a:avLst>
                <a:gd name="adj" fmla="val 7575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ail"/>
            <p:cNvSpPr/>
            <p:nvPr/>
          </p:nvSpPr>
          <p:spPr>
            <a:xfrm>
              <a:off x="5349240" y="3995928"/>
              <a:ext cx="283464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tender frame"/>
            <p:cNvSpPr/>
            <p:nvPr/>
          </p:nvSpPr>
          <p:spPr>
            <a:xfrm>
              <a:off x="5606415" y="3783787"/>
              <a:ext cx="609904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tender body"/>
            <p:cNvSpPr/>
            <p:nvPr/>
          </p:nvSpPr>
          <p:spPr>
            <a:xfrm>
              <a:off x="5606415" y="3518611"/>
              <a:ext cx="609904" cy="265176"/>
            </a:xfrm>
            <a:prstGeom prst="roundRect">
              <a:avLst>
                <a:gd name="adj" fmla="val 25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tender coal"/>
            <p:cNvSpPr/>
            <p:nvPr/>
          </p:nvSpPr>
          <p:spPr>
            <a:xfrm>
              <a:off x="5626303" y="3432429"/>
              <a:ext cx="570128" cy="86182"/>
            </a:xfrm>
            <a:custGeom>
              <a:avLst/>
              <a:gdLst/>
              <a:ahLst/>
              <a:cxnLst/>
              <a:rect l="l" t="t" r="r" b="b"/>
              <a:pathLst>
                <a:path w="570128" h="86182">
                  <a:moveTo>
                    <a:pt x="0" y="86182"/>
                  </a:moveTo>
                  <a:lnTo>
                    <a:pt x="99441" y="6629"/>
                  </a:lnTo>
                  <a:lnTo>
                    <a:pt x="324840" y="0"/>
                  </a:lnTo>
                  <a:lnTo>
                    <a:pt x="570128" y="8618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coupling"/>
            <p:cNvSpPr/>
            <p:nvPr/>
          </p:nvSpPr>
          <p:spPr>
            <a:xfrm>
              <a:off x="6216319" y="3684346"/>
              <a:ext cx="53035" cy="1988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wheel"/>
            <p:cNvSpPr/>
            <p:nvPr/>
          </p:nvSpPr>
          <p:spPr>
            <a:xfrm>
              <a:off x="5646191" y="3836822"/>
              <a:ext cx="159105" cy="15910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hub"/>
            <p:cNvSpPr/>
            <p:nvPr/>
          </p:nvSpPr>
          <p:spPr>
            <a:xfrm>
              <a:off x="5705060" y="3895691"/>
              <a:ext cx="41367" cy="413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wheel"/>
            <p:cNvSpPr/>
            <p:nvPr/>
          </p:nvSpPr>
          <p:spPr>
            <a:xfrm>
              <a:off x="5778779" y="3836822"/>
              <a:ext cx="159105" cy="15910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6" name="hub"/>
            <p:cNvSpPr/>
            <p:nvPr/>
          </p:nvSpPr>
          <p:spPr>
            <a:xfrm>
              <a:off x="5837648" y="3895691"/>
              <a:ext cx="41367" cy="413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wheel"/>
            <p:cNvSpPr/>
            <p:nvPr/>
          </p:nvSpPr>
          <p:spPr>
            <a:xfrm>
              <a:off x="5884849" y="3836822"/>
              <a:ext cx="159105" cy="15910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hub"/>
            <p:cNvSpPr/>
            <p:nvPr/>
          </p:nvSpPr>
          <p:spPr>
            <a:xfrm>
              <a:off x="5943718" y="3895691"/>
              <a:ext cx="41367" cy="413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wheel"/>
            <p:cNvSpPr/>
            <p:nvPr/>
          </p:nvSpPr>
          <p:spPr>
            <a:xfrm>
              <a:off x="6017437" y="3836822"/>
              <a:ext cx="159105" cy="15910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0" name="hub"/>
            <p:cNvSpPr/>
            <p:nvPr/>
          </p:nvSpPr>
          <p:spPr>
            <a:xfrm>
              <a:off x="6076306" y="3895691"/>
              <a:ext cx="41367" cy="413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1" name="frame"/>
            <p:cNvSpPr/>
            <p:nvPr/>
          </p:nvSpPr>
          <p:spPr>
            <a:xfrm>
              <a:off x="6269355" y="3783787"/>
              <a:ext cx="1518928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cab"/>
            <p:cNvSpPr/>
            <p:nvPr/>
          </p:nvSpPr>
          <p:spPr>
            <a:xfrm>
              <a:off x="6269355" y="3332988"/>
              <a:ext cx="304952" cy="450799"/>
            </a:xfrm>
            <a:prstGeom prst="roundRect">
              <a:avLst>
                <a:gd name="adj" fmla="val 217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cab roof"/>
            <p:cNvSpPr/>
            <p:nvPr/>
          </p:nvSpPr>
          <p:spPr>
            <a:xfrm>
              <a:off x="6242837" y="3293211"/>
              <a:ext cx="357987" cy="39776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cab window"/>
            <p:cNvSpPr/>
            <p:nvPr/>
          </p:nvSpPr>
          <p:spPr>
            <a:xfrm>
              <a:off x="6342278" y="3399282"/>
              <a:ext cx="132588" cy="14584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5" name="boiler"/>
            <p:cNvSpPr/>
            <p:nvPr/>
          </p:nvSpPr>
          <p:spPr>
            <a:xfrm>
              <a:off x="6574307" y="3372764"/>
              <a:ext cx="988576" cy="331470"/>
            </a:xfrm>
            <a:prstGeom prst="roundRect">
              <a:avLst>
                <a:gd name="adj" fmla="val 220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6" name="smokebox"/>
            <p:cNvSpPr/>
            <p:nvPr/>
          </p:nvSpPr>
          <p:spPr>
            <a:xfrm>
              <a:off x="7562883" y="3372764"/>
              <a:ext cx="159105" cy="331470"/>
            </a:xfrm>
            <a:prstGeom prst="roundRect">
              <a:avLst>
                <a:gd name="adj" fmla="val 1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funnel stack"/>
            <p:cNvSpPr/>
            <p:nvPr/>
          </p:nvSpPr>
          <p:spPr>
            <a:xfrm>
              <a:off x="7556254" y="3147364"/>
              <a:ext cx="159105" cy="225400"/>
            </a:xfrm>
            <a:custGeom>
              <a:avLst/>
              <a:gdLst/>
              <a:ahLst/>
              <a:cxnLst/>
              <a:rect l="l" t="t" r="r" b="b"/>
              <a:pathLst>
                <a:path w="159105" h="225400">
                  <a:moveTo>
                    <a:pt x="53035" y="225400"/>
                  </a:moveTo>
                  <a:lnTo>
                    <a:pt x="53035" y="159106"/>
                  </a:lnTo>
                  <a:lnTo>
                    <a:pt x="0" y="0"/>
                  </a:lnTo>
                  <a:lnTo>
                    <a:pt x="159105" y="0"/>
                  </a:lnTo>
                  <a:lnTo>
                    <a:pt x="106070" y="159106"/>
                  </a:lnTo>
                  <a:lnTo>
                    <a:pt x="106070" y="225400"/>
                  </a:lnTo>
                  <a:close/>
                </a:path>
              </a:pathLst>
            </a:cu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headlamp"/>
            <p:cNvSpPr/>
            <p:nvPr/>
          </p:nvSpPr>
          <p:spPr>
            <a:xfrm>
              <a:off x="7682212" y="3266694"/>
              <a:ext cx="99440" cy="99440"/>
            </a:xfrm>
            <a:prstGeom prst="ellipse">
              <a:avLst/>
            </a:prstGeom>
            <a:solidFill>
              <a:srgbClr val="F2C14E"/>
            </a:solidFill>
            <a:ln w="127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sand dome"/>
            <p:cNvSpPr/>
            <p:nvPr/>
          </p:nvSpPr>
          <p:spPr>
            <a:xfrm>
              <a:off x="6851108" y="3293211"/>
              <a:ext cx="119329" cy="79552"/>
            </a:xfrm>
            <a:prstGeom prst="roundRect">
              <a:avLst>
                <a:gd name="adj" fmla="val 3333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0" name="steam dome"/>
            <p:cNvSpPr/>
            <p:nvPr/>
          </p:nvSpPr>
          <p:spPr>
            <a:xfrm>
              <a:off x="7187224" y="3279952"/>
              <a:ext cx="132588" cy="92811"/>
            </a:xfrm>
            <a:prstGeom prst="roundRect">
              <a:avLst>
                <a:gd name="adj" fmla="val 28571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1" name="pilot"/>
            <p:cNvSpPr/>
            <p:nvPr/>
          </p:nvSpPr>
          <p:spPr>
            <a:xfrm>
              <a:off x="7721989" y="3790416"/>
              <a:ext cx="198882" cy="145847"/>
            </a:xfrm>
            <a:custGeom>
              <a:avLst/>
              <a:gdLst/>
              <a:ahLst/>
              <a:cxnLst/>
              <a:rect l="l" t="t" r="r" b="b"/>
              <a:pathLst>
                <a:path w="198882" h="145847">
                  <a:moveTo>
                    <a:pt x="0" y="0"/>
                  </a:moveTo>
                  <a:lnTo>
                    <a:pt x="198882" y="145847"/>
                  </a:lnTo>
                  <a:lnTo>
                    <a:pt x="0" y="145847"/>
                  </a:lnTo>
                  <a:close/>
                </a:path>
              </a:pathLst>
            </a:custGeom>
            <a:solidFill>
              <a:srgbClr val="3A3F47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bell"/>
            <p:cNvSpPr/>
            <p:nvPr/>
          </p:nvSpPr>
          <p:spPr>
            <a:xfrm>
              <a:off x="7028819" y="3213658"/>
              <a:ext cx="39776" cy="7955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wheel"/>
            <p:cNvSpPr/>
            <p:nvPr/>
          </p:nvSpPr>
          <p:spPr>
            <a:xfrm>
              <a:off x="6315760" y="3744010"/>
              <a:ext cx="251917" cy="251917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hub"/>
            <p:cNvSpPr/>
            <p:nvPr/>
          </p:nvSpPr>
          <p:spPr>
            <a:xfrm>
              <a:off x="6408970" y="3837220"/>
              <a:ext cx="65498" cy="654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5" name="wheel"/>
            <p:cNvSpPr/>
            <p:nvPr/>
          </p:nvSpPr>
          <p:spPr>
            <a:xfrm>
              <a:off x="6597908" y="3744010"/>
              <a:ext cx="251917" cy="251917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6" name="hub"/>
            <p:cNvSpPr/>
            <p:nvPr/>
          </p:nvSpPr>
          <p:spPr>
            <a:xfrm>
              <a:off x="6691117" y="3837220"/>
              <a:ext cx="65498" cy="654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wheel"/>
            <p:cNvSpPr/>
            <p:nvPr/>
          </p:nvSpPr>
          <p:spPr>
            <a:xfrm>
              <a:off x="6880055" y="3744010"/>
              <a:ext cx="251917" cy="251917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hub"/>
            <p:cNvSpPr/>
            <p:nvPr/>
          </p:nvSpPr>
          <p:spPr>
            <a:xfrm>
              <a:off x="6973264" y="3837220"/>
              <a:ext cx="65498" cy="654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wheel"/>
            <p:cNvSpPr/>
            <p:nvPr/>
          </p:nvSpPr>
          <p:spPr>
            <a:xfrm>
              <a:off x="7456813" y="3863340"/>
              <a:ext cx="132588" cy="13258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0" name="hub"/>
            <p:cNvSpPr/>
            <p:nvPr/>
          </p:nvSpPr>
          <p:spPr>
            <a:xfrm>
              <a:off x="7505870" y="3912397"/>
              <a:ext cx="34472" cy="3447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1" name="wheel"/>
            <p:cNvSpPr/>
            <p:nvPr/>
          </p:nvSpPr>
          <p:spPr>
            <a:xfrm>
              <a:off x="7602659" y="3863340"/>
              <a:ext cx="132588" cy="13258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hub"/>
            <p:cNvSpPr/>
            <p:nvPr/>
          </p:nvSpPr>
          <p:spPr>
            <a:xfrm>
              <a:off x="7651717" y="3912397"/>
              <a:ext cx="34472" cy="3447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coupling rod"/>
            <p:cNvSpPr/>
            <p:nvPr/>
          </p:nvSpPr>
          <p:spPr>
            <a:xfrm>
              <a:off x="6441719" y="3794394"/>
              <a:ext cx="564294" cy="1856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panel"/>
            <p:cNvSpPr/>
            <p:nvPr/>
          </p:nvSpPr>
          <p:spPr>
            <a:xfrm>
              <a:off x="8412480" y="2971800"/>
              <a:ext cx="3108960" cy="1207008"/>
            </a:xfrm>
            <a:prstGeom prst="roundRect">
              <a:avLst>
                <a:gd name="adj" fmla="val 7575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5" name="rail"/>
            <p:cNvSpPr/>
            <p:nvPr/>
          </p:nvSpPr>
          <p:spPr>
            <a:xfrm>
              <a:off x="8549640" y="3995928"/>
              <a:ext cx="283464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6" name="tender frame"/>
            <p:cNvSpPr/>
            <p:nvPr/>
          </p:nvSpPr>
          <p:spPr>
            <a:xfrm>
              <a:off x="8780297" y="3803675"/>
              <a:ext cx="543610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tender body"/>
            <p:cNvSpPr/>
            <p:nvPr/>
          </p:nvSpPr>
          <p:spPr>
            <a:xfrm>
              <a:off x="8780297" y="3565017"/>
              <a:ext cx="543610" cy="238658"/>
            </a:xfrm>
            <a:prstGeom prst="roundRect">
              <a:avLst>
                <a:gd name="adj" fmla="val 2777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tender coal"/>
            <p:cNvSpPr/>
            <p:nvPr/>
          </p:nvSpPr>
          <p:spPr>
            <a:xfrm>
              <a:off x="8800185" y="3492093"/>
              <a:ext cx="503834" cy="92812"/>
            </a:xfrm>
            <a:custGeom>
              <a:avLst/>
              <a:gdLst/>
              <a:ahLst/>
              <a:cxnLst/>
              <a:rect l="l" t="t" r="r" b="b"/>
              <a:pathLst>
                <a:path w="503834" h="92812">
                  <a:moveTo>
                    <a:pt x="0" y="92812"/>
                  </a:moveTo>
                  <a:lnTo>
                    <a:pt x="99441" y="6630"/>
                  </a:lnTo>
                  <a:lnTo>
                    <a:pt x="298323" y="0"/>
                  </a:lnTo>
                  <a:lnTo>
                    <a:pt x="503834" y="9281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coupling"/>
            <p:cNvSpPr/>
            <p:nvPr/>
          </p:nvSpPr>
          <p:spPr>
            <a:xfrm>
              <a:off x="9323908" y="3724122"/>
              <a:ext cx="46405" cy="1988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0" name="wheel"/>
            <p:cNvSpPr/>
            <p:nvPr/>
          </p:nvSpPr>
          <p:spPr>
            <a:xfrm>
              <a:off x="8806815" y="3810304"/>
              <a:ext cx="185623" cy="18562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1" name="hub"/>
            <p:cNvSpPr/>
            <p:nvPr/>
          </p:nvSpPr>
          <p:spPr>
            <a:xfrm>
              <a:off x="8875495" y="3878985"/>
              <a:ext cx="48262" cy="4826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wheel"/>
            <p:cNvSpPr/>
            <p:nvPr/>
          </p:nvSpPr>
          <p:spPr>
            <a:xfrm>
              <a:off x="8965920" y="3810304"/>
              <a:ext cx="185623" cy="18562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hub"/>
            <p:cNvSpPr/>
            <p:nvPr/>
          </p:nvSpPr>
          <p:spPr>
            <a:xfrm>
              <a:off x="9034601" y="3878985"/>
              <a:ext cx="48262" cy="4826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wheel"/>
            <p:cNvSpPr/>
            <p:nvPr/>
          </p:nvSpPr>
          <p:spPr>
            <a:xfrm>
              <a:off x="9125026" y="3810304"/>
              <a:ext cx="185623" cy="18562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5" name="hub"/>
            <p:cNvSpPr/>
            <p:nvPr/>
          </p:nvSpPr>
          <p:spPr>
            <a:xfrm>
              <a:off x="9193706" y="3878985"/>
              <a:ext cx="48262" cy="4826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6" name="frame"/>
            <p:cNvSpPr/>
            <p:nvPr/>
          </p:nvSpPr>
          <p:spPr>
            <a:xfrm>
              <a:off x="9370313" y="3803675"/>
              <a:ext cx="1743532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7" name="cab"/>
            <p:cNvSpPr/>
            <p:nvPr/>
          </p:nvSpPr>
          <p:spPr>
            <a:xfrm>
              <a:off x="9370313" y="3439058"/>
              <a:ext cx="265176" cy="364617"/>
            </a:xfrm>
            <a:prstGeom prst="roundRect">
              <a:avLst>
                <a:gd name="adj" fmla="val 2500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8" name="cab roof"/>
            <p:cNvSpPr/>
            <p:nvPr/>
          </p:nvSpPr>
          <p:spPr>
            <a:xfrm>
              <a:off x="9350425" y="3386023"/>
              <a:ext cx="304952" cy="53035"/>
            </a:xfrm>
            <a:prstGeom prst="roundRect">
              <a:avLst>
                <a:gd name="adj" fmla="val 37500"/>
              </a:avLst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cab window"/>
            <p:cNvSpPr/>
            <p:nvPr/>
          </p:nvSpPr>
          <p:spPr>
            <a:xfrm>
              <a:off x="9436608" y="3492093"/>
              <a:ext cx="119329" cy="11932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0" name="boiler"/>
            <p:cNvSpPr/>
            <p:nvPr/>
          </p:nvSpPr>
          <p:spPr>
            <a:xfrm>
              <a:off x="9635490" y="3472205"/>
              <a:ext cx="1345768" cy="265176"/>
            </a:xfrm>
            <a:prstGeom prst="roundRect">
              <a:avLst>
                <a:gd name="adj" fmla="val 25000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1" name="boiler band"/>
            <p:cNvSpPr/>
            <p:nvPr/>
          </p:nvSpPr>
          <p:spPr>
            <a:xfrm>
              <a:off x="10039220" y="3472205"/>
              <a:ext cx="9281" cy="265176"/>
            </a:xfrm>
            <a:prstGeom prst="rect">
              <a:avLst/>
            </a:prstGeom>
            <a:solidFill>
              <a:srgbClr val="9C804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boiler band"/>
            <p:cNvSpPr/>
            <p:nvPr/>
          </p:nvSpPr>
          <p:spPr>
            <a:xfrm>
              <a:off x="10375662" y="3472205"/>
              <a:ext cx="9281" cy="265176"/>
            </a:xfrm>
            <a:prstGeom prst="rect">
              <a:avLst/>
            </a:prstGeom>
            <a:solidFill>
              <a:srgbClr val="9C804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boiler band"/>
            <p:cNvSpPr/>
            <p:nvPr/>
          </p:nvSpPr>
          <p:spPr>
            <a:xfrm>
              <a:off x="10712104" y="3472205"/>
              <a:ext cx="9281" cy="265176"/>
            </a:xfrm>
            <a:prstGeom prst="rect">
              <a:avLst/>
            </a:prstGeom>
            <a:solidFill>
              <a:srgbClr val="9C804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4" name="smokebox"/>
            <p:cNvSpPr/>
            <p:nvPr/>
          </p:nvSpPr>
          <p:spPr>
            <a:xfrm>
              <a:off x="10981258" y="3472205"/>
              <a:ext cx="132588" cy="265176"/>
            </a:xfrm>
            <a:prstGeom prst="roundRect">
              <a:avLst>
                <a:gd name="adj" fmla="val 12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5" name="chimney"/>
            <p:cNvSpPr/>
            <p:nvPr/>
          </p:nvSpPr>
          <p:spPr>
            <a:xfrm>
              <a:off x="11021034" y="3293211"/>
              <a:ext cx="53035" cy="17899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6" name="smoke deflector"/>
            <p:cNvSpPr/>
            <p:nvPr/>
          </p:nvSpPr>
          <p:spPr>
            <a:xfrm>
              <a:off x="10808893" y="3306470"/>
              <a:ext cx="159106" cy="225400"/>
            </a:xfrm>
            <a:custGeom>
              <a:avLst/>
              <a:gdLst/>
              <a:ahLst/>
              <a:cxnLst/>
              <a:rect l="l" t="t" r="r" b="b"/>
              <a:pathLst>
                <a:path w="159106" h="225400">
                  <a:moveTo>
                    <a:pt x="0" y="225400"/>
                  </a:moveTo>
                  <a:lnTo>
                    <a:pt x="159106" y="225400"/>
                  </a:lnTo>
                  <a:lnTo>
                    <a:pt x="159106" y="0"/>
                  </a:lnTo>
                  <a:lnTo>
                    <a:pt x="26518" y="39776"/>
                  </a:lnTo>
                  <a:close/>
                </a:path>
              </a:pathLst>
            </a:custGeom>
            <a:solidFill>
              <a:srgbClr val="3A3F47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lamp"/>
            <p:cNvSpPr/>
            <p:nvPr/>
          </p:nvSpPr>
          <p:spPr>
            <a:xfrm>
              <a:off x="11080699" y="3704234"/>
              <a:ext cx="66294" cy="66294"/>
            </a:xfrm>
            <a:prstGeom prst="ellipse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dome"/>
            <p:cNvSpPr/>
            <p:nvPr/>
          </p:nvSpPr>
          <p:spPr>
            <a:xfrm>
              <a:off x="10173797" y="3399282"/>
              <a:ext cx="119329" cy="72923"/>
            </a:xfrm>
            <a:prstGeom prst="roundRect">
              <a:avLst>
                <a:gd name="adj" fmla="val 36363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wheel"/>
            <p:cNvSpPr/>
            <p:nvPr/>
          </p:nvSpPr>
          <p:spPr>
            <a:xfrm>
              <a:off x="9390202" y="373075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0" name="hub"/>
            <p:cNvSpPr/>
            <p:nvPr/>
          </p:nvSpPr>
          <p:spPr>
            <a:xfrm>
              <a:off x="9488317" y="382886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1" name="wheel"/>
            <p:cNvSpPr/>
            <p:nvPr/>
          </p:nvSpPr>
          <p:spPr>
            <a:xfrm>
              <a:off x="9688525" y="373075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hub"/>
            <p:cNvSpPr/>
            <p:nvPr/>
          </p:nvSpPr>
          <p:spPr>
            <a:xfrm>
              <a:off x="9786640" y="382886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wheel"/>
            <p:cNvSpPr/>
            <p:nvPr/>
          </p:nvSpPr>
          <p:spPr>
            <a:xfrm>
              <a:off x="9986848" y="373075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4" name="hub"/>
            <p:cNvSpPr/>
            <p:nvPr/>
          </p:nvSpPr>
          <p:spPr>
            <a:xfrm>
              <a:off x="10084963" y="382886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5" name="wheel"/>
            <p:cNvSpPr/>
            <p:nvPr/>
          </p:nvSpPr>
          <p:spPr>
            <a:xfrm>
              <a:off x="10285171" y="373075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6" name="hub"/>
            <p:cNvSpPr/>
            <p:nvPr/>
          </p:nvSpPr>
          <p:spPr>
            <a:xfrm>
              <a:off x="10383286" y="382886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wheel"/>
            <p:cNvSpPr/>
            <p:nvPr/>
          </p:nvSpPr>
          <p:spPr>
            <a:xfrm>
              <a:off x="10649788" y="3850081"/>
              <a:ext cx="145846" cy="14584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hub"/>
            <p:cNvSpPr/>
            <p:nvPr/>
          </p:nvSpPr>
          <p:spPr>
            <a:xfrm>
              <a:off x="10703751" y="3904044"/>
              <a:ext cx="37920" cy="379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coupling rod"/>
            <p:cNvSpPr/>
            <p:nvPr/>
          </p:nvSpPr>
          <p:spPr>
            <a:xfrm>
              <a:off x="9522790" y="3787764"/>
              <a:ext cx="894968" cy="1856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0" name="buffer beam"/>
            <p:cNvSpPr/>
            <p:nvPr/>
          </p:nvSpPr>
          <p:spPr>
            <a:xfrm>
              <a:off x="11113846" y="3744010"/>
              <a:ext cx="39776" cy="119329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1" name="row heading"/>
            <p:cNvSpPr txBox="1"/>
            <p:nvPr/>
          </p:nvSpPr>
          <p:spPr>
            <a:xfrm>
              <a:off x="548640" y="4251960"/>
              <a:ext cx="1417320" cy="120700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Large</a:t>
              </a:r>
            </a:p>
          </p:txBody>
        </p:sp>
        <p:sp>
          <p:nvSpPr>
            <p:cNvPr id="202" name="panel"/>
            <p:cNvSpPr/>
            <p:nvPr/>
          </p:nvSpPr>
          <p:spPr>
            <a:xfrm>
              <a:off x="2011680" y="4251960"/>
              <a:ext cx="3108960" cy="1207008"/>
            </a:xfrm>
            <a:prstGeom prst="roundRect">
              <a:avLst>
                <a:gd name="adj" fmla="val 7575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rail"/>
            <p:cNvSpPr/>
            <p:nvPr/>
          </p:nvSpPr>
          <p:spPr>
            <a:xfrm>
              <a:off x="2148840" y="5276088"/>
              <a:ext cx="283464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tender frame"/>
            <p:cNvSpPr/>
            <p:nvPr/>
          </p:nvSpPr>
          <p:spPr>
            <a:xfrm>
              <a:off x="2227021" y="5083835"/>
              <a:ext cx="543610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5" name="tender body"/>
            <p:cNvSpPr/>
            <p:nvPr/>
          </p:nvSpPr>
          <p:spPr>
            <a:xfrm>
              <a:off x="2227021" y="4865065"/>
              <a:ext cx="543610" cy="218770"/>
            </a:xfrm>
            <a:prstGeom prst="roundRect">
              <a:avLst>
                <a:gd name="adj" fmla="val 303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6" name="tender coal"/>
            <p:cNvSpPr/>
            <p:nvPr/>
          </p:nvSpPr>
          <p:spPr>
            <a:xfrm>
              <a:off x="2246909" y="4772253"/>
              <a:ext cx="503834" cy="92812"/>
            </a:xfrm>
            <a:custGeom>
              <a:avLst/>
              <a:gdLst/>
              <a:ahLst/>
              <a:cxnLst/>
              <a:rect l="l" t="t" r="r" b="b"/>
              <a:pathLst>
                <a:path w="503834" h="92812">
                  <a:moveTo>
                    <a:pt x="0" y="92812"/>
                  </a:moveTo>
                  <a:lnTo>
                    <a:pt x="99441" y="6630"/>
                  </a:lnTo>
                  <a:lnTo>
                    <a:pt x="298323" y="0"/>
                  </a:lnTo>
                  <a:lnTo>
                    <a:pt x="503834" y="9281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coupling"/>
            <p:cNvSpPr/>
            <p:nvPr/>
          </p:nvSpPr>
          <p:spPr>
            <a:xfrm>
              <a:off x="2770632" y="5004282"/>
              <a:ext cx="46405" cy="1988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wheel"/>
            <p:cNvSpPr/>
            <p:nvPr/>
          </p:nvSpPr>
          <p:spPr>
            <a:xfrm>
              <a:off x="2266797" y="5090464"/>
              <a:ext cx="185623" cy="18562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hub"/>
            <p:cNvSpPr/>
            <p:nvPr/>
          </p:nvSpPr>
          <p:spPr>
            <a:xfrm>
              <a:off x="2335478" y="5159145"/>
              <a:ext cx="48262" cy="4826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0" name="wheel"/>
            <p:cNvSpPr/>
            <p:nvPr/>
          </p:nvSpPr>
          <p:spPr>
            <a:xfrm>
              <a:off x="2545232" y="5090464"/>
              <a:ext cx="185623" cy="18562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1" name="hub"/>
            <p:cNvSpPr/>
            <p:nvPr/>
          </p:nvSpPr>
          <p:spPr>
            <a:xfrm>
              <a:off x="2613912" y="5159145"/>
              <a:ext cx="48262" cy="4826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frame"/>
            <p:cNvSpPr/>
            <p:nvPr/>
          </p:nvSpPr>
          <p:spPr>
            <a:xfrm>
              <a:off x="2817037" y="5083835"/>
              <a:ext cx="2041855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3" name="cab"/>
            <p:cNvSpPr/>
            <p:nvPr/>
          </p:nvSpPr>
          <p:spPr>
            <a:xfrm>
              <a:off x="2817037" y="4719218"/>
              <a:ext cx="265176" cy="364617"/>
            </a:xfrm>
            <a:prstGeom prst="roundRect">
              <a:avLst>
                <a:gd name="adj" fmla="val 25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cab roof"/>
            <p:cNvSpPr/>
            <p:nvPr/>
          </p:nvSpPr>
          <p:spPr>
            <a:xfrm>
              <a:off x="2803779" y="4686071"/>
              <a:ext cx="291693" cy="331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5" name="cab window"/>
            <p:cNvSpPr/>
            <p:nvPr/>
          </p:nvSpPr>
          <p:spPr>
            <a:xfrm>
              <a:off x="2883331" y="4772253"/>
              <a:ext cx="119329" cy="11932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6" name="boiler"/>
            <p:cNvSpPr/>
            <p:nvPr/>
          </p:nvSpPr>
          <p:spPr>
            <a:xfrm>
              <a:off x="3082213" y="4752365"/>
              <a:ext cx="1644091" cy="265176"/>
            </a:xfrm>
            <a:prstGeom prst="roundRect">
              <a:avLst>
                <a:gd name="adj" fmla="val 250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7" name="boiler band"/>
            <p:cNvSpPr/>
            <p:nvPr/>
          </p:nvSpPr>
          <p:spPr>
            <a:xfrm>
              <a:off x="3575441" y="4752365"/>
              <a:ext cx="9281" cy="265176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boiler band"/>
            <p:cNvSpPr/>
            <p:nvPr/>
          </p:nvSpPr>
          <p:spPr>
            <a:xfrm>
              <a:off x="3986463" y="4752365"/>
              <a:ext cx="9281" cy="265176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boiler band"/>
            <p:cNvSpPr/>
            <p:nvPr/>
          </p:nvSpPr>
          <p:spPr>
            <a:xfrm>
              <a:off x="4397486" y="4752365"/>
              <a:ext cx="9281" cy="265176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0" name="smokebox"/>
            <p:cNvSpPr/>
            <p:nvPr/>
          </p:nvSpPr>
          <p:spPr>
            <a:xfrm>
              <a:off x="4726305" y="4752365"/>
              <a:ext cx="132588" cy="265176"/>
            </a:xfrm>
            <a:prstGeom prst="roundRect">
              <a:avLst>
                <a:gd name="adj" fmla="val 12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1" name="chimney"/>
            <p:cNvSpPr/>
            <p:nvPr/>
          </p:nvSpPr>
          <p:spPr>
            <a:xfrm>
              <a:off x="4752822" y="4613148"/>
              <a:ext cx="79552" cy="13921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2" name="chimney lip"/>
            <p:cNvSpPr/>
            <p:nvPr/>
          </p:nvSpPr>
          <p:spPr>
            <a:xfrm>
              <a:off x="4732934" y="4593259"/>
              <a:ext cx="119329" cy="331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3" name="dome"/>
            <p:cNvSpPr/>
            <p:nvPr/>
          </p:nvSpPr>
          <p:spPr>
            <a:xfrm>
              <a:off x="3739850" y="4679442"/>
              <a:ext cx="119329" cy="72923"/>
            </a:xfrm>
            <a:prstGeom prst="roundRect">
              <a:avLst>
                <a:gd name="adj" fmla="val 36363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4" name="wheel"/>
            <p:cNvSpPr/>
            <p:nvPr/>
          </p:nvSpPr>
          <p:spPr>
            <a:xfrm>
              <a:off x="2836926" y="501091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5" name="hub"/>
            <p:cNvSpPr/>
            <p:nvPr/>
          </p:nvSpPr>
          <p:spPr>
            <a:xfrm>
              <a:off x="2935041" y="510902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6" name="wheel"/>
            <p:cNvSpPr/>
            <p:nvPr/>
          </p:nvSpPr>
          <p:spPr>
            <a:xfrm>
              <a:off x="3135249" y="501091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7" name="hub"/>
            <p:cNvSpPr/>
            <p:nvPr/>
          </p:nvSpPr>
          <p:spPr>
            <a:xfrm>
              <a:off x="3233364" y="510902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8" name="wheel"/>
            <p:cNvSpPr/>
            <p:nvPr/>
          </p:nvSpPr>
          <p:spPr>
            <a:xfrm>
              <a:off x="3433572" y="501091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9" name="hub"/>
            <p:cNvSpPr/>
            <p:nvPr/>
          </p:nvSpPr>
          <p:spPr>
            <a:xfrm>
              <a:off x="3531687" y="510902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0" name="wheel"/>
            <p:cNvSpPr/>
            <p:nvPr/>
          </p:nvSpPr>
          <p:spPr>
            <a:xfrm>
              <a:off x="3731895" y="501091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1" name="hub"/>
            <p:cNvSpPr/>
            <p:nvPr/>
          </p:nvSpPr>
          <p:spPr>
            <a:xfrm>
              <a:off x="3830010" y="510902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2" name="wheel"/>
            <p:cNvSpPr/>
            <p:nvPr/>
          </p:nvSpPr>
          <p:spPr>
            <a:xfrm>
              <a:off x="4030218" y="501091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3" name="hub"/>
            <p:cNvSpPr/>
            <p:nvPr/>
          </p:nvSpPr>
          <p:spPr>
            <a:xfrm>
              <a:off x="4128333" y="510902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4" name="wheel"/>
            <p:cNvSpPr/>
            <p:nvPr/>
          </p:nvSpPr>
          <p:spPr>
            <a:xfrm>
              <a:off x="4394834" y="5130241"/>
              <a:ext cx="145846" cy="14584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5" name="hub"/>
            <p:cNvSpPr/>
            <p:nvPr/>
          </p:nvSpPr>
          <p:spPr>
            <a:xfrm>
              <a:off x="4448798" y="5184204"/>
              <a:ext cx="37920" cy="379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6" name="coupling rod"/>
            <p:cNvSpPr/>
            <p:nvPr/>
          </p:nvSpPr>
          <p:spPr>
            <a:xfrm>
              <a:off x="2969514" y="5067924"/>
              <a:ext cx="1193292" cy="1856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7" name="buffer beam"/>
            <p:cNvSpPr/>
            <p:nvPr/>
          </p:nvSpPr>
          <p:spPr>
            <a:xfrm>
              <a:off x="4858893" y="5024170"/>
              <a:ext cx="39776" cy="119329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8" name="panel"/>
            <p:cNvSpPr/>
            <p:nvPr/>
          </p:nvSpPr>
          <p:spPr>
            <a:xfrm>
              <a:off x="5212080" y="4251960"/>
              <a:ext cx="3108960" cy="1207008"/>
            </a:xfrm>
            <a:prstGeom prst="roundRect">
              <a:avLst>
                <a:gd name="adj" fmla="val 7575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9" name="rail"/>
            <p:cNvSpPr/>
            <p:nvPr/>
          </p:nvSpPr>
          <p:spPr>
            <a:xfrm>
              <a:off x="5349240" y="5276088"/>
              <a:ext cx="283464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0" name="tender frame"/>
            <p:cNvSpPr/>
            <p:nvPr/>
          </p:nvSpPr>
          <p:spPr>
            <a:xfrm>
              <a:off x="5420791" y="5063947"/>
              <a:ext cx="609904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1" name="tender body"/>
            <p:cNvSpPr/>
            <p:nvPr/>
          </p:nvSpPr>
          <p:spPr>
            <a:xfrm>
              <a:off x="5420791" y="4798771"/>
              <a:ext cx="609904" cy="265176"/>
            </a:xfrm>
            <a:prstGeom prst="roundRect">
              <a:avLst>
                <a:gd name="adj" fmla="val 25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2" name="tender coal"/>
            <p:cNvSpPr/>
            <p:nvPr/>
          </p:nvSpPr>
          <p:spPr>
            <a:xfrm>
              <a:off x="5440680" y="4712589"/>
              <a:ext cx="570128" cy="86182"/>
            </a:xfrm>
            <a:custGeom>
              <a:avLst/>
              <a:gdLst/>
              <a:ahLst/>
              <a:cxnLst/>
              <a:rect l="l" t="t" r="r" b="b"/>
              <a:pathLst>
                <a:path w="570128" h="86182">
                  <a:moveTo>
                    <a:pt x="0" y="86182"/>
                  </a:moveTo>
                  <a:lnTo>
                    <a:pt x="99441" y="6629"/>
                  </a:lnTo>
                  <a:lnTo>
                    <a:pt x="324840" y="0"/>
                  </a:lnTo>
                  <a:lnTo>
                    <a:pt x="570128" y="8618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3" name="coupling"/>
            <p:cNvSpPr/>
            <p:nvPr/>
          </p:nvSpPr>
          <p:spPr>
            <a:xfrm>
              <a:off x="6030696" y="4964506"/>
              <a:ext cx="53035" cy="1988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4" name="wheel"/>
            <p:cNvSpPr/>
            <p:nvPr/>
          </p:nvSpPr>
          <p:spPr>
            <a:xfrm>
              <a:off x="5460568" y="5116982"/>
              <a:ext cx="159105" cy="15910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5" name="hub"/>
            <p:cNvSpPr/>
            <p:nvPr/>
          </p:nvSpPr>
          <p:spPr>
            <a:xfrm>
              <a:off x="5519437" y="5175851"/>
              <a:ext cx="41367" cy="413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6" name="wheel"/>
            <p:cNvSpPr/>
            <p:nvPr/>
          </p:nvSpPr>
          <p:spPr>
            <a:xfrm>
              <a:off x="5593156" y="5116982"/>
              <a:ext cx="159105" cy="15910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7" name="hub"/>
            <p:cNvSpPr/>
            <p:nvPr/>
          </p:nvSpPr>
          <p:spPr>
            <a:xfrm>
              <a:off x="5652025" y="5175851"/>
              <a:ext cx="41367" cy="413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8" name="wheel"/>
            <p:cNvSpPr/>
            <p:nvPr/>
          </p:nvSpPr>
          <p:spPr>
            <a:xfrm>
              <a:off x="5699226" y="5116982"/>
              <a:ext cx="159105" cy="15910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9" name="hub"/>
            <p:cNvSpPr/>
            <p:nvPr/>
          </p:nvSpPr>
          <p:spPr>
            <a:xfrm>
              <a:off x="5758095" y="5175851"/>
              <a:ext cx="41367" cy="413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0" name="wheel"/>
            <p:cNvSpPr/>
            <p:nvPr/>
          </p:nvSpPr>
          <p:spPr>
            <a:xfrm>
              <a:off x="5831814" y="5116982"/>
              <a:ext cx="159105" cy="15910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1" name="hub"/>
            <p:cNvSpPr/>
            <p:nvPr/>
          </p:nvSpPr>
          <p:spPr>
            <a:xfrm>
              <a:off x="5890683" y="5175851"/>
              <a:ext cx="41367" cy="413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2" name="frame"/>
            <p:cNvSpPr/>
            <p:nvPr/>
          </p:nvSpPr>
          <p:spPr>
            <a:xfrm>
              <a:off x="6083731" y="5063947"/>
              <a:ext cx="1890174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3" name="cab"/>
            <p:cNvSpPr/>
            <p:nvPr/>
          </p:nvSpPr>
          <p:spPr>
            <a:xfrm>
              <a:off x="6083731" y="4613148"/>
              <a:ext cx="304952" cy="450799"/>
            </a:xfrm>
            <a:prstGeom prst="roundRect">
              <a:avLst>
                <a:gd name="adj" fmla="val 217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4" name="cab roof"/>
            <p:cNvSpPr/>
            <p:nvPr/>
          </p:nvSpPr>
          <p:spPr>
            <a:xfrm>
              <a:off x="6057214" y="4573371"/>
              <a:ext cx="357987" cy="39776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5" name="cab window"/>
            <p:cNvSpPr/>
            <p:nvPr/>
          </p:nvSpPr>
          <p:spPr>
            <a:xfrm>
              <a:off x="6156655" y="4679442"/>
              <a:ext cx="132588" cy="14584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6" name="boiler"/>
            <p:cNvSpPr/>
            <p:nvPr/>
          </p:nvSpPr>
          <p:spPr>
            <a:xfrm>
              <a:off x="6388684" y="4652924"/>
              <a:ext cx="1359822" cy="331470"/>
            </a:xfrm>
            <a:prstGeom prst="roundRect">
              <a:avLst>
                <a:gd name="adj" fmla="val 220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7" name="smokebox"/>
            <p:cNvSpPr/>
            <p:nvPr/>
          </p:nvSpPr>
          <p:spPr>
            <a:xfrm>
              <a:off x="7748506" y="4652924"/>
              <a:ext cx="159105" cy="331470"/>
            </a:xfrm>
            <a:prstGeom prst="roundRect">
              <a:avLst>
                <a:gd name="adj" fmla="val 1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8" name="funnel stack"/>
            <p:cNvSpPr/>
            <p:nvPr/>
          </p:nvSpPr>
          <p:spPr>
            <a:xfrm>
              <a:off x="7741877" y="4427524"/>
              <a:ext cx="159105" cy="225400"/>
            </a:xfrm>
            <a:custGeom>
              <a:avLst/>
              <a:gdLst/>
              <a:ahLst/>
              <a:cxnLst/>
              <a:rect l="l" t="t" r="r" b="b"/>
              <a:pathLst>
                <a:path w="159105" h="225400">
                  <a:moveTo>
                    <a:pt x="53035" y="225400"/>
                  </a:moveTo>
                  <a:lnTo>
                    <a:pt x="53035" y="159106"/>
                  </a:lnTo>
                  <a:lnTo>
                    <a:pt x="0" y="0"/>
                  </a:lnTo>
                  <a:lnTo>
                    <a:pt x="159105" y="0"/>
                  </a:lnTo>
                  <a:lnTo>
                    <a:pt x="106070" y="159106"/>
                  </a:lnTo>
                  <a:lnTo>
                    <a:pt x="106070" y="225400"/>
                  </a:lnTo>
                  <a:close/>
                </a:path>
              </a:pathLst>
            </a:cu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9" name="headlamp"/>
            <p:cNvSpPr/>
            <p:nvPr/>
          </p:nvSpPr>
          <p:spPr>
            <a:xfrm>
              <a:off x="7867835" y="4546854"/>
              <a:ext cx="99440" cy="99440"/>
            </a:xfrm>
            <a:prstGeom prst="ellipse">
              <a:avLst/>
            </a:prstGeom>
            <a:solidFill>
              <a:srgbClr val="F2C14E"/>
            </a:solidFill>
            <a:ln w="127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0" name="sand dome"/>
            <p:cNvSpPr/>
            <p:nvPr/>
          </p:nvSpPr>
          <p:spPr>
            <a:xfrm>
              <a:off x="6769434" y="4573371"/>
              <a:ext cx="119329" cy="79552"/>
            </a:xfrm>
            <a:prstGeom prst="roundRect">
              <a:avLst>
                <a:gd name="adj" fmla="val 3333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1" name="steam dome"/>
            <p:cNvSpPr/>
            <p:nvPr/>
          </p:nvSpPr>
          <p:spPr>
            <a:xfrm>
              <a:off x="7231774" y="4560112"/>
              <a:ext cx="132588" cy="92811"/>
            </a:xfrm>
            <a:prstGeom prst="roundRect">
              <a:avLst>
                <a:gd name="adj" fmla="val 28571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2" name="pilot"/>
            <p:cNvSpPr/>
            <p:nvPr/>
          </p:nvSpPr>
          <p:spPr>
            <a:xfrm>
              <a:off x="7907612" y="5070576"/>
              <a:ext cx="198882" cy="145847"/>
            </a:xfrm>
            <a:custGeom>
              <a:avLst/>
              <a:gdLst/>
              <a:ahLst/>
              <a:cxnLst/>
              <a:rect l="l" t="t" r="r" b="b"/>
              <a:pathLst>
                <a:path w="198882" h="145847">
                  <a:moveTo>
                    <a:pt x="0" y="0"/>
                  </a:moveTo>
                  <a:lnTo>
                    <a:pt x="198882" y="145847"/>
                  </a:lnTo>
                  <a:lnTo>
                    <a:pt x="0" y="145847"/>
                  </a:lnTo>
                  <a:close/>
                </a:path>
              </a:pathLst>
            </a:custGeom>
            <a:solidFill>
              <a:srgbClr val="3A3F47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3" name="bell"/>
            <p:cNvSpPr/>
            <p:nvPr/>
          </p:nvSpPr>
          <p:spPr>
            <a:xfrm>
              <a:off x="7028819" y="4493818"/>
              <a:ext cx="39776" cy="7955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4" name="wheel"/>
            <p:cNvSpPr/>
            <p:nvPr/>
          </p:nvSpPr>
          <p:spPr>
            <a:xfrm>
              <a:off x="6116878" y="4997653"/>
              <a:ext cx="278434" cy="27843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5" name="hub"/>
            <p:cNvSpPr/>
            <p:nvPr/>
          </p:nvSpPr>
          <p:spPr>
            <a:xfrm>
              <a:off x="6219899" y="5100674"/>
              <a:ext cx="72393" cy="723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6" name="wheel"/>
            <p:cNvSpPr/>
            <p:nvPr/>
          </p:nvSpPr>
          <p:spPr>
            <a:xfrm>
              <a:off x="6428725" y="4997653"/>
              <a:ext cx="278434" cy="27843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7" name="hub"/>
            <p:cNvSpPr/>
            <p:nvPr/>
          </p:nvSpPr>
          <p:spPr>
            <a:xfrm>
              <a:off x="6531746" y="5100674"/>
              <a:ext cx="72393" cy="723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8" name="wheel"/>
            <p:cNvSpPr/>
            <p:nvPr/>
          </p:nvSpPr>
          <p:spPr>
            <a:xfrm>
              <a:off x="6740572" y="4997653"/>
              <a:ext cx="278434" cy="27843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9" name="hub"/>
            <p:cNvSpPr/>
            <p:nvPr/>
          </p:nvSpPr>
          <p:spPr>
            <a:xfrm>
              <a:off x="6843593" y="5100674"/>
              <a:ext cx="72393" cy="723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0" name="wheel"/>
            <p:cNvSpPr/>
            <p:nvPr/>
          </p:nvSpPr>
          <p:spPr>
            <a:xfrm>
              <a:off x="7052419" y="4997653"/>
              <a:ext cx="278434" cy="27843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1" name="hub"/>
            <p:cNvSpPr/>
            <p:nvPr/>
          </p:nvSpPr>
          <p:spPr>
            <a:xfrm>
              <a:off x="7155440" y="5100674"/>
              <a:ext cx="72393" cy="723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2" name="wheel"/>
            <p:cNvSpPr/>
            <p:nvPr/>
          </p:nvSpPr>
          <p:spPr>
            <a:xfrm>
              <a:off x="7642436" y="5143500"/>
              <a:ext cx="132588" cy="13258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3" name="hub"/>
            <p:cNvSpPr/>
            <p:nvPr/>
          </p:nvSpPr>
          <p:spPr>
            <a:xfrm>
              <a:off x="7691493" y="5192557"/>
              <a:ext cx="34472" cy="3447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4" name="wheel"/>
            <p:cNvSpPr/>
            <p:nvPr/>
          </p:nvSpPr>
          <p:spPr>
            <a:xfrm>
              <a:off x="7788283" y="5143500"/>
              <a:ext cx="132588" cy="13258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5" name="hub"/>
            <p:cNvSpPr/>
            <p:nvPr/>
          </p:nvSpPr>
          <p:spPr>
            <a:xfrm>
              <a:off x="7837340" y="5192557"/>
              <a:ext cx="34472" cy="3447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6" name="coupling rod"/>
            <p:cNvSpPr/>
            <p:nvPr/>
          </p:nvSpPr>
          <p:spPr>
            <a:xfrm>
              <a:off x="6256096" y="5061295"/>
              <a:ext cx="935540" cy="1856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7" name="panel"/>
            <p:cNvSpPr/>
            <p:nvPr/>
          </p:nvSpPr>
          <p:spPr>
            <a:xfrm>
              <a:off x="8412480" y="4251960"/>
              <a:ext cx="3108960" cy="1207008"/>
            </a:xfrm>
            <a:prstGeom prst="roundRect">
              <a:avLst>
                <a:gd name="adj" fmla="val 7575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8" name="rail"/>
            <p:cNvSpPr/>
            <p:nvPr/>
          </p:nvSpPr>
          <p:spPr>
            <a:xfrm>
              <a:off x="8549640" y="5276088"/>
              <a:ext cx="283464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9" name="tender frame"/>
            <p:cNvSpPr/>
            <p:nvPr/>
          </p:nvSpPr>
          <p:spPr>
            <a:xfrm>
              <a:off x="8627821" y="5083835"/>
              <a:ext cx="543610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0" name="tender body"/>
            <p:cNvSpPr/>
            <p:nvPr/>
          </p:nvSpPr>
          <p:spPr>
            <a:xfrm>
              <a:off x="8627821" y="4845177"/>
              <a:ext cx="543610" cy="238658"/>
            </a:xfrm>
            <a:prstGeom prst="roundRect">
              <a:avLst>
                <a:gd name="adj" fmla="val 2777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1" name="tender coal"/>
            <p:cNvSpPr/>
            <p:nvPr/>
          </p:nvSpPr>
          <p:spPr>
            <a:xfrm>
              <a:off x="8647709" y="4772253"/>
              <a:ext cx="503834" cy="92812"/>
            </a:xfrm>
            <a:custGeom>
              <a:avLst/>
              <a:gdLst/>
              <a:ahLst/>
              <a:cxnLst/>
              <a:rect l="l" t="t" r="r" b="b"/>
              <a:pathLst>
                <a:path w="503834" h="92812">
                  <a:moveTo>
                    <a:pt x="0" y="92812"/>
                  </a:moveTo>
                  <a:lnTo>
                    <a:pt x="99441" y="6630"/>
                  </a:lnTo>
                  <a:lnTo>
                    <a:pt x="298323" y="0"/>
                  </a:lnTo>
                  <a:lnTo>
                    <a:pt x="503834" y="9281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2" name="coupling"/>
            <p:cNvSpPr/>
            <p:nvPr/>
          </p:nvSpPr>
          <p:spPr>
            <a:xfrm>
              <a:off x="9171432" y="5004282"/>
              <a:ext cx="46405" cy="1988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3" name="wheel"/>
            <p:cNvSpPr/>
            <p:nvPr/>
          </p:nvSpPr>
          <p:spPr>
            <a:xfrm>
              <a:off x="8654338" y="5090464"/>
              <a:ext cx="185623" cy="18562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4" name="hub"/>
            <p:cNvSpPr/>
            <p:nvPr/>
          </p:nvSpPr>
          <p:spPr>
            <a:xfrm>
              <a:off x="8723019" y="5159145"/>
              <a:ext cx="48262" cy="4826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5" name="wheel"/>
            <p:cNvSpPr/>
            <p:nvPr/>
          </p:nvSpPr>
          <p:spPr>
            <a:xfrm>
              <a:off x="8813444" y="5090464"/>
              <a:ext cx="185623" cy="18562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6" name="hub"/>
            <p:cNvSpPr/>
            <p:nvPr/>
          </p:nvSpPr>
          <p:spPr>
            <a:xfrm>
              <a:off x="8882124" y="5159145"/>
              <a:ext cx="48262" cy="4826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7" name="wheel"/>
            <p:cNvSpPr/>
            <p:nvPr/>
          </p:nvSpPr>
          <p:spPr>
            <a:xfrm>
              <a:off x="8972550" y="5090464"/>
              <a:ext cx="185623" cy="18562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8" name="hub"/>
            <p:cNvSpPr/>
            <p:nvPr/>
          </p:nvSpPr>
          <p:spPr>
            <a:xfrm>
              <a:off x="9041230" y="5159145"/>
              <a:ext cx="48262" cy="4826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9" name="frame"/>
            <p:cNvSpPr/>
            <p:nvPr/>
          </p:nvSpPr>
          <p:spPr>
            <a:xfrm>
              <a:off x="9217837" y="5083835"/>
              <a:ext cx="2041855" cy="59664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0" name="cab"/>
            <p:cNvSpPr/>
            <p:nvPr/>
          </p:nvSpPr>
          <p:spPr>
            <a:xfrm>
              <a:off x="9217837" y="4719218"/>
              <a:ext cx="265176" cy="364617"/>
            </a:xfrm>
            <a:prstGeom prst="roundRect">
              <a:avLst>
                <a:gd name="adj" fmla="val 2500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1" name="cab roof"/>
            <p:cNvSpPr/>
            <p:nvPr/>
          </p:nvSpPr>
          <p:spPr>
            <a:xfrm>
              <a:off x="9197949" y="4666183"/>
              <a:ext cx="304952" cy="53035"/>
            </a:xfrm>
            <a:prstGeom prst="roundRect">
              <a:avLst>
                <a:gd name="adj" fmla="val 37500"/>
              </a:avLst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2" name="cab window"/>
            <p:cNvSpPr/>
            <p:nvPr/>
          </p:nvSpPr>
          <p:spPr>
            <a:xfrm>
              <a:off x="9284131" y="4772253"/>
              <a:ext cx="119329" cy="11932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3" name="boiler"/>
            <p:cNvSpPr/>
            <p:nvPr/>
          </p:nvSpPr>
          <p:spPr>
            <a:xfrm>
              <a:off x="9483013" y="4752365"/>
              <a:ext cx="1644091" cy="265176"/>
            </a:xfrm>
            <a:prstGeom prst="roundRect">
              <a:avLst>
                <a:gd name="adj" fmla="val 25000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4" name="boiler band"/>
            <p:cNvSpPr/>
            <p:nvPr/>
          </p:nvSpPr>
          <p:spPr>
            <a:xfrm>
              <a:off x="9976241" y="4752365"/>
              <a:ext cx="9281" cy="265176"/>
            </a:xfrm>
            <a:prstGeom prst="rect">
              <a:avLst/>
            </a:prstGeom>
            <a:solidFill>
              <a:srgbClr val="9C804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5" name="boiler band"/>
            <p:cNvSpPr/>
            <p:nvPr/>
          </p:nvSpPr>
          <p:spPr>
            <a:xfrm>
              <a:off x="10387263" y="4752365"/>
              <a:ext cx="9281" cy="265176"/>
            </a:xfrm>
            <a:prstGeom prst="rect">
              <a:avLst/>
            </a:prstGeom>
            <a:solidFill>
              <a:srgbClr val="9C804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6" name="boiler band"/>
            <p:cNvSpPr/>
            <p:nvPr/>
          </p:nvSpPr>
          <p:spPr>
            <a:xfrm>
              <a:off x="10798286" y="4752365"/>
              <a:ext cx="9281" cy="265176"/>
            </a:xfrm>
            <a:prstGeom prst="rect">
              <a:avLst/>
            </a:prstGeom>
            <a:solidFill>
              <a:srgbClr val="9C804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7" name="smokebox"/>
            <p:cNvSpPr/>
            <p:nvPr/>
          </p:nvSpPr>
          <p:spPr>
            <a:xfrm>
              <a:off x="11127105" y="4752365"/>
              <a:ext cx="132588" cy="265176"/>
            </a:xfrm>
            <a:prstGeom prst="roundRect">
              <a:avLst>
                <a:gd name="adj" fmla="val 12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8" name="chimney"/>
            <p:cNvSpPr/>
            <p:nvPr/>
          </p:nvSpPr>
          <p:spPr>
            <a:xfrm>
              <a:off x="11166881" y="4573371"/>
              <a:ext cx="53035" cy="17899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9" name="smoke deflector"/>
            <p:cNvSpPr/>
            <p:nvPr/>
          </p:nvSpPr>
          <p:spPr>
            <a:xfrm>
              <a:off x="10954740" y="4586630"/>
              <a:ext cx="159106" cy="225400"/>
            </a:xfrm>
            <a:custGeom>
              <a:avLst/>
              <a:gdLst/>
              <a:ahLst/>
              <a:cxnLst/>
              <a:rect l="l" t="t" r="r" b="b"/>
              <a:pathLst>
                <a:path w="159106" h="225400">
                  <a:moveTo>
                    <a:pt x="0" y="225400"/>
                  </a:moveTo>
                  <a:lnTo>
                    <a:pt x="159106" y="225400"/>
                  </a:lnTo>
                  <a:lnTo>
                    <a:pt x="159106" y="0"/>
                  </a:lnTo>
                  <a:lnTo>
                    <a:pt x="26518" y="39776"/>
                  </a:lnTo>
                  <a:close/>
                </a:path>
              </a:pathLst>
            </a:custGeom>
            <a:solidFill>
              <a:srgbClr val="3A3F47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0" name="lamp"/>
            <p:cNvSpPr/>
            <p:nvPr/>
          </p:nvSpPr>
          <p:spPr>
            <a:xfrm>
              <a:off x="11226546" y="4984394"/>
              <a:ext cx="66294" cy="66294"/>
            </a:xfrm>
            <a:prstGeom prst="ellipse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1" name="dome"/>
            <p:cNvSpPr/>
            <p:nvPr/>
          </p:nvSpPr>
          <p:spPr>
            <a:xfrm>
              <a:off x="10140650" y="4679442"/>
              <a:ext cx="119329" cy="72923"/>
            </a:xfrm>
            <a:prstGeom prst="roundRect">
              <a:avLst>
                <a:gd name="adj" fmla="val 36363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2" name="wheel"/>
            <p:cNvSpPr/>
            <p:nvPr/>
          </p:nvSpPr>
          <p:spPr>
            <a:xfrm>
              <a:off x="9237726" y="501091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3" name="hub"/>
            <p:cNvSpPr/>
            <p:nvPr/>
          </p:nvSpPr>
          <p:spPr>
            <a:xfrm>
              <a:off x="9335841" y="510902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4" name="wheel"/>
            <p:cNvSpPr/>
            <p:nvPr/>
          </p:nvSpPr>
          <p:spPr>
            <a:xfrm>
              <a:off x="9536049" y="501091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5" name="hub"/>
            <p:cNvSpPr/>
            <p:nvPr/>
          </p:nvSpPr>
          <p:spPr>
            <a:xfrm>
              <a:off x="9634164" y="510902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6" name="wheel"/>
            <p:cNvSpPr/>
            <p:nvPr/>
          </p:nvSpPr>
          <p:spPr>
            <a:xfrm>
              <a:off x="9834372" y="501091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7" name="hub"/>
            <p:cNvSpPr/>
            <p:nvPr/>
          </p:nvSpPr>
          <p:spPr>
            <a:xfrm>
              <a:off x="9932487" y="510902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8" name="wheel"/>
            <p:cNvSpPr/>
            <p:nvPr/>
          </p:nvSpPr>
          <p:spPr>
            <a:xfrm>
              <a:off x="10132694" y="501091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9" name="hub"/>
            <p:cNvSpPr/>
            <p:nvPr/>
          </p:nvSpPr>
          <p:spPr>
            <a:xfrm>
              <a:off x="10230810" y="510902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0" name="wheel"/>
            <p:cNvSpPr/>
            <p:nvPr/>
          </p:nvSpPr>
          <p:spPr>
            <a:xfrm>
              <a:off x="10431017" y="5010912"/>
              <a:ext cx="265176" cy="2651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1" name="hub"/>
            <p:cNvSpPr/>
            <p:nvPr/>
          </p:nvSpPr>
          <p:spPr>
            <a:xfrm>
              <a:off x="10529133" y="5109027"/>
              <a:ext cx="68945" cy="689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2" name="wheel"/>
            <p:cNvSpPr/>
            <p:nvPr/>
          </p:nvSpPr>
          <p:spPr>
            <a:xfrm>
              <a:off x="10795634" y="5130241"/>
              <a:ext cx="145846" cy="14584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3" name="hub"/>
            <p:cNvSpPr/>
            <p:nvPr/>
          </p:nvSpPr>
          <p:spPr>
            <a:xfrm>
              <a:off x="10849598" y="5184204"/>
              <a:ext cx="37920" cy="379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4" name="coupling rod"/>
            <p:cNvSpPr/>
            <p:nvPr/>
          </p:nvSpPr>
          <p:spPr>
            <a:xfrm>
              <a:off x="9370313" y="5067924"/>
              <a:ext cx="1193292" cy="1856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5" name="buffer beam"/>
            <p:cNvSpPr/>
            <p:nvPr/>
          </p:nvSpPr>
          <p:spPr>
            <a:xfrm>
              <a:off x="11259692" y="5024170"/>
              <a:ext cx="39776" cy="119329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1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CAPTION"/>
          <p:cNvSpPr txBox="1"/>
          <p:nvPr/>
        </p:nvSpPr>
        <p:spPr>
          <a:xfrm>
            <a:off x="822960" y="5760720"/>
            <a:ext cx="786384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style gets a Small, a Medium and a Large. Each engine looks and behaves in its own way.</a:t>
            </a:r>
          </a:p>
        </p:txBody>
      </p:sp>
      <p:sp>
        <p:nvSpPr>
          <p:cNvPr id="319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Different engines, same rules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Engines plugging into shared rules" descr="Three differently shaped example engines. Each has its own data card and plugs into one bar labelled Shared rules."/>
          <p:cNvGrpSpPr/>
          <p:nvPr/>
        </p:nvGrpSpPr>
        <p:grpSpPr>
          <a:xfrm>
            <a:off x="731520" y="1934870"/>
            <a:ext cx="10735056" cy="3396082"/>
            <a:chOff x="731520" y="1934870"/>
            <a:chExt cx="10735056" cy="3396082"/>
          </a:xfrm>
        </p:grpSpPr>
        <p:sp>
          <p:nvSpPr>
            <p:cNvPr id="5" name="rail"/>
            <p:cNvSpPr/>
            <p:nvPr/>
          </p:nvSpPr>
          <p:spPr>
            <a:xfrm>
              <a:off x="731520" y="3017520"/>
              <a:ext cx="347472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nder frame"/>
            <p:cNvSpPr/>
            <p:nvPr/>
          </p:nvSpPr>
          <p:spPr>
            <a:xfrm>
              <a:off x="954862" y="2772232"/>
              <a:ext cx="693572" cy="7612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nder body"/>
            <p:cNvSpPr/>
            <p:nvPr/>
          </p:nvSpPr>
          <p:spPr>
            <a:xfrm>
              <a:off x="954862" y="2493111"/>
              <a:ext cx="693572" cy="279120"/>
            </a:xfrm>
            <a:prstGeom prst="roundRect">
              <a:avLst>
                <a:gd name="adj" fmla="val 303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ender coal"/>
            <p:cNvSpPr/>
            <p:nvPr/>
          </p:nvSpPr>
          <p:spPr>
            <a:xfrm>
              <a:off x="980236" y="2374696"/>
              <a:ext cx="642824" cy="118415"/>
            </a:xfrm>
            <a:custGeom>
              <a:avLst/>
              <a:gdLst/>
              <a:ahLst/>
              <a:cxnLst/>
              <a:rect l="l" t="t" r="r" b="b"/>
              <a:pathLst>
                <a:path w="642824" h="118415">
                  <a:moveTo>
                    <a:pt x="0" y="118415"/>
                  </a:moveTo>
                  <a:lnTo>
                    <a:pt x="126873" y="8458"/>
                  </a:lnTo>
                  <a:lnTo>
                    <a:pt x="380619" y="0"/>
                  </a:lnTo>
                  <a:lnTo>
                    <a:pt x="642824" y="118415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oupling"/>
            <p:cNvSpPr/>
            <p:nvPr/>
          </p:nvSpPr>
          <p:spPr>
            <a:xfrm>
              <a:off x="1648434" y="2670733"/>
              <a:ext cx="59207" cy="2537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wheel"/>
            <p:cNvSpPr/>
            <p:nvPr/>
          </p:nvSpPr>
          <p:spPr>
            <a:xfrm>
              <a:off x="1005611" y="2780690"/>
              <a:ext cx="236829" cy="236829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ub"/>
            <p:cNvSpPr/>
            <p:nvPr/>
          </p:nvSpPr>
          <p:spPr>
            <a:xfrm>
              <a:off x="1093238" y="2868317"/>
              <a:ext cx="61575" cy="6157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wheel"/>
            <p:cNvSpPr/>
            <p:nvPr/>
          </p:nvSpPr>
          <p:spPr>
            <a:xfrm>
              <a:off x="1360855" y="2780690"/>
              <a:ext cx="236829" cy="236829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ub"/>
            <p:cNvSpPr/>
            <p:nvPr/>
          </p:nvSpPr>
          <p:spPr>
            <a:xfrm>
              <a:off x="1448482" y="2868317"/>
              <a:ext cx="61575" cy="6157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frame"/>
            <p:cNvSpPr/>
            <p:nvPr/>
          </p:nvSpPr>
          <p:spPr>
            <a:xfrm>
              <a:off x="1707642" y="2772232"/>
              <a:ext cx="2224506" cy="7612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b"/>
            <p:cNvSpPr/>
            <p:nvPr/>
          </p:nvSpPr>
          <p:spPr>
            <a:xfrm>
              <a:off x="1707642" y="2307031"/>
              <a:ext cx="338328" cy="465201"/>
            </a:xfrm>
            <a:prstGeom prst="roundRect">
              <a:avLst>
                <a:gd name="adj" fmla="val 25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cab roof"/>
            <p:cNvSpPr/>
            <p:nvPr/>
          </p:nvSpPr>
          <p:spPr>
            <a:xfrm>
              <a:off x="1690725" y="2264740"/>
              <a:ext cx="372160" cy="42291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cab window"/>
            <p:cNvSpPr/>
            <p:nvPr/>
          </p:nvSpPr>
          <p:spPr>
            <a:xfrm>
              <a:off x="1792224" y="2374696"/>
              <a:ext cx="152247" cy="152247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boiler"/>
            <p:cNvSpPr/>
            <p:nvPr/>
          </p:nvSpPr>
          <p:spPr>
            <a:xfrm>
              <a:off x="2045970" y="2349322"/>
              <a:ext cx="1717014" cy="338328"/>
            </a:xfrm>
            <a:prstGeom prst="roundRect">
              <a:avLst>
                <a:gd name="adj" fmla="val 250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boiler band"/>
            <p:cNvSpPr/>
            <p:nvPr/>
          </p:nvSpPr>
          <p:spPr>
            <a:xfrm>
              <a:off x="2561074" y="2349322"/>
              <a:ext cx="11841" cy="338328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boiler band"/>
            <p:cNvSpPr/>
            <p:nvPr/>
          </p:nvSpPr>
          <p:spPr>
            <a:xfrm>
              <a:off x="2990328" y="2349322"/>
              <a:ext cx="11841" cy="338328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boiler band"/>
            <p:cNvSpPr/>
            <p:nvPr/>
          </p:nvSpPr>
          <p:spPr>
            <a:xfrm>
              <a:off x="3419581" y="2349322"/>
              <a:ext cx="11841" cy="338328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mokebox"/>
            <p:cNvSpPr/>
            <p:nvPr/>
          </p:nvSpPr>
          <p:spPr>
            <a:xfrm>
              <a:off x="3762984" y="2349322"/>
              <a:ext cx="169164" cy="338328"/>
            </a:xfrm>
            <a:prstGeom prst="roundRect">
              <a:avLst>
                <a:gd name="adj" fmla="val 11999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chimney"/>
            <p:cNvSpPr/>
            <p:nvPr/>
          </p:nvSpPr>
          <p:spPr>
            <a:xfrm>
              <a:off x="3796817" y="2171700"/>
              <a:ext cx="101498" cy="177622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chimney lip"/>
            <p:cNvSpPr/>
            <p:nvPr/>
          </p:nvSpPr>
          <p:spPr>
            <a:xfrm>
              <a:off x="3771442" y="2146325"/>
              <a:ext cx="152247" cy="42291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ome"/>
            <p:cNvSpPr/>
            <p:nvPr/>
          </p:nvSpPr>
          <p:spPr>
            <a:xfrm>
              <a:off x="2732775" y="2256282"/>
              <a:ext cx="152247" cy="93040"/>
            </a:xfrm>
            <a:prstGeom prst="roundRect">
              <a:avLst>
                <a:gd name="adj" fmla="val 36363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wheel"/>
            <p:cNvSpPr/>
            <p:nvPr/>
          </p:nvSpPr>
          <p:spPr>
            <a:xfrm>
              <a:off x="1733016" y="2679191"/>
              <a:ext cx="338328" cy="33832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ub"/>
            <p:cNvSpPr/>
            <p:nvPr/>
          </p:nvSpPr>
          <p:spPr>
            <a:xfrm>
              <a:off x="1858197" y="2804373"/>
              <a:ext cx="87965" cy="8796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wheel"/>
            <p:cNvSpPr/>
            <p:nvPr/>
          </p:nvSpPr>
          <p:spPr>
            <a:xfrm>
              <a:off x="2113635" y="2679191"/>
              <a:ext cx="338328" cy="33832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ub"/>
            <p:cNvSpPr/>
            <p:nvPr/>
          </p:nvSpPr>
          <p:spPr>
            <a:xfrm>
              <a:off x="2238816" y="2804373"/>
              <a:ext cx="87965" cy="8796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wheel"/>
            <p:cNvSpPr/>
            <p:nvPr/>
          </p:nvSpPr>
          <p:spPr>
            <a:xfrm>
              <a:off x="2494254" y="2679191"/>
              <a:ext cx="338328" cy="33832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ub"/>
            <p:cNvSpPr/>
            <p:nvPr/>
          </p:nvSpPr>
          <p:spPr>
            <a:xfrm>
              <a:off x="2619435" y="2804373"/>
              <a:ext cx="87965" cy="8796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wheel"/>
            <p:cNvSpPr/>
            <p:nvPr/>
          </p:nvSpPr>
          <p:spPr>
            <a:xfrm>
              <a:off x="2874873" y="2679191"/>
              <a:ext cx="338328" cy="33832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ub"/>
            <p:cNvSpPr/>
            <p:nvPr/>
          </p:nvSpPr>
          <p:spPr>
            <a:xfrm>
              <a:off x="3000054" y="2804373"/>
              <a:ext cx="87965" cy="8796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wheel"/>
            <p:cNvSpPr/>
            <p:nvPr/>
          </p:nvSpPr>
          <p:spPr>
            <a:xfrm>
              <a:off x="3340074" y="2831439"/>
              <a:ext cx="186080" cy="18608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ub"/>
            <p:cNvSpPr/>
            <p:nvPr/>
          </p:nvSpPr>
          <p:spPr>
            <a:xfrm>
              <a:off x="3408924" y="2900289"/>
              <a:ext cx="48380" cy="4838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coupling rod"/>
            <p:cNvSpPr/>
            <p:nvPr/>
          </p:nvSpPr>
          <p:spPr>
            <a:xfrm>
              <a:off x="1902180" y="2751932"/>
              <a:ext cx="1141857" cy="2368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buffer beam"/>
            <p:cNvSpPr/>
            <p:nvPr/>
          </p:nvSpPr>
          <p:spPr>
            <a:xfrm>
              <a:off x="3932148" y="2696108"/>
              <a:ext cx="50749" cy="152247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ata card"/>
            <p:cNvSpPr/>
            <p:nvPr/>
          </p:nvSpPr>
          <p:spPr>
            <a:xfrm>
              <a:off x="1417320" y="3337560"/>
              <a:ext cx="2103120" cy="566928"/>
            </a:xfrm>
            <a:prstGeom prst="roundRect">
              <a:avLst>
                <a:gd name="adj" fmla="val 12903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card icon"/>
            <p:cNvSpPr/>
            <p:nvPr/>
          </p:nvSpPr>
          <p:spPr>
            <a:xfrm>
              <a:off x="1554480" y="3474720"/>
              <a:ext cx="274320" cy="292608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card icon line"/>
            <p:cNvSpPr/>
            <p:nvPr/>
          </p:nvSpPr>
          <p:spPr>
            <a:xfrm>
              <a:off x="1609344" y="3529584"/>
              <a:ext cx="164592" cy="2743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card icon line"/>
            <p:cNvSpPr/>
            <p:nvPr/>
          </p:nvSpPr>
          <p:spPr>
            <a:xfrm>
              <a:off x="1609344" y="3602736"/>
              <a:ext cx="164592" cy="2743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card icon line"/>
            <p:cNvSpPr/>
            <p:nvPr/>
          </p:nvSpPr>
          <p:spPr>
            <a:xfrm>
              <a:off x="1609344" y="3675887"/>
              <a:ext cx="164592" cy="2743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card label"/>
            <p:cNvSpPr txBox="1"/>
            <p:nvPr/>
          </p:nvSpPr>
          <p:spPr>
            <a:xfrm>
              <a:off x="1901952" y="3337560"/>
              <a:ext cx="1600200" cy="56692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Own data card</a:t>
              </a:r>
            </a:p>
          </p:txBody>
        </p:sp>
        <p:cxnSp>
          <p:nvCxnSpPr>
            <p:cNvPr id="44" name="plug lead"/>
            <p:cNvCxnSpPr/>
            <p:nvPr/>
          </p:nvCxnSpPr>
          <p:spPr>
            <a:xfrm>
              <a:off x="2468880" y="3904487"/>
              <a:ext cx="0" cy="466345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45" name="plug head"/>
            <p:cNvSpPr/>
            <p:nvPr/>
          </p:nvSpPr>
          <p:spPr>
            <a:xfrm>
              <a:off x="2286000" y="4297680"/>
              <a:ext cx="365760" cy="256032"/>
            </a:xfrm>
            <a:prstGeom prst="roundRect">
              <a:avLst>
                <a:gd name="adj" fmla="val 14285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plug prong"/>
            <p:cNvSpPr/>
            <p:nvPr/>
          </p:nvSpPr>
          <p:spPr>
            <a:xfrm>
              <a:off x="2377440" y="4553712"/>
              <a:ext cx="54864" cy="12801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plug prong"/>
            <p:cNvSpPr/>
            <p:nvPr/>
          </p:nvSpPr>
          <p:spPr>
            <a:xfrm>
              <a:off x="2505456" y="4553712"/>
              <a:ext cx="54864" cy="12801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ail"/>
            <p:cNvSpPr/>
            <p:nvPr/>
          </p:nvSpPr>
          <p:spPr>
            <a:xfrm>
              <a:off x="4361688" y="3017520"/>
              <a:ext cx="347472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nder frame"/>
            <p:cNvSpPr/>
            <p:nvPr/>
          </p:nvSpPr>
          <p:spPr>
            <a:xfrm>
              <a:off x="4618863" y="2746857"/>
              <a:ext cx="778154" cy="7612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tender body"/>
            <p:cNvSpPr/>
            <p:nvPr/>
          </p:nvSpPr>
          <p:spPr>
            <a:xfrm>
              <a:off x="4618863" y="2408529"/>
              <a:ext cx="778154" cy="338328"/>
            </a:xfrm>
            <a:prstGeom prst="roundRect">
              <a:avLst>
                <a:gd name="adj" fmla="val 25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nder coal"/>
            <p:cNvSpPr/>
            <p:nvPr/>
          </p:nvSpPr>
          <p:spPr>
            <a:xfrm>
              <a:off x="4644237" y="2298573"/>
              <a:ext cx="727405" cy="109956"/>
            </a:xfrm>
            <a:custGeom>
              <a:avLst/>
              <a:gdLst/>
              <a:ahLst/>
              <a:cxnLst/>
              <a:rect l="l" t="t" r="r" b="b"/>
              <a:pathLst>
                <a:path w="727405" h="109956">
                  <a:moveTo>
                    <a:pt x="0" y="109956"/>
                  </a:moveTo>
                  <a:lnTo>
                    <a:pt x="126873" y="8458"/>
                  </a:lnTo>
                  <a:lnTo>
                    <a:pt x="414452" y="0"/>
                  </a:lnTo>
                  <a:lnTo>
                    <a:pt x="727405" y="109956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coupling"/>
            <p:cNvSpPr/>
            <p:nvPr/>
          </p:nvSpPr>
          <p:spPr>
            <a:xfrm>
              <a:off x="5397017" y="2619984"/>
              <a:ext cx="67665" cy="2537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wheel"/>
            <p:cNvSpPr/>
            <p:nvPr/>
          </p:nvSpPr>
          <p:spPr>
            <a:xfrm>
              <a:off x="4669612" y="2814523"/>
              <a:ext cx="202996" cy="20299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ub"/>
            <p:cNvSpPr/>
            <p:nvPr/>
          </p:nvSpPr>
          <p:spPr>
            <a:xfrm>
              <a:off x="4744721" y="2889632"/>
              <a:ext cx="52779" cy="5277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wheel"/>
            <p:cNvSpPr/>
            <p:nvPr/>
          </p:nvSpPr>
          <p:spPr>
            <a:xfrm>
              <a:off x="4838776" y="2814523"/>
              <a:ext cx="202996" cy="20299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hub"/>
            <p:cNvSpPr/>
            <p:nvPr/>
          </p:nvSpPr>
          <p:spPr>
            <a:xfrm>
              <a:off x="4913885" y="2889632"/>
              <a:ext cx="52779" cy="5277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wheel"/>
            <p:cNvSpPr/>
            <p:nvPr/>
          </p:nvSpPr>
          <p:spPr>
            <a:xfrm>
              <a:off x="4974107" y="2814523"/>
              <a:ext cx="202996" cy="20299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hub"/>
            <p:cNvSpPr/>
            <p:nvPr/>
          </p:nvSpPr>
          <p:spPr>
            <a:xfrm>
              <a:off x="5049216" y="2889632"/>
              <a:ext cx="52779" cy="5277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wheel"/>
            <p:cNvSpPr/>
            <p:nvPr/>
          </p:nvSpPr>
          <p:spPr>
            <a:xfrm>
              <a:off x="5143271" y="2814523"/>
              <a:ext cx="202996" cy="20299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hub"/>
            <p:cNvSpPr/>
            <p:nvPr/>
          </p:nvSpPr>
          <p:spPr>
            <a:xfrm>
              <a:off x="5218380" y="2889632"/>
              <a:ext cx="52779" cy="5277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frame"/>
            <p:cNvSpPr/>
            <p:nvPr/>
          </p:nvSpPr>
          <p:spPr>
            <a:xfrm>
              <a:off x="5464682" y="2746857"/>
              <a:ext cx="1937942" cy="7612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cab"/>
            <p:cNvSpPr/>
            <p:nvPr/>
          </p:nvSpPr>
          <p:spPr>
            <a:xfrm>
              <a:off x="5464682" y="2171700"/>
              <a:ext cx="389077" cy="575157"/>
            </a:xfrm>
            <a:prstGeom prst="roundRect">
              <a:avLst>
                <a:gd name="adj" fmla="val 217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cab roof"/>
            <p:cNvSpPr/>
            <p:nvPr/>
          </p:nvSpPr>
          <p:spPr>
            <a:xfrm>
              <a:off x="5430850" y="2120950"/>
              <a:ext cx="456742" cy="50749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cab window"/>
            <p:cNvSpPr/>
            <p:nvPr/>
          </p:nvSpPr>
          <p:spPr>
            <a:xfrm>
              <a:off x="5557723" y="2256282"/>
              <a:ext cx="169164" cy="18608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boiler"/>
            <p:cNvSpPr/>
            <p:nvPr/>
          </p:nvSpPr>
          <p:spPr>
            <a:xfrm>
              <a:off x="5853760" y="2222449"/>
              <a:ext cx="1261286" cy="422910"/>
            </a:xfrm>
            <a:prstGeom prst="roundRect">
              <a:avLst>
                <a:gd name="adj" fmla="val 220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smokebox"/>
            <p:cNvSpPr/>
            <p:nvPr/>
          </p:nvSpPr>
          <p:spPr>
            <a:xfrm>
              <a:off x="7115046" y="2222449"/>
              <a:ext cx="202996" cy="422910"/>
            </a:xfrm>
            <a:prstGeom prst="roundRect">
              <a:avLst>
                <a:gd name="adj" fmla="val 1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funnel stack"/>
            <p:cNvSpPr/>
            <p:nvPr/>
          </p:nvSpPr>
          <p:spPr>
            <a:xfrm>
              <a:off x="7106588" y="1934870"/>
              <a:ext cx="202997" cy="287579"/>
            </a:xfrm>
            <a:custGeom>
              <a:avLst/>
              <a:gdLst/>
              <a:ahLst/>
              <a:cxnLst/>
              <a:rect l="l" t="t" r="r" b="b"/>
              <a:pathLst>
                <a:path w="202997" h="287579">
                  <a:moveTo>
                    <a:pt x="67666" y="287579"/>
                  </a:moveTo>
                  <a:lnTo>
                    <a:pt x="67666" y="202997"/>
                  </a:lnTo>
                  <a:lnTo>
                    <a:pt x="0" y="0"/>
                  </a:lnTo>
                  <a:lnTo>
                    <a:pt x="202997" y="0"/>
                  </a:lnTo>
                  <a:lnTo>
                    <a:pt x="135331" y="202997"/>
                  </a:lnTo>
                  <a:lnTo>
                    <a:pt x="135331" y="287579"/>
                  </a:lnTo>
                  <a:close/>
                </a:path>
              </a:pathLst>
            </a:cu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headlamp"/>
            <p:cNvSpPr/>
            <p:nvPr/>
          </p:nvSpPr>
          <p:spPr>
            <a:xfrm>
              <a:off x="7267294" y="2087117"/>
              <a:ext cx="126872" cy="126872"/>
            </a:xfrm>
            <a:prstGeom prst="ellipse">
              <a:avLst/>
            </a:prstGeom>
            <a:solidFill>
              <a:srgbClr val="F2C14E"/>
            </a:solidFill>
            <a:ln w="127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sand dome"/>
            <p:cNvSpPr/>
            <p:nvPr/>
          </p:nvSpPr>
          <p:spPr>
            <a:xfrm>
              <a:off x="6206920" y="2120950"/>
              <a:ext cx="152247" cy="101498"/>
            </a:xfrm>
            <a:prstGeom prst="roundRect">
              <a:avLst>
                <a:gd name="adj" fmla="val 3333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steam dome"/>
            <p:cNvSpPr/>
            <p:nvPr/>
          </p:nvSpPr>
          <p:spPr>
            <a:xfrm>
              <a:off x="6635758" y="2104034"/>
              <a:ext cx="169164" cy="118414"/>
            </a:xfrm>
            <a:prstGeom prst="roundRect">
              <a:avLst>
                <a:gd name="adj" fmla="val 28571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pilot"/>
            <p:cNvSpPr/>
            <p:nvPr/>
          </p:nvSpPr>
          <p:spPr>
            <a:xfrm>
              <a:off x="7318043" y="2755315"/>
              <a:ext cx="253746" cy="186081"/>
            </a:xfrm>
            <a:custGeom>
              <a:avLst/>
              <a:gdLst/>
              <a:ahLst/>
              <a:cxnLst/>
              <a:rect l="l" t="t" r="r" b="b"/>
              <a:pathLst>
                <a:path w="253746" h="186081">
                  <a:moveTo>
                    <a:pt x="0" y="0"/>
                  </a:moveTo>
                  <a:lnTo>
                    <a:pt x="253746" y="186081"/>
                  </a:lnTo>
                  <a:lnTo>
                    <a:pt x="0" y="186081"/>
                  </a:lnTo>
                  <a:close/>
                </a:path>
              </a:pathLst>
            </a:custGeom>
            <a:solidFill>
              <a:srgbClr val="3A3F47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bell"/>
            <p:cNvSpPr/>
            <p:nvPr/>
          </p:nvSpPr>
          <p:spPr>
            <a:xfrm>
              <a:off x="6433654" y="2019452"/>
              <a:ext cx="50749" cy="10149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wheel"/>
            <p:cNvSpPr/>
            <p:nvPr/>
          </p:nvSpPr>
          <p:spPr>
            <a:xfrm>
              <a:off x="5523890" y="2696108"/>
              <a:ext cx="321411" cy="32141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hub"/>
            <p:cNvSpPr/>
            <p:nvPr/>
          </p:nvSpPr>
          <p:spPr>
            <a:xfrm>
              <a:off x="5642812" y="2815030"/>
              <a:ext cx="83567" cy="835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wheel"/>
            <p:cNvSpPr/>
            <p:nvPr/>
          </p:nvSpPr>
          <p:spPr>
            <a:xfrm>
              <a:off x="5883871" y="2696108"/>
              <a:ext cx="321411" cy="32141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hub"/>
            <p:cNvSpPr/>
            <p:nvPr/>
          </p:nvSpPr>
          <p:spPr>
            <a:xfrm>
              <a:off x="6002793" y="2815030"/>
              <a:ext cx="83567" cy="835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wheel"/>
            <p:cNvSpPr/>
            <p:nvPr/>
          </p:nvSpPr>
          <p:spPr>
            <a:xfrm>
              <a:off x="6243852" y="2696108"/>
              <a:ext cx="321411" cy="32141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hub"/>
            <p:cNvSpPr/>
            <p:nvPr/>
          </p:nvSpPr>
          <p:spPr>
            <a:xfrm>
              <a:off x="6362774" y="2815030"/>
              <a:ext cx="83567" cy="835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wheel"/>
            <p:cNvSpPr/>
            <p:nvPr/>
          </p:nvSpPr>
          <p:spPr>
            <a:xfrm>
              <a:off x="6979715" y="2848356"/>
              <a:ext cx="169164" cy="16916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hub"/>
            <p:cNvSpPr/>
            <p:nvPr/>
          </p:nvSpPr>
          <p:spPr>
            <a:xfrm>
              <a:off x="7042306" y="2910946"/>
              <a:ext cx="43982" cy="439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wheel"/>
            <p:cNvSpPr/>
            <p:nvPr/>
          </p:nvSpPr>
          <p:spPr>
            <a:xfrm>
              <a:off x="7165796" y="2848356"/>
              <a:ext cx="169164" cy="16916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hub"/>
            <p:cNvSpPr/>
            <p:nvPr/>
          </p:nvSpPr>
          <p:spPr>
            <a:xfrm>
              <a:off x="7228386" y="2910946"/>
              <a:ext cx="43982" cy="439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coupling rod"/>
            <p:cNvSpPr/>
            <p:nvPr/>
          </p:nvSpPr>
          <p:spPr>
            <a:xfrm>
              <a:off x="5684596" y="2760390"/>
              <a:ext cx="719961" cy="2368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data card"/>
            <p:cNvSpPr/>
            <p:nvPr/>
          </p:nvSpPr>
          <p:spPr>
            <a:xfrm>
              <a:off x="5047488" y="3337560"/>
              <a:ext cx="2103120" cy="566928"/>
            </a:xfrm>
            <a:prstGeom prst="roundRect">
              <a:avLst>
                <a:gd name="adj" fmla="val 12903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card icon"/>
            <p:cNvSpPr/>
            <p:nvPr/>
          </p:nvSpPr>
          <p:spPr>
            <a:xfrm>
              <a:off x="5184648" y="3474720"/>
              <a:ext cx="274320" cy="292608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card icon line"/>
            <p:cNvSpPr/>
            <p:nvPr/>
          </p:nvSpPr>
          <p:spPr>
            <a:xfrm>
              <a:off x="5239512" y="3529584"/>
              <a:ext cx="164592" cy="2743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card icon line"/>
            <p:cNvSpPr/>
            <p:nvPr/>
          </p:nvSpPr>
          <p:spPr>
            <a:xfrm>
              <a:off x="5239512" y="3602736"/>
              <a:ext cx="164592" cy="2743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card icon line"/>
            <p:cNvSpPr/>
            <p:nvPr/>
          </p:nvSpPr>
          <p:spPr>
            <a:xfrm>
              <a:off x="5239512" y="3675887"/>
              <a:ext cx="164592" cy="2743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card label"/>
            <p:cNvSpPr txBox="1"/>
            <p:nvPr/>
          </p:nvSpPr>
          <p:spPr>
            <a:xfrm>
              <a:off x="5532120" y="3337560"/>
              <a:ext cx="1600200" cy="56692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Own data card</a:t>
              </a:r>
            </a:p>
          </p:txBody>
        </p:sp>
        <p:cxnSp>
          <p:nvCxnSpPr>
            <p:cNvPr id="90" name="plug lead"/>
            <p:cNvCxnSpPr/>
            <p:nvPr/>
          </p:nvCxnSpPr>
          <p:spPr>
            <a:xfrm>
              <a:off x="6099048" y="3904487"/>
              <a:ext cx="0" cy="466345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91" name="plug head"/>
            <p:cNvSpPr/>
            <p:nvPr/>
          </p:nvSpPr>
          <p:spPr>
            <a:xfrm>
              <a:off x="5916168" y="4297680"/>
              <a:ext cx="365760" cy="256032"/>
            </a:xfrm>
            <a:prstGeom prst="roundRect">
              <a:avLst>
                <a:gd name="adj" fmla="val 14285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plug prong"/>
            <p:cNvSpPr/>
            <p:nvPr/>
          </p:nvSpPr>
          <p:spPr>
            <a:xfrm>
              <a:off x="6007608" y="4553712"/>
              <a:ext cx="54864" cy="12801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plug prong"/>
            <p:cNvSpPr/>
            <p:nvPr/>
          </p:nvSpPr>
          <p:spPr>
            <a:xfrm>
              <a:off x="6135624" y="4553712"/>
              <a:ext cx="54864" cy="12801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ail"/>
            <p:cNvSpPr/>
            <p:nvPr/>
          </p:nvSpPr>
          <p:spPr>
            <a:xfrm>
              <a:off x="7991856" y="3017520"/>
              <a:ext cx="347472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tender frame"/>
            <p:cNvSpPr/>
            <p:nvPr/>
          </p:nvSpPr>
          <p:spPr>
            <a:xfrm>
              <a:off x="8215198" y="2772232"/>
              <a:ext cx="693572" cy="7612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nder body"/>
            <p:cNvSpPr/>
            <p:nvPr/>
          </p:nvSpPr>
          <p:spPr>
            <a:xfrm>
              <a:off x="8215198" y="2467737"/>
              <a:ext cx="693572" cy="304495"/>
            </a:xfrm>
            <a:prstGeom prst="roundRect">
              <a:avLst>
                <a:gd name="adj" fmla="val 2777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tender coal"/>
            <p:cNvSpPr/>
            <p:nvPr/>
          </p:nvSpPr>
          <p:spPr>
            <a:xfrm>
              <a:off x="8240572" y="2374696"/>
              <a:ext cx="642824" cy="118415"/>
            </a:xfrm>
            <a:custGeom>
              <a:avLst/>
              <a:gdLst/>
              <a:ahLst/>
              <a:cxnLst/>
              <a:rect l="l" t="t" r="r" b="b"/>
              <a:pathLst>
                <a:path w="642824" h="118415">
                  <a:moveTo>
                    <a:pt x="0" y="118415"/>
                  </a:moveTo>
                  <a:lnTo>
                    <a:pt x="126873" y="8458"/>
                  </a:lnTo>
                  <a:lnTo>
                    <a:pt x="380619" y="0"/>
                  </a:lnTo>
                  <a:lnTo>
                    <a:pt x="642824" y="118415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coupling"/>
            <p:cNvSpPr/>
            <p:nvPr/>
          </p:nvSpPr>
          <p:spPr>
            <a:xfrm>
              <a:off x="8908770" y="2670733"/>
              <a:ext cx="59207" cy="2537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wheel"/>
            <p:cNvSpPr/>
            <p:nvPr/>
          </p:nvSpPr>
          <p:spPr>
            <a:xfrm>
              <a:off x="8249031" y="2780690"/>
              <a:ext cx="236829" cy="236829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hub"/>
            <p:cNvSpPr/>
            <p:nvPr/>
          </p:nvSpPr>
          <p:spPr>
            <a:xfrm>
              <a:off x="8336657" y="2868317"/>
              <a:ext cx="61575" cy="6157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wheel"/>
            <p:cNvSpPr/>
            <p:nvPr/>
          </p:nvSpPr>
          <p:spPr>
            <a:xfrm>
              <a:off x="8452027" y="2780690"/>
              <a:ext cx="236829" cy="236829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hub"/>
            <p:cNvSpPr/>
            <p:nvPr/>
          </p:nvSpPr>
          <p:spPr>
            <a:xfrm>
              <a:off x="8539654" y="2868317"/>
              <a:ext cx="61575" cy="6157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wheel"/>
            <p:cNvSpPr/>
            <p:nvPr/>
          </p:nvSpPr>
          <p:spPr>
            <a:xfrm>
              <a:off x="8655024" y="2780690"/>
              <a:ext cx="236829" cy="236829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hub"/>
            <p:cNvSpPr/>
            <p:nvPr/>
          </p:nvSpPr>
          <p:spPr>
            <a:xfrm>
              <a:off x="8742651" y="2868317"/>
              <a:ext cx="61575" cy="6157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frame"/>
            <p:cNvSpPr/>
            <p:nvPr/>
          </p:nvSpPr>
          <p:spPr>
            <a:xfrm>
              <a:off x="8967978" y="2772232"/>
              <a:ext cx="2224506" cy="7612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cab"/>
            <p:cNvSpPr/>
            <p:nvPr/>
          </p:nvSpPr>
          <p:spPr>
            <a:xfrm>
              <a:off x="8967978" y="2307031"/>
              <a:ext cx="338328" cy="465201"/>
            </a:xfrm>
            <a:prstGeom prst="roundRect">
              <a:avLst>
                <a:gd name="adj" fmla="val 2500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cab roof"/>
            <p:cNvSpPr/>
            <p:nvPr/>
          </p:nvSpPr>
          <p:spPr>
            <a:xfrm>
              <a:off x="8942603" y="2239365"/>
              <a:ext cx="389077" cy="67665"/>
            </a:xfrm>
            <a:prstGeom prst="roundRect">
              <a:avLst>
                <a:gd name="adj" fmla="val 37500"/>
              </a:avLst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cab window"/>
            <p:cNvSpPr/>
            <p:nvPr/>
          </p:nvSpPr>
          <p:spPr>
            <a:xfrm>
              <a:off x="9052560" y="2374696"/>
              <a:ext cx="152247" cy="152247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boiler"/>
            <p:cNvSpPr/>
            <p:nvPr/>
          </p:nvSpPr>
          <p:spPr>
            <a:xfrm>
              <a:off x="9306306" y="2349322"/>
              <a:ext cx="1717014" cy="338328"/>
            </a:xfrm>
            <a:prstGeom prst="roundRect">
              <a:avLst>
                <a:gd name="adj" fmla="val 25000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boiler band"/>
            <p:cNvSpPr/>
            <p:nvPr/>
          </p:nvSpPr>
          <p:spPr>
            <a:xfrm>
              <a:off x="9821410" y="2349322"/>
              <a:ext cx="11841" cy="338328"/>
            </a:xfrm>
            <a:prstGeom prst="rect">
              <a:avLst/>
            </a:prstGeom>
            <a:solidFill>
              <a:srgbClr val="9C804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boiler band"/>
            <p:cNvSpPr/>
            <p:nvPr/>
          </p:nvSpPr>
          <p:spPr>
            <a:xfrm>
              <a:off x="10250664" y="2349322"/>
              <a:ext cx="11841" cy="338328"/>
            </a:xfrm>
            <a:prstGeom prst="rect">
              <a:avLst/>
            </a:prstGeom>
            <a:solidFill>
              <a:srgbClr val="9C804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boiler band"/>
            <p:cNvSpPr/>
            <p:nvPr/>
          </p:nvSpPr>
          <p:spPr>
            <a:xfrm>
              <a:off x="10679917" y="2349322"/>
              <a:ext cx="11841" cy="338328"/>
            </a:xfrm>
            <a:prstGeom prst="rect">
              <a:avLst/>
            </a:prstGeom>
            <a:solidFill>
              <a:srgbClr val="9C804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smokebox"/>
            <p:cNvSpPr/>
            <p:nvPr/>
          </p:nvSpPr>
          <p:spPr>
            <a:xfrm>
              <a:off x="11023320" y="2349322"/>
              <a:ext cx="169164" cy="338328"/>
            </a:xfrm>
            <a:prstGeom prst="roundRect">
              <a:avLst>
                <a:gd name="adj" fmla="val 11999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chimney"/>
            <p:cNvSpPr/>
            <p:nvPr/>
          </p:nvSpPr>
          <p:spPr>
            <a:xfrm>
              <a:off x="11074069" y="2120950"/>
              <a:ext cx="67665" cy="228371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smoke deflector"/>
            <p:cNvSpPr/>
            <p:nvPr/>
          </p:nvSpPr>
          <p:spPr>
            <a:xfrm>
              <a:off x="10803407" y="2137867"/>
              <a:ext cx="202997" cy="287579"/>
            </a:xfrm>
            <a:custGeom>
              <a:avLst/>
              <a:gdLst/>
              <a:ahLst/>
              <a:cxnLst/>
              <a:rect l="l" t="t" r="r" b="b"/>
              <a:pathLst>
                <a:path w="202997" h="287579">
                  <a:moveTo>
                    <a:pt x="0" y="287579"/>
                  </a:moveTo>
                  <a:lnTo>
                    <a:pt x="202997" y="287579"/>
                  </a:lnTo>
                  <a:lnTo>
                    <a:pt x="202997" y="0"/>
                  </a:lnTo>
                  <a:lnTo>
                    <a:pt x="33833" y="50749"/>
                  </a:lnTo>
                  <a:close/>
                </a:path>
              </a:pathLst>
            </a:custGeom>
            <a:solidFill>
              <a:srgbClr val="3A3F47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lamp"/>
            <p:cNvSpPr/>
            <p:nvPr/>
          </p:nvSpPr>
          <p:spPr>
            <a:xfrm>
              <a:off x="11150193" y="2645359"/>
              <a:ext cx="84582" cy="84582"/>
            </a:xfrm>
            <a:prstGeom prst="ellipse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dome"/>
            <p:cNvSpPr/>
            <p:nvPr/>
          </p:nvSpPr>
          <p:spPr>
            <a:xfrm>
              <a:off x="9993111" y="2256282"/>
              <a:ext cx="152247" cy="93040"/>
            </a:xfrm>
            <a:prstGeom prst="roundRect">
              <a:avLst>
                <a:gd name="adj" fmla="val 36363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wheel"/>
            <p:cNvSpPr/>
            <p:nvPr/>
          </p:nvSpPr>
          <p:spPr>
            <a:xfrm>
              <a:off x="8993352" y="2679191"/>
              <a:ext cx="338328" cy="33832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hub"/>
            <p:cNvSpPr/>
            <p:nvPr/>
          </p:nvSpPr>
          <p:spPr>
            <a:xfrm>
              <a:off x="9118533" y="2804373"/>
              <a:ext cx="87965" cy="8796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wheel"/>
            <p:cNvSpPr/>
            <p:nvPr/>
          </p:nvSpPr>
          <p:spPr>
            <a:xfrm>
              <a:off x="9373971" y="2679191"/>
              <a:ext cx="338328" cy="33832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hub"/>
            <p:cNvSpPr/>
            <p:nvPr/>
          </p:nvSpPr>
          <p:spPr>
            <a:xfrm>
              <a:off x="9499152" y="2804373"/>
              <a:ext cx="87965" cy="8796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wheel"/>
            <p:cNvSpPr/>
            <p:nvPr/>
          </p:nvSpPr>
          <p:spPr>
            <a:xfrm>
              <a:off x="9754590" y="2679191"/>
              <a:ext cx="338328" cy="33832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hub"/>
            <p:cNvSpPr/>
            <p:nvPr/>
          </p:nvSpPr>
          <p:spPr>
            <a:xfrm>
              <a:off x="9879771" y="2804373"/>
              <a:ext cx="87965" cy="8796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wheel"/>
            <p:cNvSpPr/>
            <p:nvPr/>
          </p:nvSpPr>
          <p:spPr>
            <a:xfrm>
              <a:off x="10135209" y="2679191"/>
              <a:ext cx="338328" cy="33832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hub"/>
            <p:cNvSpPr/>
            <p:nvPr/>
          </p:nvSpPr>
          <p:spPr>
            <a:xfrm>
              <a:off x="10260390" y="2804373"/>
              <a:ext cx="87965" cy="8796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wheel"/>
            <p:cNvSpPr/>
            <p:nvPr/>
          </p:nvSpPr>
          <p:spPr>
            <a:xfrm>
              <a:off x="10600410" y="2831439"/>
              <a:ext cx="186080" cy="18608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hub"/>
            <p:cNvSpPr/>
            <p:nvPr/>
          </p:nvSpPr>
          <p:spPr>
            <a:xfrm>
              <a:off x="10669260" y="2900289"/>
              <a:ext cx="48380" cy="4838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coupling rod"/>
            <p:cNvSpPr/>
            <p:nvPr/>
          </p:nvSpPr>
          <p:spPr>
            <a:xfrm>
              <a:off x="9162516" y="2751932"/>
              <a:ext cx="1141857" cy="2368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buffer beam"/>
            <p:cNvSpPr/>
            <p:nvPr/>
          </p:nvSpPr>
          <p:spPr>
            <a:xfrm>
              <a:off x="11192484" y="2696108"/>
              <a:ext cx="50749" cy="152247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data card"/>
            <p:cNvSpPr/>
            <p:nvPr/>
          </p:nvSpPr>
          <p:spPr>
            <a:xfrm>
              <a:off x="8677656" y="3337560"/>
              <a:ext cx="2103120" cy="566928"/>
            </a:xfrm>
            <a:prstGeom prst="roundRect">
              <a:avLst>
                <a:gd name="adj" fmla="val 12903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card icon"/>
            <p:cNvSpPr/>
            <p:nvPr/>
          </p:nvSpPr>
          <p:spPr>
            <a:xfrm>
              <a:off x="8814816" y="3474720"/>
              <a:ext cx="274320" cy="292608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card icon line"/>
            <p:cNvSpPr/>
            <p:nvPr/>
          </p:nvSpPr>
          <p:spPr>
            <a:xfrm>
              <a:off x="8869680" y="3529584"/>
              <a:ext cx="164592" cy="2743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card icon line"/>
            <p:cNvSpPr/>
            <p:nvPr/>
          </p:nvSpPr>
          <p:spPr>
            <a:xfrm>
              <a:off x="8869680" y="3602736"/>
              <a:ext cx="164592" cy="2743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card icon line"/>
            <p:cNvSpPr/>
            <p:nvPr/>
          </p:nvSpPr>
          <p:spPr>
            <a:xfrm>
              <a:off x="8869680" y="3675887"/>
              <a:ext cx="164592" cy="2743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card label"/>
            <p:cNvSpPr txBox="1"/>
            <p:nvPr/>
          </p:nvSpPr>
          <p:spPr>
            <a:xfrm>
              <a:off x="9162288" y="3337560"/>
              <a:ext cx="1600200" cy="56692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Own data card</a:t>
              </a:r>
            </a:p>
          </p:txBody>
        </p:sp>
        <p:cxnSp>
          <p:nvCxnSpPr>
            <p:cNvPr id="136" name="plug lead"/>
            <p:cNvCxnSpPr/>
            <p:nvPr/>
          </p:nvCxnSpPr>
          <p:spPr>
            <a:xfrm>
              <a:off x="9729216" y="3904487"/>
              <a:ext cx="0" cy="466345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137" name="plug head"/>
            <p:cNvSpPr/>
            <p:nvPr/>
          </p:nvSpPr>
          <p:spPr>
            <a:xfrm>
              <a:off x="9546336" y="4297680"/>
              <a:ext cx="365760" cy="256032"/>
            </a:xfrm>
            <a:prstGeom prst="roundRect">
              <a:avLst>
                <a:gd name="adj" fmla="val 14285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plug prong"/>
            <p:cNvSpPr/>
            <p:nvPr/>
          </p:nvSpPr>
          <p:spPr>
            <a:xfrm>
              <a:off x="9637776" y="4553712"/>
              <a:ext cx="54864" cy="12801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plug prong"/>
            <p:cNvSpPr/>
            <p:nvPr/>
          </p:nvSpPr>
          <p:spPr>
            <a:xfrm>
              <a:off x="9765792" y="4553712"/>
              <a:ext cx="54864" cy="12801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0" name="shared rules bar"/>
            <p:cNvSpPr/>
            <p:nvPr/>
          </p:nvSpPr>
          <p:spPr>
            <a:xfrm>
              <a:off x="822960" y="4553712"/>
              <a:ext cx="10515600" cy="777240"/>
            </a:xfrm>
            <a:prstGeom prst="roundRect">
              <a:avLst>
                <a:gd name="adj" fmla="val 11764"/>
              </a:avLst>
            </a:prstGeom>
            <a:solidFill>
              <a:srgbClr val="343A43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tIns="91440" bIns="0">
              <a:noAutofit/>
            </a:bodyPr>
            <a:lstStyle/>
            <a:p>
              <a:pPr algn="ctr"/>
              <a:r>
                <a:rPr sz="2400" b="1" i="0" lang="en-GB">
                  <a:solidFill>
                    <a:srgbClr val="F2F2F2"/>
                  </a:solidFill>
                  <a:latin typeface="Arial"/>
                </a:rPr>
                <a:t>Shared rules</a:t>
              </a:r>
            </a:p>
          </p:txBody>
        </p:sp>
      </p:grpSp>
      <p:sp>
        <p:nvSpPr>
          <p:cNvPr id="141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CAPTION"/>
          <p:cNvSpPr txBox="1"/>
          <p:nvPr/>
        </p:nvSpPr>
        <p:spPr>
          <a:xfrm>
            <a:off x="822960" y="5760720"/>
            <a:ext cx="1042416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code is shared. The engines are not. Each model keeps its own wheels and shape.</a:t>
            </a:r>
          </a:p>
        </p:txBody>
      </p:sp>
      <p:sp>
        <p:nvSpPr>
          <p:cNvPr id="144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Weight and power differ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Two balanced scales" descr="Two balance scales, both level. On the first, a heavy engine with heavy wagons balances more power. On the second, a lighter engine with light wagons balances less power. Illustration only."/>
          <p:cNvGrpSpPr/>
          <p:nvPr/>
        </p:nvGrpSpPr>
        <p:grpSpPr>
          <a:xfrm>
            <a:off x="1572768" y="1335024"/>
            <a:ext cx="9052560" cy="4297680"/>
            <a:chOff x="1572768" y="1335024"/>
            <a:chExt cx="9052560" cy="4297680"/>
          </a:xfrm>
        </p:grpSpPr>
        <p:sp>
          <p:nvSpPr>
            <p:cNvPr id="5" name="scale post"/>
            <p:cNvSpPr/>
            <p:nvPr/>
          </p:nvSpPr>
          <p:spPr>
            <a:xfrm>
              <a:off x="6025896" y="1463039"/>
              <a:ext cx="146304" cy="14173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cale base"/>
            <p:cNvSpPr/>
            <p:nvPr/>
          </p:nvSpPr>
          <p:spPr>
            <a:xfrm>
              <a:off x="5367528" y="2624328"/>
              <a:ext cx="1463040" cy="256032"/>
            </a:xfrm>
            <a:custGeom>
              <a:avLst/>
              <a:gdLst/>
              <a:ahLst/>
              <a:cxnLst/>
              <a:rect l="l" t="t" r="r" b="b"/>
              <a:pathLst>
                <a:path w="1463040" h="256032">
                  <a:moveTo>
                    <a:pt x="0" y="256032"/>
                  </a:moveTo>
                  <a:lnTo>
                    <a:pt x="1463040" y="256032"/>
                  </a:lnTo>
                  <a:lnTo>
                    <a:pt x="1188720" y="0"/>
                  </a:lnTo>
                  <a:lnTo>
                    <a:pt x="274320" y="0"/>
                  </a:lnTo>
                  <a:close/>
                </a:path>
              </a:pathLst>
            </a:custGeom>
            <a:solidFill>
              <a:srgbClr val="73787C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cale beam"/>
            <p:cNvSpPr/>
            <p:nvPr/>
          </p:nvSpPr>
          <p:spPr>
            <a:xfrm>
              <a:off x="3127248" y="1408175"/>
              <a:ext cx="5943600" cy="109728"/>
            </a:xfrm>
            <a:prstGeom prst="roundRect">
              <a:avLst>
                <a:gd name="adj" fmla="val 41666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cale pivot"/>
            <p:cNvSpPr/>
            <p:nvPr/>
          </p:nvSpPr>
          <p:spPr>
            <a:xfrm>
              <a:off x="5971032" y="1335024"/>
              <a:ext cx="256032" cy="256032"/>
            </a:xfrm>
            <a:prstGeom prst="ellipse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scale string"/>
            <p:cNvCxnSpPr/>
            <p:nvPr/>
          </p:nvCxnSpPr>
          <p:spPr>
            <a:xfrm flipH="1">
              <a:off x="1737360" y="1463039"/>
              <a:ext cx="1481328" cy="1234441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10" name="scale string"/>
            <p:cNvCxnSpPr/>
            <p:nvPr/>
          </p:nvCxnSpPr>
          <p:spPr>
            <a:xfrm>
              <a:off x="3218688" y="1463039"/>
              <a:ext cx="1481328" cy="1234441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1" name="scale pan"/>
            <p:cNvSpPr/>
            <p:nvPr/>
          </p:nvSpPr>
          <p:spPr>
            <a:xfrm>
              <a:off x="1572768" y="2697480"/>
              <a:ext cx="3291840" cy="146304"/>
            </a:xfrm>
            <a:custGeom>
              <a:avLst/>
              <a:gdLst/>
              <a:ahLst/>
              <a:cxnLst/>
              <a:rect l="l" t="t" r="r" b="b"/>
              <a:pathLst>
                <a:path w="3291840" h="146304">
                  <a:moveTo>
                    <a:pt x="0" y="0"/>
                  </a:moveTo>
                  <a:lnTo>
                    <a:pt x="3291840" y="0"/>
                  </a:lnTo>
                  <a:lnTo>
                    <a:pt x="2962656" y="146304"/>
                  </a:lnTo>
                  <a:lnTo>
                    <a:pt x="329184" y="146304"/>
                  </a:lnTo>
                  <a:close/>
                </a:path>
              </a:pathLst>
            </a:custGeom>
            <a:solidFill>
              <a:srgbClr val="8A9095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scale string"/>
            <p:cNvCxnSpPr/>
            <p:nvPr/>
          </p:nvCxnSpPr>
          <p:spPr>
            <a:xfrm flipH="1">
              <a:off x="7498079" y="1463039"/>
              <a:ext cx="1481329" cy="1234441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13" name="scale string"/>
            <p:cNvCxnSpPr/>
            <p:nvPr/>
          </p:nvCxnSpPr>
          <p:spPr>
            <a:xfrm>
              <a:off x="8979408" y="1463039"/>
              <a:ext cx="1481328" cy="1234441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4" name="scale pan"/>
            <p:cNvSpPr/>
            <p:nvPr/>
          </p:nvSpPr>
          <p:spPr>
            <a:xfrm>
              <a:off x="7333488" y="2697480"/>
              <a:ext cx="3291840" cy="146304"/>
            </a:xfrm>
            <a:custGeom>
              <a:avLst/>
              <a:gdLst/>
              <a:ahLst/>
              <a:cxnLst/>
              <a:rect l="l" t="t" r="r" b="b"/>
              <a:pathLst>
                <a:path w="3291840" h="146304">
                  <a:moveTo>
                    <a:pt x="0" y="0"/>
                  </a:moveTo>
                  <a:lnTo>
                    <a:pt x="3291840" y="0"/>
                  </a:lnTo>
                  <a:lnTo>
                    <a:pt x="2962656" y="146304"/>
                  </a:lnTo>
                  <a:lnTo>
                    <a:pt x="329184" y="146304"/>
                  </a:lnTo>
                  <a:close/>
                </a:path>
              </a:pathLst>
            </a:custGeom>
            <a:solidFill>
              <a:srgbClr val="8A9095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wagon frame"/>
            <p:cNvSpPr/>
            <p:nvPr/>
          </p:nvSpPr>
          <p:spPr>
            <a:xfrm>
              <a:off x="1686610" y="2556662"/>
              <a:ext cx="442569" cy="4023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opper body"/>
            <p:cNvSpPr/>
            <p:nvPr/>
          </p:nvSpPr>
          <p:spPr>
            <a:xfrm>
              <a:off x="1686610" y="2305202"/>
              <a:ext cx="442570" cy="251460"/>
            </a:xfrm>
            <a:custGeom>
              <a:avLst/>
              <a:gdLst/>
              <a:ahLst/>
              <a:cxnLst/>
              <a:rect l="l" t="t" r="r" b="b"/>
              <a:pathLst>
                <a:path w="442570" h="251460">
                  <a:moveTo>
                    <a:pt x="0" y="0"/>
                  </a:moveTo>
                  <a:lnTo>
                    <a:pt x="442570" y="0"/>
                  </a:lnTo>
                  <a:lnTo>
                    <a:pt x="372161" y="251460"/>
                  </a:lnTo>
                  <a:lnTo>
                    <a:pt x="70409" y="251460"/>
                  </a:lnTo>
                  <a:close/>
                </a:path>
              </a:pathLst>
            </a:cu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opper rim"/>
            <p:cNvSpPr/>
            <p:nvPr/>
          </p:nvSpPr>
          <p:spPr>
            <a:xfrm>
              <a:off x="1686610" y="2300173"/>
              <a:ext cx="442569" cy="25146"/>
            </a:xfrm>
            <a:prstGeom prst="rect">
              <a:avLst/>
            </a:prstGeom>
            <a:solidFill>
              <a:srgbClr val="E088B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opper hatch"/>
            <p:cNvSpPr/>
            <p:nvPr/>
          </p:nvSpPr>
          <p:spPr>
            <a:xfrm>
              <a:off x="1819381" y="2556662"/>
              <a:ext cx="88514" cy="30175"/>
            </a:xfrm>
            <a:custGeom>
              <a:avLst/>
              <a:gdLst/>
              <a:ahLst/>
              <a:cxnLst/>
              <a:rect l="l" t="t" r="r" b="b"/>
              <a:pathLst>
                <a:path w="88514" h="30175">
                  <a:moveTo>
                    <a:pt x="0" y="0"/>
                  </a:moveTo>
                  <a:lnTo>
                    <a:pt x="44257" y="30175"/>
                  </a:lnTo>
                  <a:lnTo>
                    <a:pt x="88514" y="0"/>
                  </a:lnTo>
                  <a:close/>
                </a:path>
              </a:pathLst>
            </a:cu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opper hatch"/>
            <p:cNvSpPr/>
            <p:nvPr/>
          </p:nvSpPr>
          <p:spPr>
            <a:xfrm>
              <a:off x="1930024" y="2556662"/>
              <a:ext cx="88514" cy="30175"/>
            </a:xfrm>
            <a:custGeom>
              <a:avLst/>
              <a:gdLst/>
              <a:ahLst/>
              <a:cxnLst/>
              <a:rect l="l" t="t" r="r" b="b"/>
              <a:pathLst>
                <a:path w="88514" h="30175">
                  <a:moveTo>
                    <a:pt x="0" y="0"/>
                  </a:moveTo>
                  <a:lnTo>
                    <a:pt x="44257" y="30175"/>
                  </a:lnTo>
                  <a:lnTo>
                    <a:pt x="88514" y="0"/>
                  </a:lnTo>
                  <a:close/>
                </a:path>
              </a:pathLst>
            </a:cu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wheel"/>
            <p:cNvSpPr/>
            <p:nvPr/>
          </p:nvSpPr>
          <p:spPr>
            <a:xfrm>
              <a:off x="1716786" y="2576779"/>
              <a:ext cx="120700" cy="120700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ub"/>
            <p:cNvSpPr/>
            <p:nvPr/>
          </p:nvSpPr>
          <p:spPr>
            <a:xfrm>
              <a:off x="1761445" y="2621438"/>
              <a:ext cx="31382" cy="313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wheel"/>
            <p:cNvSpPr/>
            <p:nvPr/>
          </p:nvSpPr>
          <p:spPr>
            <a:xfrm>
              <a:off x="1978304" y="2576779"/>
              <a:ext cx="120700" cy="120700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ub"/>
            <p:cNvSpPr/>
            <p:nvPr/>
          </p:nvSpPr>
          <p:spPr>
            <a:xfrm>
              <a:off x="2022963" y="2621438"/>
              <a:ext cx="31382" cy="313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wagon frame"/>
            <p:cNvSpPr/>
            <p:nvPr/>
          </p:nvSpPr>
          <p:spPr>
            <a:xfrm>
              <a:off x="2174900" y="2556662"/>
              <a:ext cx="442569" cy="4023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opper body"/>
            <p:cNvSpPr/>
            <p:nvPr/>
          </p:nvSpPr>
          <p:spPr>
            <a:xfrm>
              <a:off x="2174900" y="2305202"/>
              <a:ext cx="442570" cy="251460"/>
            </a:xfrm>
            <a:custGeom>
              <a:avLst/>
              <a:gdLst/>
              <a:ahLst/>
              <a:cxnLst/>
              <a:rect l="l" t="t" r="r" b="b"/>
              <a:pathLst>
                <a:path w="442570" h="251460">
                  <a:moveTo>
                    <a:pt x="0" y="0"/>
                  </a:moveTo>
                  <a:lnTo>
                    <a:pt x="442570" y="0"/>
                  </a:lnTo>
                  <a:lnTo>
                    <a:pt x="372161" y="251460"/>
                  </a:lnTo>
                  <a:lnTo>
                    <a:pt x="70409" y="251460"/>
                  </a:lnTo>
                  <a:close/>
                </a:path>
              </a:pathLst>
            </a:cu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opper rim"/>
            <p:cNvSpPr/>
            <p:nvPr/>
          </p:nvSpPr>
          <p:spPr>
            <a:xfrm>
              <a:off x="2174900" y="2300173"/>
              <a:ext cx="442569" cy="25146"/>
            </a:xfrm>
            <a:prstGeom prst="rect">
              <a:avLst/>
            </a:prstGeom>
            <a:solidFill>
              <a:srgbClr val="E088B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opper hatch"/>
            <p:cNvSpPr/>
            <p:nvPr/>
          </p:nvSpPr>
          <p:spPr>
            <a:xfrm>
              <a:off x="2307671" y="2556662"/>
              <a:ext cx="88514" cy="30175"/>
            </a:xfrm>
            <a:custGeom>
              <a:avLst/>
              <a:gdLst/>
              <a:ahLst/>
              <a:cxnLst/>
              <a:rect l="l" t="t" r="r" b="b"/>
              <a:pathLst>
                <a:path w="88514" h="30175">
                  <a:moveTo>
                    <a:pt x="0" y="0"/>
                  </a:moveTo>
                  <a:lnTo>
                    <a:pt x="44257" y="30175"/>
                  </a:lnTo>
                  <a:lnTo>
                    <a:pt x="88514" y="0"/>
                  </a:lnTo>
                  <a:close/>
                </a:path>
              </a:pathLst>
            </a:cu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opper hatch"/>
            <p:cNvSpPr/>
            <p:nvPr/>
          </p:nvSpPr>
          <p:spPr>
            <a:xfrm>
              <a:off x="2418313" y="2556662"/>
              <a:ext cx="88514" cy="30175"/>
            </a:xfrm>
            <a:custGeom>
              <a:avLst/>
              <a:gdLst/>
              <a:ahLst/>
              <a:cxnLst/>
              <a:rect l="l" t="t" r="r" b="b"/>
              <a:pathLst>
                <a:path w="88514" h="30175">
                  <a:moveTo>
                    <a:pt x="0" y="0"/>
                  </a:moveTo>
                  <a:lnTo>
                    <a:pt x="44257" y="30175"/>
                  </a:lnTo>
                  <a:lnTo>
                    <a:pt x="88514" y="0"/>
                  </a:lnTo>
                  <a:close/>
                </a:path>
              </a:pathLst>
            </a:cu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wheel"/>
            <p:cNvSpPr/>
            <p:nvPr/>
          </p:nvSpPr>
          <p:spPr>
            <a:xfrm>
              <a:off x="2205075" y="2576779"/>
              <a:ext cx="120700" cy="120700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ub"/>
            <p:cNvSpPr/>
            <p:nvPr/>
          </p:nvSpPr>
          <p:spPr>
            <a:xfrm>
              <a:off x="2249734" y="2621438"/>
              <a:ext cx="31382" cy="313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wheel"/>
            <p:cNvSpPr/>
            <p:nvPr/>
          </p:nvSpPr>
          <p:spPr>
            <a:xfrm>
              <a:off x="2466594" y="2576779"/>
              <a:ext cx="120700" cy="120700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ub"/>
            <p:cNvSpPr/>
            <p:nvPr/>
          </p:nvSpPr>
          <p:spPr>
            <a:xfrm>
              <a:off x="2511253" y="2621438"/>
              <a:ext cx="31382" cy="313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nder frame"/>
            <p:cNvSpPr/>
            <p:nvPr/>
          </p:nvSpPr>
          <p:spPr>
            <a:xfrm>
              <a:off x="2708910" y="2536545"/>
              <a:ext cx="462686" cy="45262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nder body"/>
            <p:cNvSpPr/>
            <p:nvPr/>
          </p:nvSpPr>
          <p:spPr>
            <a:xfrm>
              <a:off x="2708910" y="2335377"/>
              <a:ext cx="462686" cy="201168"/>
            </a:xfrm>
            <a:prstGeom prst="roundRect">
              <a:avLst>
                <a:gd name="adj" fmla="val 25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nder coal"/>
            <p:cNvSpPr/>
            <p:nvPr/>
          </p:nvSpPr>
          <p:spPr>
            <a:xfrm>
              <a:off x="2723997" y="2269998"/>
              <a:ext cx="432511" cy="65379"/>
            </a:xfrm>
            <a:custGeom>
              <a:avLst/>
              <a:gdLst/>
              <a:ahLst/>
              <a:cxnLst/>
              <a:rect l="l" t="t" r="r" b="b"/>
              <a:pathLst>
                <a:path w="432511" h="65379">
                  <a:moveTo>
                    <a:pt x="0" y="65379"/>
                  </a:moveTo>
                  <a:lnTo>
                    <a:pt x="75438" y="5029"/>
                  </a:lnTo>
                  <a:lnTo>
                    <a:pt x="246431" y="0"/>
                  </a:lnTo>
                  <a:lnTo>
                    <a:pt x="432511" y="65379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coupling"/>
            <p:cNvSpPr/>
            <p:nvPr/>
          </p:nvSpPr>
          <p:spPr>
            <a:xfrm>
              <a:off x="3171596" y="2461107"/>
              <a:ext cx="40233" cy="15087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wheel"/>
            <p:cNvSpPr/>
            <p:nvPr/>
          </p:nvSpPr>
          <p:spPr>
            <a:xfrm>
              <a:off x="2739085" y="2576779"/>
              <a:ext cx="120700" cy="1207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ub"/>
            <p:cNvSpPr/>
            <p:nvPr/>
          </p:nvSpPr>
          <p:spPr>
            <a:xfrm>
              <a:off x="2783744" y="2621438"/>
              <a:ext cx="31382" cy="313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wheel"/>
            <p:cNvSpPr/>
            <p:nvPr/>
          </p:nvSpPr>
          <p:spPr>
            <a:xfrm>
              <a:off x="2839669" y="2576779"/>
              <a:ext cx="120700" cy="1207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ub"/>
            <p:cNvSpPr/>
            <p:nvPr/>
          </p:nvSpPr>
          <p:spPr>
            <a:xfrm>
              <a:off x="2884328" y="2621438"/>
              <a:ext cx="31382" cy="313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wheel"/>
            <p:cNvSpPr/>
            <p:nvPr/>
          </p:nvSpPr>
          <p:spPr>
            <a:xfrm>
              <a:off x="2920136" y="2576779"/>
              <a:ext cx="120700" cy="1207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ub"/>
            <p:cNvSpPr/>
            <p:nvPr/>
          </p:nvSpPr>
          <p:spPr>
            <a:xfrm>
              <a:off x="2964795" y="2621438"/>
              <a:ext cx="31382" cy="313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wheel"/>
            <p:cNvSpPr/>
            <p:nvPr/>
          </p:nvSpPr>
          <p:spPr>
            <a:xfrm>
              <a:off x="3020720" y="2576779"/>
              <a:ext cx="120700" cy="1207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ub"/>
            <p:cNvSpPr/>
            <p:nvPr/>
          </p:nvSpPr>
          <p:spPr>
            <a:xfrm>
              <a:off x="3065379" y="2621438"/>
              <a:ext cx="31382" cy="313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frame"/>
            <p:cNvSpPr/>
            <p:nvPr/>
          </p:nvSpPr>
          <p:spPr>
            <a:xfrm>
              <a:off x="3211830" y="2536545"/>
              <a:ext cx="1433925" cy="45262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cab"/>
            <p:cNvSpPr/>
            <p:nvPr/>
          </p:nvSpPr>
          <p:spPr>
            <a:xfrm>
              <a:off x="3211830" y="2194560"/>
              <a:ext cx="231343" cy="341985"/>
            </a:xfrm>
            <a:prstGeom prst="roundRect">
              <a:avLst>
                <a:gd name="adj" fmla="val 217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cab roof"/>
            <p:cNvSpPr/>
            <p:nvPr/>
          </p:nvSpPr>
          <p:spPr>
            <a:xfrm>
              <a:off x="3191713" y="2164384"/>
              <a:ext cx="271576" cy="30175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cab window"/>
            <p:cNvSpPr/>
            <p:nvPr/>
          </p:nvSpPr>
          <p:spPr>
            <a:xfrm>
              <a:off x="3267151" y="2244852"/>
              <a:ext cx="100584" cy="11064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boiler"/>
            <p:cNvSpPr/>
            <p:nvPr/>
          </p:nvSpPr>
          <p:spPr>
            <a:xfrm>
              <a:off x="3443173" y="2224735"/>
              <a:ext cx="1031589" cy="251460"/>
            </a:xfrm>
            <a:prstGeom prst="roundRect">
              <a:avLst>
                <a:gd name="adj" fmla="val 220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smokebox"/>
            <p:cNvSpPr/>
            <p:nvPr/>
          </p:nvSpPr>
          <p:spPr>
            <a:xfrm>
              <a:off x="4474762" y="2224735"/>
              <a:ext cx="120700" cy="251460"/>
            </a:xfrm>
            <a:prstGeom prst="roundRect">
              <a:avLst>
                <a:gd name="adj" fmla="val 1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funnel stack"/>
            <p:cNvSpPr/>
            <p:nvPr/>
          </p:nvSpPr>
          <p:spPr>
            <a:xfrm>
              <a:off x="4469733" y="2053742"/>
              <a:ext cx="120701" cy="170993"/>
            </a:xfrm>
            <a:custGeom>
              <a:avLst/>
              <a:gdLst/>
              <a:ahLst/>
              <a:cxnLst/>
              <a:rect l="l" t="t" r="r" b="b"/>
              <a:pathLst>
                <a:path w="120701" h="170993">
                  <a:moveTo>
                    <a:pt x="40234" y="170993"/>
                  </a:moveTo>
                  <a:lnTo>
                    <a:pt x="40234" y="120701"/>
                  </a:lnTo>
                  <a:lnTo>
                    <a:pt x="0" y="0"/>
                  </a:lnTo>
                  <a:lnTo>
                    <a:pt x="120701" y="0"/>
                  </a:lnTo>
                  <a:lnTo>
                    <a:pt x="80467" y="120701"/>
                  </a:lnTo>
                  <a:lnTo>
                    <a:pt x="80467" y="170993"/>
                  </a:lnTo>
                  <a:close/>
                </a:path>
              </a:pathLst>
            </a:cu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adlamp"/>
            <p:cNvSpPr/>
            <p:nvPr/>
          </p:nvSpPr>
          <p:spPr>
            <a:xfrm>
              <a:off x="4565288" y="2144268"/>
              <a:ext cx="75438" cy="75438"/>
            </a:xfrm>
            <a:prstGeom prst="ellipse">
              <a:avLst/>
            </a:prstGeom>
            <a:solidFill>
              <a:srgbClr val="F2C14E"/>
            </a:solidFill>
            <a:ln w="127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sand dome"/>
            <p:cNvSpPr/>
            <p:nvPr/>
          </p:nvSpPr>
          <p:spPr>
            <a:xfrm>
              <a:off x="3732018" y="2164384"/>
              <a:ext cx="90525" cy="60350"/>
            </a:xfrm>
            <a:prstGeom prst="roundRect">
              <a:avLst>
                <a:gd name="adj" fmla="val 3333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steam dome"/>
            <p:cNvSpPr/>
            <p:nvPr/>
          </p:nvSpPr>
          <p:spPr>
            <a:xfrm>
              <a:off x="4082758" y="2154326"/>
              <a:ext cx="100584" cy="70408"/>
            </a:xfrm>
            <a:prstGeom prst="roundRect">
              <a:avLst>
                <a:gd name="adj" fmla="val 28571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pilot"/>
            <p:cNvSpPr/>
            <p:nvPr/>
          </p:nvSpPr>
          <p:spPr>
            <a:xfrm>
              <a:off x="4595463" y="2541574"/>
              <a:ext cx="150876" cy="110643"/>
            </a:xfrm>
            <a:custGeom>
              <a:avLst/>
              <a:gdLst/>
              <a:ahLst/>
              <a:cxnLst/>
              <a:rect l="l" t="t" r="r" b="b"/>
              <a:pathLst>
                <a:path w="150876" h="110643">
                  <a:moveTo>
                    <a:pt x="0" y="0"/>
                  </a:moveTo>
                  <a:lnTo>
                    <a:pt x="150876" y="110643"/>
                  </a:lnTo>
                  <a:lnTo>
                    <a:pt x="0" y="110643"/>
                  </a:lnTo>
                  <a:close/>
                </a:path>
              </a:pathLst>
            </a:custGeom>
            <a:solidFill>
              <a:srgbClr val="3A3F47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bell"/>
            <p:cNvSpPr/>
            <p:nvPr/>
          </p:nvSpPr>
          <p:spPr>
            <a:xfrm>
              <a:off x="3928792" y="2104034"/>
              <a:ext cx="30175" cy="6035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wheel"/>
            <p:cNvSpPr/>
            <p:nvPr/>
          </p:nvSpPr>
          <p:spPr>
            <a:xfrm>
              <a:off x="3236976" y="2486253"/>
              <a:ext cx="211226" cy="21122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hub"/>
            <p:cNvSpPr/>
            <p:nvPr/>
          </p:nvSpPr>
          <p:spPr>
            <a:xfrm>
              <a:off x="3315129" y="2564407"/>
              <a:ext cx="54918" cy="5491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wheel"/>
            <p:cNvSpPr/>
            <p:nvPr/>
          </p:nvSpPr>
          <p:spPr>
            <a:xfrm>
              <a:off x="3473549" y="2486253"/>
              <a:ext cx="211226" cy="21122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hub"/>
            <p:cNvSpPr/>
            <p:nvPr/>
          </p:nvSpPr>
          <p:spPr>
            <a:xfrm>
              <a:off x="3551703" y="2564407"/>
              <a:ext cx="54918" cy="5491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wheel"/>
            <p:cNvSpPr/>
            <p:nvPr/>
          </p:nvSpPr>
          <p:spPr>
            <a:xfrm>
              <a:off x="3710123" y="2486253"/>
              <a:ext cx="211226" cy="21122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hub"/>
            <p:cNvSpPr/>
            <p:nvPr/>
          </p:nvSpPr>
          <p:spPr>
            <a:xfrm>
              <a:off x="3788276" y="2564407"/>
              <a:ext cx="54918" cy="5491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wheel"/>
            <p:cNvSpPr/>
            <p:nvPr/>
          </p:nvSpPr>
          <p:spPr>
            <a:xfrm>
              <a:off x="3946696" y="2486253"/>
              <a:ext cx="211226" cy="21122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hub"/>
            <p:cNvSpPr/>
            <p:nvPr/>
          </p:nvSpPr>
          <p:spPr>
            <a:xfrm>
              <a:off x="4024850" y="2564407"/>
              <a:ext cx="54918" cy="5491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wheel"/>
            <p:cNvSpPr/>
            <p:nvPr/>
          </p:nvSpPr>
          <p:spPr>
            <a:xfrm>
              <a:off x="4394295" y="2596896"/>
              <a:ext cx="100584" cy="10058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hub"/>
            <p:cNvSpPr/>
            <p:nvPr/>
          </p:nvSpPr>
          <p:spPr>
            <a:xfrm>
              <a:off x="4431511" y="2634112"/>
              <a:ext cx="26151" cy="261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wheel"/>
            <p:cNvSpPr/>
            <p:nvPr/>
          </p:nvSpPr>
          <p:spPr>
            <a:xfrm>
              <a:off x="4504937" y="2596896"/>
              <a:ext cx="100584" cy="10058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hub"/>
            <p:cNvSpPr/>
            <p:nvPr/>
          </p:nvSpPr>
          <p:spPr>
            <a:xfrm>
              <a:off x="4542153" y="2634112"/>
              <a:ext cx="26151" cy="261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coupling rod"/>
            <p:cNvSpPr/>
            <p:nvPr/>
          </p:nvSpPr>
          <p:spPr>
            <a:xfrm>
              <a:off x="3342589" y="2534533"/>
              <a:ext cx="709720" cy="14081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cylinder"/>
            <p:cNvSpPr/>
            <p:nvPr/>
          </p:nvSpPr>
          <p:spPr>
            <a:xfrm>
              <a:off x="8293608" y="2240280"/>
              <a:ext cx="1371600" cy="457200"/>
            </a:xfrm>
            <a:prstGeom prst="roundRect">
              <a:avLst>
                <a:gd name="adj" fmla="val 16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piston rod"/>
            <p:cNvSpPr/>
            <p:nvPr/>
          </p:nvSpPr>
          <p:spPr>
            <a:xfrm>
              <a:off x="7946136" y="2414016"/>
              <a:ext cx="347472" cy="1280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piston crosshead"/>
            <p:cNvSpPr/>
            <p:nvPr/>
          </p:nvSpPr>
          <p:spPr>
            <a:xfrm>
              <a:off x="7872983" y="2322576"/>
              <a:ext cx="91440" cy="31089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steam puff"/>
            <p:cNvSpPr/>
            <p:nvPr/>
          </p:nvSpPr>
          <p:spPr>
            <a:xfrm>
              <a:off x="8439912" y="1898294"/>
              <a:ext cx="384048" cy="268833"/>
            </a:xfrm>
            <a:prstGeom prst="ellipse">
              <a:avLst/>
            </a:prstGeom>
            <a:solidFill>
              <a:srgbClr val="F2F2F2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steam puff"/>
            <p:cNvSpPr/>
            <p:nvPr/>
          </p:nvSpPr>
          <p:spPr>
            <a:xfrm>
              <a:off x="8769096" y="1700784"/>
              <a:ext cx="457200" cy="320040"/>
            </a:xfrm>
            <a:prstGeom prst="ellipse">
              <a:avLst/>
            </a:prstGeom>
            <a:solidFill>
              <a:srgbClr val="F2F2F2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steam puff"/>
            <p:cNvSpPr/>
            <p:nvPr/>
          </p:nvSpPr>
          <p:spPr>
            <a:xfrm>
              <a:off x="9180576" y="1892808"/>
              <a:ext cx="365760" cy="256031"/>
            </a:xfrm>
            <a:prstGeom prst="ellipse">
              <a:avLst/>
            </a:prstGeom>
            <a:solidFill>
              <a:srgbClr val="F2F2F2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pan label"/>
            <p:cNvSpPr txBox="1"/>
            <p:nvPr/>
          </p:nvSpPr>
          <p:spPr>
            <a:xfrm>
              <a:off x="1572768" y="2880360"/>
              <a:ext cx="3291840" cy="329184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Heavy engine, heavy wagons</a:t>
              </a:r>
            </a:p>
          </p:txBody>
        </p:sp>
        <p:sp>
          <p:nvSpPr>
            <p:cNvPr id="77" name="pan label"/>
            <p:cNvSpPr txBox="1"/>
            <p:nvPr/>
          </p:nvSpPr>
          <p:spPr>
            <a:xfrm>
              <a:off x="7333488" y="2880360"/>
              <a:ext cx="3291840" cy="329184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More power</a:t>
              </a:r>
            </a:p>
          </p:txBody>
        </p:sp>
        <p:sp>
          <p:nvSpPr>
            <p:cNvPr id="78" name="scale post"/>
            <p:cNvSpPr/>
            <p:nvPr/>
          </p:nvSpPr>
          <p:spPr>
            <a:xfrm>
              <a:off x="6025896" y="3429000"/>
              <a:ext cx="146304" cy="14173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scale base"/>
            <p:cNvSpPr/>
            <p:nvPr/>
          </p:nvSpPr>
          <p:spPr>
            <a:xfrm>
              <a:off x="5367528" y="4590288"/>
              <a:ext cx="1463040" cy="256032"/>
            </a:xfrm>
            <a:custGeom>
              <a:avLst/>
              <a:gdLst/>
              <a:ahLst/>
              <a:cxnLst/>
              <a:rect l="l" t="t" r="r" b="b"/>
              <a:pathLst>
                <a:path w="1463040" h="256032">
                  <a:moveTo>
                    <a:pt x="0" y="256032"/>
                  </a:moveTo>
                  <a:lnTo>
                    <a:pt x="1463040" y="256032"/>
                  </a:lnTo>
                  <a:lnTo>
                    <a:pt x="1188720" y="0"/>
                  </a:lnTo>
                  <a:lnTo>
                    <a:pt x="274320" y="0"/>
                  </a:lnTo>
                  <a:close/>
                </a:path>
              </a:pathLst>
            </a:custGeom>
            <a:solidFill>
              <a:srgbClr val="73787C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scale beam"/>
            <p:cNvSpPr/>
            <p:nvPr/>
          </p:nvSpPr>
          <p:spPr>
            <a:xfrm>
              <a:off x="3127248" y="3374136"/>
              <a:ext cx="5943600" cy="109728"/>
            </a:xfrm>
            <a:prstGeom prst="roundRect">
              <a:avLst>
                <a:gd name="adj" fmla="val 41666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scale pivot"/>
            <p:cNvSpPr/>
            <p:nvPr/>
          </p:nvSpPr>
          <p:spPr>
            <a:xfrm>
              <a:off x="5971032" y="3300984"/>
              <a:ext cx="256032" cy="256032"/>
            </a:xfrm>
            <a:prstGeom prst="ellipse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scale string"/>
            <p:cNvCxnSpPr/>
            <p:nvPr/>
          </p:nvCxnSpPr>
          <p:spPr>
            <a:xfrm flipH="1">
              <a:off x="1737360" y="3429000"/>
              <a:ext cx="1481328" cy="123444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83" name="scale string"/>
            <p:cNvCxnSpPr/>
            <p:nvPr/>
          </p:nvCxnSpPr>
          <p:spPr>
            <a:xfrm>
              <a:off x="3218688" y="3429000"/>
              <a:ext cx="1481328" cy="123444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84" name="scale pan"/>
            <p:cNvSpPr/>
            <p:nvPr/>
          </p:nvSpPr>
          <p:spPr>
            <a:xfrm>
              <a:off x="1572768" y="4663440"/>
              <a:ext cx="3291840" cy="146304"/>
            </a:xfrm>
            <a:custGeom>
              <a:avLst/>
              <a:gdLst/>
              <a:ahLst/>
              <a:cxnLst/>
              <a:rect l="l" t="t" r="r" b="b"/>
              <a:pathLst>
                <a:path w="3291840" h="146304">
                  <a:moveTo>
                    <a:pt x="0" y="0"/>
                  </a:moveTo>
                  <a:lnTo>
                    <a:pt x="3291840" y="0"/>
                  </a:lnTo>
                  <a:lnTo>
                    <a:pt x="2962656" y="146304"/>
                  </a:lnTo>
                  <a:lnTo>
                    <a:pt x="329184" y="146304"/>
                  </a:lnTo>
                  <a:close/>
                </a:path>
              </a:pathLst>
            </a:custGeom>
            <a:solidFill>
              <a:srgbClr val="8A9095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5" name="scale string"/>
            <p:cNvCxnSpPr/>
            <p:nvPr/>
          </p:nvCxnSpPr>
          <p:spPr>
            <a:xfrm flipH="1">
              <a:off x="7498079" y="3429000"/>
              <a:ext cx="1481329" cy="123444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86" name="scale string"/>
            <p:cNvCxnSpPr/>
            <p:nvPr/>
          </p:nvCxnSpPr>
          <p:spPr>
            <a:xfrm>
              <a:off x="8979408" y="3429000"/>
              <a:ext cx="1481328" cy="123444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87" name="scale pan"/>
            <p:cNvSpPr/>
            <p:nvPr/>
          </p:nvSpPr>
          <p:spPr>
            <a:xfrm>
              <a:off x="7333488" y="4663440"/>
              <a:ext cx="3291840" cy="146304"/>
            </a:xfrm>
            <a:custGeom>
              <a:avLst/>
              <a:gdLst/>
              <a:ahLst/>
              <a:cxnLst/>
              <a:rect l="l" t="t" r="r" b="b"/>
              <a:pathLst>
                <a:path w="3291840" h="146304">
                  <a:moveTo>
                    <a:pt x="0" y="0"/>
                  </a:moveTo>
                  <a:lnTo>
                    <a:pt x="3291840" y="0"/>
                  </a:lnTo>
                  <a:lnTo>
                    <a:pt x="2962656" y="146304"/>
                  </a:lnTo>
                  <a:lnTo>
                    <a:pt x="329184" y="146304"/>
                  </a:lnTo>
                  <a:close/>
                </a:path>
              </a:pathLst>
            </a:custGeom>
            <a:solidFill>
              <a:srgbClr val="8A9095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wagon frame"/>
            <p:cNvSpPr/>
            <p:nvPr/>
          </p:nvSpPr>
          <p:spPr>
            <a:xfrm>
              <a:off x="2090318" y="4541824"/>
              <a:ext cx="382219" cy="347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flat bed"/>
            <p:cNvSpPr/>
            <p:nvPr/>
          </p:nvSpPr>
          <p:spPr>
            <a:xfrm>
              <a:off x="2090318" y="4507077"/>
              <a:ext cx="382219" cy="34747"/>
            </a:xfrm>
            <a:prstGeom prst="rect">
              <a:avLst/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crate"/>
            <p:cNvSpPr/>
            <p:nvPr/>
          </p:nvSpPr>
          <p:spPr>
            <a:xfrm>
              <a:off x="2166762" y="4402836"/>
              <a:ext cx="107021" cy="104241"/>
            </a:xfrm>
            <a:prstGeom prst="roundRect">
              <a:avLst>
                <a:gd name="adj" fmla="val 3333"/>
              </a:avLst>
            </a:prstGeom>
            <a:solidFill>
              <a:srgbClr val="20878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crate"/>
            <p:cNvSpPr/>
            <p:nvPr/>
          </p:nvSpPr>
          <p:spPr>
            <a:xfrm>
              <a:off x="2304361" y="4437583"/>
              <a:ext cx="91732" cy="69494"/>
            </a:xfrm>
            <a:prstGeom prst="roundRect">
              <a:avLst>
                <a:gd name="adj" fmla="val 4999"/>
              </a:avLst>
            </a:prstGeom>
            <a:solidFill>
              <a:srgbClr val="20878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wheel"/>
            <p:cNvSpPr/>
            <p:nvPr/>
          </p:nvSpPr>
          <p:spPr>
            <a:xfrm>
              <a:off x="2116378" y="4559198"/>
              <a:ext cx="104241" cy="104241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hub"/>
            <p:cNvSpPr/>
            <p:nvPr/>
          </p:nvSpPr>
          <p:spPr>
            <a:xfrm>
              <a:off x="2154948" y="4597767"/>
              <a:ext cx="27102" cy="271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wheel"/>
            <p:cNvSpPr/>
            <p:nvPr/>
          </p:nvSpPr>
          <p:spPr>
            <a:xfrm>
              <a:off x="2342235" y="4559198"/>
              <a:ext cx="104241" cy="104241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hub"/>
            <p:cNvSpPr/>
            <p:nvPr/>
          </p:nvSpPr>
          <p:spPr>
            <a:xfrm>
              <a:off x="2380804" y="4597767"/>
              <a:ext cx="27102" cy="271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wagon frame"/>
            <p:cNvSpPr/>
            <p:nvPr/>
          </p:nvSpPr>
          <p:spPr>
            <a:xfrm>
              <a:off x="2518257" y="4541824"/>
              <a:ext cx="382219" cy="347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flat bed"/>
            <p:cNvSpPr/>
            <p:nvPr/>
          </p:nvSpPr>
          <p:spPr>
            <a:xfrm>
              <a:off x="2518257" y="4507077"/>
              <a:ext cx="382219" cy="34747"/>
            </a:xfrm>
            <a:prstGeom prst="rect">
              <a:avLst/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crate"/>
            <p:cNvSpPr/>
            <p:nvPr/>
          </p:nvSpPr>
          <p:spPr>
            <a:xfrm>
              <a:off x="2594701" y="4402836"/>
              <a:ext cx="107021" cy="104241"/>
            </a:xfrm>
            <a:prstGeom prst="roundRect">
              <a:avLst>
                <a:gd name="adj" fmla="val 3333"/>
              </a:avLst>
            </a:prstGeom>
            <a:solidFill>
              <a:srgbClr val="20878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crate"/>
            <p:cNvSpPr/>
            <p:nvPr/>
          </p:nvSpPr>
          <p:spPr>
            <a:xfrm>
              <a:off x="2732300" y="4437583"/>
              <a:ext cx="91732" cy="69494"/>
            </a:xfrm>
            <a:prstGeom prst="roundRect">
              <a:avLst>
                <a:gd name="adj" fmla="val 4999"/>
              </a:avLst>
            </a:prstGeom>
            <a:solidFill>
              <a:srgbClr val="20878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wheel"/>
            <p:cNvSpPr/>
            <p:nvPr/>
          </p:nvSpPr>
          <p:spPr>
            <a:xfrm>
              <a:off x="2544318" y="4559198"/>
              <a:ext cx="104241" cy="104241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hub"/>
            <p:cNvSpPr/>
            <p:nvPr/>
          </p:nvSpPr>
          <p:spPr>
            <a:xfrm>
              <a:off x="2582887" y="4597767"/>
              <a:ext cx="27102" cy="271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wheel"/>
            <p:cNvSpPr/>
            <p:nvPr/>
          </p:nvSpPr>
          <p:spPr>
            <a:xfrm>
              <a:off x="2770174" y="4559198"/>
              <a:ext cx="104241" cy="104241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hub"/>
            <p:cNvSpPr/>
            <p:nvPr/>
          </p:nvSpPr>
          <p:spPr>
            <a:xfrm>
              <a:off x="2808744" y="4597767"/>
              <a:ext cx="27102" cy="271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tender frame"/>
            <p:cNvSpPr/>
            <p:nvPr/>
          </p:nvSpPr>
          <p:spPr>
            <a:xfrm>
              <a:off x="2991916" y="4537481"/>
              <a:ext cx="356158" cy="39090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tender body"/>
            <p:cNvSpPr/>
            <p:nvPr/>
          </p:nvSpPr>
          <p:spPr>
            <a:xfrm>
              <a:off x="2991916" y="4394149"/>
              <a:ext cx="356158" cy="143332"/>
            </a:xfrm>
            <a:prstGeom prst="roundRect">
              <a:avLst>
                <a:gd name="adj" fmla="val 303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nder coal"/>
            <p:cNvSpPr/>
            <p:nvPr/>
          </p:nvSpPr>
          <p:spPr>
            <a:xfrm>
              <a:off x="3004947" y="4333341"/>
              <a:ext cx="330098" cy="60808"/>
            </a:xfrm>
            <a:custGeom>
              <a:avLst/>
              <a:gdLst/>
              <a:ahLst/>
              <a:cxnLst/>
              <a:rect l="l" t="t" r="r" b="b"/>
              <a:pathLst>
                <a:path w="330098" h="60808">
                  <a:moveTo>
                    <a:pt x="0" y="60808"/>
                  </a:moveTo>
                  <a:lnTo>
                    <a:pt x="65151" y="4343"/>
                  </a:lnTo>
                  <a:lnTo>
                    <a:pt x="195453" y="0"/>
                  </a:lnTo>
                  <a:lnTo>
                    <a:pt x="330098" y="60808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coupling"/>
            <p:cNvSpPr/>
            <p:nvPr/>
          </p:nvSpPr>
          <p:spPr>
            <a:xfrm>
              <a:off x="3348075" y="4485360"/>
              <a:ext cx="30403" cy="1303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wheel"/>
            <p:cNvSpPr/>
            <p:nvPr/>
          </p:nvSpPr>
          <p:spPr>
            <a:xfrm>
              <a:off x="3017977" y="4541824"/>
              <a:ext cx="121615" cy="12161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hub"/>
            <p:cNvSpPr/>
            <p:nvPr/>
          </p:nvSpPr>
          <p:spPr>
            <a:xfrm>
              <a:off x="3062974" y="4586822"/>
              <a:ext cx="31619" cy="3161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wheel"/>
            <p:cNvSpPr/>
            <p:nvPr/>
          </p:nvSpPr>
          <p:spPr>
            <a:xfrm>
              <a:off x="3200400" y="4541824"/>
              <a:ext cx="121615" cy="12161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hub"/>
            <p:cNvSpPr/>
            <p:nvPr/>
          </p:nvSpPr>
          <p:spPr>
            <a:xfrm>
              <a:off x="3245397" y="4586822"/>
              <a:ext cx="31619" cy="3161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frame"/>
            <p:cNvSpPr/>
            <p:nvPr/>
          </p:nvSpPr>
          <p:spPr>
            <a:xfrm>
              <a:off x="3378479" y="4537481"/>
              <a:ext cx="946861" cy="39090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cab"/>
            <p:cNvSpPr/>
            <p:nvPr/>
          </p:nvSpPr>
          <p:spPr>
            <a:xfrm>
              <a:off x="3378479" y="4298594"/>
              <a:ext cx="173736" cy="238886"/>
            </a:xfrm>
            <a:prstGeom prst="roundRect">
              <a:avLst>
                <a:gd name="adj" fmla="val 25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cab roof"/>
            <p:cNvSpPr/>
            <p:nvPr/>
          </p:nvSpPr>
          <p:spPr>
            <a:xfrm>
              <a:off x="3369792" y="4276877"/>
              <a:ext cx="191109" cy="2171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cab window"/>
            <p:cNvSpPr/>
            <p:nvPr/>
          </p:nvSpPr>
          <p:spPr>
            <a:xfrm>
              <a:off x="3421913" y="4333341"/>
              <a:ext cx="78181" cy="7818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boiler"/>
            <p:cNvSpPr/>
            <p:nvPr/>
          </p:nvSpPr>
          <p:spPr>
            <a:xfrm>
              <a:off x="3552215" y="4320311"/>
              <a:ext cx="686257" cy="173736"/>
            </a:xfrm>
            <a:prstGeom prst="roundRect">
              <a:avLst>
                <a:gd name="adj" fmla="val 250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boiler band"/>
            <p:cNvSpPr/>
            <p:nvPr/>
          </p:nvSpPr>
          <p:spPr>
            <a:xfrm>
              <a:off x="3758092" y="4320311"/>
              <a:ext cx="6080" cy="173736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boiler band"/>
            <p:cNvSpPr/>
            <p:nvPr/>
          </p:nvSpPr>
          <p:spPr>
            <a:xfrm>
              <a:off x="3929656" y="4320311"/>
              <a:ext cx="6080" cy="173736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boiler band"/>
            <p:cNvSpPr/>
            <p:nvPr/>
          </p:nvSpPr>
          <p:spPr>
            <a:xfrm>
              <a:off x="4101221" y="4320311"/>
              <a:ext cx="6080" cy="173736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smokebox"/>
            <p:cNvSpPr/>
            <p:nvPr/>
          </p:nvSpPr>
          <p:spPr>
            <a:xfrm>
              <a:off x="4238472" y="4320311"/>
              <a:ext cx="86868" cy="173736"/>
            </a:xfrm>
            <a:prstGeom prst="roundRect">
              <a:avLst>
                <a:gd name="adj" fmla="val 12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chimney"/>
            <p:cNvSpPr/>
            <p:nvPr/>
          </p:nvSpPr>
          <p:spPr>
            <a:xfrm>
              <a:off x="4255846" y="4229100"/>
              <a:ext cx="52120" cy="91211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chimney lip"/>
            <p:cNvSpPr/>
            <p:nvPr/>
          </p:nvSpPr>
          <p:spPr>
            <a:xfrm>
              <a:off x="4242816" y="4216069"/>
              <a:ext cx="78181" cy="2171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dome"/>
            <p:cNvSpPr/>
            <p:nvPr/>
          </p:nvSpPr>
          <p:spPr>
            <a:xfrm>
              <a:off x="3826718" y="4272533"/>
              <a:ext cx="78181" cy="47777"/>
            </a:xfrm>
            <a:prstGeom prst="roundRect">
              <a:avLst>
                <a:gd name="adj" fmla="val 36363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wheel"/>
            <p:cNvSpPr/>
            <p:nvPr/>
          </p:nvSpPr>
          <p:spPr>
            <a:xfrm>
              <a:off x="3391509" y="4489704"/>
              <a:ext cx="173736" cy="17373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hub"/>
            <p:cNvSpPr/>
            <p:nvPr/>
          </p:nvSpPr>
          <p:spPr>
            <a:xfrm>
              <a:off x="3455791" y="4553986"/>
              <a:ext cx="45171" cy="4517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wheel"/>
            <p:cNvSpPr/>
            <p:nvPr/>
          </p:nvSpPr>
          <p:spPr>
            <a:xfrm>
              <a:off x="3586962" y="4489704"/>
              <a:ext cx="173736" cy="17373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hub"/>
            <p:cNvSpPr/>
            <p:nvPr/>
          </p:nvSpPr>
          <p:spPr>
            <a:xfrm>
              <a:off x="3651244" y="4553986"/>
              <a:ext cx="45171" cy="4517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wheel"/>
            <p:cNvSpPr/>
            <p:nvPr/>
          </p:nvSpPr>
          <p:spPr>
            <a:xfrm>
              <a:off x="3782415" y="4489704"/>
              <a:ext cx="173736" cy="17373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hub"/>
            <p:cNvSpPr/>
            <p:nvPr/>
          </p:nvSpPr>
          <p:spPr>
            <a:xfrm>
              <a:off x="3846697" y="4553986"/>
              <a:ext cx="45171" cy="4517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coupling rod"/>
            <p:cNvSpPr/>
            <p:nvPr/>
          </p:nvSpPr>
          <p:spPr>
            <a:xfrm>
              <a:off x="3478377" y="4527057"/>
              <a:ext cx="390906" cy="12161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buffer beam"/>
            <p:cNvSpPr/>
            <p:nvPr/>
          </p:nvSpPr>
          <p:spPr>
            <a:xfrm>
              <a:off x="4325340" y="4498390"/>
              <a:ext cx="26060" cy="78181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cylinder"/>
            <p:cNvSpPr/>
            <p:nvPr/>
          </p:nvSpPr>
          <p:spPr>
            <a:xfrm>
              <a:off x="8567928" y="4389120"/>
              <a:ext cx="822959" cy="274320"/>
            </a:xfrm>
            <a:prstGeom prst="roundRect">
              <a:avLst>
                <a:gd name="adj" fmla="val 16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piston rod"/>
            <p:cNvSpPr/>
            <p:nvPr/>
          </p:nvSpPr>
          <p:spPr>
            <a:xfrm>
              <a:off x="8359444" y="4493361"/>
              <a:ext cx="208483" cy="7680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piston crosshead"/>
            <p:cNvSpPr/>
            <p:nvPr/>
          </p:nvSpPr>
          <p:spPr>
            <a:xfrm>
              <a:off x="8315553" y="4438497"/>
              <a:ext cx="54864" cy="186537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steam puff"/>
            <p:cNvSpPr/>
            <p:nvPr/>
          </p:nvSpPr>
          <p:spPr>
            <a:xfrm>
              <a:off x="8655710" y="4183928"/>
              <a:ext cx="230428" cy="161300"/>
            </a:xfrm>
            <a:prstGeom prst="ellipse">
              <a:avLst/>
            </a:prstGeom>
            <a:solidFill>
              <a:srgbClr val="F2F2F2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6" name="steam puff"/>
            <p:cNvSpPr/>
            <p:nvPr/>
          </p:nvSpPr>
          <p:spPr>
            <a:xfrm>
              <a:off x="8853220" y="4065422"/>
              <a:ext cx="274320" cy="192024"/>
            </a:xfrm>
            <a:prstGeom prst="ellipse">
              <a:avLst/>
            </a:prstGeom>
            <a:solidFill>
              <a:srgbClr val="F2F2F2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steam puff"/>
            <p:cNvSpPr/>
            <p:nvPr/>
          </p:nvSpPr>
          <p:spPr>
            <a:xfrm>
              <a:off x="9100108" y="4180636"/>
              <a:ext cx="219456" cy="153619"/>
            </a:xfrm>
            <a:prstGeom prst="ellipse">
              <a:avLst/>
            </a:prstGeom>
            <a:solidFill>
              <a:srgbClr val="F2F2F2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pan label"/>
            <p:cNvSpPr txBox="1"/>
            <p:nvPr/>
          </p:nvSpPr>
          <p:spPr>
            <a:xfrm>
              <a:off x="1572768" y="4846320"/>
              <a:ext cx="3291840" cy="329184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Lighter engine, light wagons</a:t>
              </a:r>
            </a:p>
          </p:txBody>
        </p:sp>
        <p:sp>
          <p:nvSpPr>
            <p:cNvPr id="139" name="pan label"/>
            <p:cNvSpPr txBox="1"/>
            <p:nvPr/>
          </p:nvSpPr>
          <p:spPr>
            <a:xfrm>
              <a:off x="7333488" y="4846320"/>
              <a:ext cx="3291840" cy="329184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Less power</a:t>
              </a:r>
            </a:p>
          </p:txBody>
        </p:sp>
        <p:sp>
          <p:nvSpPr>
            <p:cNvPr id="140" name="illustration note"/>
            <p:cNvSpPr txBox="1"/>
            <p:nvPr/>
          </p:nvSpPr>
          <p:spPr>
            <a:xfrm>
              <a:off x="1828800" y="5303520"/>
              <a:ext cx="8503920" cy="329184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A9B0B8"/>
                  </a:solidFill>
                  <a:latin typeface="Arial"/>
                </a:rPr>
                <a:t>Illustration only. No values chosen.</a:t>
              </a:r>
            </a:p>
          </p:txBody>
        </p:sp>
      </p:grpSp>
      <p:sp>
        <p:nvSpPr>
          <p:cNvPr id="141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CAPTION"/>
          <p:cNvSpPr txBox="1"/>
          <p:nvPr/>
        </p:nvSpPr>
        <p:spPr>
          <a:xfrm>
            <a:off x="822960" y="5760720"/>
            <a:ext cx="1042416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Regions differ in weight and power. The aim is trains that are about equally useful.</a:t>
            </a:r>
          </a:p>
        </p:txBody>
      </p:sp>
      <p:sp>
        <p:nvSpPr>
          <p:cNvPr id="144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consist follows its lead engine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Three mini trains" descr="Three examples. A British engine pulls British-styled wagons. A North American engine pulls North American-styled wagons. A lone wagon beside a station takes the world style. Style is shown by a colour band, a shape and a label."/>
          <p:cNvGrpSpPr/>
          <p:nvPr/>
        </p:nvGrpSpPr>
        <p:grpSpPr>
          <a:xfrm>
            <a:off x="548640" y="1280160"/>
            <a:ext cx="11091672" cy="4206240"/>
            <a:chOff x="548640" y="1280160"/>
            <a:chExt cx="11091672" cy="4206240"/>
          </a:xfrm>
        </p:grpSpPr>
        <p:sp>
          <p:nvSpPr>
            <p:cNvPr id="5" name="row panel"/>
            <p:cNvSpPr/>
            <p:nvPr/>
          </p:nvSpPr>
          <p:spPr>
            <a:xfrm>
              <a:off x="548640" y="1280160"/>
              <a:ext cx="11091672" cy="1371600"/>
            </a:xfrm>
            <a:prstGeom prst="roundRect">
              <a:avLst>
                <a:gd name="adj" fmla="val 6666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w panel"/>
            <p:cNvSpPr/>
            <p:nvPr/>
          </p:nvSpPr>
          <p:spPr>
            <a:xfrm>
              <a:off x="548640" y="2697480"/>
              <a:ext cx="11091672" cy="1371600"/>
            </a:xfrm>
            <a:prstGeom prst="roundRect">
              <a:avLst>
                <a:gd name="adj" fmla="val 6666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w panel"/>
            <p:cNvSpPr/>
            <p:nvPr/>
          </p:nvSpPr>
          <p:spPr>
            <a:xfrm>
              <a:off x="548640" y="4114800"/>
              <a:ext cx="11091672" cy="1371600"/>
            </a:xfrm>
            <a:prstGeom prst="roundRect">
              <a:avLst>
                <a:gd name="adj" fmla="val 6666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wagon frame"/>
            <p:cNvSpPr/>
            <p:nvPr/>
          </p:nvSpPr>
          <p:spPr>
            <a:xfrm>
              <a:off x="868680" y="2048256"/>
              <a:ext cx="603504" cy="5486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wagon body"/>
            <p:cNvSpPr/>
            <p:nvPr/>
          </p:nvSpPr>
          <p:spPr>
            <a:xfrm>
              <a:off x="868680" y="1760220"/>
              <a:ext cx="603504" cy="288036"/>
            </a:xfrm>
            <a:prstGeom prst="roundRect">
              <a:avLst>
                <a:gd name="adj" fmla="val 238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wagon roof"/>
            <p:cNvSpPr/>
            <p:nvPr/>
          </p:nvSpPr>
          <p:spPr>
            <a:xfrm>
              <a:off x="854964" y="1725930"/>
              <a:ext cx="630936" cy="34290"/>
            </a:xfrm>
            <a:prstGeom prst="rect">
              <a:avLst/>
            </a:prstGeom>
            <a:solidFill>
              <a:srgbClr val="1E7E7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oor line"/>
            <p:cNvSpPr/>
            <p:nvPr/>
          </p:nvSpPr>
          <p:spPr>
            <a:xfrm>
              <a:off x="1098011" y="1773936"/>
              <a:ext cx="16459" cy="260603"/>
            </a:xfrm>
            <a:prstGeom prst="rect">
              <a:avLst/>
            </a:prstGeom>
            <a:solidFill>
              <a:srgbClr val="196C6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oor line"/>
            <p:cNvSpPr/>
            <p:nvPr/>
          </p:nvSpPr>
          <p:spPr>
            <a:xfrm>
              <a:off x="1242852" y="1773936"/>
              <a:ext cx="16459" cy="260603"/>
            </a:xfrm>
            <a:prstGeom prst="rect">
              <a:avLst/>
            </a:prstGeom>
            <a:solidFill>
              <a:srgbClr val="196C6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wheel"/>
            <p:cNvSpPr/>
            <p:nvPr/>
          </p:nvSpPr>
          <p:spPr>
            <a:xfrm>
              <a:off x="909828" y="207568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ub"/>
            <p:cNvSpPr/>
            <p:nvPr/>
          </p:nvSpPr>
          <p:spPr>
            <a:xfrm>
              <a:off x="970727" y="213658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wheel"/>
            <p:cNvSpPr/>
            <p:nvPr/>
          </p:nvSpPr>
          <p:spPr>
            <a:xfrm>
              <a:off x="1266444" y="207568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ub"/>
            <p:cNvSpPr/>
            <p:nvPr/>
          </p:nvSpPr>
          <p:spPr>
            <a:xfrm>
              <a:off x="1327343" y="213658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wagon frame"/>
            <p:cNvSpPr/>
            <p:nvPr/>
          </p:nvSpPr>
          <p:spPr>
            <a:xfrm>
              <a:off x="1536192" y="2048256"/>
              <a:ext cx="603504" cy="5486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wagon body"/>
            <p:cNvSpPr/>
            <p:nvPr/>
          </p:nvSpPr>
          <p:spPr>
            <a:xfrm>
              <a:off x="1536192" y="1760220"/>
              <a:ext cx="603504" cy="288036"/>
            </a:xfrm>
            <a:prstGeom prst="roundRect">
              <a:avLst>
                <a:gd name="adj" fmla="val 238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wagon roof"/>
            <p:cNvSpPr/>
            <p:nvPr/>
          </p:nvSpPr>
          <p:spPr>
            <a:xfrm>
              <a:off x="1522476" y="1725930"/>
              <a:ext cx="630936" cy="34290"/>
            </a:xfrm>
            <a:prstGeom prst="rect">
              <a:avLst/>
            </a:prstGeom>
            <a:solidFill>
              <a:srgbClr val="1E7E7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oor line"/>
            <p:cNvSpPr/>
            <p:nvPr/>
          </p:nvSpPr>
          <p:spPr>
            <a:xfrm>
              <a:off x="1765523" y="1773936"/>
              <a:ext cx="16459" cy="260603"/>
            </a:xfrm>
            <a:prstGeom prst="rect">
              <a:avLst/>
            </a:prstGeom>
            <a:solidFill>
              <a:srgbClr val="196C6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oor line"/>
            <p:cNvSpPr/>
            <p:nvPr/>
          </p:nvSpPr>
          <p:spPr>
            <a:xfrm>
              <a:off x="1910364" y="1773936"/>
              <a:ext cx="16459" cy="260603"/>
            </a:xfrm>
            <a:prstGeom prst="rect">
              <a:avLst/>
            </a:prstGeom>
            <a:solidFill>
              <a:srgbClr val="196C6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wheel"/>
            <p:cNvSpPr/>
            <p:nvPr/>
          </p:nvSpPr>
          <p:spPr>
            <a:xfrm>
              <a:off x="1577339" y="207568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ub"/>
            <p:cNvSpPr/>
            <p:nvPr/>
          </p:nvSpPr>
          <p:spPr>
            <a:xfrm>
              <a:off x="1638239" y="213658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wheel"/>
            <p:cNvSpPr/>
            <p:nvPr/>
          </p:nvSpPr>
          <p:spPr>
            <a:xfrm>
              <a:off x="1933956" y="207568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ub"/>
            <p:cNvSpPr/>
            <p:nvPr/>
          </p:nvSpPr>
          <p:spPr>
            <a:xfrm>
              <a:off x="1994855" y="213658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wagon frame"/>
            <p:cNvSpPr/>
            <p:nvPr/>
          </p:nvSpPr>
          <p:spPr>
            <a:xfrm>
              <a:off x="2203704" y="2048256"/>
              <a:ext cx="603504" cy="5486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wagon body"/>
            <p:cNvSpPr/>
            <p:nvPr/>
          </p:nvSpPr>
          <p:spPr>
            <a:xfrm>
              <a:off x="2203704" y="1760220"/>
              <a:ext cx="603504" cy="288036"/>
            </a:xfrm>
            <a:prstGeom prst="roundRect">
              <a:avLst>
                <a:gd name="adj" fmla="val 238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wagon roof"/>
            <p:cNvSpPr/>
            <p:nvPr/>
          </p:nvSpPr>
          <p:spPr>
            <a:xfrm>
              <a:off x="2189988" y="1725930"/>
              <a:ext cx="630936" cy="34290"/>
            </a:xfrm>
            <a:prstGeom prst="rect">
              <a:avLst/>
            </a:prstGeom>
            <a:solidFill>
              <a:srgbClr val="1E7E7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oor line"/>
            <p:cNvSpPr/>
            <p:nvPr/>
          </p:nvSpPr>
          <p:spPr>
            <a:xfrm>
              <a:off x="2433035" y="1773936"/>
              <a:ext cx="16459" cy="260603"/>
            </a:xfrm>
            <a:prstGeom prst="rect">
              <a:avLst/>
            </a:prstGeom>
            <a:solidFill>
              <a:srgbClr val="196C6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oor line"/>
            <p:cNvSpPr/>
            <p:nvPr/>
          </p:nvSpPr>
          <p:spPr>
            <a:xfrm>
              <a:off x="2577876" y="1773936"/>
              <a:ext cx="16459" cy="260603"/>
            </a:xfrm>
            <a:prstGeom prst="rect">
              <a:avLst/>
            </a:prstGeom>
            <a:solidFill>
              <a:srgbClr val="196C6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wheel"/>
            <p:cNvSpPr/>
            <p:nvPr/>
          </p:nvSpPr>
          <p:spPr>
            <a:xfrm>
              <a:off x="2244852" y="207568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ub"/>
            <p:cNvSpPr/>
            <p:nvPr/>
          </p:nvSpPr>
          <p:spPr>
            <a:xfrm>
              <a:off x="2305751" y="213658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wheel"/>
            <p:cNvSpPr/>
            <p:nvPr/>
          </p:nvSpPr>
          <p:spPr>
            <a:xfrm>
              <a:off x="2601468" y="207568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ub"/>
            <p:cNvSpPr/>
            <p:nvPr/>
          </p:nvSpPr>
          <p:spPr>
            <a:xfrm>
              <a:off x="2662367" y="213658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nder frame"/>
            <p:cNvSpPr/>
            <p:nvPr/>
          </p:nvSpPr>
          <p:spPr>
            <a:xfrm>
              <a:off x="2871215" y="2041398"/>
              <a:ext cx="562355" cy="61721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tender body"/>
            <p:cNvSpPr/>
            <p:nvPr/>
          </p:nvSpPr>
          <p:spPr>
            <a:xfrm>
              <a:off x="2871215" y="1815084"/>
              <a:ext cx="562355" cy="226314"/>
            </a:xfrm>
            <a:prstGeom prst="roundRect">
              <a:avLst>
                <a:gd name="adj" fmla="val 303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nder coal"/>
            <p:cNvSpPr/>
            <p:nvPr/>
          </p:nvSpPr>
          <p:spPr>
            <a:xfrm>
              <a:off x="2891789" y="1719072"/>
              <a:ext cx="521208" cy="96012"/>
            </a:xfrm>
            <a:custGeom>
              <a:avLst/>
              <a:gdLst/>
              <a:ahLst/>
              <a:cxnLst/>
              <a:rect l="l" t="t" r="r" b="b"/>
              <a:pathLst>
                <a:path w="521208" h="96012">
                  <a:moveTo>
                    <a:pt x="0" y="96012"/>
                  </a:moveTo>
                  <a:lnTo>
                    <a:pt x="102870" y="6858"/>
                  </a:lnTo>
                  <a:lnTo>
                    <a:pt x="308610" y="0"/>
                  </a:lnTo>
                  <a:lnTo>
                    <a:pt x="521208" y="9601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coupling"/>
            <p:cNvSpPr/>
            <p:nvPr/>
          </p:nvSpPr>
          <p:spPr>
            <a:xfrm>
              <a:off x="3433571" y="1959102"/>
              <a:ext cx="48006" cy="20573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wheel"/>
            <p:cNvSpPr/>
            <p:nvPr/>
          </p:nvSpPr>
          <p:spPr>
            <a:xfrm>
              <a:off x="2912363" y="2048256"/>
              <a:ext cx="192024" cy="19202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ub"/>
            <p:cNvSpPr/>
            <p:nvPr/>
          </p:nvSpPr>
          <p:spPr>
            <a:xfrm>
              <a:off x="2983412" y="2119304"/>
              <a:ext cx="49926" cy="4992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wheel"/>
            <p:cNvSpPr/>
            <p:nvPr/>
          </p:nvSpPr>
          <p:spPr>
            <a:xfrm>
              <a:off x="3200399" y="2048256"/>
              <a:ext cx="192024" cy="19202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ub"/>
            <p:cNvSpPr/>
            <p:nvPr/>
          </p:nvSpPr>
          <p:spPr>
            <a:xfrm>
              <a:off x="3271448" y="2119304"/>
              <a:ext cx="49926" cy="4992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frame"/>
            <p:cNvSpPr/>
            <p:nvPr/>
          </p:nvSpPr>
          <p:spPr>
            <a:xfrm>
              <a:off x="3481577" y="2041398"/>
              <a:ext cx="1803654" cy="61721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cab"/>
            <p:cNvSpPr/>
            <p:nvPr/>
          </p:nvSpPr>
          <p:spPr>
            <a:xfrm>
              <a:off x="3481577" y="1664208"/>
              <a:ext cx="274320" cy="377190"/>
            </a:xfrm>
            <a:prstGeom prst="roundRect">
              <a:avLst>
                <a:gd name="adj" fmla="val 25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cab roof"/>
            <p:cNvSpPr/>
            <p:nvPr/>
          </p:nvSpPr>
          <p:spPr>
            <a:xfrm>
              <a:off x="3467861" y="1629918"/>
              <a:ext cx="301752" cy="34290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cab window"/>
            <p:cNvSpPr/>
            <p:nvPr/>
          </p:nvSpPr>
          <p:spPr>
            <a:xfrm>
              <a:off x="3550157" y="1719072"/>
              <a:ext cx="123444" cy="12344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boiler"/>
            <p:cNvSpPr/>
            <p:nvPr/>
          </p:nvSpPr>
          <p:spPr>
            <a:xfrm>
              <a:off x="3755898" y="1698498"/>
              <a:ext cx="1392174" cy="274320"/>
            </a:xfrm>
            <a:prstGeom prst="roundRect">
              <a:avLst>
                <a:gd name="adj" fmla="val 25000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boiler band"/>
            <p:cNvSpPr/>
            <p:nvPr/>
          </p:nvSpPr>
          <p:spPr>
            <a:xfrm>
              <a:off x="4173550" y="1698498"/>
              <a:ext cx="9601" cy="274320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boiler band"/>
            <p:cNvSpPr/>
            <p:nvPr/>
          </p:nvSpPr>
          <p:spPr>
            <a:xfrm>
              <a:off x="4521593" y="1698498"/>
              <a:ext cx="9601" cy="274320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boiler band"/>
            <p:cNvSpPr/>
            <p:nvPr/>
          </p:nvSpPr>
          <p:spPr>
            <a:xfrm>
              <a:off x="4869637" y="1698498"/>
              <a:ext cx="9601" cy="274320"/>
            </a:xfrm>
            <a:prstGeom prst="rect">
              <a:avLst/>
            </a:prstGeom>
            <a:solidFill>
              <a:srgbClr val="1E827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smokebox"/>
            <p:cNvSpPr/>
            <p:nvPr/>
          </p:nvSpPr>
          <p:spPr>
            <a:xfrm>
              <a:off x="5148072" y="1698498"/>
              <a:ext cx="137160" cy="274320"/>
            </a:xfrm>
            <a:prstGeom prst="roundRect">
              <a:avLst>
                <a:gd name="adj" fmla="val 12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chimney"/>
            <p:cNvSpPr/>
            <p:nvPr/>
          </p:nvSpPr>
          <p:spPr>
            <a:xfrm>
              <a:off x="5175504" y="1554480"/>
              <a:ext cx="82296" cy="14401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chimney lip"/>
            <p:cNvSpPr/>
            <p:nvPr/>
          </p:nvSpPr>
          <p:spPr>
            <a:xfrm>
              <a:off x="5154929" y="1533906"/>
              <a:ext cx="123444" cy="34290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dome"/>
            <p:cNvSpPr/>
            <p:nvPr/>
          </p:nvSpPr>
          <p:spPr>
            <a:xfrm>
              <a:off x="4312767" y="1623060"/>
              <a:ext cx="123444" cy="75437"/>
            </a:xfrm>
            <a:prstGeom prst="roundRect">
              <a:avLst>
                <a:gd name="adj" fmla="val 36363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wheel"/>
            <p:cNvSpPr/>
            <p:nvPr/>
          </p:nvSpPr>
          <p:spPr>
            <a:xfrm>
              <a:off x="3502151" y="1965960"/>
              <a:ext cx="274320" cy="27432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hub"/>
            <p:cNvSpPr/>
            <p:nvPr/>
          </p:nvSpPr>
          <p:spPr>
            <a:xfrm>
              <a:off x="3603650" y="2067458"/>
              <a:ext cx="71323" cy="713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wheel"/>
            <p:cNvSpPr/>
            <p:nvPr/>
          </p:nvSpPr>
          <p:spPr>
            <a:xfrm>
              <a:off x="3810761" y="1965960"/>
              <a:ext cx="274320" cy="27432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hub"/>
            <p:cNvSpPr/>
            <p:nvPr/>
          </p:nvSpPr>
          <p:spPr>
            <a:xfrm>
              <a:off x="3912260" y="2067458"/>
              <a:ext cx="71323" cy="713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wheel"/>
            <p:cNvSpPr/>
            <p:nvPr/>
          </p:nvSpPr>
          <p:spPr>
            <a:xfrm>
              <a:off x="4119371" y="1965960"/>
              <a:ext cx="274320" cy="27432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hub"/>
            <p:cNvSpPr/>
            <p:nvPr/>
          </p:nvSpPr>
          <p:spPr>
            <a:xfrm>
              <a:off x="4220870" y="2067458"/>
              <a:ext cx="71323" cy="713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wheel"/>
            <p:cNvSpPr/>
            <p:nvPr/>
          </p:nvSpPr>
          <p:spPr>
            <a:xfrm>
              <a:off x="4427981" y="1965960"/>
              <a:ext cx="274320" cy="27432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hub"/>
            <p:cNvSpPr/>
            <p:nvPr/>
          </p:nvSpPr>
          <p:spPr>
            <a:xfrm>
              <a:off x="4529480" y="2067458"/>
              <a:ext cx="71323" cy="713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wheel"/>
            <p:cNvSpPr/>
            <p:nvPr/>
          </p:nvSpPr>
          <p:spPr>
            <a:xfrm>
              <a:off x="4805172" y="2089404"/>
              <a:ext cx="150876" cy="15087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hub"/>
            <p:cNvSpPr/>
            <p:nvPr/>
          </p:nvSpPr>
          <p:spPr>
            <a:xfrm>
              <a:off x="4860996" y="2145228"/>
              <a:ext cx="39227" cy="3922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coupling rod"/>
            <p:cNvSpPr/>
            <p:nvPr/>
          </p:nvSpPr>
          <p:spPr>
            <a:xfrm>
              <a:off x="3639311" y="2024938"/>
              <a:ext cx="925830" cy="1920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buffer beam"/>
            <p:cNvSpPr/>
            <p:nvPr/>
          </p:nvSpPr>
          <p:spPr>
            <a:xfrm>
              <a:off x="5285231" y="1979676"/>
              <a:ext cx="41148" cy="123443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ail"/>
            <p:cNvSpPr/>
            <p:nvPr/>
          </p:nvSpPr>
          <p:spPr>
            <a:xfrm>
              <a:off x="777240" y="2240280"/>
              <a:ext cx="4640579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style band"/>
            <p:cNvSpPr/>
            <p:nvPr/>
          </p:nvSpPr>
          <p:spPr>
            <a:xfrm>
              <a:off x="868680" y="2331720"/>
              <a:ext cx="4457699" cy="274320"/>
            </a:xfrm>
            <a:prstGeom prst="roundRect">
              <a:avLst>
                <a:gd name="adj" fmla="val 16666"/>
              </a:avLst>
            </a:prstGeom>
            <a:solidFill>
              <a:srgbClr val="2BB5B0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British style</a:t>
              </a:r>
            </a:p>
          </p:txBody>
        </p:sp>
        <p:cxnSp>
          <p:nvCxnSpPr>
            <p:cNvPr id="69" name="lead pointer"/>
            <p:cNvCxnSpPr/>
            <p:nvPr/>
          </p:nvCxnSpPr>
          <p:spPr>
            <a:xfrm flipH="1">
              <a:off x="5463540" y="1828800"/>
              <a:ext cx="365759" cy="0"/>
            </a:xfrm>
            <a:prstGeom prst="line">
              <a:avLst/>
            </a:prstGeom>
            <a:ln w="3175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70" name="lead label"/>
            <p:cNvSpPr txBox="1"/>
            <p:nvPr/>
          </p:nvSpPr>
          <p:spPr>
            <a:xfrm>
              <a:off x="5920740" y="1645919"/>
              <a:ext cx="201168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Lead engine</a:t>
              </a:r>
            </a:p>
          </p:txBody>
        </p:sp>
        <p:sp>
          <p:nvSpPr>
            <p:cNvPr id="71" name="wagon frame"/>
            <p:cNvSpPr/>
            <p:nvPr/>
          </p:nvSpPr>
          <p:spPr>
            <a:xfrm>
              <a:off x="868680" y="3465576"/>
              <a:ext cx="603504" cy="5486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hopper body"/>
            <p:cNvSpPr/>
            <p:nvPr/>
          </p:nvSpPr>
          <p:spPr>
            <a:xfrm>
              <a:off x="868680" y="3122676"/>
              <a:ext cx="603504" cy="342900"/>
            </a:xfrm>
            <a:custGeom>
              <a:avLst/>
              <a:gdLst/>
              <a:ahLst/>
              <a:cxnLst/>
              <a:rect l="l" t="t" r="r" b="b"/>
              <a:pathLst>
                <a:path w="603504" h="342900">
                  <a:moveTo>
                    <a:pt x="0" y="0"/>
                  </a:moveTo>
                  <a:lnTo>
                    <a:pt x="603504" y="0"/>
                  </a:lnTo>
                  <a:lnTo>
                    <a:pt x="507492" y="342900"/>
                  </a:lnTo>
                  <a:lnTo>
                    <a:pt x="96012" y="342900"/>
                  </a:lnTo>
                  <a:close/>
                </a:path>
              </a:pathLst>
            </a:cu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hopper rim"/>
            <p:cNvSpPr/>
            <p:nvPr/>
          </p:nvSpPr>
          <p:spPr>
            <a:xfrm>
              <a:off x="868680" y="3115818"/>
              <a:ext cx="603504" cy="34290"/>
            </a:xfrm>
            <a:prstGeom prst="rect">
              <a:avLst/>
            </a:prstGeom>
            <a:solidFill>
              <a:srgbClr val="E088B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hopper hatch"/>
            <p:cNvSpPr/>
            <p:nvPr/>
          </p:nvSpPr>
          <p:spPr>
            <a:xfrm>
              <a:off x="1049731" y="3465576"/>
              <a:ext cx="120701" cy="41148"/>
            </a:xfrm>
            <a:custGeom>
              <a:avLst/>
              <a:gdLst/>
              <a:ahLst/>
              <a:cxnLst/>
              <a:rect l="l" t="t" r="r" b="b"/>
              <a:pathLst>
                <a:path w="120701" h="41148">
                  <a:moveTo>
                    <a:pt x="0" y="0"/>
                  </a:moveTo>
                  <a:lnTo>
                    <a:pt x="60350" y="41148"/>
                  </a:lnTo>
                  <a:lnTo>
                    <a:pt x="120701" y="0"/>
                  </a:lnTo>
                  <a:close/>
                </a:path>
              </a:pathLst>
            </a:cu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hopper hatch"/>
            <p:cNvSpPr/>
            <p:nvPr/>
          </p:nvSpPr>
          <p:spPr>
            <a:xfrm>
              <a:off x="1200607" y="3465576"/>
              <a:ext cx="120700" cy="41148"/>
            </a:xfrm>
            <a:custGeom>
              <a:avLst/>
              <a:gdLst/>
              <a:ahLst/>
              <a:cxnLst/>
              <a:rect l="l" t="t" r="r" b="b"/>
              <a:pathLst>
                <a:path w="120700" h="41148">
                  <a:moveTo>
                    <a:pt x="0" y="0"/>
                  </a:moveTo>
                  <a:lnTo>
                    <a:pt x="60350" y="41148"/>
                  </a:lnTo>
                  <a:lnTo>
                    <a:pt x="120700" y="0"/>
                  </a:lnTo>
                  <a:close/>
                </a:path>
              </a:pathLst>
            </a:cu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wheel"/>
            <p:cNvSpPr/>
            <p:nvPr/>
          </p:nvSpPr>
          <p:spPr>
            <a:xfrm>
              <a:off x="909828" y="349300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hub"/>
            <p:cNvSpPr/>
            <p:nvPr/>
          </p:nvSpPr>
          <p:spPr>
            <a:xfrm>
              <a:off x="970727" y="355390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wheel"/>
            <p:cNvSpPr/>
            <p:nvPr/>
          </p:nvSpPr>
          <p:spPr>
            <a:xfrm>
              <a:off x="1266444" y="349300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hub"/>
            <p:cNvSpPr/>
            <p:nvPr/>
          </p:nvSpPr>
          <p:spPr>
            <a:xfrm>
              <a:off x="1327343" y="355390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wagon frame"/>
            <p:cNvSpPr/>
            <p:nvPr/>
          </p:nvSpPr>
          <p:spPr>
            <a:xfrm>
              <a:off x="1536192" y="3465576"/>
              <a:ext cx="603504" cy="5486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hopper body"/>
            <p:cNvSpPr/>
            <p:nvPr/>
          </p:nvSpPr>
          <p:spPr>
            <a:xfrm>
              <a:off x="1536192" y="3122676"/>
              <a:ext cx="603504" cy="342900"/>
            </a:xfrm>
            <a:custGeom>
              <a:avLst/>
              <a:gdLst/>
              <a:ahLst/>
              <a:cxnLst/>
              <a:rect l="l" t="t" r="r" b="b"/>
              <a:pathLst>
                <a:path w="603504" h="342900">
                  <a:moveTo>
                    <a:pt x="0" y="0"/>
                  </a:moveTo>
                  <a:lnTo>
                    <a:pt x="603504" y="0"/>
                  </a:lnTo>
                  <a:lnTo>
                    <a:pt x="507492" y="342900"/>
                  </a:lnTo>
                  <a:lnTo>
                    <a:pt x="96012" y="342900"/>
                  </a:lnTo>
                  <a:close/>
                </a:path>
              </a:pathLst>
            </a:cu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hopper rim"/>
            <p:cNvSpPr/>
            <p:nvPr/>
          </p:nvSpPr>
          <p:spPr>
            <a:xfrm>
              <a:off x="1536192" y="3115818"/>
              <a:ext cx="603504" cy="34290"/>
            </a:xfrm>
            <a:prstGeom prst="rect">
              <a:avLst/>
            </a:prstGeom>
            <a:solidFill>
              <a:srgbClr val="E088B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hopper hatch"/>
            <p:cNvSpPr/>
            <p:nvPr/>
          </p:nvSpPr>
          <p:spPr>
            <a:xfrm>
              <a:off x="1717243" y="3465576"/>
              <a:ext cx="120700" cy="41148"/>
            </a:xfrm>
            <a:custGeom>
              <a:avLst/>
              <a:gdLst/>
              <a:ahLst/>
              <a:cxnLst/>
              <a:rect l="l" t="t" r="r" b="b"/>
              <a:pathLst>
                <a:path w="120700" h="41148">
                  <a:moveTo>
                    <a:pt x="0" y="0"/>
                  </a:moveTo>
                  <a:lnTo>
                    <a:pt x="60350" y="41148"/>
                  </a:lnTo>
                  <a:lnTo>
                    <a:pt x="120700" y="0"/>
                  </a:lnTo>
                  <a:close/>
                </a:path>
              </a:pathLst>
            </a:cu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hopper hatch"/>
            <p:cNvSpPr/>
            <p:nvPr/>
          </p:nvSpPr>
          <p:spPr>
            <a:xfrm>
              <a:off x="1868119" y="3465576"/>
              <a:ext cx="120700" cy="41148"/>
            </a:xfrm>
            <a:custGeom>
              <a:avLst/>
              <a:gdLst/>
              <a:ahLst/>
              <a:cxnLst/>
              <a:rect l="l" t="t" r="r" b="b"/>
              <a:pathLst>
                <a:path w="120700" h="41148">
                  <a:moveTo>
                    <a:pt x="0" y="0"/>
                  </a:moveTo>
                  <a:lnTo>
                    <a:pt x="60350" y="41148"/>
                  </a:lnTo>
                  <a:lnTo>
                    <a:pt x="120700" y="0"/>
                  </a:lnTo>
                  <a:close/>
                </a:path>
              </a:pathLst>
            </a:cu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wheel"/>
            <p:cNvSpPr/>
            <p:nvPr/>
          </p:nvSpPr>
          <p:spPr>
            <a:xfrm>
              <a:off x="1577339" y="349300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hub"/>
            <p:cNvSpPr/>
            <p:nvPr/>
          </p:nvSpPr>
          <p:spPr>
            <a:xfrm>
              <a:off x="1638239" y="355390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wheel"/>
            <p:cNvSpPr/>
            <p:nvPr/>
          </p:nvSpPr>
          <p:spPr>
            <a:xfrm>
              <a:off x="1933956" y="349300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hub"/>
            <p:cNvSpPr/>
            <p:nvPr/>
          </p:nvSpPr>
          <p:spPr>
            <a:xfrm>
              <a:off x="1994855" y="355390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wagon frame"/>
            <p:cNvSpPr/>
            <p:nvPr/>
          </p:nvSpPr>
          <p:spPr>
            <a:xfrm>
              <a:off x="2203704" y="3465576"/>
              <a:ext cx="603504" cy="5486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hopper body"/>
            <p:cNvSpPr/>
            <p:nvPr/>
          </p:nvSpPr>
          <p:spPr>
            <a:xfrm>
              <a:off x="2203704" y="3122676"/>
              <a:ext cx="603504" cy="342900"/>
            </a:xfrm>
            <a:custGeom>
              <a:avLst/>
              <a:gdLst/>
              <a:ahLst/>
              <a:cxnLst/>
              <a:rect l="l" t="t" r="r" b="b"/>
              <a:pathLst>
                <a:path w="603504" h="342900">
                  <a:moveTo>
                    <a:pt x="0" y="0"/>
                  </a:moveTo>
                  <a:lnTo>
                    <a:pt x="603504" y="0"/>
                  </a:lnTo>
                  <a:lnTo>
                    <a:pt x="507492" y="342900"/>
                  </a:lnTo>
                  <a:lnTo>
                    <a:pt x="96012" y="342900"/>
                  </a:lnTo>
                  <a:close/>
                </a:path>
              </a:pathLst>
            </a:cu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hopper rim"/>
            <p:cNvSpPr/>
            <p:nvPr/>
          </p:nvSpPr>
          <p:spPr>
            <a:xfrm>
              <a:off x="2203704" y="3115818"/>
              <a:ext cx="603504" cy="34290"/>
            </a:xfrm>
            <a:prstGeom prst="rect">
              <a:avLst/>
            </a:prstGeom>
            <a:solidFill>
              <a:srgbClr val="E088B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hopper hatch"/>
            <p:cNvSpPr/>
            <p:nvPr/>
          </p:nvSpPr>
          <p:spPr>
            <a:xfrm>
              <a:off x="2384755" y="3465576"/>
              <a:ext cx="120701" cy="41148"/>
            </a:xfrm>
            <a:custGeom>
              <a:avLst/>
              <a:gdLst/>
              <a:ahLst/>
              <a:cxnLst/>
              <a:rect l="l" t="t" r="r" b="b"/>
              <a:pathLst>
                <a:path w="120701" h="41148">
                  <a:moveTo>
                    <a:pt x="0" y="0"/>
                  </a:moveTo>
                  <a:lnTo>
                    <a:pt x="60350" y="41148"/>
                  </a:lnTo>
                  <a:lnTo>
                    <a:pt x="120701" y="0"/>
                  </a:lnTo>
                  <a:close/>
                </a:path>
              </a:pathLst>
            </a:cu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hopper hatch"/>
            <p:cNvSpPr/>
            <p:nvPr/>
          </p:nvSpPr>
          <p:spPr>
            <a:xfrm>
              <a:off x="2535631" y="3465576"/>
              <a:ext cx="120701" cy="41148"/>
            </a:xfrm>
            <a:custGeom>
              <a:avLst/>
              <a:gdLst/>
              <a:ahLst/>
              <a:cxnLst/>
              <a:rect l="l" t="t" r="r" b="b"/>
              <a:pathLst>
                <a:path w="120701" h="41148">
                  <a:moveTo>
                    <a:pt x="0" y="0"/>
                  </a:moveTo>
                  <a:lnTo>
                    <a:pt x="60350" y="41148"/>
                  </a:lnTo>
                  <a:lnTo>
                    <a:pt x="120701" y="0"/>
                  </a:lnTo>
                  <a:close/>
                </a:path>
              </a:pathLst>
            </a:cu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wheel"/>
            <p:cNvSpPr/>
            <p:nvPr/>
          </p:nvSpPr>
          <p:spPr>
            <a:xfrm>
              <a:off x="2244852" y="349300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hub"/>
            <p:cNvSpPr/>
            <p:nvPr/>
          </p:nvSpPr>
          <p:spPr>
            <a:xfrm>
              <a:off x="2305751" y="355390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wheel"/>
            <p:cNvSpPr/>
            <p:nvPr/>
          </p:nvSpPr>
          <p:spPr>
            <a:xfrm>
              <a:off x="2601468" y="349300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hub"/>
            <p:cNvSpPr/>
            <p:nvPr/>
          </p:nvSpPr>
          <p:spPr>
            <a:xfrm>
              <a:off x="2662367" y="355390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tender frame"/>
            <p:cNvSpPr/>
            <p:nvPr/>
          </p:nvSpPr>
          <p:spPr>
            <a:xfrm>
              <a:off x="2871215" y="3438144"/>
              <a:ext cx="630936" cy="61722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tender body"/>
            <p:cNvSpPr/>
            <p:nvPr/>
          </p:nvSpPr>
          <p:spPr>
            <a:xfrm>
              <a:off x="2871215" y="3163824"/>
              <a:ext cx="630936" cy="274320"/>
            </a:xfrm>
            <a:prstGeom prst="roundRect">
              <a:avLst>
                <a:gd name="adj" fmla="val 25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tender coal"/>
            <p:cNvSpPr/>
            <p:nvPr/>
          </p:nvSpPr>
          <p:spPr>
            <a:xfrm>
              <a:off x="2891789" y="3074670"/>
              <a:ext cx="589788" cy="89154"/>
            </a:xfrm>
            <a:custGeom>
              <a:avLst/>
              <a:gdLst/>
              <a:ahLst/>
              <a:cxnLst/>
              <a:rect l="l" t="t" r="r" b="b"/>
              <a:pathLst>
                <a:path w="589788" h="89154">
                  <a:moveTo>
                    <a:pt x="0" y="89154"/>
                  </a:moveTo>
                  <a:lnTo>
                    <a:pt x="102870" y="6858"/>
                  </a:lnTo>
                  <a:lnTo>
                    <a:pt x="336043" y="0"/>
                  </a:lnTo>
                  <a:lnTo>
                    <a:pt x="589788" y="89154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coupling"/>
            <p:cNvSpPr/>
            <p:nvPr/>
          </p:nvSpPr>
          <p:spPr>
            <a:xfrm>
              <a:off x="3502151" y="3335274"/>
              <a:ext cx="54864" cy="20573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wheel"/>
            <p:cNvSpPr/>
            <p:nvPr/>
          </p:nvSpPr>
          <p:spPr>
            <a:xfrm>
              <a:off x="2912363" y="349300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hub"/>
            <p:cNvSpPr/>
            <p:nvPr/>
          </p:nvSpPr>
          <p:spPr>
            <a:xfrm>
              <a:off x="2973263" y="355390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wheel"/>
            <p:cNvSpPr/>
            <p:nvPr/>
          </p:nvSpPr>
          <p:spPr>
            <a:xfrm>
              <a:off x="3049524" y="349300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hub"/>
            <p:cNvSpPr/>
            <p:nvPr/>
          </p:nvSpPr>
          <p:spPr>
            <a:xfrm>
              <a:off x="3110423" y="355390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wheel"/>
            <p:cNvSpPr/>
            <p:nvPr/>
          </p:nvSpPr>
          <p:spPr>
            <a:xfrm>
              <a:off x="3159252" y="349300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hub"/>
            <p:cNvSpPr/>
            <p:nvPr/>
          </p:nvSpPr>
          <p:spPr>
            <a:xfrm>
              <a:off x="3220151" y="355390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wheel"/>
            <p:cNvSpPr/>
            <p:nvPr/>
          </p:nvSpPr>
          <p:spPr>
            <a:xfrm>
              <a:off x="3296412" y="349300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hub"/>
            <p:cNvSpPr/>
            <p:nvPr/>
          </p:nvSpPr>
          <p:spPr>
            <a:xfrm>
              <a:off x="3357311" y="355390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frame"/>
            <p:cNvSpPr/>
            <p:nvPr/>
          </p:nvSpPr>
          <p:spPr>
            <a:xfrm>
              <a:off x="3557015" y="3438144"/>
              <a:ext cx="1571304" cy="61722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cab"/>
            <p:cNvSpPr/>
            <p:nvPr/>
          </p:nvSpPr>
          <p:spPr>
            <a:xfrm>
              <a:off x="3557015" y="2971800"/>
              <a:ext cx="315468" cy="466344"/>
            </a:xfrm>
            <a:prstGeom prst="roundRect">
              <a:avLst>
                <a:gd name="adj" fmla="val 217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cab roof"/>
            <p:cNvSpPr/>
            <p:nvPr/>
          </p:nvSpPr>
          <p:spPr>
            <a:xfrm>
              <a:off x="3529583" y="2930652"/>
              <a:ext cx="370332" cy="411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cab window"/>
            <p:cNvSpPr/>
            <p:nvPr/>
          </p:nvSpPr>
          <p:spPr>
            <a:xfrm>
              <a:off x="3632453" y="3040380"/>
              <a:ext cx="137160" cy="15087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boiler"/>
            <p:cNvSpPr/>
            <p:nvPr/>
          </p:nvSpPr>
          <p:spPr>
            <a:xfrm>
              <a:off x="3872483" y="3012948"/>
              <a:ext cx="1022664" cy="342900"/>
            </a:xfrm>
            <a:prstGeom prst="roundRect">
              <a:avLst>
                <a:gd name="adj" fmla="val 22000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smokebox"/>
            <p:cNvSpPr/>
            <p:nvPr/>
          </p:nvSpPr>
          <p:spPr>
            <a:xfrm>
              <a:off x="4895148" y="3012948"/>
              <a:ext cx="164592" cy="342900"/>
            </a:xfrm>
            <a:prstGeom prst="roundRect">
              <a:avLst>
                <a:gd name="adj" fmla="val 1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funnel stack"/>
            <p:cNvSpPr/>
            <p:nvPr/>
          </p:nvSpPr>
          <p:spPr>
            <a:xfrm>
              <a:off x="4888290" y="2779776"/>
              <a:ext cx="164592" cy="233172"/>
            </a:xfrm>
            <a:custGeom>
              <a:avLst/>
              <a:gdLst/>
              <a:ahLst/>
              <a:cxnLst/>
              <a:rect l="l" t="t" r="r" b="b"/>
              <a:pathLst>
                <a:path w="164592" h="233172">
                  <a:moveTo>
                    <a:pt x="54864" y="233172"/>
                  </a:moveTo>
                  <a:lnTo>
                    <a:pt x="54864" y="164592"/>
                  </a:lnTo>
                  <a:lnTo>
                    <a:pt x="0" y="0"/>
                  </a:lnTo>
                  <a:lnTo>
                    <a:pt x="164592" y="0"/>
                  </a:lnTo>
                  <a:lnTo>
                    <a:pt x="109728" y="164592"/>
                  </a:lnTo>
                  <a:lnTo>
                    <a:pt x="109728" y="233172"/>
                  </a:lnTo>
                  <a:close/>
                </a:path>
              </a:pathLst>
            </a:cu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headlamp"/>
            <p:cNvSpPr/>
            <p:nvPr/>
          </p:nvSpPr>
          <p:spPr>
            <a:xfrm>
              <a:off x="5018592" y="2903220"/>
              <a:ext cx="102869" cy="102869"/>
            </a:xfrm>
            <a:prstGeom prst="ellipse">
              <a:avLst/>
            </a:prstGeom>
            <a:solidFill>
              <a:srgbClr val="F2C14E"/>
            </a:solidFill>
            <a:ln w="127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sand dome"/>
            <p:cNvSpPr/>
            <p:nvPr/>
          </p:nvSpPr>
          <p:spPr>
            <a:xfrm>
              <a:off x="4158830" y="2930652"/>
              <a:ext cx="123444" cy="82295"/>
            </a:xfrm>
            <a:prstGeom prst="roundRect">
              <a:avLst>
                <a:gd name="adj" fmla="val 33333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steam dome"/>
            <p:cNvSpPr/>
            <p:nvPr/>
          </p:nvSpPr>
          <p:spPr>
            <a:xfrm>
              <a:off x="4506536" y="2916936"/>
              <a:ext cx="137160" cy="96012"/>
            </a:xfrm>
            <a:prstGeom prst="roundRect">
              <a:avLst>
                <a:gd name="adj" fmla="val 28571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pilot"/>
            <p:cNvSpPr/>
            <p:nvPr/>
          </p:nvSpPr>
          <p:spPr>
            <a:xfrm>
              <a:off x="5059740" y="3445002"/>
              <a:ext cx="205740" cy="150876"/>
            </a:xfrm>
            <a:custGeom>
              <a:avLst/>
              <a:gdLst/>
              <a:ahLst/>
              <a:cxnLst/>
              <a:rect l="l" t="t" r="r" b="b"/>
              <a:pathLst>
                <a:path w="205740" h="150876">
                  <a:moveTo>
                    <a:pt x="0" y="0"/>
                  </a:moveTo>
                  <a:lnTo>
                    <a:pt x="205740" y="150876"/>
                  </a:lnTo>
                  <a:lnTo>
                    <a:pt x="0" y="150876"/>
                  </a:lnTo>
                  <a:close/>
                </a:path>
              </a:pathLst>
            </a:custGeom>
            <a:solidFill>
              <a:srgbClr val="3A3F47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bell"/>
            <p:cNvSpPr/>
            <p:nvPr/>
          </p:nvSpPr>
          <p:spPr>
            <a:xfrm>
              <a:off x="4342668" y="2848356"/>
              <a:ext cx="41148" cy="82296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wheel"/>
            <p:cNvSpPr/>
            <p:nvPr/>
          </p:nvSpPr>
          <p:spPr>
            <a:xfrm>
              <a:off x="3605022" y="3396996"/>
              <a:ext cx="260603" cy="26060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hub"/>
            <p:cNvSpPr/>
            <p:nvPr/>
          </p:nvSpPr>
          <p:spPr>
            <a:xfrm>
              <a:off x="3701445" y="3493419"/>
              <a:ext cx="67757" cy="6775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wheel"/>
            <p:cNvSpPr/>
            <p:nvPr/>
          </p:nvSpPr>
          <p:spPr>
            <a:xfrm>
              <a:off x="3896898" y="3396996"/>
              <a:ext cx="260603" cy="26060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hub"/>
            <p:cNvSpPr/>
            <p:nvPr/>
          </p:nvSpPr>
          <p:spPr>
            <a:xfrm>
              <a:off x="3993321" y="3493419"/>
              <a:ext cx="67757" cy="6775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wheel"/>
            <p:cNvSpPr/>
            <p:nvPr/>
          </p:nvSpPr>
          <p:spPr>
            <a:xfrm>
              <a:off x="4188774" y="3396996"/>
              <a:ext cx="260603" cy="26060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hub"/>
            <p:cNvSpPr/>
            <p:nvPr/>
          </p:nvSpPr>
          <p:spPr>
            <a:xfrm>
              <a:off x="4285198" y="3493419"/>
              <a:ext cx="67757" cy="6775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wheel"/>
            <p:cNvSpPr/>
            <p:nvPr/>
          </p:nvSpPr>
          <p:spPr>
            <a:xfrm>
              <a:off x="4785420" y="3520439"/>
              <a:ext cx="137160" cy="13716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hub"/>
            <p:cNvSpPr/>
            <p:nvPr/>
          </p:nvSpPr>
          <p:spPr>
            <a:xfrm>
              <a:off x="4836170" y="3571189"/>
              <a:ext cx="35661" cy="3566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wheel"/>
            <p:cNvSpPr/>
            <p:nvPr/>
          </p:nvSpPr>
          <p:spPr>
            <a:xfrm>
              <a:off x="4936296" y="3520439"/>
              <a:ext cx="137160" cy="13716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hub"/>
            <p:cNvSpPr/>
            <p:nvPr/>
          </p:nvSpPr>
          <p:spPr>
            <a:xfrm>
              <a:off x="4987046" y="3571189"/>
              <a:ext cx="35661" cy="3566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coupling rod"/>
            <p:cNvSpPr/>
            <p:nvPr/>
          </p:nvSpPr>
          <p:spPr>
            <a:xfrm>
              <a:off x="3735324" y="3449116"/>
              <a:ext cx="583752" cy="19202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ail"/>
            <p:cNvSpPr/>
            <p:nvPr/>
          </p:nvSpPr>
          <p:spPr>
            <a:xfrm>
              <a:off x="777240" y="3657600"/>
              <a:ext cx="4579680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style band"/>
            <p:cNvSpPr/>
            <p:nvPr/>
          </p:nvSpPr>
          <p:spPr>
            <a:xfrm>
              <a:off x="868680" y="3749039"/>
              <a:ext cx="4396800" cy="274320"/>
            </a:xfrm>
            <a:prstGeom prst="roundRect">
              <a:avLst>
                <a:gd name="adj" fmla="val 16666"/>
              </a:avLst>
            </a:prstGeom>
            <a:solidFill>
              <a:srgbClr val="D6619B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North American style</a:t>
              </a:r>
            </a:p>
          </p:txBody>
        </p:sp>
        <p:cxnSp>
          <p:nvCxnSpPr>
            <p:cNvPr id="135" name="lead pointer"/>
            <p:cNvCxnSpPr/>
            <p:nvPr/>
          </p:nvCxnSpPr>
          <p:spPr>
            <a:xfrm flipH="1">
              <a:off x="5402640" y="3246120"/>
              <a:ext cx="365760" cy="0"/>
            </a:xfrm>
            <a:prstGeom prst="line">
              <a:avLst/>
            </a:prstGeom>
            <a:ln w="3175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36" name="lead label"/>
            <p:cNvSpPr txBox="1"/>
            <p:nvPr/>
          </p:nvSpPr>
          <p:spPr>
            <a:xfrm>
              <a:off x="5859840" y="3063240"/>
              <a:ext cx="201168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Lead engine</a:t>
              </a:r>
            </a:p>
          </p:txBody>
        </p:sp>
        <p:sp>
          <p:nvSpPr>
            <p:cNvPr id="137" name="rail"/>
            <p:cNvSpPr/>
            <p:nvPr/>
          </p:nvSpPr>
          <p:spPr>
            <a:xfrm>
              <a:off x="777240" y="5074920"/>
              <a:ext cx="2615184" cy="4572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platform"/>
            <p:cNvSpPr/>
            <p:nvPr/>
          </p:nvSpPr>
          <p:spPr>
            <a:xfrm>
              <a:off x="868680" y="4987137"/>
              <a:ext cx="1170432" cy="87782"/>
            </a:xfrm>
            <a:prstGeom prst="rect">
              <a:avLst/>
            </a:prstGeom>
            <a:solidFill>
              <a:srgbClr val="5A606A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building"/>
            <p:cNvSpPr/>
            <p:nvPr/>
          </p:nvSpPr>
          <p:spPr>
            <a:xfrm>
              <a:off x="985723" y="4548225"/>
              <a:ext cx="760780" cy="438912"/>
            </a:xfrm>
            <a:prstGeom prst="rect">
              <a:avLst/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0" name="gable roof"/>
            <p:cNvSpPr/>
            <p:nvPr/>
          </p:nvSpPr>
          <p:spPr>
            <a:xfrm>
              <a:off x="941832" y="4255617"/>
              <a:ext cx="848563" cy="292608"/>
            </a:xfrm>
            <a:custGeom>
              <a:avLst/>
              <a:gdLst/>
              <a:ahLst/>
              <a:cxnLst/>
              <a:rect l="l" t="t" r="r" b="b"/>
              <a:pathLst>
                <a:path w="848563" h="292608">
                  <a:moveTo>
                    <a:pt x="0" y="292608"/>
                  </a:moveTo>
                  <a:lnTo>
                    <a:pt x="424281" y="0"/>
                  </a:lnTo>
                  <a:lnTo>
                    <a:pt x="848563" y="292608"/>
                  </a:lnTo>
                  <a:close/>
                </a:path>
              </a:pathLst>
            </a:custGeom>
            <a:solidFill>
              <a:srgbClr val="8D734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1" name="chimney"/>
            <p:cNvSpPr/>
            <p:nvPr/>
          </p:nvSpPr>
          <p:spPr>
            <a:xfrm>
              <a:off x="1570939" y="4284878"/>
              <a:ext cx="80467" cy="190195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window"/>
            <p:cNvSpPr/>
            <p:nvPr/>
          </p:nvSpPr>
          <p:spPr>
            <a:xfrm>
              <a:off x="1058875" y="4665268"/>
              <a:ext cx="146304" cy="14630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window"/>
            <p:cNvSpPr/>
            <p:nvPr/>
          </p:nvSpPr>
          <p:spPr>
            <a:xfrm>
              <a:off x="1512417" y="4665268"/>
              <a:ext cx="146304" cy="14630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door"/>
            <p:cNvSpPr/>
            <p:nvPr/>
          </p:nvSpPr>
          <p:spPr>
            <a:xfrm>
              <a:off x="1292961" y="4636008"/>
              <a:ext cx="131673" cy="351129"/>
            </a:xfrm>
            <a:prstGeom prst="rect">
              <a:avLst/>
            </a:prstGeom>
            <a:solidFill>
              <a:srgbClr val="77613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5" name="wagon frame"/>
            <p:cNvSpPr/>
            <p:nvPr/>
          </p:nvSpPr>
          <p:spPr>
            <a:xfrm>
              <a:off x="2697480" y="4882896"/>
              <a:ext cx="603504" cy="54863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6" name="flat bed"/>
            <p:cNvSpPr/>
            <p:nvPr/>
          </p:nvSpPr>
          <p:spPr>
            <a:xfrm>
              <a:off x="2697480" y="4828031"/>
              <a:ext cx="603504" cy="54864"/>
            </a:xfrm>
            <a:prstGeom prst="rect">
              <a:avLst/>
            </a:prstGeom>
            <a:solidFill>
              <a:srgbClr val="D9B26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crate"/>
            <p:cNvSpPr/>
            <p:nvPr/>
          </p:nvSpPr>
          <p:spPr>
            <a:xfrm>
              <a:off x="2818180" y="4663440"/>
              <a:ext cx="168981" cy="164592"/>
            </a:xfrm>
            <a:prstGeom prst="roundRect">
              <a:avLst>
                <a:gd name="adj" fmla="val 3333"/>
              </a:avLst>
            </a:prstGeom>
            <a:solidFill>
              <a:srgbClr val="A2855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crate"/>
            <p:cNvSpPr/>
            <p:nvPr/>
          </p:nvSpPr>
          <p:spPr>
            <a:xfrm>
              <a:off x="3035442" y="4718304"/>
              <a:ext cx="144840" cy="109728"/>
            </a:xfrm>
            <a:prstGeom prst="roundRect">
              <a:avLst>
                <a:gd name="adj" fmla="val 5000"/>
              </a:avLst>
            </a:prstGeom>
            <a:solidFill>
              <a:srgbClr val="A2855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wheel"/>
            <p:cNvSpPr/>
            <p:nvPr/>
          </p:nvSpPr>
          <p:spPr>
            <a:xfrm>
              <a:off x="2738628" y="491032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0" name="hub"/>
            <p:cNvSpPr/>
            <p:nvPr/>
          </p:nvSpPr>
          <p:spPr>
            <a:xfrm>
              <a:off x="2799527" y="497122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1" name="wheel"/>
            <p:cNvSpPr/>
            <p:nvPr/>
          </p:nvSpPr>
          <p:spPr>
            <a:xfrm>
              <a:off x="3095244" y="4910328"/>
              <a:ext cx="164592" cy="164592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hub"/>
            <p:cNvSpPr/>
            <p:nvPr/>
          </p:nvSpPr>
          <p:spPr>
            <a:xfrm>
              <a:off x="3156143" y="4971227"/>
              <a:ext cx="42793" cy="427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style band"/>
            <p:cNvSpPr/>
            <p:nvPr/>
          </p:nvSpPr>
          <p:spPr>
            <a:xfrm>
              <a:off x="868680" y="5166359"/>
              <a:ext cx="2432304" cy="274320"/>
            </a:xfrm>
            <a:prstGeom prst="roundRect">
              <a:avLst>
                <a:gd name="adj" fmla="val 16666"/>
              </a:avLst>
            </a:prstGeom>
            <a:solidFill>
              <a:srgbClr val="D9B26F"/>
            </a:solidFill>
            <a:ln>
              <a:noFill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World style</a:t>
              </a:r>
            </a:p>
          </p:txBody>
        </p:sp>
        <p:sp>
          <p:nvSpPr>
            <p:cNvPr id="154" name="lone label"/>
            <p:cNvSpPr txBox="1"/>
            <p:nvPr/>
          </p:nvSpPr>
          <p:spPr>
            <a:xfrm>
              <a:off x="3575304" y="4480560"/>
              <a:ext cx="219456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Lone wagon</a:t>
              </a:r>
            </a:p>
          </p:txBody>
        </p:sp>
      </p:grpSp>
      <p:sp>
        <p:nvSpPr>
          <p:cNvPr id="155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CAPTION"/>
          <p:cNvSpPr txBox="1"/>
          <p:nvPr/>
        </p:nvSpPr>
        <p:spPr>
          <a:xfrm>
            <a:off x="822960" y="5760720"/>
            <a:ext cx="1042416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Wagons take the look of the engine pulling them. A lone wagon follows the world style.</a:t>
            </a:r>
          </a:p>
        </p:txBody>
      </p:sp>
      <p:sp>
        <p:nvSpPr>
          <p:cNvPr id="158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8FC7FF"/>
      </a:hlink>
      <a:folHlink>
        <a:srgbClr val="C9B2F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Regions, Running Numbers and Fleet Identity, Explained</dc:title>
  <dc:subject>Read-alone explainer deck 5 for the Early Locomotion mod for Satisfactory</dc:subject>
  <dc:creator>Claude (Early Locomotion project)</dc:creator>
  <cp:keywords>Satisfactory; Early Locomotion; regions; running numbers; fleet identity</cp:keywords>
  <dc:description>generated using python-pptx</dc:description>
  <cp:lastModifiedBy>Claude (Early Locomotion project)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