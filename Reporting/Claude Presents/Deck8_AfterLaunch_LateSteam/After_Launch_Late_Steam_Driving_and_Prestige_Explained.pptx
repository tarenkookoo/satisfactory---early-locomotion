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commons.wikimedia.org/wiki/File:92203_at_Toddington_on_the_Gloucestershire_and_Warwickshire_Railway_(3).jp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1097280"/>
            <a:ext cx="6675120" cy="2697480"/>
          </a:xfrm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 lang="en-GB">
                <a:solidFill>
                  <a:srgbClr val="F2F2F2"/>
                </a:solidFill>
                <a:latin typeface="Arial"/>
              </a:rPr>
              <a:t>After Launch:</a:t>
            </a:r>
            <a:br/>
            <a:r>
              <a:rPr sz="5400" b="1" i="0" lang="en-GB">
                <a:solidFill>
                  <a:srgbClr val="F2F2F2"/>
                </a:solidFill>
                <a:latin typeface="Arial"/>
              </a:rPr>
              <a:t>Late Steam, Driving</a:t>
            </a:r>
            <a:br/>
            <a:r>
              <a:rPr sz="5400" b="1" i="0" lang="en-GB">
                <a:solidFill>
                  <a:srgbClr val="F2F2F2"/>
                </a:solidFill>
                <a:latin typeface="Arial"/>
              </a:rPr>
              <a:t>and Prestige</a:t>
            </a:r>
          </a:p>
        </p:txBody>
      </p:sp>
      <p:pic>
        <p:nvPicPr>
          <p:cNvPr id="3" name="Picture P12_9f_92203.jpg" descr="A large black British steam locomotive seen from the front three-quarter, standing on a heritage railway."/>
          <p:cNvPicPr>
            <a:picLocks noChangeAspect="1"/>
          </p:cNvPicPr>
          <p:nvPr/>
        </p:nvPicPr>
        <p:blipFill>
          <a:blip r:embed="rId2"/>
          <a:srcRect l="43386" r="9524"/>
          <a:stretch>
            <a:fillRect/>
          </a:stretch>
        </p:blipFill>
        <p:spPr>
          <a:xfrm>
            <a:off x="7406640" y="411480"/>
            <a:ext cx="4233672" cy="5806440"/>
          </a:xfrm>
          <a:prstGeom prst="roundRect">
            <a:avLst>
              <a:gd name="adj" fmla="val 1727"/>
            </a:avLst>
          </a:prstGeom>
        </p:spPr>
      </p:pic>
      <p:sp>
        <p:nvSpPr>
          <p:cNvPr id="4" name="Credit line"/>
          <p:cNvSpPr txBox="1"/>
          <p:nvPr/>
        </p:nvSpPr>
        <p:spPr>
          <a:xfrm>
            <a:off x="7406640" y="6291072"/>
            <a:ext cx="423367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lang="en-GB">
                <a:solidFill>
                  <a:srgbClr val="A9B0B8"/>
                </a:solidFill>
                <a:latin typeface="Arial"/>
              </a:rPr>
              <a:t>A real steam locomotive, shown for illustration.</a:t>
            </a:r>
            <a:br/>
            <a:r>
              <a:rPr sz="1000" b="0" i="0" lang="en-GB">
                <a:solidFill>
                  <a:srgbClr val="A9B0B8"/>
                </a:solidFill>
                <a:latin typeface="Arial"/>
              </a:rPr>
              <a:t>Photo: Tony Hisgett, CC BY 2.0.</a:t>
            </a:r>
          </a:p>
        </p:txBody>
      </p:sp>
      <p:sp>
        <p:nvSpPr>
          <p:cNvPr id="5" name="Orange rule"/>
          <p:cNvSpPr/>
          <p:nvPr/>
        </p:nvSpPr>
        <p:spPr>
          <a:xfrm>
            <a:off x="548640" y="3931920"/>
            <a:ext cx="1645920" cy="6400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ption"/>
          <p:cNvSpPr txBox="1"/>
          <p:nvPr/>
        </p:nvSpPr>
        <p:spPr>
          <a:xfrm>
            <a:off x="548640" y="4206240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Ideas for after the first release, for people who love steam. All of it comes later.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How to read this guide</a:t>
            </a:r>
          </a:p>
        </p:txBody>
      </p:sp>
      <p:grpSp>
        <p:nvGrpSpPr>
          <p:cNvPr id="3" name="Diagram: tag legend" descr="Five tags with their meanings: Agreed, Proposed, Provisional, Undecided and Background."/>
          <p:cNvGrpSpPr/>
          <p:nvPr/>
        </p:nvGrpSpPr>
        <p:grpSpPr>
          <a:xfrm>
            <a:off x="548640" y="1371600"/>
            <a:ext cx="7040880" cy="3986784"/>
            <a:chOff x="548640" y="1371600"/>
            <a:chExt cx="7040880" cy="3986784"/>
          </a:xfrm>
        </p:grpSpPr>
        <p:sp>
          <p:nvSpPr>
            <p:cNvPr id="4" name="Rounded Rectangle 3"/>
            <p:cNvSpPr/>
            <p:nvPr/>
          </p:nvSpPr>
          <p:spPr>
            <a:xfrm>
              <a:off x="548640" y="1371600"/>
              <a:ext cx="7040880" cy="694944"/>
            </a:xfrm>
            <a:prstGeom prst="roundRect">
              <a:avLst>
                <a:gd name="adj" fmla="val 1052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Legend chip"/>
            <p:cNvSpPr/>
            <p:nvPr/>
          </p:nvSpPr>
          <p:spPr>
            <a:xfrm>
              <a:off x="777240" y="1490472"/>
              <a:ext cx="1828800" cy="457200"/>
            </a:xfrm>
            <a:prstGeom prst="roundRect">
              <a:avLst>
                <a:gd name="adj" fmla="val 28000"/>
              </a:avLst>
            </a:prstGeom>
            <a:solidFill>
              <a:srgbClr val="3FB950"/>
            </a:solidFill>
            <a:ln>
              <a:noFill/>
            </a:ln>
          </p:spPr>
          <p:txBody>
            <a:bodyPr rtlCol="0" anchor="ctr" wrap="none" lIns="36576" tIns="18288" rIns="36576" bIns="18288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600" b="1" i="0" lang="en-GB">
                  <a:solidFill>
                    <a:srgbClr val="101418"/>
                  </a:solidFill>
                  <a:latin typeface="Arial"/>
                </a:rPr>
                <a:t>AGREED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880360" y="1463040"/>
              <a:ext cx="4572000" cy="5120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Decided.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48640" y="2194560"/>
              <a:ext cx="7040880" cy="694944"/>
            </a:xfrm>
            <a:prstGeom prst="roundRect">
              <a:avLst>
                <a:gd name="adj" fmla="val 1052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Legend chip"/>
            <p:cNvSpPr/>
            <p:nvPr/>
          </p:nvSpPr>
          <p:spPr>
            <a:xfrm>
              <a:off x="777240" y="2313432"/>
              <a:ext cx="1828800" cy="457200"/>
            </a:xfrm>
            <a:prstGeom prst="roundRect">
              <a:avLst>
                <a:gd name="adj" fmla="val 28000"/>
              </a:avLst>
            </a:prstGeom>
            <a:solidFill>
              <a:srgbClr val="B084F5"/>
            </a:solidFill>
            <a:ln>
              <a:noFill/>
            </a:ln>
          </p:spPr>
          <p:txBody>
            <a:bodyPr rtlCol="0" anchor="ctr" wrap="none" lIns="36576" tIns="18288" rIns="36576" bIns="18288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600" b="1" i="0" lang="en-GB">
                  <a:solidFill>
                    <a:srgbClr val="101418"/>
                  </a:solidFill>
                  <a:latin typeface="Arial"/>
                </a:rPr>
                <a:t>PROPOSED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880360" y="2286000"/>
              <a:ext cx="4572000" cy="5120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Suggested, not confirmed.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8640" y="3017520"/>
              <a:ext cx="7040880" cy="694944"/>
            </a:xfrm>
            <a:prstGeom prst="roundRect">
              <a:avLst>
                <a:gd name="adj" fmla="val 1052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Legend chip"/>
            <p:cNvSpPr/>
            <p:nvPr/>
          </p:nvSpPr>
          <p:spPr>
            <a:xfrm>
              <a:off x="777240" y="3136392"/>
              <a:ext cx="1828800" cy="457200"/>
            </a:xfrm>
            <a:prstGeom prst="roundRect">
              <a:avLst>
                <a:gd name="adj" fmla="val 28000"/>
              </a:avLst>
            </a:prstGeom>
            <a:solidFill>
              <a:srgbClr val="4DA3FF"/>
            </a:solidFill>
            <a:ln>
              <a:noFill/>
            </a:ln>
          </p:spPr>
          <p:txBody>
            <a:bodyPr rtlCol="0" anchor="ctr" wrap="none" lIns="36576" tIns="18288" rIns="36576" bIns="18288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600" b="1" i="0" lang="en-GB">
                  <a:solidFill>
                    <a:srgbClr val="101418"/>
                  </a:solidFill>
                  <a:latin typeface="Arial"/>
                </a:rPr>
                <a:t>PROVISIONAL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880360" y="3108960"/>
              <a:ext cx="4572000" cy="5120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A test number that may change.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48640" y="3840480"/>
              <a:ext cx="7040880" cy="694944"/>
            </a:xfrm>
            <a:prstGeom prst="roundRect">
              <a:avLst>
                <a:gd name="adj" fmla="val 1052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Legend chip"/>
            <p:cNvSpPr/>
            <p:nvPr/>
          </p:nvSpPr>
          <p:spPr>
            <a:xfrm>
              <a:off x="777240" y="3959352"/>
              <a:ext cx="1828800" cy="457200"/>
            </a:xfrm>
            <a:prstGeom prst="roundRect">
              <a:avLst>
                <a:gd name="adj" fmla="val 28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none" lIns="36576" tIns="18288" rIns="36576" bIns="18288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600" b="1" i="0" lang="en-GB">
                  <a:solidFill>
                    <a:srgbClr val="F2F2F2"/>
                  </a:solidFill>
                  <a:latin typeface="Arial"/>
                </a:rPr>
                <a:t>UNDECIDED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880360" y="3931920"/>
              <a:ext cx="4572000" cy="5120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Still an open question.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48640" y="4663440"/>
              <a:ext cx="7040880" cy="694944"/>
            </a:xfrm>
            <a:prstGeom prst="roundRect">
              <a:avLst>
                <a:gd name="adj" fmla="val 1052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Legend chip"/>
            <p:cNvSpPr/>
            <p:nvPr/>
          </p:nvSpPr>
          <p:spPr>
            <a:xfrm>
              <a:off x="777240" y="4782312"/>
              <a:ext cx="1828800" cy="457200"/>
            </a:xfrm>
            <a:prstGeom prst="roundRect">
              <a:avLst>
                <a:gd name="adj" fmla="val 28000"/>
              </a:avLst>
            </a:prstGeom>
            <a:solidFill>
              <a:srgbClr val="4A515B"/>
            </a:solidFill>
            <a:ln>
              <a:noFill/>
            </a:ln>
          </p:spPr>
          <p:txBody>
            <a:bodyPr rtlCol="0" anchor="ctr" wrap="none" lIns="36576" tIns="18288" rIns="36576" bIns="18288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600" b="1" i="0" lang="en-GB">
                  <a:solidFill>
                    <a:srgbClr val="F2F2F2"/>
                  </a:solidFill>
                  <a:latin typeface="Arial"/>
                </a:rPr>
                <a:t>BACKGROUND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880360" y="4754880"/>
              <a:ext cx="4572000" cy="5120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A real-world fact.</a:t>
              </a:r>
            </a:p>
          </p:txBody>
        </p:sp>
      </p:grpSp>
      <p:grpSp>
        <p:nvGrpSpPr>
          <p:cNvPr id="19" name="Sketch: a slide with a tag in its corner" descr="Sketch of a slide with a coloured tag in its top-right corner."/>
          <p:cNvGrpSpPr/>
          <p:nvPr/>
        </p:nvGrpSpPr>
        <p:grpSpPr>
          <a:xfrm>
            <a:off x="8138160" y="1737360"/>
            <a:ext cx="3502152" cy="2148840"/>
            <a:chOff x="8138160" y="1737360"/>
            <a:chExt cx="3502152" cy="2148840"/>
          </a:xfrm>
        </p:grpSpPr>
        <p:sp>
          <p:nvSpPr>
            <p:cNvPr id="20" name="Rounded Rectangle 19"/>
            <p:cNvSpPr/>
            <p:nvPr/>
          </p:nvSpPr>
          <p:spPr>
            <a:xfrm>
              <a:off x="8138160" y="1737360"/>
              <a:ext cx="3502152" cy="2148840"/>
            </a:xfrm>
            <a:prstGeom prst="roundRect">
              <a:avLst>
                <a:gd name="adj" fmla="val 4255"/>
              </a:avLst>
            </a:prstGeom>
            <a:solidFill>
              <a:srgbClr val="2B2F36"/>
            </a:solidFill>
            <a:ln w="2540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0241280" y="1874520"/>
              <a:ext cx="1234440" cy="274320"/>
            </a:xfrm>
            <a:prstGeom prst="roundRect">
              <a:avLst>
                <a:gd name="adj" fmla="val 33333"/>
              </a:avLst>
            </a:prstGeom>
            <a:solidFill>
              <a:srgbClr val="3FB95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366760" y="1920240"/>
              <a:ext cx="1463040" cy="16459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366760" y="2468880"/>
              <a:ext cx="3017520" cy="109728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8366760" y="2697480"/>
              <a:ext cx="2377440" cy="109728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8366760" y="2926080"/>
              <a:ext cx="2743200" cy="109728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366760" y="3154680"/>
              <a:ext cx="1737360" cy="109728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8366760" y="3429000"/>
              <a:ext cx="3017520" cy="274320"/>
            </a:xfrm>
            <a:prstGeom prst="roundRect">
              <a:avLst>
                <a:gd name="adj" fmla="val 20000"/>
              </a:avLst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8366760" y="3429000"/>
              <a:ext cx="54864" cy="274320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9" name="Caption"/>
          <p:cNvSpPr/>
          <p:nvPr/>
        </p:nvSpPr>
        <p:spPr>
          <a:xfrm>
            <a:off x="548640" y="574243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27432" rIns="182880" bIns="27432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Every idea carries a tag in the top-right corner.</a:t>
            </a:r>
          </a:p>
        </p:txBody>
      </p:sp>
      <p:sp>
        <p:nvSpPr>
          <p:cNvPr id="30" name="Caption rule"/>
          <p:cNvSpPr/>
          <p:nvPr/>
        </p:nvSpPr>
        <p:spPr>
          <a:xfrm>
            <a:off x="548640" y="5742432"/>
            <a:ext cx="73152" cy="69494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lide number"/>
          <p:cNvSpPr txBox="1"/>
          <p:nvPr/>
        </p:nvSpPr>
        <p:spPr>
          <a:xfrm>
            <a:off x="11064240" y="647395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Electric still wins</a:t>
            </a:r>
          </a:p>
        </p:txBody>
      </p:sp>
      <p:sp>
        <p:nvSpPr>
          <p:cNvPr id="3" name="Status chip"/>
          <p:cNvSpPr/>
          <p:nvPr/>
        </p:nvSpPr>
        <p:spPr>
          <a:xfrm>
            <a:off x="10131552" y="457200"/>
            <a:ext cx="1481328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Diagram: steam and electric compared" descr="Paired bars show electric rail ahead of steam on speed, throughput, traffic density and convenience. The bars show shape only."/>
          <p:cNvGrpSpPr/>
          <p:nvPr/>
        </p:nvGrpSpPr>
        <p:grpSpPr>
          <a:xfrm>
            <a:off x="548640" y="1417320"/>
            <a:ext cx="10149840" cy="4123944"/>
            <a:chOff x="548640" y="1417320"/>
            <a:chExt cx="10149840" cy="4123944"/>
          </a:xfrm>
        </p:grpSpPr>
        <p:sp>
          <p:nvSpPr>
            <p:cNvPr id="5" name="TextBox 4"/>
            <p:cNvSpPr txBox="1"/>
            <p:nvPr/>
          </p:nvSpPr>
          <p:spPr>
            <a:xfrm>
              <a:off x="548640" y="1417320"/>
              <a:ext cx="283464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Speed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566160" y="1472184"/>
              <a:ext cx="7132320" cy="329184"/>
            </a:xfrm>
            <a:prstGeom prst="roundRect">
              <a:avLst>
                <a:gd name="adj" fmla="val 2777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566160" y="1472184"/>
              <a:ext cx="3209544" cy="329184"/>
            </a:xfrm>
            <a:prstGeom prst="roundRect">
              <a:avLst>
                <a:gd name="adj" fmla="val 27777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566160" y="1874520"/>
              <a:ext cx="7132320" cy="329184"/>
            </a:xfrm>
            <a:prstGeom prst="roundRect">
              <a:avLst>
                <a:gd name="adj" fmla="val 2777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566160" y="1874520"/>
              <a:ext cx="6419088" cy="329184"/>
            </a:xfrm>
            <a:prstGeom prst="roundRect">
              <a:avLst>
                <a:gd name="adj" fmla="val 27777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48640" y="2331720"/>
              <a:ext cx="283464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Throughput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566160" y="2386584"/>
              <a:ext cx="7132320" cy="329184"/>
            </a:xfrm>
            <a:prstGeom prst="roundRect">
              <a:avLst>
                <a:gd name="adj" fmla="val 2777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566160" y="2386584"/>
              <a:ext cx="2852928" cy="329184"/>
            </a:xfrm>
            <a:prstGeom prst="roundRect">
              <a:avLst>
                <a:gd name="adj" fmla="val 27777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566160" y="2788920"/>
              <a:ext cx="7132320" cy="329184"/>
            </a:xfrm>
            <a:prstGeom prst="roundRect">
              <a:avLst>
                <a:gd name="adj" fmla="val 2777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566160" y="2788920"/>
              <a:ext cx="6419088" cy="329184"/>
            </a:xfrm>
            <a:prstGeom prst="roundRect">
              <a:avLst>
                <a:gd name="adj" fmla="val 27777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8640" y="3246120"/>
              <a:ext cx="283464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Traffic density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566160" y="3300984"/>
              <a:ext cx="7132320" cy="329184"/>
            </a:xfrm>
            <a:prstGeom prst="roundRect">
              <a:avLst>
                <a:gd name="adj" fmla="val 2777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566160" y="3300984"/>
              <a:ext cx="2496312" cy="329184"/>
            </a:xfrm>
            <a:prstGeom prst="roundRect">
              <a:avLst>
                <a:gd name="adj" fmla="val 27777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566160" y="3703320"/>
              <a:ext cx="7132320" cy="329184"/>
            </a:xfrm>
            <a:prstGeom prst="roundRect">
              <a:avLst>
                <a:gd name="adj" fmla="val 2777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566160" y="3703320"/>
              <a:ext cx="6419088" cy="329184"/>
            </a:xfrm>
            <a:prstGeom prst="roundRect">
              <a:avLst>
                <a:gd name="adj" fmla="val 27777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48640" y="4160520"/>
              <a:ext cx="283464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Convenience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566160" y="4215384"/>
              <a:ext cx="7132320" cy="329184"/>
            </a:xfrm>
            <a:prstGeom prst="roundRect">
              <a:avLst>
                <a:gd name="adj" fmla="val 2777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566160" y="4215384"/>
              <a:ext cx="3209544" cy="329184"/>
            </a:xfrm>
            <a:prstGeom prst="roundRect">
              <a:avLst>
                <a:gd name="adj" fmla="val 27777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566160" y="4617720"/>
              <a:ext cx="7132320" cy="329184"/>
            </a:xfrm>
            <a:prstGeom prst="roundRect">
              <a:avLst>
                <a:gd name="adj" fmla="val 2777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566160" y="4617720"/>
              <a:ext cx="6419088" cy="329184"/>
            </a:xfrm>
            <a:prstGeom prst="roundRect">
              <a:avLst>
                <a:gd name="adj" fmla="val 27777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566160" y="5230368"/>
              <a:ext cx="274320" cy="237744"/>
            </a:xfrm>
            <a:prstGeom prst="roundRect">
              <a:avLst>
                <a:gd name="adj" fmla="val 23076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931920" y="5157216"/>
              <a:ext cx="118872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 lang="en-GB">
                  <a:solidFill>
                    <a:srgbClr val="F2F2F2"/>
                  </a:solidFill>
                  <a:latin typeface="Arial"/>
                </a:rPr>
                <a:t>Steam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212080" y="5230368"/>
              <a:ext cx="274320" cy="237744"/>
            </a:xfrm>
            <a:prstGeom prst="roundRect">
              <a:avLst>
                <a:gd name="adj" fmla="val 23076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577840" y="5157216"/>
              <a:ext cx="137160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 lang="en-GB">
                  <a:solidFill>
                    <a:srgbClr val="F2F2F2"/>
                  </a:solidFill>
                  <a:latin typeface="Arial"/>
                </a:rPr>
                <a:t>Electric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680960" y="5157216"/>
              <a:ext cx="301752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1400" b="0" i="1" lang="en-GB">
                  <a:solidFill>
                    <a:srgbClr val="A9B0B8"/>
                  </a:solidFill>
                  <a:latin typeface="Arial"/>
                </a:rPr>
                <a:t>Shape only. Not measured.</a:t>
              </a:r>
            </a:p>
          </p:txBody>
        </p:sp>
      </p:grpSp>
      <p:sp>
        <p:nvSpPr>
          <p:cNvPr id="30" name="Caption"/>
          <p:cNvSpPr/>
          <p:nvPr/>
        </p:nvSpPr>
        <p:spPr>
          <a:xfrm>
            <a:off x="548640" y="574243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27432" rIns="182880" bIns="27432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Even with packs, electric rail stays the better railway. Steam is a choice, not an upgrade.</a:t>
            </a:r>
          </a:p>
        </p:txBody>
      </p:sp>
      <p:sp>
        <p:nvSpPr>
          <p:cNvPr id="31" name="Caption rule"/>
          <p:cNvSpPr/>
          <p:nvPr/>
        </p:nvSpPr>
        <p:spPr>
          <a:xfrm>
            <a:off x="548640" y="5742432"/>
            <a:ext cx="73152" cy="69494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Slide number"/>
          <p:cNvSpPr txBox="1"/>
          <p:nvPr/>
        </p:nvSpPr>
        <p:spPr>
          <a:xfrm>
            <a:off x="11064240" y="647395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Steam's strength: scale</a:t>
            </a:r>
          </a:p>
        </p:txBody>
      </p:sp>
      <p:sp>
        <p:nvSpPr>
          <p:cNvPr id="3" name="Status chip"/>
          <p:cNvSpPr/>
          <p:nvPr/>
        </p:nvSpPr>
        <p:spPr>
          <a:xfrm>
            <a:off x="10131552" y="457200"/>
            <a:ext cx="1481328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Diagram: late steam terminal beside an electric station" descr="Top-down plan of a large steam terminal with six tracks, platforms and many trains, next to a small compact electric station."/>
          <p:cNvGrpSpPr/>
          <p:nvPr/>
        </p:nvGrpSpPr>
        <p:grpSpPr>
          <a:xfrm>
            <a:off x="548640" y="1325880"/>
            <a:ext cx="11091672" cy="4251960"/>
            <a:chOff x="548640" y="1325880"/>
            <a:chExt cx="11091672" cy="4251960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325880"/>
              <a:ext cx="7863840" cy="4251960"/>
            </a:xfrm>
            <a:prstGeom prst="roundRect">
              <a:avLst>
                <a:gd name="adj" fmla="val 1720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77240" y="1417320"/>
              <a:ext cx="4572000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8C28"/>
                  </a:solidFill>
                  <a:latin typeface="Arial"/>
                </a:rPr>
                <a:t>Late steam terminal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731520" y="3589020"/>
              <a:ext cx="1554480" cy="0"/>
            </a:xfrm>
            <a:prstGeom prst="line">
              <a:avLst/>
            </a:prstGeom>
            <a:ln w="114300">
              <a:solidFill>
                <a:srgbClr val="6B5B4B"/>
              </a:solidFill>
              <a:prstDash val="sysDash"/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731520" y="3547872"/>
              <a:ext cx="155448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>
              <a:off x="731520" y="3630168"/>
              <a:ext cx="155448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 flipV="1">
              <a:off x="2286000" y="2331720"/>
              <a:ext cx="822960" cy="1257300"/>
            </a:xfrm>
            <a:prstGeom prst="line">
              <a:avLst/>
            </a:prstGeom>
            <a:ln w="38100">
              <a:solidFill>
                <a:srgbClr val="9AA0A6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3108960" y="2331720"/>
              <a:ext cx="4434840" cy="0"/>
            </a:xfrm>
            <a:prstGeom prst="line">
              <a:avLst/>
            </a:prstGeom>
            <a:ln w="114300">
              <a:solidFill>
                <a:srgbClr val="6B5B4B"/>
              </a:solidFill>
              <a:prstDash val="sysDash"/>
            </a:ln>
          </p:spPr>
        </p:cxnSp>
        <p:cxnSp>
          <p:nvCxnSpPr>
            <p:cNvPr id="12" name="Connector 11"/>
            <p:cNvCxnSpPr/>
            <p:nvPr/>
          </p:nvCxnSpPr>
          <p:spPr>
            <a:xfrm>
              <a:off x="3108960" y="2290572"/>
              <a:ext cx="443484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3108960" y="2372868"/>
              <a:ext cx="443484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14" name="Rectangle 13"/>
            <p:cNvSpPr/>
            <p:nvPr/>
          </p:nvSpPr>
          <p:spPr>
            <a:xfrm>
              <a:off x="7543800" y="2221992"/>
              <a:ext cx="73152" cy="219456"/>
            </a:xfrm>
            <a:prstGeom prst="rect">
              <a:avLst/>
            </a:prstGeom>
            <a:solidFill>
              <a:srgbClr val="E5484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2286000" y="2834640"/>
              <a:ext cx="822960" cy="754380"/>
            </a:xfrm>
            <a:prstGeom prst="line">
              <a:avLst/>
            </a:prstGeom>
            <a:ln w="38100">
              <a:solidFill>
                <a:srgbClr val="9AA0A6"/>
              </a:solidFill>
            </a:ln>
          </p:spPr>
        </p:cxnSp>
        <p:cxnSp>
          <p:nvCxnSpPr>
            <p:cNvPr id="16" name="Connector 15"/>
            <p:cNvCxnSpPr/>
            <p:nvPr/>
          </p:nvCxnSpPr>
          <p:spPr>
            <a:xfrm>
              <a:off x="3108960" y="2834640"/>
              <a:ext cx="4434840" cy="0"/>
            </a:xfrm>
            <a:prstGeom prst="line">
              <a:avLst/>
            </a:prstGeom>
            <a:ln w="114300">
              <a:solidFill>
                <a:srgbClr val="6B5B4B"/>
              </a:solidFill>
              <a:prstDash val="sysDash"/>
            </a:ln>
          </p:spPr>
        </p:cxnSp>
        <p:cxnSp>
          <p:nvCxnSpPr>
            <p:cNvPr id="17" name="Connector 16"/>
            <p:cNvCxnSpPr/>
            <p:nvPr/>
          </p:nvCxnSpPr>
          <p:spPr>
            <a:xfrm>
              <a:off x="3108960" y="2793492"/>
              <a:ext cx="443484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18" name="Connector 17"/>
            <p:cNvCxnSpPr/>
            <p:nvPr/>
          </p:nvCxnSpPr>
          <p:spPr>
            <a:xfrm>
              <a:off x="3108960" y="2875788"/>
              <a:ext cx="443484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19" name="Rectangle 18"/>
            <p:cNvSpPr/>
            <p:nvPr/>
          </p:nvSpPr>
          <p:spPr>
            <a:xfrm>
              <a:off x="7543800" y="2724912"/>
              <a:ext cx="73152" cy="219456"/>
            </a:xfrm>
            <a:prstGeom prst="rect">
              <a:avLst/>
            </a:prstGeom>
            <a:solidFill>
              <a:srgbClr val="E5484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9"/>
            <p:cNvCxnSpPr/>
            <p:nvPr/>
          </p:nvCxnSpPr>
          <p:spPr>
            <a:xfrm flipV="1">
              <a:off x="2286000" y="3337560"/>
              <a:ext cx="822960" cy="251460"/>
            </a:xfrm>
            <a:prstGeom prst="line">
              <a:avLst/>
            </a:prstGeom>
            <a:ln w="38100">
              <a:solidFill>
                <a:srgbClr val="9AA0A6"/>
              </a:solidFill>
            </a:ln>
          </p:spPr>
        </p:cxnSp>
        <p:cxnSp>
          <p:nvCxnSpPr>
            <p:cNvPr id="21" name="Connector 20"/>
            <p:cNvCxnSpPr/>
            <p:nvPr/>
          </p:nvCxnSpPr>
          <p:spPr>
            <a:xfrm>
              <a:off x="3108960" y="3337560"/>
              <a:ext cx="4434840" cy="0"/>
            </a:xfrm>
            <a:prstGeom prst="line">
              <a:avLst/>
            </a:prstGeom>
            <a:ln w="114300">
              <a:solidFill>
                <a:srgbClr val="6B5B4B"/>
              </a:solidFill>
              <a:prstDash val="sysDash"/>
            </a:ln>
          </p:spPr>
        </p:cxnSp>
        <p:cxnSp>
          <p:nvCxnSpPr>
            <p:cNvPr id="22" name="Connector 21"/>
            <p:cNvCxnSpPr/>
            <p:nvPr/>
          </p:nvCxnSpPr>
          <p:spPr>
            <a:xfrm>
              <a:off x="3108960" y="3296412"/>
              <a:ext cx="443484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23" name="Connector 22"/>
            <p:cNvCxnSpPr/>
            <p:nvPr/>
          </p:nvCxnSpPr>
          <p:spPr>
            <a:xfrm>
              <a:off x="3108960" y="3378708"/>
              <a:ext cx="443484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24" name="Rectangle 23"/>
            <p:cNvSpPr/>
            <p:nvPr/>
          </p:nvSpPr>
          <p:spPr>
            <a:xfrm>
              <a:off x="7543800" y="3227832"/>
              <a:ext cx="73152" cy="219456"/>
            </a:xfrm>
            <a:prstGeom prst="rect">
              <a:avLst/>
            </a:prstGeom>
            <a:solidFill>
              <a:srgbClr val="E5484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2286000" y="3589020"/>
              <a:ext cx="822960" cy="251460"/>
            </a:xfrm>
            <a:prstGeom prst="line">
              <a:avLst/>
            </a:prstGeom>
            <a:ln w="38100">
              <a:solidFill>
                <a:srgbClr val="9AA0A6"/>
              </a:solidFill>
            </a:ln>
          </p:spPr>
        </p:cxnSp>
        <p:cxnSp>
          <p:nvCxnSpPr>
            <p:cNvPr id="26" name="Connector 25"/>
            <p:cNvCxnSpPr/>
            <p:nvPr/>
          </p:nvCxnSpPr>
          <p:spPr>
            <a:xfrm>
              <a:off x="3108960" y="3840480"/>
              <a:ext cx="4434840" cy="0"/>
            </a:xfrm>
            <a:prstGeom prst="line">
              <a:avLst/>
            </a:prstGeom>
            <a:ln w="114300">
              <a:solidFill>
                <a:srgbClr val="6B5B4B"/>
              </a:solidFill>
              <a:prstDash val="sysDash"/>
            </a:ln>
          </p:spPr>
        </p:cxnSp>
        <p:cxnSp>
          <p:nvCxnSpPr>
            <p:cNvPr id="27" name="Connector 26"/>
            <p:cNvCxnSpPr/>
            <p:nvPr/>
          </p:nvCxnSpPr>
          <p:spPr>
            <a:xfrm>
              <a:off x="3108960" y="3799332"/>
              <a:ext cx="443484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28" name="Connector 27"/>
            <p:cNvCxnSpPr/>
            <p:nvPr/>
          </p:nvCxnSpPr>
          <p:spPr>
            <a:xfrm>
              <a:off x="3108960" y="3881628"/>
              <a:ext cx="443484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29" name="Rectangle 28"/>
            <p:cNvSpPr/>
            <p:nvPr/>
          </p:nvSpPr>
          <p:spPr>
            <a:xfrm>
              <a:off x="7543800" y="3730752"/>
              <a:ext cx="73152" cy="219456"/>
            </a:xfrm>
            <a:prstGeom prst="rect">
              <a:avLst/>
            </a:prstGeom>
            <a:solidFill>
              <a:srgbClr val="E5484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0" name="Connector 29"/>
            <p:cNvCxnSpPr/>
            <p:nvPr/>
          </p:nvCxnSpPr>
          <p:spPr>
            <a:xfrm>
              <a:off x="2286000" y="3589020"/>
              <a:ext cx="822960" cy="754380"/>
            </a:xfrm>
            <a:prstGeom prst="line">
              <a:avLst/>
            </a:prstGeom>
            <a:ln w="38100">
              <a:solidFill>
                <a:srgbClr val="9AA0A6"/>
              </a:solidFill>
            </a:ln>
          </p:spPr>
        </p:cxnSp>
        <p:cxnSp>
          <p:nvCxnSpPr>
            <p:cNvPr id="31" name="Connector 30"/>
            <p:cNvCxnSpPr/>
            <p:nvPr/>
          </p:nvCxnSpPr>
          <p:spPr>
            <a:xfrm>
              <a:off x="3108960" y="4343400"/>
              <a:ext cx="4434840" cy="0"/>
            </a:xfrm>
            <a:prstGeom prst="line">
              <a:avLst/>
            </a:prstGeom>
            <a:ln w="114300">
              <a:solidFill>
                <a:srgbClr val="6B5B4B"/>
              </a:solidFill>
              <a:prstDash val="sysDash"/>
            </a:ln>
          </p:spPr>
        </p:cxnSp>
        <p:cxnSp>
          <p:nvCxnSpPr>
            <p:cNvPr id="32" name="Connector 31"/>
            <p:cNvCxnSpPr/>
            <p:nvPr/>
          </p:nvCxnSpPr>
          <p:spPr>
            <a:xfrm>
              <a:off x="3108960" y="4302252"/>
              <a:ext cx="443484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33" name="Connector 32"/>
            <p:cNvCxnSpPr/>
            <p:nvPr/>
          </p:nvCxnSpPr>
          <p:spPr>
            <a:xfrm>
              <a:off x="3108960" y="4384548"/>
              <a:ext cx="443484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34" name="Rectangle 33"/>
            <p:cNvSpPr/>
            <p:nvPr/>
          </p:nvSpPr>
          <p:spPr>
            <a:xfrm>
              <a:off x="7543800" y="4233672"/>
              <a:ext cx="73152" cy="219456"/>
            </a:xfrm>
            <a:prstGeom prst="rect">
              <a:avLst/>
            </a:prstGeom>
            <a:solidFill>
              <a:srgbClr val="E5484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5" name="Connector 34"/>
            <p:cNvCxnSpPr/>
            <p:nvPr/>
          </p:nvCxnSpPr>
          <p:spPr>
            <a:xfrm>
              <a:off x="2286000" y="3589020"/>
              <a:ext cx="822960" cy="1257300"/>
            </a:xfrm>
            <a:prstGeom prst="line">
              <a:avLst/>
            </a:prstGeom>
            <a:ln w="38100">
              <a:solidFill>
                <a:srgbClr val="9AA0A6"/>
              </a:solidFill>
            </a:ln>
          </p:spPr>
        </p:cxnSp>
        <p:cxnSp>
          <p:nvCxnSpPr>
            <p:cNvPr id="36" name="Connector 35"/>
            <p:cNvCxnSpPr/>
            <p:nvPr/>
          </p:nvCxnSpPr>
          <p:spPr>
            <a:xfrm>
              <a:off x="3108960" y="4846320"/>
              <a:ext cx="4434840" cy="0"/>
            </a:xfrm>
            <a:prstGeom prst="line">
              <a:avLst/>
            </a:prstGeom>
            <a:ln w="114300">
              <a:solidFill>
                <a:srgbClr val="6B5B4B"/>
              </a:solidFill>
              <a:prstDash val="sysDash"/>
            </a:ln>
          </p:spPr>
        </p:cxnSp>
        <p:cxnSp>
          <p:nvCxnSpPr>
            <p:cNvPr id="37" name="Connector 36"/>
            <p:cNvCxnSpPr/>
            <p:nvPr/>
          </p:nvCxnSpPr>
          <p:spPr>
            <a:xfrm>
              <a:off x="3108960" y="4805172"/>
              <a:ext cx="443484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38" name="Connector 37"/>
            <p:cNvCxnSpPr/>
            <p:nvPr/>
          </p:nvCxnSpPr>
          <p:spPr>
            <a:xfrm>
              <a:off x="3108960" y="4887468"/>
              <a:ext cx="443484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39" name="Rectangle 38"/>
            <p:cNvSpPr/>
            <p:nvPr/>
          </p:nvSpPr>
          <p:spPr>
            <a:xfrm>
              <a:off x="7543800" y="4736592"/>
              <a:ext cx="73152" cy="219456"/>
            </a:xfrm>
            <a:prstGeom prst="rect">
              <a:avLst/>
            </a:prstGeom>
            <a:solidFill>
              <a:srgbClr val="E5484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7726680" y="2103120"/>
              <a:ext cx="502920" cy="2971800"/>
            </a:xfrm>
            <a:prstGeom prst="rect">
              <a:avLst/>
            </a:prstGeom>
            <a:solidFill>
              <a:srgbClr val="343A43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023360" y="2482596"/>
              <a:ext cx="3291840" cy="201168"/>
            </a:xfrm>
            <a:prstGeom prst="rect">
              <a:avLst/>
            </a:prstGeom>
            <a:solidFill>
              <a:srgbClr val="343A43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023360" y="3488436"/>
              <a:ext cx="3291840" cy="201168"/>
            </a:xfrm>
            <a:prstGeom prst="rect">
              <a:avLst/>
            </a:prstGeom>
            <a:solidFill>
              <a:srgbClr val="343A43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023360" y="4494276"/>
              <a:ext cx="3291840" cy="201168"/>
            </a:xfrm>
            <a:prstGeom prst="rect">
              <a:avLst/>
            </a:prstGeom>
            <a:solidFill>
              <a:srgbClr val="343A43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4114800" y="2212848"/>
              <a:ext cx="731520" cy="237744"/>
            </a:xfrm>
            <a:prstGeom prst="roundRect">
              <a:avLst>
                <a:gd name="adj" fmla="val 23076"/>
              </a:avLst>
            </a:prstGeom>
            <a:solidFill>
              <a:srgbClr val="F28C28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4192524" y="2290572"/>
              <a:ext cx="82296" cy="82296"/>
            </a:xfrm>
            <a:prstGeom prst="ellipse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568342" y="2236622"/>
              <a:ext cx="219456" cy="190195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892040" y="2221992"/>
              <a:ext cx="502920" cy="219456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440680" y="2221992"/>
              <a:ext cx="502920" cy="219456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89320" y="2221992"/>
              <a:ext cx="502920" cy="219456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5303520" y="2715768"/>
              <a:ext cx="731520" cy="237744"/>
            </a:xfrm>
            <a:prstGeom prst="roundRect">
              <a:avLst>
                <a:gd name="adj" fmla="val 23076"/>
              </a:avLst>
            </a:prstGeom>
            <a:solidFill>
              <a:srgbClr val="F28C28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5381244" y="2793492"/>
              <a:ext cx="82296" cy="82296"/>
            </a:xfrm>
            <a:prstGeom prst="ellipse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757062" y="2739542"/>
              <a:ext cx="219456" cy="190195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080760" y="2724912"/>
              <a:ext cx="502920" cy="219456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629400" y="2724912"/>
              <a:ext cx="502920" cy="219456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6126480" y="3218688"/>
              <a:ext cx="731520" cy="237744"/>
            </a:xfrm>
            <a:prstGeom prst="roundRect">
              <a:avLst>
                <a:gd name="adj" fmla="val 23076"/>
              </a:avLst>
            </a:prstGeom>
            <a:solidFill>
              <a:srgbClr val="F28C28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6204204" y="3296412"/>
              <a:ext cx="82296" cy="82296"/>
            </a:xfrm>
            <a:prstGeom prst="ellipse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6580022" y="3242462"/>
              <a:ext cx="219456" cy="190195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3840480" y="3721608"/>
              <a:ext cx="731520" cy="237744"/>
            </a:xfrm>
            <a:prstGeom prst="roundRect">
              <a:avLst>
                <a:gd name="adj" fmla="val 23076"/>
              </a:avLst>
            </a:prstGeom>
            <a:solidFill>
              <a:srgbClr val="F28C28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3918204" y="3799332"/>
              <a:ext cx="82296" cy="82296"/>
            </a:xfrm>
            <a:prstGeom prst="ellipse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294022" y="3745382"/>
              <a:ext cx="219456" cy="190195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4617720" y="3730752"/>
              <a:ext cx="502920" cy="219456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5166360" y="3730752"/>
              <a:ext cx="502920" cy="219456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5715000" y="3730752"/>
              <a:ext cx="502920" cy="219456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6263640" y="3730752"/>
              <a:ext cx="502920" cy="219456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5852160" y="4224528"/>
              <a:ext cx="731520" cy="237744"/>
            </a:xfrm>
            <a:prstGeom prst="roundRect">
              <a:avLst>
                <a:gd name="adj" fmla="val 23076"/>
              </a:avLst>
            </a:prstGeom>
            <a:solidFill>
              <a:srgbClr val="F28C28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5929884" y="4302252"/>
              <a:ext cx="82296" cy="82296"/>
            </a:xfrm>
            <a:prstGeom prst="ellipse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6305702" y="4248302"/>
              <a:ext cx="219456" cy="190195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6629400" y="4233672"/>
              <a:ext cx="502920" cy="219456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4480560" y="4727448"/>
              <a:ext cx="731520" cy="237744"/>
            </a:xfrm>
            <a:prstGeom prst="roundRect">
              <a:avLst>
                <a:gd name="adj" fmla="val 23076"/>
              </a:avLst>
            </a:prstGeom>
            <a:solidFill>
              <a:srgbClr val="F28C28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4558284" y="4805172"/>
              <a:ext cx="82296" cy="82296"/>
            </a:xfrm>
            <a:prstGeom prst="ellipse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4934102" y="4751222"/>
              <a:ext cx="219456" cy="190195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257800" y="4736592"/>
              <a:ext cx="502920" cy="219456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5806440" y="4736592"/>
              <a:ext cx="502920" cy="219456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822960" y="2148840"/>
              <a:ext cx="1371600" cy="685800"/>
            </a:xfrm>
            <a:prstGeom prst="rect">
              <a:avLst/>
            </a:prstGeom>
            <a:solidFill>
              <a:srgbClr val="343A43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960120" y="4160520"/>
              <a:ext cx="1097280" cy="1097280"/>
            </a:xfrm>
            <a:prstGeom prst="ellipse">
              <a:avLst/>
            </a:prstGeom>
            <a:solidFill>
              <a:srgbClr val="343A43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6" name="Connector 75"/>
            <p:cNvCxnSpPr/>
            <p:nvPr/>
          </p:nvCxnSpPr>
          <p:spPr>
            <a:xfrm>
              <a:off x="960120" y="4709160"/>
              <a:ext cx="1097280" cy="0"/>
            </a:xfrm>
            <a:prstGeom prst="line">
              <a:avLst/>
            </a:prstGeom>
            <a:ln w="38100">
              <a:solidFill>
                <a:srgbClr val="9AA0A6"/>
              </a:solidFill>
            </a:ln>
          </p:spPr>
        </p:cxnSp>
        <p:sp>
          <p:nvSpPr>
            <p:cNvPr id="77" name="Oval 76"/>
            <p:cNvSpPr/>
            <p:nvPr/>
          </p:nvSpPr>
          <p:spPr>
            <a:xfrm>
              <a:off x="1417320" y="4617720"/>
              <a:ext cx="182880" cy="18288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Rounded Rectangle 77"/>
            <p:cNvSpPr/>
            <p:nvPr/>
          </p:nvSpPr>
          <p:spPr>
            <a:xfrm>
              <a:off x="8686800" y="1325880"/>
              <a:ext cx="2953512" cy="4251960"/>
            </a:xfrm>
            <a:prstGeom prst="roundRect">
              <a:avLst>
                <a:gd name="adj" fmla="val 247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8869680" y="1417320"/>
              <a:ext cx="2651760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6CA0DC"/>
                  </a:solidFill>
                  <a:latin typeface="Arial"/>
                </a:rPr>
                <a:t>Electric station</a:t>
              </a:r>
            </a:p>
          </p:txBody>
        </p:sp>
        <p:sp>
          <p:nvSpPr>
            <p:cNvPr id="80" name="Rounded Rectangle 79"/>
            <p:cNvSpPr/>
            <p:nvPr/>
          </p:nvSpPr>
          <p:spPr>
            <a:xfrm>
              <a:off x="8961120" y="3593592"/>
              <a:ext cx="2377440" cy="91440"/>
            </a:xfrm>
            <a:prstGeom prst="roundRect">
              <a:avLst>
                <a:gd name="adj" fmla="val 500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9235440" y="3685032"/>
              <a:ext cx="91440" cy="32004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10058400" y="3685032"/>
              <a:ext cx="91440" cy="32004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10972800" y="3685032"/>
              <a:ext cx="91440" cy="32004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9555480" y="3154680"/>
              <a:ext cx="1051560" cy="347472"/>
            </a:xfrm>
            <a:prstGeom prst="roundRect">
              <a:avLst>
                <a:gd name="adj" fmla="val 26315"/>
              </a:avLst>
            </a:prstGeom>
            <a:solidFill>
              <a:srgbClr val="6CA0DC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9692640" y="3218688"/>
              <a:ext cx="182880" cy="128016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10012680" y="3218688"/>
              <a:ext cx="182880" cy="128016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10332720" y="3218688"/>
              <a:ext cx="182880" cy="128016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9464040" y="4069080"/>
              <a:ext cx="1371600" cy="201168"/>
            </a:xfrm>
            <a:prstGeom prst="rect">
              <a:avLst/>
            </a:prstGeom>
            <a:solidFill>
              <a:srgbClr val="343A43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9646920" y="4370832"/>
              <a:ext cx="1005840" cy="457200"/>
            </a:xfrm>
            <a:prstGeom prst="rect">
              <a:avLst/>
            </a:prstGeom>
            <a:solidFill>
              <a:srgbClr val="343A43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90" name="Caption"/>
          <p:cNvSpPr/>
          <p:nvPr/>
        </p:nvSpPr>
        <p:spPr>
          <a:xfrm>
            <a:off x="548640" y="574243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27432" rIns="182880" bIns="27432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Late steam is about scale: big terminals, many tracks, busy yards.</a:t>
            </a:r>
          </a:p>
        </p:txBody>
      </p:sp>
      <p:sp>
        <p:nvSpPr>
          <p:cNvPr id="91" name="Caption rule"/>
          <p:cNvSpPr/>
          <p:nvPr/>
        </p:nvSpPr>
        <p:spPr>
          <a:xfrm>
            <a:off x="548640" y="5742432"/>
            <a:ext cx="73152" cy="69494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Slide number"/>
          <p:cNvSpPr txBox="1"/>
          <p:nvPr/>
        </p:nvSpPr>
        <p:spPr>
          <a:xfrm>
            <a:off x="11064240" y="647395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For people who love steam</a:t>
            </a:r>
          </a:p>
        </p:txBody>
      </p:sp>
      <p:sp>
        <p:nvSpPr>
          <p:cNvPr id="3" name="Status chip"/>
          <p:cNvSpPr/>
          <p:nvPr/>
        </p:nvSpPr>
        <p:spPr>
          <a:xfrm>
            <a:off x="10131552" y="457200"/>
            <a:ext cx="1481328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Diagram: core buildings beside locked pack buildings" descr="A split panel: small basic buildings in the core game on the left, and larger advanced buildings behind a padlock on the right, marked as needing a pack."/>
          <p:cNvGrpSpPr/>
          <p:nvPr/>
        </p:nvGrpSpPr>
        <p:grpSpPr>
          <a:xfrm>
            <a:off x="548640" y="1325880"/>
            <a:ext cx="11091672" cy="4251960"/>
            <a:chOff x="548640" y="1325880"/>
            <a:chExt cx="11091672" cy="4251960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325880"/>
              <a:ext cx="5440680" cy="4251960"/>
            </a:xfrm>
            <a:prstGeom prst="roundRect">
              <a:avLst>
                <a:gd name="adj" fmla="val 1720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199632" y="1325880"/>
              <a:ext cx="5440680" cy="4251960"/>
            </a:xfrm>
            <a:prstGeom prst="roundRect">
              <a:avLst>
                <a:gd name="adj" fmla="val 1720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31520" y="4069080"/>
              <a:ext cx="5074920" cy="9144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731520" y="4526280"/>
              <a:ext cx="5074920" cy="0"/>
            </a:xfrm>
            <a:prstGeom prst="line">
              <a:avLst/>
            </a:prstGeom>
            <a:ln w="114300">
              <a:solidFill>
                <a:srgbClr val="6B5B4B"/>
              </a:solidFill>
              <a:prstDash val="sysDash"/>
            </a:ln>
          </p:spPr>
        </p:cxnSp>
        <p:cxnSp>
          <p:nvCxnSpPr>
            <p:cNvPr id="9" name="Connector 8"/>
            <p:cNvCxnSpPr/>
            <p:nvPr/>
          </p:nvCxnSpPr>
          <p:spPr>
            <a:xfrm>
              <a:off x="731520" y="4485132"/>
              <a:ext cx="507492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731520" y="4567428"/>
              <a:ext cx="507492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11" name="Rectangle 10"/>
            <p:cNvSpPr/>
            <p:nvPr/>
          </p:nvSpPr>
          <p:spPr>
            <a:xfrm>
              <a:off x="1097280" y="3657600"/>
              <a:ext cx="2377440" cy="182880"/>
            </a:xfrm>
            <a:prstGeom prst="rect">
              <a:avLst/>
            </a:prstGeom>
            <a:solidFill>
              <a:srgbClr val="343A43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371600" y="2788920"/>
              <a:ext cx="1097280" cy="868680"/>
            </a:xfrm>
            <a:prstGeom prst="rect">
              <a:avLst/>
            </a:prstGeom>
            <a:solidFill>
              <a:srgbClr val="343A43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Isosceles Triangle 12"/>
            <p:cNvSpPr/>
            <p:nvPr/>
          </p:nvSpPr>
          <p:spPr>
            <a:xfrm>
              <a:off x="1280160" y="2423160"/>
              <a:ext cx="1280160" cy="365760"/>
            </a:xfrm>
            <a:prstGeom prst="triangle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645920" y="3108960"/>
              <a:ext cx="320040" cy="274320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840480" y="2240280"/>
              <a:ext cx="868680" cy="548640"/>
            </a:xfrm>
            <a:prstGeom prst="roundRect">
              <a:avLst>
                <a:gd name="adj" fmla="val 16666"/>
              </a:avLst>
            </a:prstGeom>
            <a:solidFill>
              <a:srgbClr val="4DA3FF"/>
            </a:solidFill>
            <a:ln w="1905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931920" y="2788920"/>
              <a:ext cx="73152" cy="128016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526280" y="2788920"/>
              <a:ext cx="73152" cy="128016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400800" y="4069080"/>
              <a:ext cx="5074920" cy="9144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6400800" y="4434840"/>
              <a:ext cx="5074920" cy="0"/>
            </a:xfrm>
            <a:prstGeom prst="line">
              <a:avLst/>
            </a:prstGeom>
            <a:ln w="114300">
              <a:solidFill>
                <a:srgbClr val="6B5B4B"/>
              </a:solidFill>
              <a:prstDash val="sysDash"/>
            </a:ln>
          </p:spPr>
        </p:cxnSp>
        <p:cxnSp>
          <p:nvCxnSpPr>
            <p:cNvPr id="20" name="Connector 19"/>
            <p:cNvCxnSpPr/>
            <p:nvPr/>
          </p:nvCxnSpPr>
          <p:spPr>
            <a:xfrm>
              <a:off x="6400800" y="4393692"/>
              <a:ext cx="507492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21" name="Connector 20"/>
            <p:cNvCxnSpPr/>
            <p:nvPr/>
          </p:nvCxnSpPr>
          <p:spPr>
            <a:xfrm>
              <a:off x="6400800" y="4475988"/>
              <a:ext cx="507492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22" name="Connector 21"/>
            <p:cNvCxnSpPr/>
            <p:nvPr/>
          </p:nvCxnSpPr>
          <p:spPr>
            <a:xfrm>
              <a:off x="6400800" y="4663440"/>
              <a:ext cx="5074920" cy="0"/>
            </a:xfrm>
            <a:prstGeom prst="line">
              <a:avLst/>
            </a:prstGeom>
            <a:ln w="114300">
              <a:solidFill>
                <a:srgbClr val="6B5B4B"/>
              </a:solidFill>
              <a:prstDash val="sysDash"/>
            </a:ln>
          </p:spPr>
        </p:cxnSp>
        <p:cxnSp>
          <p:nvCxnSpPr>
            <p:cNvPr id="23" name="Connector 22"/>
            <p:cNvCxnSpPr/>
            <p:nvPr/>
          </p:nvCxnSpPr>
          <p:spPr>
            <a:xfrm>
              <a:off x="6400800" y="4622292"/>
              <a:ext cx="507492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24" name="Connector 23"/>
            <p:cNvCxnSpPr/>
            <p:nvPr/>
          </p:nvCxnSpPr>
          <p:spPr>
            <a:xfrm>
              <a:off x="6400800" y="4704588"/>
              <a:ext cx="507492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25" name="Rectangle 24"/>
            <p:cNvSpPr/>
            <p:nvPr/>
          </p:nvSpPr>
          <p:spPr>
            <a:xfrm>
              <a:off x="6629400" y="3566160"/>
              <a:ext cx="3657600" cy="228600"/>
            </a:xfrm>
            <a:prstGeom prst="rect">
              <a:avLst/>
            </a:prstGeom>
            <a:solidFill>
              <a:srgbClr val="343A43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766560" y="2514600"/>
              <a:ext cx="2468880" cy="1051560"/>
            </a:xfrm>
            <a:prstGeom prst="rect">
              <a:avLst/>
            </a:prstGeom>
            <a:solidFill>
              <a:srgbClr val="343A43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6675120" y="1920240"/>
              <a:ext cx="2651760" cy="594360"/>
            </a:xfrm>
            <a:prstGeom prst="triangle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040880" y="2834640"/>
              <a:ext cx="320040" cy="457200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680960" y="2834640"/>
              <a:ext cx="320040" cy="457200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321040" y="2834640"/>
              <a:ext cx="320040" cy="457200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9418320" y="2560320"/>
              <a:ext cx="868680" cy="1005840"/>
            </a:xfrm>
            <a:prstGeom prst="rect">
              <a:avLst/>
            </a:prstGeom>
            <a:solidFill>
              <a:srgbClr val="343A43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Isosceles Triangle 31"/>
            <p:cNvSpPr/>
            <p:nvPr/>
          </p:nvSpPr>
          <p:spPr>
            <a:xfrm>
              <a:off x="9326880" y="2240280"/>
              <a:ext cx="1051560" cy="320040"/>
            </a:xfrm>
            <a:prstGeom prst="triangle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10561320" y="1828800"/>
              <a:ext cx="914400" cy="777240"/>
            </a:xfrm>
            <a:prstGeom prst="roundRect">
              <a:avLst>
                <a:gd name="adj" fmla="val 11764"/>
              </a:avLst>
            </a:prstGeom>
            <a:solidFill>
              <a:srgbClr val="4DA3FF"/>
            </a:solidFill>
            <a:ln w="1905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625328" y="2606040"/>
              <a:ext cx="73152" cy="146304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1320272" y="2606040"/>
              <a:ext cx="73152" cy="146304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6199632" y="1325880"/>
              <a:ext cx="5440680" cy="4251960"/>
            </a:xfrm>
            <a:prstGeom prst="roundRect">
              <a:avLst>
                <a:gd name="adj" fmla="val 1720"/>
              </a:avLst>
            </a:prstGeom>
            <a:solidFill>
              <a:srgbClr val="1E2126">
                <a:alpha val="62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8626221" y="2502713"/>
              <a:ext cx="578358" cy="841248"/>
            </a:xfrm>
            <a:prstGeom prst="roundRect">
              <a:avLst>
                <a:gd name="adj" fmla="val 50000"/>
              </a:avLst>
            </a:prstGeom>
            <a:noFill/>
            <a:ln w="889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8389620" y="3070555"/>
              <a:ext cx="1051560" cy="757123"/>
            </a:xfrm>
            <a:prstGeom prst="roundRect">
              <a:avLst>
                <a:gd name="adj" fmla="val 13888"/>
              </a:avLst>
            </a:prstGeom>
            <a:solidFill>
              <a:srgbClr val="F2C14E"/>
            </a:solidFill>
            <a:ln w="2540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8831275" y="3280867"/>
              <a:ext cx="168250" cy="168250"/>
            </a:xfrm>
            <a:prstGeom prst="ellipse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8878595" y="3386023"/>
              <a:ext cx="73609" cy="210312"/>
            </a:xfrm>
            <a:prstGeom prst="rect">
              <a:avLst/>
            </a:prstGeom>
            <a:solidFill>
              <a:srgbClr val="1014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7726680" y="4892040"/>
              <a:ext cx="2377440" cy="457200"/>
            </a:xfrm>
            <a:prstGeom prst="roundRect">
              <a:avLst>
                <a:gd name="adj" fmla="val 50000"/>
              </a:avLst>
            </a:prstGeom>
            <a:solidFill>
              <a:srgbClr val="2B2F36"/>
            </a:solidFill>
            <a:ln w="25400">
              <a:solidFill>
                <a:srgbClr val="F2C14E"/>
              </a:solidFill>
            </a:ln>
          </p:spPr>
          <p:txBody>
            <a:bodyPr rtlCol="0" anchor="ctr" wrap="square" lIns="73152" tIns="27432" rIns="73152" bIns="27432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Needs a pack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77240" y="1417320"/>
              <a:ext cx="4937760" cy="4114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Core: basic buildings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428232" y="1417320"/>
              <a:ext cx="4937760" cy="4114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8C28"/>
                  </a:solidFill>
                  <a:latin typeface="Arial"/>
                </a:rPr>
                <a:t>Pack: advanced buildings</a:t>
              </a:r>
            </a:p>
          </p:txBody>
        </p:sp>
      </p:grpSp>
      <p:sp>
        <p:nvSpPr>
          <p:cNvPr id="44" name="Caption"/>
          <p:cNvSpPr/>
          <p:nvPr/>
        </p:nvSpPr>
        <p:spPr>
          <a:xfrm>
            <a:off x="548640" y="574243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27432" rIns="182880" bIns="27432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Advanced steam buildings come only with packs. They are for people who keep steam on purpose.</a:t>
            </a:r>
          </a:p>
        </p:txBody>
      </p:sp>
      <p:sp>
        <p:nvSpPr>
          <p:cNvPr id="45" name="Caption rule"/>
          <p:cNvSpPr/>
          <p:nvPr/>
        </p:nvSpPr>
        <p:spPr>
          <a:xfrm>
            <a:off x="548640" y="5742432"/>
            <a:ext cx="73152" cy="69494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Slide number"/>
          <p:cNvSpPr txBox="1"/>
          <p:nvPr/>
        </p:nvSpPr>
        <p:spPr>
          <a:xfrm>
            <a:off x="11064240" y="647395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Bigger buildings</a:t>
            </a:r>
          </a:p>
        </p:txBody>
      </p:sp>
      <p:sp>
        <p:nvSpPr>
          <p:cNvPr id="3" name="Status chip"/>
          <p:cNvSpPr/>
          <p:nvPr/>
        </p:nvSpPr>
        <p:spPr>
          <a:xfrm>
            <a:off x="10131552" y="457200"/>
            <a:ext cx="1481328" cy="365760"/>
          </a:xfrm>
          <a:prstGeom prst="roundRect">
            <a:avLst>
              <a:gd name="adj" fmla="val 30000"/>
            </a:avLst>
          </a:prstGeom>
          <a:solidFill>
            <a:srgbClr val="B084F5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PROPOSED</a:t>
            </a:r>
          </a:p>
        </p:txBody>
      </p:sp>
      <p:grpSp>
        <p:nvGrpSpPr>
          <p:cNvPr id="4" name="Diagram: a smaller and a bigger terminal" descr="Top-down plans of a smaller terminal with one platform and a bigger terminal with extra platforms and a larger service yard."/>
          <p:cNvGrpSpPr/>
          <p:nvPr/>
        </p:nvGrpSpPr>
        <p:grpSpPr>
          <a:xfrm>
            <a:off x="548640" y="1325880"/>
            <a:ext cx="11091672" cy="3749040"/>
            <a:chOff x="548640" y="1325880"/>
            <a:chExt cx="11091672" cy="3749040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325880"/>
              <a:ext cx="3931920" cy="3749040"/>
            </a:xfrm>
            <a:prstGeom prst="roundRect">
              <a:avLst>
                <a:gd name="adj" fmla="val 1951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663440" y="1325880"/>
              <a:ext cx="6976872" cy="3749040"/>
            </a:xfrm>
            <a:prstGeom prst="roundRect">
              <a:avLst>
                <a:gd name="adj" fmla="val 1951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77240" y="1417320"/>
              <a:ext cx="3474720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Smaller terminal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892040" y="1417320"/>
              <a:ext cx="4389120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8C28"/>
                  </a:solidFill>
                  <a:latin typeface="Arial"/>
                </a:rPr>
                <a:t>Bigger terminal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731520" y="2743200"/>
              <a:ext cx="3566160" cy="0"/>
            </a:xfrm>
            <a:prstGeom prst="line">
              <a:avLst/>
            </a:prstGeom>
            <a:ln w="114300">
              <a:solidFill>
                <a:srgbClr val="6B5B4B"/>
              </a:solidFill>
              <a:prstDash val="sysDash"/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731520" y="2702052"/>
              <a:ext cx="356616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731520" y="2784348"/>
              <a:ext cx="356616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12" name="Connector 11"/>
            <p:cNvCxnSpPr/>
            <p:nvPr/>
          </p:nvCxnSpPr>
          <p:spPr>
            <a:xfrm>
              <a:off x="731520" y="3200400"/>
              <a:ext cx="3566160" cy="0"/>
            </a:xfrm>
            <a:prstGeom prst="line">
              <a:avLst/>
            </a:prstGeom>
            <a:ln w="114300">
              <a:solidFill>
                <a:srgbClr val="6B5B4B"/>
              </a:solidFill>
              <a:prstDash val="sysDash"/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731520" y="3159252"/>
              <a:ext cx="356616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14" name="Connector 13"/>
            <p:cNvCxnSpPr/>
            <p:nvPr/>
          </p:nvCxnSpPr>
          <p:spPr>
            <a:xfrm>
              <a:off x="731520" y="3241548"/>
              <a:ext cx="356616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15" name="Rectangle 14"/>
            <p:cNvSpPr/>
            <p:nvPr/>
          </p:nvSpPr>
          <p:spPr>
            <a:xfrm>
              <a:off x="1371600" y="2871216"/>
              <a:ext cx="2560320" cy="201168"/>
            </a:xfrm>
            <a:prstGeom prst="rect">
              <a:avLst/>
            </a:prstGeom>
            <a:solidFill>
              <a:srgbClr val="343A43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463040" y="3081528"/>
              <a:ext cx="731520" cy="237744"/>
            </a:xfrm>
            <a:prstGeom prst="roundRect">
              <a:avLst>
                <a:gd name="adj" fmla="val 23076"/>
              </a:avLst>
            </a:prstGeom>
            <a:solidFill>
              <a:srgbClr val="F28C28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1540764" y="3159252"/>
              <a:ext cx="82296" cy="82296"/>
            </a:xfrm>
            <a:prstGeom prst="ellipse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16582" y="3105302"/>
              <a:ext cx="219456" cy="190195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240280" y="3090672"/>
              <a:ext cx="502920" cy="219456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31520" y="3840480"/>
              <a:ext cx="3566160" cy="1005840"/>
            </a:xfrm>
            <a:prstGeom prst="roundRect">
              <a:avLst>
                <a:gd name="adj" fmla="val 9090"/>
              </a:avLst>
            </a:prstGeom>
            <a:noFill/>
            <a:ln w="19050">
              <a:solidFill>
                <a:srgbClr val="9AA0A6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1" name="Connector 20"/>
            <p:cNvCxnSpPr/>
            <p:nvPr/>
          </p:nvCxnSpPr>
          <p:spPr>
            <a:xfrm>
              <a:off x="868680" y="4206240"/>
              <a:ext cx="2423160" cy="0"/>
            </a:xfrm>
            <a:prstGeom prst="line">
              <a:avLst/>
            </a:prstGeom>
            <a:ln w="114300">
              <a:solidFill>
                <a:srgbClr val="6B5B4B"/>
              </a:solidFill>
              <a:prstDash val="sysDash"/>
            </a:ln>
          </p:spPr>
        </p:cxnSp>
        <p:cxnSp>
          <p:nvCxnSpPr>
            <p:cNvPr id="22" name="Connector 21"/>
            <p:cNvCxnSpPr/>
            <p:nvPr/>
          </p:nvCxnSpPr>
          <p:spPr>
            <a:xfrm>
              <a:off x="868680" y="4165092"/>
              <a:ext cx="242316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23" name="Connector 22"/>
            <p:cNvCxnSpPr/>
            <p:nvPr/>
          </p:nvCxnSpPr>
          <p:spPr>
            <a:xfrm>
              <a:off x="868680" y="4247388"/>
              <a:ext cx="242316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24" name="Oval 23"/>
            <p:cNvSpPr/>
            <p:nvPr/>
          </p:nvSpPr>
          <p:spPr>
            <a:xfrm>
              <a:off x="3520440" y="4114800"/>
              <a:ext cx="457200" cy="457200"/>
            </a:xfrm>
            <a:prstGeom prst="ellipse">
              <a:avLst/>
            </a:prstGeom>
            <a:solidFill>
              <a:srgbClr val="4DA3FF"/>
            </a:solidFill>
            <a:ln w="1905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4892040" y="2148840"/>
              <a:ext cx="4800600" cy="0"/>
            </a:xfrm>
            <a:prstGeom prst="line">
              <a:avLst/>
            </a:prstGeom>
            <a:ln w="114300">
              <a:solidFill>
                <a:srgbClr val="6B5B4B"/>
              </a:solidFill>
              <a:prstDash val="sysDash"/>
            </a:ln>
          </p:spPr>
        </p:cxnSp>
        <p:cxnSp>
          <p:nvCxnSpPr>
            <p:cNvPr id="26" name="Connector 25"/>
            <p:cNvCxnSpPr/>
            <p:nvPr/>
          </p:nvCxnSpPr>
          <p:spPr>
            <a:xfrm>
              <a:off x="4892040" y="2107692"/>
              <a:ext cx="480060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27" name="Connector 26"/>
            <p:cNvCxnSpPr/>
            <p:nvPr/>
          </p:nvCxnSpPr>
          <p:spPr>
            <a:xfrm>
              <a:off x="4892040" y="2189988"/>
              <a:ext cx="480060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28" name="Connector 27"/>
            <p:cNvCxnSpPr/>
            <p:nvPr/>
          </p:nvCxnSpPr>
          <p:spPr>
            <a:xfrm>
              <a:off x="4892040" y="2606040"/>
              <a:ext cx="4800600" cy="0"/>
            </a:xfrm>
            <a:prstGeom prst="line">
              <a:avLst/>
            </a:prstGeom>
            <a:ln w="114300">
              <a:solidFill>
                <a:srgbClr val="6B5B4B"/>
              </a:solidFill>
              <a:prstDash val="sysDash"/>
            </a:ln>
          </p:spPr>
        </p:cxnSp>
        <p:cxnSp>
          <p:nvCxnSpPr>
            <p:cNvPr id="29" name="Connector 28"/>
            <p:cNvCxnSpPr/>
            <p:nvPr/>
          </p:nvCxnSpPr>
          <p:spPr>
            <a:xfrm>
              <a:off x="4892040" y="2564892"/>
              <a:ext cx="480060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30" name="Connector 29"/>
            <p:cNvCxnSpPr/>
            <p:nvPr/>
          </p:nvCxnSpPr>
          <p:spPr>
            <a:xfrm>
              <a:off x="4892040" y="2647188"/>
              <a:ext cx="480060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31" name="Connector 30"/>
            <p:cNvCxnSpPr/>
            <p:nvPr/>
          </p:nvCxnSpPr>
          <p:spPr>
            <a:xfrm>
              <a:off x="4892040" y="3063240"/>
              <a:ext cx="4800600" cy="0"/>
            </a:xfrm>
            <a:prstGeom prst="line">
              <a:avLst/>
            </a:prstGeom>
            <a:ln w="114300">
              <a:solidFill>
                <a:srgbClr val="6B5B4B"/>
              </a:solidFill>
              <a:prstDash val="sysDash"/>
            </a:ln>
          </p:spPr>
        </p:cxnSp>
        <p:cxnSp>
          <p:nvCxnSpPr>
            <p:cNvPr id="32" name="Connector 31"/>
            <p:cNvCxnSpPr/>
            <p:nvPr/>
          </p:nvCxnSpPr>
          <p:spPr>
            <a:xfrm>
              <a:off x="4892040" y="3022092"/>
              <a:ext cx="480060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33" name="Connector 32"/>
            <p:cNvCxnSpPr/>
            <p:nvPr/>
          </p:nvCxnSpPr>
          <p:spPr>
            <a:xfrm>
              <a:off x="4892040" y="3104388"/>
              <a:ext cx="480060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34" name="Connector 33"/>
            <p:cNvCxnSpPr/>
            <p:nvPr/>
          </p:nvCxnSpPr>
          <p:spPr>
            <a:xfrm>
              <a:off x="4892040" y="3520440"/>
              <a:ext cx="4800600" cy="0"/>
            </a:xfrm>
            <a:prstGeom prst="line">
              <a:avLst/>
            </a:prstGeom>
            <a:ln w="114300">
              <a:solidFill>
                <a:srgbClr val="6B5B4B"/>
              </a:solidFill>
              <a:prstDash val="sysDash"/>
            </a:ln>
          </p:spPr>
        </p:cxnSp>
        <p:cxnSp>
          <p:nvCxnSpPr>
            <p:cNvPr id="35" name="Connector 34"/>
            <p:cNvCxnSpPr/>
            <p:nvPr/>
          </p:nvCxnSpPr>
          <p:spPr>
            <a:xfrm>
              <a:off x="4892040" y="3479292"/>
              <a:ext cx="480060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36" name="Connector 35"/>
            <p:cNvCxnSpPr/>
            <p:nvPr/>
          </p:nvCxnSpPr>
          <p:spPr>
            <a:xfrm>
              <a:off x="4892040" y="3561588"/>
              <a:ext cx="480060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37" name="Rectangle 36"/>
            <p:cNvSpPr/>
            <p:nvPr/>
          </p:nvSpPr>
          <p:spPr>
            <a:xfrm>
              <a:off x="5394960" y="2276856"/>
              <a:ext cx="3840480" cy="201168"/>
            </a:xfrm>
            <a:prstGeom prst="rect">
              <a:avLst/>
            </a:prstGeom>
            <a:solidFill>
              <a:srgbClr val="343A43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5394960" y="2734056"/>
              <a:ext cx="3840480" cy="201168"/>
            </a:xfrm>
            <a:prstGeom prst="rect">
              <a:avLst/>
            </a:prstGeom>
            <a:solidFill>
              <a:srgbClr val="343A43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394960" y="3191256"/>
              <a:ext cx="3840480" cy="201168"/>
            </a:xfrm>
            <a:prstGeom prst="rect">
              <a:avLst/>
            </a:prstGeom>
            <a:solidFill>
              <a:srgbClr val="343A43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5486400" y="2029968"/>
              <a:ext cx="731520" cy="237744"/>
            </a:xfrm>
            <a:prstGeom prst="roundRect">
              <a:avLst>
                <a:gd name="adj" fmla="val 23076"/>
              </a:avLst>
            </a:prstGeom>
            <a:solidFill>
              <a:srgbClr val="F28C28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5564124" y="2107692"/>
              <a:ext cx="82296" cy="82296"/>
            </a:xfrm>
            <a:prstGeom prst="ellipse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939942" y="2053742"/>
              <a:ext cx="219456" cy="190195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263640" y="2039112"/>
              <a:ext cx="502920" cy="219456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812280" y="2039112"/>
              <a:ext cx="502920" cy="219456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7360920" y="2039112"/>
              <a:ext cx="502920" cy="219456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6217920" y="2944368"/>
              <a:ext cx="731520" cy="237744"/>
            </a:xfrm>
            <a:prstGeom prst="roundRect">
              <a:avLst>
                <a:gd name="adj" fmla="val 23076"/>
              </a:avLst>
            </a:prstGeom>
            <a:solidFill>
              <a:srgbClr val="F28C28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6295644" y="3022092"/>
              <a:ext cx="82296" cy="82296"/>
            </a:xfrm>
            <a:prstGeom prst="ellipse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671462" y="2968142"/>
              <a:ext cx="219456" cy="190195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6995160" y="2953512"/>
              <a:ext cx="502920" cy="219456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543800" y="2953512"/>
              <a:ext cx="502920" cy="219456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5120640" y="3401568"/>
              <a:ext cx="731520" cy="237744"/>
            </a:xfrm>
            <a:prstGeom prst="roundRect">
              <a:avLst>
                <a:gd name="adj" fmla="val 23076"/>
              </a:avLst>
            </a:prstGeom>
            <a:solidFill>
              <a:srgbClr val="F28C28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5198364" y="3479292"/>
              <a:ext cx="82296" cy="82296"/>
            </a:xfrm>
            <a:prstGeom prst="ellipse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5574182" y="3425342"/>
              <a:ext cx="219456" cy="190195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5897880" y="3410712"/>
              <a:ext cx="502920" cy="219456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446520" y="3410712"/>
              <a:ext cx="502920" cy="219456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995160" y="3410712"/>
              <a:ext cx="502920" cy="219456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543800" y="3410712"/>
              <a:ext cx="502920" cy="219456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4846320" y="1965960"/>
              <a:ext cx="4937760" cy="1828800"/>
            </a:xfrm>
            <a:prstGeom prst="roundRect">
              <a:avLst>
                <a:gd name="adj" fmla="val 5000"/>
              </a:avLst>
            </a:prstGeom>
            <a:noFill/>
            <a:ln w="19050">
              <a:solidFill>
                <a:srgbClr val="F28C28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9875520" y="2468880"/>
              <a:ext cx="1645920" cy="6400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8C28"/>
                  </a:solidFill>
                  <a:latin typeface="Arial"/>
                </a:rPr>
                <a:t>Extra</a:t>
              </a:r>
              <a:br/>
              <a:r>
                <a:rPr sz="1400" b="1" i="0" lang="en-GB">
                  <a:solidFill>
                    <a:srgbClr val="F28C28"/>
                  </a:solidFill>
                  <a:latin typeface="Arial"/>
                </a:rPr>
                <a:t>platforms</a:t>
              </a: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4846320" y="3931920"/>
              <a:ext cx="4937760" cy="1005840"/>
            </a:xfrm>
            <a:prstGeom prst="roundRect">
              <a:avLst>
                <a:gd name="adj" fmla="val 9090"/>
              </a:avLst>
            </a:prstGeom>
            <a:noFill/>
            <a:ln w="19050">
              <a:solidFill>
                <a:srgbClr val="9AA0A6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1" name="Connector 60"/>
            <p:cNvCxnSpPr/>
            <p:nvPr/>
          </p:nvCxnSpPr>
          <p:spPr>
            <a:xfrm>
              <a:off x="4983480" y="4114800"/>
              <a:ext cx="3611880" cy="0"/>
            </a:xfrm>
            <a:prstGeom prst="line">
              <a:avLst/>
            </a:prstGeom>
            <a:ln w="114300">
              <a:solidFill>
                <a:srgbClr val="6B5B4B"/>
              </a:solidFill>
              <a:prstDash val="sysDash"/>
            </a:ln>
          </p:spPr>
        </p:cxnSp>
        <p:cxnSp>
          <p:nvCxnSpPr>
            <p:cNvPr id="62" name="Connector 61"/>
            <p:cNvCxnSpPr/>
            <p:nvPr/>
          </p:nvCxnSpPr>
          <p:spPr>
            <a:xfrm>
              <a:off x="4983480" y="4073652"/>
              <a:ext cx="361188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63" name="Connector 62"/>
            <p:cNvCxnSpPr/>
            <p:nvPr/>
          </p:nvCxnSpPr>
          <p:spPr>
            <a:xfrm>
              <a:off x="4983480" y="4155948"/>
              <a:ext cx="361188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64" name="Connector 63"/>
            <p:cNvCxnSpPr/>
            <p:nvPr/>
          </p:nvCxnSpPr>
          <p:spPr>
            <a:xfrm>
              <a:off x="4983480" y="4389120"/>
              <a:ext cx="3611880" cy="0"/>
            </a:xfrm>
            <a:prstGeom prst="line">
              <a:avLst/>
            </a:prstGeom>
            <a:ln w="114300">
              <a:solidFill>
                <a:srgbClr val="6B5B4B"/>
              </a:solidFill>
              <a:prstDash val="sysDash"/>
            </a:ln>
          </p:spPr>
        </p:cxnSp>
        <p:cxnSp>
          <p:nvCxnSpPr>
            <p:cNvPr id="65" name="Connector 64"/>
            <p:cNvCxnSpPr/>
            <p:nvPr/>
          </p:nvCxnSpPr>
          <p:spPr>
            <a:xfrm>
              <a:off x="4983480" y="4347972"/>
              <a:ext cx="361188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66" name="Connector 65"/>
            <p:cNvCxnSpPr/>
            <p:nvPr/>
          </p:nvCxnSpPr>
          <p:spPr>
            <a:xfrm>
              <a:off x="4983480" y="4430268"/>
              <a:ext cx="361188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67" name="Connector 66"/>
            <p:cNvCxnSpPr/>
            <p:nvPr/>
          </p:nvCxnSpPr>
          <p:spPr>
            <a:xfrm>
              <a:off x="4983480" y="4663440"/>
              <a:ext cx="3611880" cy="0"/>
            </a:xfrm>
            <a:prstGeom prst="line">
              <a:avLst/>
            </a:prstGeom>
            <a:ln w="114300">
              <a:solidFill>
                <a:srgbClr val="6B5B4B"/>
              </a:solidFill>
              <a:prstDash val="sysDash"/>
            </a:ln>
          </p:spPr>
        </p:cxnSp>
        <p:cxnSp>
          <p:nvCxnSpPr>
            <p:cNvPr id="68" name="Connector 67"/>
            <p:cNvCxnSpPr/>
            <p:nvPr/>
          </p:nvCxnSpPr>
          <p:spPr>
            <a:xfrm>
              <a:off x="4983480" y="4622292"/>
              <a:ext cx="361188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69" name="Connector 68"/>
            <p:cNvCxnSpPr/>
            <p:nvPr/>
          </p:nvCxnSpPr>
          <p:spPr>
            <a:xfrm>
              <a:off x="4983480" y="4704588"/>
              <a:ext cx="361188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70" name="Oval 69"/>
            <p:cNvSpPr/>
            <p:nvPr/>
          </p:nvSpPr>
          <p:spPr>
            <a:xfrm>
              <a:off x="8823960" y="4023360"/>
              <a:ext cx="457200" cy="457200"/>
            </a:xfrm>
            <a:prstGeom prst="ellipse">
              <a:avLst/>
            </a:prstGeom>
            <a:solidFill>
              <a:srgbClr val="4DA3FF"/>
            </a:solidFill>
            <a:ln w="1905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9144000" y="4526280"/>
              <a:ext cx="457200" cy="274320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9875520" y="4023360"/>
              <a:ext cx="169164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Larger service</a:t>
              </a:r>
              <a:br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yard</a:t>
              </a:r>
            </a:p>
          </p:txBody>
        </p:sp>
      </p:grpSp>
      <p:sp>
        <p:nvSpPr>
          <p:cNvPr id="73" name="Inline chip"/>
          <p:cNvSpPr/>
          <p:nvPr/>
        </p:nvSpPr>
        <p:spPr>
          <a:xfrm>
            <a:off x="9056437" y="5212080"/>
            <a:ext cx="2583875" cy="329184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none" lIns="73152" tIns="18288" rIns="73152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F2F2F2"/>
                </a:solidFill>
                <a:latin typeface="Arial"/>
              </a:rPr>
              <a:t>Exact list: undecided (OQ22)</a:t>
            </a:r>
          </a:p>
        </p:txBody>
      </p:sp>
      <p:sp>
        <p:nvSpPr>
          <p:cNvPr id="74" name="Caption"/>
          <p:cNvSpPr/>
          <p:nvPr/>
        </p:nvSpPr>
        <p:spPr>
          <a:xfrm>
            <a:off x="548640" y="574243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27432" rIns="182880" bIns="27432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Bigger terminals and faster servicing could appear.</a:t>
            </a:r>
          </a:p>
        </p:txBody>
      </p:sp>
      <p:sp>
        <p:nvSpPr>
          <p:cNvPr id="75" name="Caption rule"/>
          <p:cNvSpPr/>
          <p:nvPr/>
        </p:nvSpPr>
        <p:spPr>
          <a:xfrm>
            <a:off x="548640" y="5742432"/>
            <a:ext cx="73152" cy="69494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Slide number"/>
          <p:cNvSpPr txBox="1"/>
          <p:nvPr/>
        </p:nvSpPr>
        <p:spPr>
          <a:xfrm>
            <a:off x="11064240" y="647395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Bigger signalling</a:t>
            </a:r>
          </a:p>
        </p:txBody>
      </p:sp>
      <p:sp>
        <p:nvSpPr>
          <p:cNvPr id="3" name="Status chip"/>
          <p:cNvSpPr/>
          <p:nvPr/>
        </p:nvSpPr>
        <p:spPr>
          <a:xfrm>
            <a:off x="10131552" y="457200"/>
            <a:ext cx="1481328" cy="365760"/>
          </a:xfrm>
          <a:prstGeom prst="roundRect">
            <a:avLst>
              <a:gd name="adj" fmla="val 30000"/>
            </a:avLst>
          </a:prstGeom>
          <a:solidFill>
            <a:srgbClr val="B084F5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PROPOSED</a:t>
            </a:r>
          </a:p>
        </p:txBody>
      </p:sp>
      <p:grpSp>
        <p:nvGrpSpPr>
          <p:cNvPr id="4" name="Diagram: small and large signal box reach" descr="A small signal box with a short reach ring and three signal posts, and a large signal box with a wide reach ring and six signal posts."/>
          <p:cNvGrpSpPr/>
          <p:nvPr/>
        </p:nvGrpSpPr>
        <p:grpSpPr>
          <a:xfrm>
            <a:off x="548640" y="1325880"/>
            <a:ext cx="11091672" cy="4251960"/>
            <a:chOff x="548640" y="1325880"/>
            <a:chExt cx="11091672" cy="4251960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325880"/>
              <a:ext cx="4297680" cy="4251960"/>
            </a:xfrm>
            <a:prstGeom prst="roundRect">
              <a:avLst>
                <a:gd name="adj" fmla="val 1720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029200" y="1325880"/>
              <a:ext cx="6611112" cy="4251960"/>
            </a:xfrm>
            <a:prstGeom prst="roundRect">
              <a:avLst>
                <a:gd name="adj" fmla="val 1720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77240" y="1389888"/>
              <a:ext cx="3931920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Small signal box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9AA0A6"/>
                  </a:solidFill>
                  <a:latin typeface="Arial"/>
                </a:rPr>
                <a:t>Short reach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257800" y="1389888"/>
              <a:ext cx="5486400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8C28"/>
                  </a:solidFill>
                  <a:latin typeface="Arial"/>
                </a:rPr>
                <a:t>Large signal box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8C28"/>
                  </a:solidFill>
                  <a:latin typeface="Arial"/>
                </a:rPr>
                <a:t>Wide reach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508760" y="2560320"/>
              <a:ext cx="2377440" cy="2377440"/>
            </a:xfrm>
            <a:prstGeom prst="ellipse">
              <a:avLst/>
            </a:prstGeom>
            <a:solidFill>
              <a:srgbClr val="9AA0A6">
                <a:alpha val="14000"/>
              </a:srgbClr>
            </a:solidFill>
            <a:ln w="25400">
              <a:solidFill>
                <a:srgbClr val="9AA0A6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731520" y="4389120"/>
              <a:ext cx="3931920" cy="0"/>
            </a:xfrm>
            <a:prstGeom prst="line">
              <a:avLst/>
            </a:prstGeom>
            <a:ln w="114300">
              <a:solidFill>
                <a:srgbClr val="6B5B4B"/>
              </a:solidFill>
              <a:prstDash val="sysDash"/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731520" y="4347972"/>
              <a:ext cx="393192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12" name="Connector 11"/>
            <p:cNvCxnSpPr/>
            <p:nvPr/>
          </p:nvCxnSpPr>
          <p:spPr>
            <a:xfrm>
              <a:off x="731520" y="4430268"/>
              <a:ext cx="393192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13" name="Rectangle 12"/>
            <p:cNvSpPr/>
            <p:nvPr/>
          </p:nvSpPr>
          <p:spPr>
            <a:xfrm>
              <a:off x="2331720" y="3108960"/>
              <a:ext cx="731520" cy="502920"/>
            </a:xfrm>
            <a:prstGeom prst="rect">
              <a:avLst/>
            </a:prstGeom>
            <a:solidFill>
              <a:srgbClr val="343A43"/>
            </a:solidFill>
            <a:ln w="1905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>
              <a:off x="2240280" y="2834640"/>
              <a:ext cx="914400" cy="274320"/>
            </a:xfrm>
            <a:prstGeom prst="triangle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78762" y="3639312"/>
              <a:ext cx="65837" cy="658368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044598" y="3655771"/>
              <a:ext cx="384048" cy="76810"/>
            </a:xfrm>
            <a:prstGeom prst="rect">
              <a:avLst/>
            </a:prstGeom>
            <a:solidFill>
              <a:srgbClr val="E5484D"/>
            </a:solidFill>
            <a:ln w="1270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282708" y="3655771"/>
              <a:ext cx="46086" cy="76810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618842" y="3639312"/>
              <a:ext cx="65837" cy="658368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684678" y="3655771"/>
              <a:ext cx="384048" cy="76810"/>
            </a:xfrm>
            <a:prstGeom prst="rect">
              <a:avLst/>
            </a:prstGeom>
            <a:solidFill>
              <a:srgbClr val="E5484D"/>
            </a:solidFill>
            <a:ln w="1270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922788" y="3655771"/>
              <a:ext cx="46086" cy="76810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258922" y="3639312"/>
              <a:ext cx="65837" cy="658368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324758" y="3655771"/>
              <a:ext cx="384048" cy="76810"/>
            </a:xfrm>
            <a:prstGeom prst="rect">
              <a:avLst/>
            </a:prstGeom>
            <a:solidFill>
              <a:srgbClr val="E5484D"/>
            </a:solidFill>
            <a:ln w="1270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562868" y="3655771"/>
              <a:ext cx="46086" cy="76810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6675120" y="2194560"/>
              <a:ext cx="3291840" cy="3291840"/>
            </a:xfrm>
            <a:prstGeom prst="ellipse">
              <a:avLst/>
            </a:prstGeom>
            <a:solidFill>
              <a:srgbClr val="F28C28">
                <a:alpha val="14000"/>
              </a:srgbClr>
            </a:solidFill>
            <a:ln w="25400">
              <a:solidFill>
                <a:srgbClr val="F28C28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5212080" y="4389120"/>
              <a:ext cx="6217920" cy="0"/>
            </a:xfrm>
            <a:prstGeom prst="line">
              <a:avLst/>
            </a:prstGeom>
            <a:ln w="114300">
              <a:solidFill>
                <a:srgbClr val="6B5B4B"/>
              </a:solidFill>
              <a:prstDash val="sysDash"/>
            </a:ln>
          </p:spPr>
        </p:cxnSp>
        <p:cxnSp>
          <p:nvCxnSpPr>
            <p:cNvPr id="26" name="Connector 25"/>
            <p:cNvCxnSpPr/>
            <p:nvPr/>
          </p:nvCxnSpPr>
          <p:spPr>
            <a:xfrm>
              <a:off x="5212080" y="4347972"/>
              <a:ext cx="621792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cxnSp>
          <p:nvCxnSpPr>
            <p:cNvPr id="27" name="Connector 26"/>
            <p:cNvCxnSpPr/>
            <p:nvPr/>
          </p:nvCxnSpPr>
          <p:spPr>
            <a:xfrm>
              <a:off x="5212080" y="4430268"/>
              <a:ext cx="621792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28" name="Rectangle 27"/>
            <p:cNvSpPr/>
            <p:nvPr/>
          </p:nvSpPr>
          <p:spPr>
            <a:xfrm>
              <a:off x="7955280" y="3108960"/>
              <a:ext cx="731520" cy="502920"/>
            </a:xfrm>
            <a:prstGeom prst="rect">
              <a:avLst/>
            </a:prstGeom>
            <a:solidFill>
              <a:srgbClr val="343A43"/>
            </a:solidFill>
            <a:ln w="1905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7863840" y="2834640"/>
              <a:ext cx="914400" cy="274320"/>
            </a:xfrm>
            <a:prstGeom prst="triangle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870802" y="3639312"/>
              <a:ext cx="65837" cy="658368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936638" y="3655771"/>
              <a:ext cx="384048" cy="76810"/>
            </a:xfrm>
            <a:prstGeom prst="rect">
              <a:avLst/>
            </a:prstGeom>
            <a:solidFill>
              <a:srgbClr val="E5484D"/>
            </a:solidFill>
            <a:ln w="1270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7174748" y="3655771"/>
              <a:ext cx="46086" cy="76810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373722" y="3639312"/>
              <a:ext cx="65837" cy="658368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439558" y="3655771"/>
              <a:ext cx="384048" cy="76810"/>
            </a:xfrm>
            <a:prstGeom prst="rect">
              <a:avLst/>
            </a:prstGeom>
            <a:solidFill>
              <a:srgbClr val="E5484D"/>
            </a:solidFill>
            <a:ln w="1270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677668" y="3655771"/>
              <a:ext cx="46086" cy="76810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876642" y="3639312"/>
              <a:ext cx="65837" cy="658368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942478" y="3655771"/>
              <a:ext cx="384048" cy="76810"/>
            </a:xfrm>
            <a:prstGeom prst="rect">
              <a:avLst/>
            </a:prstGeom>
            <a:solidFill>
              <a:srgbClr val="E5484D"/>
            </a:solidFill>
            <a:ln w="1270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180588" y="3655771"/>
              <a:ext cx="46086" cy="76810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8379562" y="3639312"/>
              <a:ext cx="65837" cy="658368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8445398" y="3655771"/>
              <a:ext cx="384048" cy="76810"/>
            </a:xfrm>
            <a:prstGeom prst="rect">
              <a:avLst/>
            </a:prstGeom>
            <a:solidFill>
              <a:srgbClr val="E5484D"/>
            </a:solidFill>
            <a:ln w="1270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8683508" y="3655771"/>
              <a:ext cx="46086" cy="76810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8882482" y="3639312"/>
              <a:ext cx="65837" cy="658368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8948318" y="3655771"/>
              <a:ext cx="384048" cy="76810"/>
            </a:xfrm>
            <a:prstGeom prst="rect">
              <a:avLst/>
            </a:prstGeom>
            <a:solidFill>
              <a:srgbClr val="E5484D"/>
            </a:solidFill>
            <a:ln w="1270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9186428" y="3655771"/>
              <a:ext cx="46086" cy="76810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385402" y="3639312"/>
              <a:ext cx="65837" cy="658368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9451238" y="3655771"/>
              <a:ext cx="384048" cy="76810"/>
            </a:xfrm>
            <a:prstGeom prst="rect">
              <a:avLst/>
            </a:prstGeom>
            <a:solidFill>
              <a:srgbClr val="E5484D"/>
            </a:solidFill>
            <a:ln w="1270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689348" y="3655771"/>
              <a:ext cx="46086" cy="76810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48" name="Caption"/>
          <p:cNvSpPr/>
          <p:nvPr/>
        </p:nvSpPr>
        <p:spPr>
          <a:xfrm>
            <a:off x="548640" y="574243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27432" rIns="182880" bIns="27432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Bigger signal boxes and better interlocking could manage larger networks.</a:t>
            </a:r>
          </a:p>
        </p:txBody>
      </p:sp>
      <p:sp>
        <p:nvSpPr>
          <p:cNvPr id="49" name="Caption rule"/>
          <p:cNvSpPr/>
          <p:nvPr/>
        </p:nvSpPr>
        <p:spPr>
          <a:xfrm>
            <a:off x="548640" y="5742432"/>
            <a:ext cx="73152" cy="69494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Slide number"/>
          <p:cNvSpPr txBox="1"/>
          <p:nvPr/>
        </p:nvSpPr>
        <p:spPr>
          <a:xfrm>
            <a:off x="11064240" y="647395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A line that stays</a:t>
            </a:r>
          </a:p>
        </p:txBody>
      </p:sp>
      <p:sp>
        <p:nvSpPr>
          <p:cNvPr id="3" name="Status chip"/>
          <p:cNvSpPr/>
          <p:nvPr/>
        </p:nvSpPr>
        <p:spPr>
          <a:xfrm>
            <a:off x="10131552" y="457200"/>
            <a:ext cx="1481328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Diagram: semaphore post and crossed-out electronic powers" descr="A tall semaphore signal post beside a card reading Electronic-signal powers, crossed out with a red cross."/>
          <p:cNvGrpSpPr/>
          <p:nvPr/>
        </p:nvGrpSpPr>
        <p:grpSpPr>
          <a:xfrm>
            <a:off x="2011680" y="1554480"/>
            <a:ext cx="9144000" cy="3694176"/>
            <a:chOff x="2011680" y="1554480"/>
            <a:chExt cx="9144000" cy="3694176"/>
          </a:xfrm>
        </p:grpSpPr>
        <p:sp>
          <p:nvSpPr>
            <p:cNvPr id="5" name="Rectangle 4"/>
            <p:cNvSpPr/>
            <p:nvPr/>
          </p:nvSpPr>
          <p:spPr>
            <a:xfrm>
              <a:off x="2011680" y="5138928"/>
              <a:ext cx="2377440" cy="1097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008376" y="1554480"/>
              <a:ext cx="384048" cy="3611880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392424" y="1650492"/>
              <a:ext cx="2240280" cy="448056"/>
            </a:xfrm>
            <a:prstGeom prst="rect">
              <a:avLst/>
            </a:prstGeom>
            <a:solidFill>
              <a:srgbClr val="E5484D"/>
            </a:solidFill>
            <a:ln w="1270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781398" y="1650492"/>
              <a:ext cx="268834" cy="448056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400300" y="1650492"/>
              <a:ext cx="448056" cy="448056"/>
            </a:xfrm>
            <a:prstGeom prst="ellipse">
              <a:avLst/>
            </a:prstGeom>
            <a:solidFill>
              <a:srgbClr val="E5484D"/>
            </a:solidFill>
            <a:ln w="1270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86400" y="2468880"/>
              <a:ext cx="5669280" cy="1737360"/>
            </a:xfrm>
            <a:prstGeom prst="roundRect">
              <a:avLst>
                <a:gd name="adj" fmla="val 5263"/>
              </a:avLst>
            </a:prstGeom>
            <a:solidFill>
              <a:srgbClr val="343A43"/>
            </a:solidFill>
            <a:ln w="38100">
              <a:solidFill>
                <a:srgbClr val="6CA0DC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5852160" y="2743200"/>
              <a:ext cx="1097280" cy="1234440"/>
            </a:xfrm>
            <a:custGeom>
              <a:avLst/>
              <a:gdLst/>
              <a:ahLst/>
              <a:cxnLst/>
              <a:rect l="l" t="t" r="r" b="b"/>
              <a:pathLst>
                <a:path w="1097280" h="1234440">
                  <a:moveTo>
                    <a:pt x="182880" y="0"/>
                  </a:moveTo>
                  <a:lnTo>
                    <a:pt x="868680" y="0"/>
                  </a:lnTo>
                  <a:lnTo>
                    <a:pt x="548640" y="457200"/>
                  </a:lnTo>
                  <a:lnTo>
                    <a:pt x="1097280" y="457200"/>
                  </a:lnTo>
                  <a:lnTo>
                    <a:pt x="320040" y="1234440"/>
                  </a:lnTo>
                  <a:lnTo>
                    <a:pt x="50292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ross"/>
            <p:cNvCxnSpPr/>
            <p:nvPr/>
          </p:nvCxnSpPr>
          <p:spPr>
            <a:xfrm>
              <a:off x="5486400" y="2468880"/>
              <a:ext cx="5669280" cy="1737360"/>
            </a:xfrm>
            <a:prstGeom prst="line">
              <a:avLst/>
            </a:prstGeom>
            <a:ln w="63500">
              <a:solidFill>
                <a:srgbClr val="E5484D">
                  <a:alpha val="75000"/>
                </a:srgbClr>
              </a:solidFill>
            </a:ln>
          </p:spPr>
        </p:cxnSp>
        <p:cxnSp>
          <p:nvCxnSpPr>
            <p:cNvPr id="13" name="Cross"/>
            <p:cNvCxnSpPr/>
            <p:nvPr/>
          </p:nvCxnSpPr>
          <p:spPr>
            <a:xfrm flipH="1">
              <a:off x="5486400" y="2468880"/>
              <a:ext cx="5669280" cy="1737360"/>
            </a:xfrm>
            <a:prstGeom prst="line">
              <a:avLst/>
            </a:prstGeom>
            <a:ln w="63500">
              <a:solidFill>
                <a:srgbClr val="E5484D">
                  <a:alpha val="75000"/>
                </a:srgbClr>
              </a:solidFill>
            </a:ln>
          </p:spPr>
        </p:cxnSp>
        <p:sp>
          <p:nvSpPr>
            <p:cNvPr id="14" name="TextBox 13"/>
            <p:cNvSpPr txBox="1"/>
            <p:nvPr/>
          </p:nvSpPr>
          <p:spPr>
            <a:xfrm>
              <a:off x="7132320" y="2606040"/>
              <a:ext cx="3840480" cy="14630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400" b="1" i="0" lang="en-GB">
                  <a:solidFill>
                    <a:srgbClr val="F2F2F2"/>
                  </a:solidFill>
                  <a:latin typeface="Arial"/>
                </a:rPr>
                <a:t>Electronic-signal powers</a:t>
              </a:r>
            </a:p>
          </p:txBody>
        </p:sp>
      </p:grpSp>
      <p:sp>
        <p:nvSpPr>
          <p:cNvPr id="15" name="Caption"/>
          <p:cNvSpPr/>
          <p:nvPr/>
        </p:nvSpPr>
        <p:spPr>
          <a:xfrm>
            <a:off x="548640" y="574243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27432" rIns="182880" bIns="27432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Late steam must not simply copy electric rail's abilities.</a:t>
            </a:r>
          </a:p>
        </p:txBody>
      </p:sp>
      <p:sp>
        <p:nvSpPr>
          <p:cNvPr id="16" name="Caption rule"/>
          <p:cNvSpPr/>
          <p:nvPr/>
        </p:nvSpPr>
        <p:spPr>
          <a:xfrm>
            <a:off x="548640" y="5742432"/>
            <a:ext cx="73152" cy="69494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lide number"/>
          <p:cNvSpPr txBox="1"/>
          <p:nvPr/>
        </p:nvSpPr>
        <p:spPr>
          <a:xfrm>
            <a:off x="11064240" y="647395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Two ways to drive</a:t>
            </a:r>
          </a:p>
        </p:txBody>
      </p:sp>
      <p:sp>
        <p:nvSpPr>
          <p:cNvPr id="3" name="Status chip"/>
          <p:cNvSpPr/>
          <p:nvPr/>
        </p:nvSpPr>
        <p:spPr>
          <a:xfrm>
            <a:off x="10131552" y="457200"/>
            <a:ext cx="1481328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Diagram: simple and advanced driver cards" descr="Two driver cards. Simple shows one lever because the crew handles the details. Advanced shows three levers because you handle the engine, and is for packs only."/>
          <p:cNvGrpSpPr/>
          <p:nvPr/>
        </p:nvGrpSpPr>
        <p:grpSpPr>
          <a:xfrm>
            <a:off x="548640" y="1325880"/>
            <a:ext cx="11091672" cy="4251960"/>
            <a:chOff x="548640" y="1325880"/>
            <a:chExt cx="11091672" cy="4251960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325880"/>
              <a:ext cx="5440680" cy="4251960"/>
            </a:xfrm>
            <a:prstGeom prst="roundRect">
              <a:avLst>
                <a:gd name="adj" fmla="val 1720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199632" y="1325880"/>
              <a:ext cx="5440680" cy="4251960"/>
            </a:xfrm>
            <a:prstGeom prst="roundRect">
              <a:avLst>
                <a:gd name="adj" fmla="val 1720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77240" y="1463040"/>
              <a:ext cx="498348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8C28"/>
                  </a:solidFill>
                  <a:latin typeface="Arial"/>
                </a:rPr>
                <a:t>Simple:</a:t>
              </a: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 the crew handles the details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428232" y="1463040"/>
              <a:ext cx="498348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8C28"/>
                  </a:solidFill>
                  <a:latin typeface="Arial"/>
                </a:rPr>
                <a:t>Advanced:</a:t>
              </a: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 you handle the engine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204972" y="2331720"/>
              <a:ext cx="128016" cy="2743200"/>
            </a:xfrm>
            <a:prstGeom prst="roundRect">
              <a:avLst>
                <a:gd name="adj" fmla="val 50000"/>
              </a:avLst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 flipV="1">
              <a:off x="3268980" y="2825496"/>
              <a:ext cx="0" cy="1837944"/>
            </a:xfrm>
            <a:prstGeom prst="line">
              <a:avLst/>
            </a:prstGeom>
            <a:ln w="76200">
              <a:solidFill>
                <a:srgbClr val="9AA0A6"/>
              </a:solidFill>
            </a:ln>
          </p:spPr>
        </p:cxnSp>
        <p:sp>
          <p:nvSpPr>
            <p:cNvPr id="11" name="Oval 10"/>
            <p:cNvSpPr/>
            <p:nvPr/>
          </p:nvSpPr>
          <p:spPr>
            <a:xfrm>
              <a:off x="3017520" y="2574036"/>
              <a:ext cx="502920" cy="502920"/>
            </a:xfrm>
            <a:prstGeom prst="ellipse">
              <a:avLst/>
            </a:prstGeom>
            <a:solidFill>
              <a:srgbClr val="F28C28"/>
            </a:solidFill>
            <a:ln w="190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903220" y="4608576"/>
              <a:ext cx="731520" cy="128016"/>
            </a:xfrm>
            <a:prstGeom prst="roundRect">
              <a:avLst>
                <a:gd name="adj" fmla="val 35714"/>
              </a:avLst>
            </a:prstGeom>
            <a:solidFill>
              <a:srgbClr val="343A43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616952" y="2423160"/>
              <a:ext cx="128016" cy="2194560"/>
            </a:xfrm>
            <a:prstGeom prst="roundRect">
              <a:avLst>
                <a:gd name="adj" fmla="val 50000"/>
              </a:avLst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 flipV="1">
              <a:off x="7680960" y="2818181"/>
              <a:ext cx="0" cy="1470355"/>
            </a:xfrm>
            <a:prstGeom prst="line">
              <a:avLst/>
            </a:prstGeom>
            <a:ln w="76200">
              <a:solidFill>
                <a:srgbClr val="9AA0A6"/>
              </a:solidFill>
            </a:ln>
          </p:spPr>
        </p:cxnSp>
        <p:sp>
          <p:nvSpPr>
            <p:cNvPr id="15" name="Oval 14"/>
            <p:cNvSpPr/>
            <p:nvPr/>
          </p:nvSpPr>
          <p:spPr>
            <a:xfrm>
              <a:off x="7467219" y="2604440"/>
              <a:ext cx="427482" cy="427482"/>
            </a:xfrm>
            <a:prstGeom prst="ellipse">
              <a:avLst/>
            </a:prstGeom>
            <a:solidFill>
              <a:srgbClr val="F28C28"/>
            </a:solidFill>
            <a:ln w="190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370064" y="4233672"/>
              <a:ext cx="621792" cy="128016"/>
            </a:xfrm>
            <a:prstGeom prst="roundRect">
              <a:avLst>
                <a:gd name="adj" fmla="val 35714"/>
              </a:avLst>
            </a:prstGeom>
            <a:solidFill>
              <a:srgbClr val="343A43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855964" y="2423160"/>
              <a:ext cx="128016" cy="2194560"/>
            </a:xfrm>
            <a:prstGeom prst="roundRect">
              <a:avLst>
                <a:gd name="adj" fmla="val 50000"/>
              </a:avLst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 flipV="1">
              <a:off x="8919972" y="2818181"/>
              <a:ext cx="0" cy="1470355"/>
            </a:xfrm>
            <a:prstGeom prst="line">
              <a:avLst/>
            </a:prstGeom>
            <a:ln w="76200">
              <a:solidFill>
                <a:srgbClr val="9AA0A6"/>
              </a:solidFill>
            </a:ln>
          </p:spPr>
        </p:cxnSp>
        <p:sp>
          <p:nvSpPr>
            <p:cNvPr id="19" name="Oval 18"/>
            <p:cNvSpPr/>
            <p:nvPr/>
          </p:nvSpPr>
          <p:spPr>
            <a:xfrm>
              <a:off x="8706231" y="2604440"/>
              <a:ext cx="427482" cy="427482"/>
            </a:xfrm>
            <a:prstGeom prst="ellipse">
              <a:avLst/>
            </a:prstGeom>
            <a:solidFill>
              <a:srgbClr val="F28C28"/>
            </a:solidFill>
            <a:ln w="190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609076" y="4233672"/>
              <a:ext cx="621792" cy="128016"/>
            </a:xfrm>
            <a:prstGeom prst="roundRect">
              <a:avLst>
                <a:gd name="adj" fmla="val 35714"/>
              </a:avLst>
            </a:prstGeom>
            <a:solidFill>
              <a:srgbClr val="343A43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0085832" y="2423160"/>
              <a:ext cx="128016" cy="2194560"/>
            </a:xfrm>
            <a:prstGeom prst="roundRect">
              <a:avLst>
                <a:gd name="adj" fmla="val 50000"/>
              </a:avLst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2" name="Connector 21"/>
            <p:cNvCxnSpPr/>
            <p:nvPr/>
          </p:nvCxnSpPr>
          <p:spPr>
            <a:xfrm flipV="1">
              <a:off x="10149840" y="2818181"/>
              <a:ext cx="0" cy="1470355"/>
            </a:xfrm>
            <a:prstGeom prst="line">
              <a:avLst/>
            </a:prstGeom>
            <a:ln w="76200">
              <a:solidFill>
                <a:srgbClr val="9AA0A6"/>
              </a:solidFill>
            </a:ln>
          </p:spPr>
        </p:cxnSp>
        <p:sp>
          <p:nvSpPr>
            <p:cNvPr id="23" name="Oval 22"/>
            <p:cNvSpPr/>
            <p:nvPr/>
          </p:nvSpPr>
          <p:spPr>
            <a:xfrm>
              <a:off x="9936099" y="2604440"/>
              <a:ext cx="427482" cy="427482"/>
            </a:xfrm>
            <a:prstGeom prst="ellipse">
              <a:avLst/>
            </a:prstGeom>
            <a:solidFill>
              <a:srgbClr val="F28C28"/>
            </a:solidFill>
            <a:ln w="190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838944" y="4233672"/>
              <a:ext cx="621792" cy="128016"/>
            </a:xfrm>
            <a:prstGeom prst="roundRect">
              <a:avLst>
                <a:gd name="adj" fmla="val 35714"/>
              </a:avLst>
            </a:prstGeom>
            <a:solidFill>
              <a:srgbClr val="343A43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7726680" y="4919472"/>
              <a:ext cx="2377440" cy="45720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  <p:txBody>
            <a:bodyPr rtlCol="0" anchor="ctr" wrap="none" lIns="73152" tIns="27432" rIns="73152" bIns="27432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600" b="1" i="0" lang="en-GB">
                  <a:solidFill>
                    <a:srgbClr val="101418"/>
                  </a:solidFill>
                  <a:latin typeface="Arial"/>
                </a:rPr>
                <a:t>Advanced: packs only</a:t>
              </a:r>
            </a:p>
          </p:txBody>
        </p:sp>
      </p:grpSp>
      <p:sp>
        <p:nvSpPr>
          <p:cNvPr id="26" name="Caption"/>
          <p:cNvSpPr/>
          <p:nvPr/>
        </p:nvSpPr>
        <p:spPr>
          <a:xfrm>
            <a:off x="548640" y="574243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27432" rIns="182880" bIns="27432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Simple is the default. Advanced driving is optional and comes with packs.</a:t>
            </a:r>
          </a:p>
        </p:txBody>
      </p:sp>
      <p:sp>
        <p:nvSpPr>
          <p:cNvPr id="27" name="Caption rule"/>
          <p:cNvSpPr/>
          <p:nvPr/>
        </p:nvSpPr>
        <p:spPr>
          <a:xfrm>
            <a:off x="548640" y="5742432"/>
            <a:ext cx="73152" cy="69494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Slide number"/>
          <p:cNvSpPr txBox="1"/>
          <p:nvPr/>
        </p:nvSpPr>
        <p:spPr>
          <a:xfrm>
            <a:off x="11064240" y="647395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Choosing at first use</a:t>
            </a:r>
          </a:p>
        </p:txBody>
      </p:sp>
      <p:sp>
        <p:nvSpPr>
          <p:cNvPr id="3" name="Status chip"/>
          <p:cNvSpPr/>
          <p:nvPr/>
        </p:nvSpPr>
        <p:spPr>
          <a:xfrm>
            <a:off x="10131552" y="457200"/>
            <a:ext cx="1481328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Mock-up: first-use driving style choice" descr="A mock dialog with two buttons, Simple, which is preselected, and Advanced, and a note that the choice can be changed later."/>
          <p:cNvGrpSpPr/>
          <p:nvPr/>
        </p:nvGrpSpPr>
        <p:grpSpPr>
          <a:xfrm>
            <a:off x="2898648" y="1508760"/>
            <a:ext cx="6400800" cy="3200400"/>
            <a:chOff x="2898648" y="1508760"/>
            <a:chExt cx="6400800" cy="3200400"/>
          </a:xfrm>
        </p:grpSpPr>
        <p:sp>
          <p:nvSpPr>
            <p:cNvPr id="5" name="Rounded Rectangle 4"/>
            <p:cNvSpPr/>
            <p:nvPr/>
          </p:nvSpPr>
          <p:spPr>
            <a:xfrm>
              <a:off x="2898648" y="1508760"/>
              <a:ext cx="6400800" cy="3200400"/>
            </a:xfrm>
            <a:prstGeom prst="roundRect">
              <a:avLst>
                <a:gd name="adj" fmla="val 3428"/>
              </a:avLst>
            </a:prstGeom>
            <a:solidFill>
              <a:srgbClr val="2B2F36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898648" y="1508760"/>
              <a:ext cx="6400800" cy="384048"/>
            </a:xfrm>
            <a:prstGeom prst="roundRect">
              <a:avLst>
                <a:gd name="adj" fmla="val 28571"/>
              </a:avLst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916936" y="1737360"/>
              <a:ext cx="6364224" cy="155448"/>
            </a:xfrm>
            <a:prstGeom prst="rect">
              <a:avLst/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3104388" y="1632204"/>
              <a:ext cx="137160" cy="137160"/>
            </a:xfrm>
            <a:prstGeom prst="ellipse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3378708" y="1632204"/>
              <a:ext cx="137160" cy="137160"/>
            </a:xfrm>
            <a:prstGeom prst="ellipse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3653028" y="1632204"/>
              <a:ext cx="137160" cy="137160"/>
            </a:xfrm>
            <a:prstGeom prst="ellipse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355848" y="2286000"/>
              <a:ext cx="2606040" cy="1051560"/>
            </a:xfrm>
            <a:prstGeom prst="roundRect">
              <a:avLst>
                <a:gd name="adj" fmla="val 12173"/>
              </a:avLst>
            </a:prstGeom>
            <a:solidFill>
              <a:srgbClr val="F28C28"/>
            </a:solidFill>
            <a:ln w="38100">
              <a:solidFill>
                <a:srgbClr val="E8E8E8"/>
              </a:solidFill>
            </a:ln>
          </p:spPr>
          <p:txBody>
            <a:bodyPr rtlCol="0" anchor="ctr" wrap="square" lIns="73152" tIns="27432" rIns="73152" bIns="27432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600" b="1" i="0" lang="en-GB">
                  <a:solidFill>
                    <a:srgbClr val="101418"/>
                  </a:solidFill>
                  <a:latin typeface="Arial"/>
                </a:rPr>
                <a:t>Simple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36208" y="2286000"/>
              <a:ext cx="2606040" cy="1051560"/>
            </a:xfrm>
            <a:prstGeom prst="roundRect">
              <a:avLst>
                <a:gd name="adj" fmla="val 12173"/>
              </a:avLst>
            </a:prstGeom>
            <a:solidFill>
              <a:srgbClr val="343A43"/>
            </a:solidFill>
            <a:ln w="25400">
              <a:solidFill>
                <a:srgbClr val="9AA0A6"/>
              </a:solidFill>
            </a:ln>
          </p:spPr>
          <p:txBody>
            <a:bodyPr rtlCol="0" anchor="ctr" wrap="square" lIns="73152" tIns="27432" rIns="73152" bIns="27432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600" b="1" i="0" lang="en-GB">
                  <a:solidFill>
                    <a:srgbClr val="F2F2F2"/>
                  </a:solidFill>
                  <a:latin typeface="Arial"/>
                </a:rPr>
                <a:t>Advanced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5751576" y="2075688"/>
              <a:ext cx="420624" cy="420624"/>
            </a:xfrm>
            <a:prstGeom prst="ellipse">
              <a:avLst/>
            </a:prstGeom>
            <a:solidFill>
              <a:srgbClr val="3FB95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5860938" y="2201875"/>
              <a:ext cx="214518" cy="168250"/>
            </a:xfrm>
            <a:custGeom>
              <a:avLst/>
              <a:gdLst/>
              <a:ahLst/>
              <a:cxnLst/>
              <a:rect l="l" t="t" r="r" b="b"/>
              <a:pathLst>
                <a:path w="214518" h="168250">
                  <a:moveTo>
                    <a:pt x="0" y="84125"/>
                  </a:moveTo>
                  <a:lnTo>
                    <a:pt x="79919" y="168250"/>
                  </a:lnTo>
                  <a:lnTo>
                    <a:pt x="214518" y="0"/>
                  </a:lnTo>
                </a:path>
              </a:pathLst>
            </a:custGeom>
            <a:noFill/>
            <a:ln w="3810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355848" y="3383280"/>
              <a:ext cx="2606040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8C28"/>
                  </a:solidFill>
                  <a:latin typeface="Arial"/>
                </a:rPr>
                <a:t>Preselected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172968" y="3931920"/>
              <a:ext cx="585216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A9B0B8"/>
                  </a:solidFill>
                  <a:latin typeface="Arial"/>
                </a:rPr>
                <a:t>You can change this later.</a:t>
              </a:r>
            </a:p>
          </p:txBody>
        </p:sp>
      </p:grpSp>
      <p:sp>
        <p:nvSpPr>
          <p:cNvPr id="17" name="Inline chip"/>
          <p:cNvSpPr/>
          <p:nvPr/>
        </p:nvSpPr>
        <p:spPr>
          <a:xfrm>
            <a:off x="4922370" y="4983480"/>
            <a:ext cx="2346956" cy="329184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none" lIns="73152" tIns="18288" rIns="73152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F2F2F2"/>
                </a:solidFill>
                <a:latin typeface="Arial"/>
              </a:rPr>
              <a:t>Exact screens: undecided</a:t>
            </a:r>
          </a:p>
        </p:txBody>
      </p:sp>
      <p:sp>
        <p:nvSpPr>
          <p:cNvPr id="18" name="Caption"/>
          <p:cNvSpPr/>
          <p:nvPr/>
        </p:nvSpPr>
        <p:spPr>
          <a:xfrm>
            <a:off x="548640" y="574243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27432" rIns="182880" bIns="27432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The first time, the game asks which style you want. You can switch later.</a:t>
            </a:r>
          </a:p>
        </p:txBody>
      </p:sp>
      <p:sp>
        <p:nvSpPr>
          <p:cNvPr id="19" name="Caption rule"/>
          <p:cNvSpPr/>
          <p:nvPr/>
        </p:nvSpPr>
        <p:spPr>
          <a:xfrm>
            <a:off x="548640" y="5742432"/>
            <a:ext cx="73152" cy="69494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lide number"/>
          <p:cNvSpPr txBox="1"/>
          <p:nvPr/>
        </p:nvSpPr>
        <p:spPr>
          <a:xfrm>
            <a:off x="11064240" y="647395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Simple: a good crew</a:t>
            </a:r>
          </a:p>
        </p:txBody>
      </p:sp>
      <p:sp>
        <p:nvSpPr>
          <p:cNvPr id="3" name="Status chip"/>
          <p:cNvSpPr/>
          <p:nvPr/>
        </p:nvSpPr>
        <p:spPr>
          <a:xfrm>
            <a:off x="10131552" y="457200"/>
            <a:ext cx="1481328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Diagram: one Go lever and a crew handling fire, steam and valves" descr="One Go lever on the left. On the right a crew of two people handle fire, steam and valves for you."/>
          <p:cNvGrpSpPr/>
          <p:nvPr/>
        </p:nvGrpSpPr>
        <p:grpSpPr>
          <a:xfrm>
            <a:off x="548640" y="1325880"/>
            <a:ext cx="11091672" cy="4206240"/>
            <a:chOff x="548640" y="1325880"/>
            <a:chExt cx="11091672" cy="4206240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325880"/>
              <a:ext cx="3383280" cy="4206240"/>
            </a:xfrm>
            <a:prstGeom prst="roundRect">
              <a:avLst>
                <a:gd name="adj" fmla="val 216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48640" y="1417320"/>
              <a:ext cx="3383280" cy="5943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3000" b="1" i="0" lang="en-GB">
                  <a:solidFill>
                    <a:srgbClr val="F28C28"/>
                  </a:solidFill>
                  <a:latin typeface="Arial"/>
                </a:rPr>
                <a:t>Go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176272" y="2194560"/>
              <a:ext cx="128016" cy="3017520"/>
            </a:xfrm>
            <a:prstGeom prst="roundRect">
              <a:avLst>
                <a:gd name="adj" fmla="val 50000"/>
              </a:avLst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 flipV="1">
              <a:off x="2240280" y="2737714"/>
              <a:ext cx="0" cy="2021738"/>
            </a:xfrm>
            <a:prstGeom prst="line">
              <a:avLst/>
            </a:prstGeom>
            <a:ln w="76200">
              <a:solidFill>
                <a:srgbClr val="9AA0A6"/>
              </a:solidFill>
            </a:ln>
          </p:spPr>
        </p:cxnSp>
        <p:sp>
          <p:nvSpPr>
            <p:cNvPr id="9" name="Oval 8"/>
            <p:cNvSpPr/>
            <p:nvPr/>
          </p:nvSpPr>
          <p:spPr>
            <a:xfrm>
              <a:off x="1938528" y="2435962"/>
              <a:ext cx="603504" cy="603504"/>
            </a:xfrm>
            <a:prstGeom prst="ellipse">
              <a:avLst/>
            </a:prstGeom>
            <a:solidFill>
              <a:srgbClr val="F28C28"/>
            </a:solidFill>
            <a:ln w="190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801368" y="4704588"/>
              <a:ext cx="877824" cy="128016"/>
            </a:xfrm>
            <a:prstGeom prst="roundRect">
              <a:avLst>
                <a:gd name="adj" fmla="val 35714"/>
              </a:avLst>
            </a:prstGeom>
            <a:solidFill>
              <a:srgbClr val="343A43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4023360" y="3429000"/>
              <a:ext cx="731520" cy="0"/>
            </a:xfrm>
            <a:prstGeom prst="line">
              <a:avLst/>
            </a:prstGeom>
            <a:ln w="50800">
              <a:solidFill>
                <a:srgbClr val="F28C28"/>
              </a:solidFill>
              <a:tailEnd type="triangle" w="med" len="med"/>
            </a:ln>
          </p:spPr>
        </p:cxnSp>
        <p:sp>
          <p:nvSpPr>
            <p:cNvPr id="12" name="Rounded Rectangle 11"/>
            <p:cNvSpPr/>
            <p:nvPr/>
          </p:nvSpPr>
          <p:spPr>
            <a:xfrm>
              <a:off x="4846320" y="1325880"/>
              <a:ext cx="6793992" cy="4206240"/>
            </a:xfrm>
            <a:prstGeom prst="roundRect">
              <a:avLst>
                <a:gd name="adj" fmla="val 1739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257800" y="2148840"/>
              <a:ext cx="2331720" cy="2468880"/>
            </a:xfrm>
            <a:prstGeom prst="roundRect">
              <a:avLst>
                <a:gd name="adj" fmla="val 4705"/>
              </a:avLst>
            </a:prstGeom>
            <a:solidFill>
              <a:srgbClr val="343A43"/>
            </a:solidFill>
            <a:ln w="19050">
              <a:solidFill>
                <a:srgbClr val="9AA0A6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5669280" y="2514600"/>
              <a:ext cx="548640" cy="54864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532120" y="3131820"/>
              <a:ext cx="822960" cy="754380"/>
            </a:xfrm>
            <a:prstGeom prst="roundRect">
              <a:avLst>
                <a:gd name="adj" fmla="val 36363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603443" y="2569464"/>
              <a:ext cx="680314" cy="120701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724144" y="2487168"/>
              <a:ext cx="438912" cy="98755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6675120" y="2514600"/>
              <a:ext cx="548640" cy="548640"/>
            </a:xfrm>
            <a:prstGeom prst="ellipse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537960" y="3131820"/>
              <a:ext cx="822960" cy="754380"/>
            </a:xfrm>
            <a:prstGeom prst="roundRect">
              <a:avLst>
                <a:gd name="adj" fmla="val 36363"/>
              </a:avLst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609283" y="2569464"/>
              <a:ext cx="680314" cy="120701"/>
            </a:xfrm>
            <a:prstGeom prst="rect">
              <a:avLst/>
            </a:prstGeom>
            <a:solidFill>
              <a:srgbClr val="F2C14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729984" y="2487168"/>
              <a:ext cx="438912" cy="98755"/>
            </a:xfrm>
            <a:prstGeom prst="rect">
              <a:avLst/>
            </a:prstGeom>
            <a:solidFill>
              <a:srgbClr val="F2C14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257800" y="4069080"/>
              <a:ext cx="233172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600" b="1" i="0" lang="en-GB">
                  <a:solidFill>
                    <a:srgbClr val="A9B0B8"/>
                  </a:solidFill>
                  <a:latin typeface="Arial"/>
                </a:rPr>
                <a:t>Crew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778240" y="2240280"/>
              <a:ext cx="2377440" cy="566928"/>
            </a:xfrm>
            <a:prstGeom prst="roundRect">
              <a:avLst>
                <a:gd name="adj" fmla="val 50000"/>
              </a:avLst>
            </a:prstGeom>
            <a:solidFill>
              <a:srgbClr val="343A43"/>
            </a:solidFill>
            <a:ln w="25400">
              <a:solidFill>
                <a:srgbClr val="F28C28"/>
              </a:solidFill>
            </a:ln>
          </p:spPr>
          <p:txBody>
            <a:bodyPr rtlCol="0" anchor="ctr" wrap="square" lIns="73152" tIns="27432" rIns="73152" bIns="27432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Fire</a:t>
              </a:r>
            </a:p>
          </p:txBody>
        </p:sp>
        <p:cxnSp>
          <p:nvCxnSpPr>
            <p:cNvPr id="24" name="Connector 23"/>
            <p:cNvCxnSpPr/>
            <p:nvPr/>
          </p:nvCxnSpPr>
          <p:spPr>
            <a:xfrm flipV="1">
              <a:off x="7680960" y="2523744"/>
              <a:ext cx="1051560" cy="859536"/>
            </a:xfrm>
            <a:prstGeom prst="line">
              <a:avLst/>
            </a:prstGeom>
            <a:ln w="28575">
              <a:solidFill>
                <a:srgbClr val="F28C28"/>
              </a:solidFill>
              <a:tailEnd type="triangle" w="med" len="med"/>
            </a:ln>
          </p:spPr>
        </p:cxnSp>
        <p:sp>
          <p:nvSpPr>
            <p:cNvPr id="25" name="Rounded Rectangle 24"/>
            <p:cNvSpPr/>
            <p:nvPr/>
          </p:nvSpPr>
          <p:spPr>
            <a:xfrm>
              <a:off x="8778240" y="3063240"/>
              <a:ext cx="2377440" cy="566928"/>
            </a:xfrm>
            <a:prstGeom prst="roundRect">
              <a:avLst>
                <a:gd name="adj" fmla="val 50000"/>
              </a:avLst>
            </a:prstGeom>
            <a:solidFill>
              <a:srgbClr val="343A43"/>
            </a:solidFill>
            <a:ln w="25400">
              <a:solidFill>
                <a:srgbClr val="E8E8E8"/>
              </a:solidFill>
            </a:ln>
          </p:spPr>
          <p:txBody>
            <a:bodyPr rtlCol="0" anchor="ctr" wrap="square" lIns="73152" tIns="27432" rIns="73152" bIns="27432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Steam</a:t>
              </a:r>
            </a:p>
          </p:txBody>
        </p:sp>
        <p:cxnSp>
          <p:nvCxnSpPr>
            <p:cNvPr id="26" name="Connector 25"/>
            <p:cNvCxnSpPr/>
            <p:nvPr/>
          </p:nvCxnSpPr>
          <p:spPr>
            <a:xfrm flipV="1">
              <a:off x="7680960" y="3346704"/>
              <a:ext cx="1051560" cy="36576"/>
            </a:xfrm>
            <a:prstGeom prst="line">
              <a:avLst/>
            </a:prstGeom>
            <a:ln w="28575">
              <a:solidFill>
                <a:srgbClr val="F28C28"/>
              </a:solidFill>
              <a:tailEnd type="triangle" w="med" len="med"/>
            </a:ln>
          </p:spPr>
        </p:cxnSp>
        <p:sp>
          <p:nvSpPr>
            <p:cNvPr id="27" name="Rounded Rectangle 26"/>
            <p:cNvSpPr/>
            <p:nvPr/>
          </p:nvSpPr>
          <p:spPr>
            <a:xfrm>
              <a:off x="8778240" y="3886200"/>
              <a:ext cx="2377440" cy="566928"/>
            </a:xfrm>
            <a:prstGeom prst="roundRect">
              <a:avLst>
                <a:gd name="adj" fmla="val 50000"/>
              </a:avLst>
            </a:prstGeom>
            <a:solidFill>
              <a:srgbClr val="343A43"/>
            </a:solidFill>
            <a:ln w="25400">
              <a:solidFill>
                <a:srgbClr val="9AA0A6"/>
              </a:solidFill>
            </a:ln>
          </p:spPr>
          <p:txBody>
            <a:bodyPr rtlCol="0" anchor="ctr" wrap="square" lIns="73152" tIns="27432" rIns="73152" bIns="27432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Valves</a:t>
              </a:r>
            </a:p>
          </p:txBody>
        </p:sp>
        <p:cxnSp>
          <p:nvCxnSpPr>
            <p:cNvPr id="28" name="Connector 27"/>
            <p:cNvCxnSpPr/>
            <p:nvPr/>
          </p:nvCxnSpPr>
          <p:spPr>
            <a:xfrm>
              <a:off x="7680960" y="3383280"/>
              <a:ext cx="1051560" cy="786384"/>
            </a:xfrm>
            <a:prstGeom prst="line">
              <a:avLst/>
            </a:prstGeom>
            <a:ln w="28575">
              <a:solidFill>
                <a:srgbClr val="F28C28"/>
              </a:solidFill>
              <a:tailEnd type="triangle" w="med" len="med"/>
            </a:ln>
          </p:spPr>
        </p:cxnSp>
      </p:grpSp>
      <p:sp>
        <p:nvSpPr>
          <p:cNvPr id="29" name="Caption"/>
          <p:cNvSpPr/>
          <p:nvPr/>
        </p:nvSpPr>
        <p:spPr>
          <a:xfrm>
            <a:off x="548640" y="574243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27432" rIns="182880" bIns="27432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Simple works like a skilled crew. You say go and the crew does the rest.</a:t>
            </a:r>
          </a:p>
        </p:txBody>
      </p:sp>
      <p:sp>
        <p:nvSpPr>
          <p:cNvPr id="30" name="Caption rule"/>
          <p:cNvSpPr/>
          <p:nvPr/>
        </p:nvSpPr>
        <p:spPr>
          <a:xfrm>
            <a:off x="548640" y="5742432"/>
            <a:ext cx="73152" cy="69494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lide number"/>
          <p:cNvSpPr txBox="1"/>
          <p:nvPr/>
        </p:nvSpPr>
        <p:spPr>
          <a:xfrm>
            <a:off x="11064240" y="647395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Advanced: three things to manage</a:t>
            </a:r>
          </a:p>
        </p:txBody>
      </p:sp>
      <p:sp>
        <p:nvSpPr>
          <p:cNvPr id="3" name="Status chip"/>
          <p:cNvSpPr/>
          <p:nvPr/>
        </p:nvSpPr>
        <p:spPr>
          <a:xfrm>
            <a:off x="10131552" y="457200"/>
            <a:ext cx="1481328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Diagram: four driver controls" descr="Four control icons: a fire, a regulator slider, a reverser lever and a brake on a wheel."/>
          <p:cNvGrpSpPr/>
          <p:nvPr/>
        </p:nvGrpSpPr>
        <p:grpSpPr>
          <a:xfrm>
            <a:off x="548640" y="1417320"/>
            <a:ext cx="11090758" cy="4069080"/>
            <a:chOff x="548640" y="1417320"/>
            <a:chExt cx="11090758" cy="4069080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417320"/>
              <a:ext cx="2606040" cy="4069080"/>
            </a:xfrm>
            <a:prstGeom prst="roundRect">
              <a:avLst>
                <a:gd name="adj" fmla="val 280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704088" y="1572768"/>
              <a:ext cx="457200" cy="457200"/>
            </a:xfrm>
            <a:prstGeom prst="ellipse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adge"/>
            <p:cNvSpPr txBox="1"/>
            <p:nvPr/>
          </p:nvSpPr>
          <p:spPr>
            <a:xfrm>
              <a:off x="704088" y="1572768"/>
              <a:ext cx="45720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101418"/>
                  </a:solidFill>
                  <a:latin typeface="Arial"/>
                </a:rPr>
                <a:t>1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052474" y="3886200"/>
              <a:ext cx="451714" cy="347472"/>
            </a:xfrm>
            <a:prstGeom prst="ellipse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434694" y="3799332"/>
              <a:ext cx="451714" cy="347472"/>
            </a:xfrm>
            <a:prstGeom prst="ellipse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1851660" y="3886200"/>
              <a:ext cx="451714" cy="347472"/>
            </a:xfrm>
            <a:prstGeom prst="ellipse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199132" y="3851453"/>
              <a:ext cx="451714" cy="347472"/>
            </a:xfrm>
            <a:prstGeom prst="ellipse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1643177" y="4007815"/>
              <a:ext cx="451714" cy="347472"/>
            </a:xfrm>
            <a:prstGeom prst="ellipse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ardrop 12"/>
            <p:cNvSpPr/>
            <p:nvPr/>
          </p:nvSpPr>
          <p:spPr>
            <a:xfrm rot="18900000">
              <a:off x="1323594" y="2480310"/>
              <a:ext cx="1056132" cy="1056132"/>
            </a:xfrm>
            <a:prstGeom prst="teardrop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ardrop 13"/>
            <p:cNvSpPr/>
            <p:nvPr/>
          </p:nvSpPr>
          <p:spPr>
            <a:xfrm rot="18900000">
              <a:off x="1549908" y="2857500"/>
              <a:ext cx="603504" cy="603504"/>
            </a:xfrm>
            <a:prstGeom prst="teardrop">
              <a:avLst/>
            </a:prstGeom>
            <a:solidFill>
              <a:srgbClr val="F2C14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8640" y="4663440"/>
              <a:ext cx="2606040" cy="5486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200" b="1" i="0" lang="en-GB">
                  <a:solidFill>
                    <a:srgbClr val="F2F2F2"/>
                  </a:solidFill>
                  <a:latin typeface="Arial"/>
                </a:rPr>
                <a:t>Fire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376879" y="1417320"/>
              <a:ext cx="2606040" cy="4069080"/>
            </a:xfrm>
            <a:prstGeom prst="roundRect">
              <a:avLst>
                <a:gd name="adj" fmla="val 280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3532327" y="1572768"/>
              <a:ext cx="457200" cy="457200"/>
            </a:xfrm>
            <a:prstGeom prst="ellipse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adge"/>
            <p:cNvSpPr txBox="1"/>
            <p:nvPr/>
          </p:nvSpPr>
          <p:spPr>
            <a:xfrm>
              <a:off x="3532327" y="1572768"/>
              <a:ext cx="45720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101418"/>
                  </a:solidFill>
                  <a:latin typeface="Arial"/>
                </a:rPr>
                <a:t>2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765499" y="3429000"/>
              <a:ext cx="1828800" cy="182880"/>
            </a:xfrm>
            <a:prstGeom prst="roundRect">
              <a:avLst>
                <a:gd name="adj" fmla="val 50000"/>
              </a:avLst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3948379" y="3182112"/>
              <a:ext cx="0" cy="182880"/>
            </a:xfrm>
            <a:prstGeom prst="line">
              <a:avLst/>
            </a:prstGeom>
            <a:ln w="19050">
              <a:solidFill>
                <a:srgbClr val="9AA0A6"/>
              </a:solidFill>
            </a:ln>
          </p:spPr>
        </p:cxnSp>
        <p:cxnSp>
          <p:nvCxnSpPr>
            <p:cNvPr id="21" name="Connector 20"/>
            <p:cNvCxnSpPr/>
            <p:nvPr/>
          </p:nvCxnSpPr>
          <p:spPr>
            <a:xfrm>
              <a:off x="4314139" y="3182112"/>
              <a:ext cx="0" cy="182880"/>
            </a:xfrm>
            <a:prstGeom prst="line">
              <a:avLst/>
            </a:prstGeom>
            <a:ln w="19050">
              <a:solidFill>
                <a:srgbClr val="9AA0A6"/>
              </a:solidFill>
            </a:ln>
          </p:spPr>
        </p:cxnSp>
        <p:cxnSp>
          <p:nvCxnSpPr>
            <p:cNvPr id="22" name="Connector 21"/>
            <p:cNvCxnSpPr/>
            <p:nvPr/>
          </p:nvCxnSpPr>
          <p:spPr>
            <a:xfrm>
              <a:off x="4679899" y="3182112"/>
              <a:ext cx="0" cy="182880"/>
            </a:xfrm>
            <a:prstGeom prst="line">
              <a:avLst/>
            </a:prstGeom>
            <a:ln w="19050">
              <a:solidFill>
                <a:srgbClr val="9AA0A6"/>
              </a:solidFill>
            </a:ln>
          </p:spPr>
        </p:cxnSp>
        <p:cxnSp>
          <p:nvCxnSpPr>
            <p:cNvPr id="23" name="Connector 22"/>
            <p:cNvCxnSpPr/>
            <p:nvPr/>
          </p:nvCxnSpPr>
          <p:spPr>
            <a:xfrm>
              <a:off x="5045659" y="3182112"/>
              <a:ext cx="0" cy="182880"/>
            </a:xfrm>
            <a:prstGeom prst="line">
              <a:avLst/>
            </a:prstGeom>
            <a:ln w="19050">
              <a:solidFill>
                <a:srgbClr val="9AA0A6"/>
              </a:solidFill>
            </a:ln>
          </p:spPr>
        </p:cxnSp>
        <p:cxnSp>
          <p:nvCxnSpPr>
            <p:cNvPr id="24" name="Connector 23"/>
            <p:cNvCxnSpPr/>
            <p:nvPr/>
          </p:nvCxnSpPr>
          <p:spPr>
            <a:xfrm>
              <a:off x="5411419" y="3182112"/>
              <a:ext cx="0" cy="182880"/>
            </a:xfrm>
            <a:prstGeom prst="line">
              <a:avLst/>
            </a:prstGeom>
            <a:ln w="19050">
              <a:solidFill>
                <a:srgbClr val="9AA0A6"/>
              </a:solidFill>
            </a:ln>
          </p:spPr>
        </p:cxnSp>
        <p:cxnSp>
          <p:nvCxnSpPr>
            <p:cNvPr id="25" name="Connector 24"/>
            <p:cNvCxnSpPr/>
            <p:nvPr/>
          </p:nvCxnSpPr>
          <p:spPr>
            <a:xfrm flipV="1">
              <a:off x="4497019" y="2743200"/>
              <a:ext cx="0" cy="777240"/>
            </a:xfrm>
            <a:prstGeom prst="line">
              <a:avLst/>
            </a:prstGeom>
            <a:ln w="101600">
              <a:solidFill>
                <a:srgbClr val="9AA0A6"/>
              </a:solidFill>
            </a:ln>
          </p:spPr>
        </p:cxnSp>
        <p:sp>
          <p:nvSpPr>
            <p:cNvPr id="26" name="Oval 25"/>
            <p:cNvSpPr/>
            <p:nvPr/>
          </p:nvSpPr>
          <p:spPr>
            <a:xfrm>
              <a:off x="4268419" y="2468880"/>
              <a:ext cx="457200" cy="457200"/>
            </a:xfrm>
            <a:prstGeom prst="ellipse">
              <a:avLst/>
            </a:prstGeom>
            <a:solidFill>
              <a:srgbClr val="F28C28"/>
            </a:solidFill>
            <a:ln w="190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3948379" y="3931920"/>
              <a:ext cx="1463040" cy="0"/>
            </a:xfrm>
            <a:prstGeom prst="line">
              <a:avLst/>
            </a:prstGeom>
            <a:ln w="38100">
              <a:solidFill>
                <a:srgbClr val="F28C28"/>
              </a:solidFill>
              <a:headEnd type="triangle" w="med" len="med"/>
              <a:tailEnd type="triangle" w="med" len="med"/>
            </a:ln>
          </p:spPr>
        </p:cxnSp>
        <p:sp>
          <p:nvSpPr>
            <p:cNvPr id="28" name="TextBox 27"/>
            <p:cNvSpPr txBox="1"/>
            <p:nvPr/>
          </p:nvSpPr>
          <p:spPr>
            <a:xfrm>
              <a:off x="3376879" y="4663440"/>
              <a:ext cx="2606040" cy="5486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200" b="1" i="0" lang="en-GB">
                  <a:solidFill>
                    <a:srgbClr val="F2F2F2"/>
                  </a:solidFill>
                  <a:latin typeface="Arial"/>
                </a:rPr>
                <a:t>Regulator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6205118" y="1417320"/>
              <a:ext cx="2606040" cy="4069080"/>
            </a:xfrm>
            <a:prstGeom prst="roundRect">
              <a:avLst>
                <a:gd name="adj" fmla="val 280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6360566" y="1572768"/>
              <a:ext cx="457200" cy="457200"/>
            </a:xfrm>
            <a:prstGeom prst="ellipse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Badge"/>
            <p:cNvSpPr txBox="1"/>
            <p:nvPr/>
          </p:nvSpPr>
          <p:spPr>
            <a:xfrm>
              <a:off x="6360566" y="1572768"/>
              <a:ext cx="45720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101418"/>
                  </a:solidFill>
                  <a:latin typeface="Arial"/>
                </a:rPr>
                <a:t>3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7215530" y="2514600"/>
              <a:ext cx="128016" cy="1783080"/>
            </a:xfrm>
            <a:prstGeom prst="roundRect">
              <a:avLst>
                <a:gd name="adj" fmla="val 50000"/>
              </a:avLst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3" name="Connector 32"/>
            <p:cNvCxnSpPr/>
            <p:nvPr/>
          </p:nvCxnSpPr>
          <p:spPr>
            <a:xfrm>
              <a:off x="7023506" y="2960370"/>
              <a:ext cx="173736" cy="0"/>
            </a:xfrm>
            <a:prstGeom prst="line">
              <a:avLst/>
            </a:prstGeom>
            <a:ln w="19050">
              <a:solidFill>
                <a:srgbClr val="9AA0A6"/>
              </a:solidFill>
            </a:ln>
          </p:spPr>
        </p:cxnSp>
        <p:cxnSp>
          <p:nvCxnSpPr>
            <p:cNvPr id="34" name="Connector 33"/>
            <p:cNvCxnSpPr/>
            <p:nvPr/>
          </p:nvCxnSpPr>
          <p:spPr>
            <a:xfrm>
              <a:off x="7023506" y="3406140"/>
              <a:ext cx="173736" cy="0"/>
            </a:xfrm>
            <a:prstGeom prst="line">
              <a:avLst/>
            </a:prstGeom>
            <a:ln w="19050">
              <a:solidFill>
                <a:srgbClr val="9AA0A6"/>
              </a:solidFill>
            </a:ln>
          </p:spPr>
        </p:cxnSp>
        <p:cxnSp>
          <p:nvCxnSpPr>
            <p:cNvPr id="35" name="Connector 34"/>
            <p:cNvCxnSpPr/>
            <p:nvPr/>
          </p:nvCxnSpPr>
          <p:spPr>
            <a:xfrm>
              <a:off x="7023506" y="3851910"/>
              <a:ext cx="173736" cy="0"/>
            </a:xfrm>
            <a:prstGeom prst="line">
              <a:avLst/>
            </a:prstGeom>
            <a:ln w="19050">
              <a:solidFill>
                <a:srgbClr val="9AA0A6"/>
              </a:solidFill>
            </a:ln>
          </p:spPr>
        </p:cxnSp>
        <p:cxnSp>
          <p:nvCxnSpPr>
            <p:cNvPr id="36" name="Connector 35"/>
            <p:cNvCxnSpPr/>
            <p:nvPr/>
          </p:nvCxnSpPr>
          <p:spPr>
            <a:xfrm flipV="1">
              <a:off x="7279538" y="2835554"/>
              <a:ext cx="0" cy="1194664"/>
            </a:xfrm>
            <a:prstGeom prst="line">
              <a:avLst/>
            </a:prstGeom>
            <a:ln w="76200">
              <a:solidFill>
                <a:srgbClr val="9AA0A6"/>
              </a:solidFill>
            </a:ln>
          </p:spPr>
        </p:cxnSp>
        <p:sp>
          <p:nvSpPr>
            <p:cNvPr id="37" name="Oval 36"/>
            <p:cNvSpPr/>
            <p:nvPr/>
          </p:nvSpPr>
          <p:spPr>
            <a:xfrm>
              <a:off x="7078370" y="2634386"/>
              <a:ext cx="402336" cy="402336"/>
            </a:xfrm>
            <a:prstGeom prst="ellipse">
              <a:avLst/>
            </a:prstGeom>
            <a:solidFill>
              <a:srgbClr val="F28C28"/>
            </a:solidFill>
            <a:ln w="190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6986930" y="3975354"/>
              <a:ext cx="585216" cy="128016"/>
            </a:xfrm>
            <a:prstGeom prst="roundRect">
              <a:avLst>
                <a:gd name="adj" fmla="val 35714"/>
              </a:avLst>
            </a:prstGeom>
            <a:solidFill>
              <a:srgbClr val="343A43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9" name="Connector 38"/>
            <p:cNvCxnSpPr/>
            <p:nvPr/>
          </p:nvCxnSpPr>
          <p:spPr>
            <a:xfrm>
              <a:off x="8148218" y="2651760"/>
              <a:ext cx="0" cy="1463040"/>
            </a:xfrm>
            <a:prstGeom prst="line">
              <a:avLst/>
            </a:prstGeom>
            <a:ln w="38100">
              <a:solidFill>
                <a:srgbClr val="F28C28"/>
              </a:solidFill>
              <a:headEnd type="triangle" w="med" len="med"/>
              <a:tailEnd type="triangle" w="med" len="med"/>
            </a:ln>
          </p:spPr>
        </p:cxnSp>
        <p:sp>
          <p:nvSpPr>
            <p:cNvPr id="40" name="TextBox 39"/>
            <p:cNvSpPr txBox="1"/>
            <p:nvPr/>
          </p:nvSpPr>
          <p:spPr>
            <a:xfrm>
              <a:off x="6205118" y="4663440"/>
              <a:ext cx="2606040" cy="5486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200" b="1" i="0" lang="en-GB">
                  <a:solidFill>
                    <a:srgbClr val="F2F2F2"/>
                  </a:solidFill>
                  <a:latin typeface="Arial"/>
                </a:rPr>
                <a:t>Reverser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9033358" y="1417320"/>
              <a:ext cx="2606040" cy="4069080"/>
            </a:xfrm>
            <a:prstGeom prst="roundRect">
              <a:avLst>
                <a:gd name="adj" fmla="val 280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9188806" y="1572768"/>
              <a:ext cx="457200" cy="457200"/>
            </a:xfrm>
            <a:prstGeom prst="ellipse">
              <a:avLst/>
            </a:prstGeom>
            <a:noFill/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Badge"/>
            <p:cNvSpPr txBox="1"/>
            <p:nvPr/>
          </p:nvSpPr>
          <p:spPr>
            <a:xfrm>
              <a:off x="9188806" y="1572768"/>
              <a:ext cx="45720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9AA0A6"/>
                  </a:solidFill>
                  <a:latin typeface="Arial"/>
                </a:rPr>
                <a:t>+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9513418" y="2560320"/>
              <a:ext cx="1463040" cy="1463040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5" name="Connector 44"/>
            <p:cNvCxnSpPr/>
            <p:nvPr/>
          </p:nvCxnSpPr>
          <p:spPr>
            <a:xfrm>
              <a:off x="9623146" y="3291840"/>
              <a:ext cx="1243584" cy="0"/>
            </a:xfrm>
            <a:prstGeom prst="line">
              <a:avLst/>
            </a:prstGeom>
            <a:ln w="15875">
              <a:solidFill>
                <a:srgbClr val="9AA0A6"/>
              </a:solidFill>
            </a:ln>
          </p:spPr>
        </p:cxnSp>
        <p:cxnSp>
          <p:nvCxnSpPr>
            <p:cNvPr id="46" name="Connector 45"/>
            <p:cNvCxnSpPr/>
            <p:nvPr/>
          </p:nvCxnSpPr>
          <p:spPr>
            <a:xfrm>
              <a:off x="10244938" y="2670048"/>
              <a:ext cx="0" cy="1243584"/>
            </a:xfrm>
            <a:prstGeom prst="line">
              <a:avLst/>
            </a:prstGeom>
            <a:ln w="15875">
              <a:solidFill>
                <a:srgbClr val="9AA0A6"/>
              </a:solidFill>
            </a:ln>
          </p:spPr>
        </p:cxnSp>
        <p:sp>
          <p:nvSpPr>
            <p:cNvPr id="47" name="Oval 46"/>
            <p:cNvSpPr/>
            <p:nvPr/>
          </p:nvSpPr>
          <p:spPr>
            <a:xfrm>
              <a:off x="10113264" y="3160166"/>
              <a:ext cx="263347" cy="263347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10994746" y="2971800"/>
              <a:ext cx="274320" cy="640080"/>
            </a:xfrm>
            <a:prstGeom prst="roundRect">
              <a:avLst>
                <a:gd name="adj" fmla="val 20000"/>
              </a:avLst>
            </a:prstGeom>
            <a:solidFill>
              <a:srgbClr val="E5484D"/>
            </a:solidFill>
            <a:ln w="190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Connector 48"/>
            <p:cNvCxnSpPr/>
            <p:nvPr/>
          </p:nvCxnSpPr>
          <p:spPr>
            <a:xfrm flipH="1">
              <a:off x="11323930" y="3291840"/>
              <a:ext cx="201168" cy="0"/>
            </a:xfrm>
            <a:prstGeom prst="line">
              <a:avLst/>
            </a:prstGeom>
            <a:ln w="38100">
              <a:solidFill>
                <a:srgbClr val="E5484D"/>
              </a:solidFill>
              <a:tailEnd type="triangle" w="med" len="med"/>
            </a:ln>
          </p:spPr>
        </p:cxnSp>
        <p:sp>
          <p:nvSpPr>
            <p:cNvPr id="50" name="TextBox 49"/>
            <p:cNvSpPr txBox="1"/>
            <p:nvPr/>
          </p:nvSpPr>
          <p:spPr>
            <a:xfrm>
              <a:off x="9033358" y="4663440"/>
              <a:ext cx="2606040" cy="5486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200" b="1" i="0" lang="en-GB">
                  <a:solidFill>
                    <a:srgbClr val="F2F2F2"/>
                  </a:solidFill>
                  <a:latin typeface="Arial"/>
                </a:rPr>
                <a:t>Brake</a:t>
              </a:r>
            </a:p>
          </p:txBody>
        </p:sp>
      </p:grpSp>
      <p:sp>
        <p:nvSpPr>
          <p:cNvPr id="51" name="Caption"/>
          <p:cNvSpPr/>
          <p:nvPr/>
        </p:nvSpPr>
        <p:spPr>
          <a:xfrm>
            <a:off x="548640" y="574243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27432" rIns="182880" bIns="27432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You manage the fire, the regulator and the reverser. Braking stays too.</a:t>
            </a:r>
          </a:p>
        </p:txBody>
      </p:sp>
      <p:sp>
        <p:nvSpPr>
          <p:cNvPr id="52" name="Caption rule"/>
          <p:cNvSpPr/>
          <p:nvPr/>
        </p:nvSpPr>
        <p:spPr>
          <a:xfrm>
            <a:off x="548640" y="5742432"/>
            <a:ext cx="73152" cy="69494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Slide number"/>
          <p:cNvSpPr txBox="1"/>
          <p:nvPr/>
        </p:nvSpPr>
        <p:spPr>
          <a:xfrm>
            <a:off x="11064240" y="647395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What you do not have to do</a:t>
            </a:r>
          </a:p>
        </p:txBody>
      </p:sp>
      <p:sp>
        <p:nvSpPr>
          <p:cNvPr id="3" name="Status chip"/>
          <p:cNvSpPr/>
          <p:nvPr/>
        </p:nvSpPr>
        <p:spPr>
          <a:xfrm>
            <a:off x="10131552" y="457200"/>
            <a:ext cx="1481328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Diagram: crossed-out list of controls you do not manage" descr="A list of five crossed-out items: injectors, detailed boiler water, blower and damper, dozens of cab valves and procedures, beside a crowded panel of gauges and valves marked with a prohibition sign."/>
          <p:cNvGrpSpPr/>
          <p:nvPr/>
        </p:nvGrpSpPr>
        <p:grpSpPr>
          <a:xfrm>
            <a:off x="548640" y="1417320"/>
            <a:ext cx="11091672" cy="4023360"/>
            <a:chOff x="548640" y="1417320"/>
            <a:chExt cx="11091672" cy="4023360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417320"/>
              <a:ext cx="6400800" cy="694944"/>
            </a:xfrm>
            <a:prstGeom prst="roundRect">
              <a:avLst>
                <a:gd name="adj" fmla="val 1052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795528" y="1554480"/>
              <a:ext cx="420624" cy="420624"/>
            </a:xfrm>
            <a:prstGeom prst="ellipse">
              <a:avLst/>
            </a:prstGeom>
            <a:solidFill>
              <a:srgbClr val="E5484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904890" y="1663842"/>
              <a:ext cx="201900" cy="201900"/>
            </a:xfrm>
            <a:prstGeom prst="line">
              <a:avLst/>
            </a:prstGeom>
            <a:ln w="38100">
              <a:solidFill>
                <a:srgbClr val="E8E8E8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 flipV="1">
              <a:off x="904890" y="1663842"/>
              <a:ext cx="201900" cy="201900"/>
            </a:xfrm>
            <a:prstGeom prst="line">
              <a:avLst/>
            </a:prstGeom>
            <a:ln w="38100">
              <a:solidFill>
                <a:srgbClr val="E8E8E8"/>
              </a:solidFill>
            </a:ln>
          </p:spPr>
        </p:cxnSp>
        <p:sp>
          <p:nvSpPr>
            <p:cNvPr id="9" name="TextBox 8"/>
            <p:cNvSpPr txBox="1"/>
            <p:nvPr/>
          </p:nvSpPr>
          <p:spPr>
            <a:xfrm>
              <a:off x="1417320" y="1463040"/>
              <a:ext cx="5394960" cy="60350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00" b="0" i="0" lang="en-GB" strike="sngStrike">
                  <a:solidFill>
                    <a:srgbClr val="A9B0B8"/>
                  </a:solidFill>
                  <a:latin typeface="Arial"/>
                </a:rPr>
                <a:t>Injectors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8640" y="2240280"/>
              <a:ext cx="6400800" cy="694944"/>
            </a:xfrm>
            <a:prstGeom prst="roundRect">
              <a:avLst>
                <a:gd name="adj" fmla="val 1052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795528" y="2377440"/>
              <a:ext cx="420624" cy="420624"/>
            </a:xfrm>
            <a:prstGeom prst="ellipse">
              <a:avLst/>
            </a:prstGeom>
            <a:solidFill>
              <a:srgbClr val="E5484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904890" y="2486802"/>
              <a:ext cx="201900" cy="201900"/>
            </a:xfrm>
            <a:prstGeom prst="line">
              <a:avLst/>
            </a:prstGeom>
            <a:ln w="38100">
              <a:solidFill>
                <a:srgbClr val="E8E8E8"/>
              </a:solidFill>
            </a:ln>
          </p:spPr>
        </p:cxnSp>
        <p:cxnSp>
          <p:nvCxnSpPr>
            <p:cNvPr id="13" name="Connector 12"/>
            <p:cNvCxnSpPr/>
            <p:nvPr/>
          </p:nvCxnSpPr>
          <p:spPr>
            <a:xfrm flipV="1">
              <a:off x="904890" y="2486802"/>
              <a:ext cx="201900" cy="201900"/>
            </a:xfrm>
            <a:prstGeom prst="line">
              <a:avLst/>
            </a:prstGeom>
            <a:ln w="38100">
              <a:solidFill>
                <a:srgbClr val="E8E8E8"/>
              </a:solidFill>
            </a:ln>
          </p:spPr>
        </p:cxnSp>
        <p:sp>
          <p:nvSpPr>
            <p:cNvPr id="14" name="TextBox 13"/>
            <p:cNvSpPr txBox="1"/>
            <p:nvPr/>
          </p:nvSpPr>
          <p:spPr>
            <a:xfrm>
              <a:off x="1417320" y="2286000"/>
              <a:ext cx="5394960" cy="60350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00" b="0" i="0" lang="en-GB" strike="sngStrike">
                  <a:solidFill>
                    <a:srgbClr val="A9B0B8"/>
                  </a:solidFill>
                  <a:latin typeface="Arial"/>
                </a:rPr>
                <a:t>Detailed boiler water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48640" y="3063240"/>
              <a:ext cx="6400800" cy="694944"/>
            </a:xfrm>
            <a:prstGeom prst="roundRect">
              <a:avLst>
                <a:gd name="adj" fmla="val 1052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795528" y="3200400"/>
              <a:ext cx="420624" cy="420624"/>
            </a:xfrm>
            <a:prstGeom prst="ellipse">
              <a:avLst/>
            </a:prstGeom>
            <a:solidFill>
              <a:srgbClr val="E5484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904890" y="3309762"/>
              <a:ext cx="201900" cy="201900"/>
            </a:xfrm>
            <a:prstGeom prst="line">
              <a:avLst/>
            </a:prstGeom>
            <a:ln w="38100">
              <a:solidFill>
                <a:srgbClr val="E8E8E8"/>
              </a:solidFill>
            </a:ln>
          </p:spPr>
        </p:cxnSp>
        <p:cxnSp>
          <p:nvCxnSpPr>
            <p:cNvPr id="18" name="Connector 17"/>
            <p:cNvCxnSpPr/>
            <p:nvPr/>
          </p:nvCxnSpPr>
          <p:spPr>
            <a:xfrm flipV="1">
              <a:off x="904890" y="3309762"/>
              <a:ext cx="201900" cy="201900"/>
            </a:xfrm>
            <a:prstGeom prst="line">
              <a:avLst/>
            </a:prstGeom>
            <a:ln w="38100">
              <a:solidFill>
                <a:srgbClr val="E8E8E8"/>
              </a:solidFill>
            </a:ln>
          </p:spPr>
        </p:cxnSp>
        <p:sp>
          <p:nvSpPr>
            <p:cNvPr id="19" name="TextBox 18"/>
            <p:cNvSpPr txBox="1"/>
            <p:nvPr/>
          </p:nvSpPr>
          <p:spPr>
            <a:xfrm>
              <a:off x="1417320" y="3108960"/>
              <a:ext cx="5394960" cy="60350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00" b="0" i="0" lang="en-GB" strike="sngStrike">
                  <a:solidFill>
                    <a:srgbClr val="A9B0B8"/>
                  </a:solidFill>
                  <a:latin typeface="Arial"/>
                </a:rPr>
                <a:t>Blower and damper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548640" y="3886200"/>
              <a:ext cx="6400800" cy="694944"/>
            </a:xfrm>
            <a:prstGeom prst="roundRect">
              <a:avLst>
                <a:gd name="adj" fmla="val 1052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795528" y="4023360"/>
              <a:ext cx="420624" cy="420624"/>
            </a:xfrm>
            <a:prstGeom prst="ellipse">
              <a:avLst/>
            </a:prstGeom>
            <a:solidFill>
              <a:srgbClr val="E5484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904890" y="4132722"/>
              <a:ext cx="201900" cy="201900"/>
            </a:xfrm>
            <a:prstGeom prst="line">
              <a:avLst/>
            </a:prstGeom>
            <a:ln w="38100">
              <a:solidFill>
                <a:srgbClr val="E8E8E8"/>
              </a:solidFill>
            </a:ln>
          </p:spPr>
        </p:cxnSp>
        <p:cxnSp>
          <p:nvCxnSpPr>
            <p:cNvPr id="23" name="Connector 22"/>
            <p:cNvCxnSpPr/>
            <p:nvPr/>
          </p:nvCxnSpPr>
          <p:spPr>
            <a:xfrm flipV="1">
              <a:off x="904890" y="4132722"/>
              <a:ext cx="201900" cy="201900"/>
            </a:xfrm>
            <a:prstGeom prst="line">
              <a:avLst/>
            </a:prstGeom>
            <a:ln w="38100">
              <a:solidFill>
                <a:srgbClr val="E8E8E8"/>
              </a:solidFill>
            </a:ln>
          </p:spPr>
        </p:cxnSp>
        <p:sp>
          <p:nvSpPr>
            <p:cNvPr id="24" name="TextBox 23"/>
            <p:cNvSpPr txBox="1"/>
            <p:nvPr/>
          </p:nvSpPr>
          <p:spPr>
            <a:xfrm>
              <a:off x="1417320" y="3931920"/>
              <a:ext cx="5394960" cy="60350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00" b="0" i="0" lang="en-GB" strike="sngStrike">
                  <a:solidFill>
                    <a:srgbClr val="A9B0B8"/>
                  </a:solidFill>
                  <a:latin typeface="Arial"/>
                </a:rPr>
                <a:t>Dozens of cab valves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548640" y="4709160"/>
              <a:ext cx="6400800" cy="694944"/>
            </a:xfrm>
            <a:prstGeom prst="roundRect">
              <a:avLst>
                <a:gd name="adj" fmla="val 1052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795528" y="4846320"/>
              <a:ext cx="420624" cy="420624"/>
            </a:xfrm>
            <a:prstGeom prst="ellipse">
              <a:avLst/>
            </a:prstGeom>
            <a:solidFill>
              <a:srgbClr val="E5484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904890" y="4955682"/>
              <a:ext cx="201900" cy="201900"/>
            </a:xfrm>
            <a:prstGeom prst="line">
              <a:avLst/>
            </a:prstGeom>
            <a:ln w="38100">
              <a:solidFill>
                <a:srgbClr val="E8E8E8"/>
              </a:solidFill>
            </a:ln>
          </p:spPr>
        </p:cxnSp>
        <p:cxnSp>
          <p:nvCxnSpPr>
            <p:cNvPr id="28" name="Connector 27"/>
            <p:cNvCxnSpPr/>
            <p:nvPr/>
          </p:nvCxnSpPr>
          <p:spPr>
            <a:xfrm flipV="1">
              <a:off x="904890" y="4955682"/>
              <a:ext cx="201900" cy="201900"/>
            </a:xfrm>
            <a:prstGeom prst="line">
              <a:avLst/>
            </a:prstGeom>
            <a:ln w="38100">
              <a:solidFill>
                <a:srgbClr val="E8E8E8"/>
              </a:solidFill>
            </a:ln>
          </p:spPr>
        </p:cxnSp>
        <p:sp>
          <p:nvSpPr>
            <p:cNvPr id="29" name="TextBox 28"/>
            <p:cNvSpPr txBox="1"/>
            <p:nvPr/>
          </p:nvSpPr>
          <p:spPr>
            <a:xfrm>
              <a:off x="1417320" y="4754880"/>
              <a:ext cx="5394960" cy="60350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00" b="0" i="0" lang="en-GB" strike="sngStrike">
                  <a:solidFill>
                    <a:srgbClr val="A9B0B8"/>
                  </a:solidFill>
                  <a:latin typeface="Arial"/>
                </a:rPr>
                <a:t>Procedures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7315200" y="1417320"/>
              <a:ext cx="4325112" cy="4023360"/>
            </a:xfrm>
            <a:prstGeom prst="roundRect">
              <a:avLst>
                <a:gd name="adj" fmla="val 181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7589520" y="1600200"/>
              <a:ext cx="457200" cy="45720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Connector 31"/>
            <p:cNvCxnSpPr/>
            <p:nvPr/>
          </p:nvCxnSpPr>
          <p:spPr>
            <a:xfrm flipV="1">
              <a:off x="7818120" y="1719072"/>
              <a:ext cx="128016" cy="109728"/>
            </a:xfrm>
            <a:prstGeom prst="line">
              <a:avLst/>
            </a:prstGeom>
            <a:ln w="25400">
              <a:solidFill>
                <a:srgbClr val="F2C14E"/>
              </a:solidFill>
            </a:ln>
          </p:spPr>
        </p:cxnSp>
        <p:sp>
          <p:nvSpPr>
            <p:cNvPr id="33" name="Oval 32"/>
            <p:cNvSpPr/>
            <p:nvPr/>
          </p:nvSpPr>
          <p:spPr>
            <a:xfrm>
              <a:off x="8412480" y="1600200"/>
              <a:ext cx="457200" cy="45720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4" name="Connector 33"/>
            <p:cNvCxnSpPr/>
            <p:nvPr/>
          </p:nvCxnSpPr>
          <p:spPr>
            <a:xfrm>
              <a:off x="8513064" y="1828800"/>
              <a:ext cx="256032" cy="0"/>
            </a:xfrm>
            <a:prstGeom prst="line">
              <a:avLst/>
            </a:prstGeom>
            <a:ln w="31750">
              <a:solidFill>
                <a:srgbClr val="9AA0A6"/>
              </a:solidFill>
            </a:ln>
          </p:spPr>
        </p:cxnSp>
        <p:cxnSp>
          <p:nvCxnSpPr>
            <p:cNvPr id="35" name="Connector 34"/>
            <p:cNvCxnSpPr/>
            <p:nvPr/>
          </p:nvCxnSpPr>
          <p:spPr>
            <a:xfrm>
              <a:off x="8641080" y="1700784"/>
              <a:ext cx="0" cy="256032"/>
            </a:xfrm>
            <a:prstGeom prst="line">
              <a:avLst/>
            </a:prstGeom>
            <a:ln w="31750">
              <a:solidFill>
                <a:srgbClr val="9AA0A6"/>
              </a:solidFill>
            </a:ln>
          </p:spPr>
        </p:cxnSp>
        <p:sp>
          <p:nvSpPr>
            <p:cNvPr id="36" name="Oval 35"/>
            <p:cNvSpPr/>
            <p:nvPr/>
          </p:nvSpPr>
          <p:spPr>
            <a:xfrm>
              <a:off x="9235440" y="1600200"/>
              <a:ext cx="457200" cy="45720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7" name="Connector 36"/>
            <p:cNvCxnSpPr/>
            <p:nvPr/>
          </p:nvCxnSpPr>
          <p:spPr>
            <a:xfrm flipV="1">
              <a:off x="9464040" y="1719072"/>
              <a:ext cx="128016" cy="109728"/>
            </a:xfrm>
            <a:prstGeom prst="line">
              <a:avLst/>
            </a:prstGeom>
            <a:ln w="25400">
              <a:solidFill>
                <a:srgbClr val="F2C14E"/>
              </a:solidFill>
            </a:ln>
          </p:spPr>
        </p:cxnSp>
        <p:sp>
          <p:nvSpPr>
            <p:cNvPr id="38" name="Oval 37"/>
            <p:cNvSpPr/>
            <p:nvPr/>
          </p:nvSpPr>
          <p:spPr>
            <a:xfrm>
              <a:off x="10058400" y="1600200"/>
              <a:ext cx="457200" cy="45720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9" name="Connector 38"/>
            <p:cNvCxnSpPr/>
            <p:nvPr/>
          </p:nvCxnSpPr>
          <p:spPr>
            <a:xfrm>
              <a:off x="10158984" y="1828800"/>
              <a:ext cx="256032" cy="0"/>
            </a:xfrm>
            <a:prstGeom prst="line">
              <a:avLst/>
            </a:prstGeom>
            <a:ln w="31750">
              <a:solidFill>
                <a:srgbClr val="9AA0A6"/>
              </a:solidFill>
            </a:ln>
          </p:spPr>
        </p:cxnSp>
        <p:cxnSp>
          <p:nvCxnSpPr>
            <p:cNvPr id="40" name="Connector 39"/>
            <p:cNvCxnSpPr/>
            <p:nvPr/>
          </p:nvCxnSpPr>
          <p:spPr>
            <a:xfrm>
              <a:off x="10287000" y="1700784"/>
              <a:ext cx="0" cy="256032"/>
            </a:xfrm>
            <a:prstGeom prst="line">
              <a:avLst/>
            </a:prstGeom>
            <a:ln w="31750">
              <a:solidFill>
                <a:srgbClr val="9AA0A6"/>
              </a:solidFill>
            </a:ln>
          </p:spPr>
        </p:cxnSp>
        <p:sp>
          <p:nvSpPr>
            <p:cNvPr id="41" name="Oval 40"/>
            <p:cNvSpPr/>
            <p:nvPr/>
          </p:nvSpPr>
          <p:spPr>
            <a:xfrm>
              <a:off x="10881360" y="1600200"/>
              <a:ext cx="457200" cy="45720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2" name="Connector 41"/>
            <p:cNvCxnSpPr/>
            <p:nvPr/>
          </p:nvCxnSpPr>
          <p:spPr>
            <a:xfrm flipV="1">
              <a:off x="11109960" y="1719072"/>
              <a:ext cx="128016" cy="109728"/>
            </a:xfrm>
            <a:prstGeom prst="line">
              <a:avLst/>
            </a:prstGeom>
            <a:ln w="25400">
              <a:solidFill>
                <a:srgbClr val="F2C14E"/>
              </a:solidFill>
            </a:ln>
          </p:spPr>
        </p:cxnSp>
        <p:sp>
          <p:nvSpPr>
            <p:cNvPr id="43" name="Oval 42"/>
            <p:cNvSpPr/>
            <p:nvPr/>
          </p:nvSpPr>
          <p:spPr>
            <a:xfrm>
              <a:off x="7589520" y="2313432"/>
              <a:ext cx="457200" cy="45720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4" name="Connector 43"/>
            <p:cNvCxnSpPr/>
            <p:nvPr/>
          </p:nvCxnSpPr>
          <p:spPr>
            <a:xfrm>
              <a:off x="7690104" y="2542032"/>
              <a:ext cx="256032" cy="0"/>
            </a:xfrm>
            <a:prstGeom prst="line">
              <a:avLst/>
            </a:prstGeom>
            <a:ln w="31750">
              <a:solidFill>
                <a:srgbClr val="9AA0A6"/>
              </a:solidFill>
            </a:ln>
          </p:spPr>
        </p:cxnSp>
        <p:cxnSp>
          <p:nvCxnSpPr>
            <p:cNvPr id="45" name="Connector 44"/>
            <p:cNvCxnSpPr/>
            <p:nvPr/>
          </p:nvCxnSpPr>
          <p:spPr>
            <a:xfrm>
              <a:off x="7818120" y="2414016"/>
              <a:ext cx="0" cy="256032"/>
            </a:xfrm>
            <a:prstGeom prst="line">
              <a:avLst/>
            </a:prstGeom>
            <a:ln w="31750">
              <a:solidFill>
                <a:srgbClr val="9AA0A6"/>
              </a:solidFill>
            </a:ln>
          </p:spPr>
        </p:cxnSp>
        <p:sp>
          <p:nvSpPr>
            <p:cNvPr id="46" name="Oval 45"/>
            <p:cNvSpPr/>
            <p:nvPr/>
          </p:nvSpPr>
          <p:spPr>
            <a:xfrm>
              <a:off x="8412480" y="2313432"/>
              <a:ext cx="457200" cy="45720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7" name="Connector 46"/>
            <p:cNvCxnSpPr/>
            <p:nvPr/>
          </p:nvCxnSpPr>
          <p:spPr>
            <a:xfrm flipV="1">
              <a:off x="8641080" y="2432304"/>
              <a:ext cx="128016" cy="109728"/>
            </a:xfrm>
            <a:prstGeom prst="line">
              <a:avLst/>
            </a:prstGeom>
            <a:ln w="25400">
              <a:solidFill>
                <a:srgbClr val="F2C14E"/>
              </a:solidFill>
            </a:ln>
          </p:spPr>
        </p:cxnSp>
        <p:sp>
          <p:nvSpPr>
            <p:cNvPr id="48" name="Oval 47"/>
            <p:cNvSpPr/>
            <p:nvPr/>
          </p:nvSpPr>
          <p:spPr>
            <a:xfrm>
              <a:off x="9235440" y="2313432"/>
              <a:ext cx="457200" cy="45720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Connector 48"/>
            <p:cNvCxnSpPr/>
            <p:nvPr/>
          </p:nvCxnSpPr>
          <p:spPr>
            <a:xfrm>
              <a:off x="9336024" y="2542032"/>
              <a:ext cx="256032" cy="0"/>
            </a:xfrm>
            <a:prstGeom prst="line">
              <a:avLst/>
            </a:prstGeom>
            <a:ln w="31750">
              <a:solidFill>
                <a:srgbClr val="9AA0A6"/>
              </a:solidFill>
            </a:ln>
          </p:spPr>
        </p:cxnSp>
        <p:cxnSp>
          <p:nvCxnSpPr>
            <p:cNvPr id="50" name="Connector 49"/>
            <p:cNvCxnSpPr/>
            <p:nvPr/>
          </p:nvCxnSpPr>
          <p:spPr>
            <a:xfrm>
              <a:off x="9464040" y="2414016"/>
              <a:ext cx="0" cy="256032"/>
            </a:xfrm>
            <a:prstGeom prst="line">
              <a:avLst/>
            </a:prstGeom>
            <a:ln w="31750">
              <a:solidFill>
                <a:srgbClr val="9AA0A6"/>
              </a:solidFill>
            </a:ln>
          </p:spPr>
        </p:cxnSp>
        <p:sp>
          <p:nvSpPr>
            <p:cNvPr id="51" name="Oval 50"/>
            <p:cNvSpPr/>
            <p:nvPr/>
          </p:nvSpPr>
          <p:spPr>
            <a:xfrm>
              <a:off x="10058400" y="2313432"/>
              <a:ext cx="457200" cy="45720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2" name="Connector 51"/>
            <p:cNvCxnSpPr/>
            <p:nvPr/>
          </p:nvCxnSpPr>
          <p:spPr>
            <a:xfrm flipV="1">
              <a:off x="10287000" y="2432304"/>
              <a:ext cx="128016" cy="109728"/>
            </a:xfrm>
            <a:prstGeom prst="line">
              <a:avLst/>
            </a:prstGeom>
            <a:ln w="25400">
              <a:solidFill>
                <a:srgbClr val="F2C14E"/>
              </a:solidFill>
            </a:ln>
          </p:spPr>
        </p:cxnSp>
        <p:sp>
          <p:nvSpPr>
            <p:cNvPr id="53" name="Oval 52"/>
            <p:cNvSpPr/>
            <p:nvPr/>
          </p:nvSpPr>
          <p:spPr>
            <a:xfrm>
              <a:off x="10881360" y="2313432"/>
              <a:ext cx="457200" cy="45720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4" name="Connector 53"/>
            <p:cNvCxnSpPr/>
            <p:nvPr/>
          </p:nvCxnSpPr>
          <p:spPr>
            <a:xfrm>
              <a:off x="10981944" y="2542032"/>
              <a:ext cx="256032" cy="0"/>
            </a:xfrm>
            <a:prstGeom prst="line">
              <a:avLst/>
            </a:prstGeom>
            <a:ln w="31750">
              <a:solidFill>
                <a:srgbClr val="9AA0A6"/>
              </a:solidFill>
            </a:ln>
          </p:spPr>
        </p:cxnSp>
        <p:cxnSp>
          <p:nvCxnSpPr>
            <p:cNvPr id="55" name="Connector 54"/>
            <p:cNvCxnSpPr/>
            <p:nvPr/>
          </p:nvCxnSpPr>
          <p:spPr>
            <a:xfrm>
              <a:off x="11109960" y="2414016"/>
              <a:ext cx="0" cy="256032"/>
            </a:xfrm>
            <a:prstGeom prst="line">
              <a:avLst/>
            </a:prstGeom>
            <a:ln w="31750">
              <a:solidFill>
                <a:srgbClr val="9AA0A6"/>
              </a:solidFill>
            </a:ln>
          </p:spPr>
        </p:cxnSp>
        <p:sp>
          <p:nvSpPr>
            <p:cNvPr id="56" name="Oval 55"/>
            <p:cNvSpPr/>
            <p:nvPr/>
          </p:nvSpPr>
          <p:spPr>
            <a:xfrm>
              <a:off x="7589520" y="3026664"/>
              <a:ext cx="457200" cy="45720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7" name="Connector 56"/>
            <p:cNvCxnSpPr/>
            <p:nvPr/>
          </p:nvCxnSpPr>
          <p:spPr>
            <a:xfrm flipV="1">
              <a:off x="7818120" y="3145536"/>
              <a:ext cx="128016" cy="109728"/>
            </a:xfrm>
            <a:prstGeom prst="line">
              <a:avLst/>
            </a:prstGeom>
            <a:ln w="25400">
              <a:solidFill>
                <a:srgbClr val="F2C14E"/>
              </a:solidFill>
            </a:ln>
          </p:spPr>
        </p:cxnSp>
        <p:sp>
          <p:nvSpPr>
            <p:cNvPr id="58" name="Oval 57"/>
            <p:cNvSpPr/>
            <p:nvPr/>
          </p:nvSpPr>
          <p:spPr>
            <a:xfrm>
              <a:off x="8412480" y="3026664"/>
              <a:ext cx="457200" cy="45720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9" name="Connector 58"/>
            <p:cNvCxnSpPr/>
            <p:nvPr/>
          </p:nvCxnSpPr>
          <p:spPr>
            <a:xfrm>
              <a:off x="8513064" y="3255264"/>
              <a:ext cx="256032" cy="0"/>
            </a:xfrm>
            <a:prstGeom prst="line">
              <a:avLst/>
            </a:prstGeom>
            <a:ln w="31750">
              <a:solidFill>
                <a:srgbClr val="9AA0A6"/>
              </a:solidFill>
            </a:ln>
          </p:spPr>
        </p:cxnSp>
        <p:cxnSp>
          <p:nvCxnSpPr>
            <p:cNvPr id="60" name="Connector 59"/>
            <p:cNvCxnSpPr/>
            <p:nvPr/>
          </p:nvCxnSpPr>
          <p:spPr>
            <a:xfrm>
              <a:off x="8641080" y="3127248"/>
              <a:ext cx="0" cy="256032"/>
            </a:xfrm>
            <a:prstGeom prst="line">
              <a:avLst/>
            </a:prstGeom>
            <a:ln w="31750">
              <a:solidFill>
                <a:srgbClr val="9AA0A6"/>
              </a:solidFill>
            </a:ln>
          </p:spPr>
        </p:cxnSp>
        <p:sp>
          <p:nvSpPr>
            <p:cNvPr id="61" name="Oval 60"/>
            <p:cNvSpPr/>
            <p:nvPr/>
          </p:nvSpPr>
          <p:spPr>
            <a:xfrm>
              <a:off x="9235440" y="3026664"/>
              <a:ext cx="457200" cy="45720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2" name="Connector 61"/>
            <p:cNvCxnSpPr/>
            <p:nvPr/>
          </p:nvCxnSpPr>
          <p:spPr>
            <a:xfrm flipV="1">
              <a:off x="9464040" y="3145536"/>
              <a:ext cx="128016" cy="109728"/>
            </a:xfrm>
            <a:prstGeom prst="line">
              <a:avLst/>
            </a:prstGeom>
            <a:ln w="25400">
              <a:solidFill>
                <a:srgbClr val="F2C14E"/>
              </a:solidFill>
            </a:ln>
          </p:spPr>
        </p:cxnSp>
        <p:sp>
          <p:nvSpPr>
            <p:cNvPr id="63" name="Oval 62"/>
            <p:cNvSpPr/>
            <p:nvPr/>
          </p:nvSpPr>
          <p:spPr>
            <a:xfrm>
              <a:off x="10058400" y="3026664"/>
              <a:ext cx="457200" cy="45720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4" name="Connector 63"/>
            <p:cNvCxnSpPr/>
            <p:nvPr/>
          </p:nvCxnSpPr>
          <p:spPr>
            <a:xfrm>
              <a:off x="10158984" y="3255264"/>
              <a:ext cx="256032" cy="0"/>
            </a:xfrm>
            <a:prstGeom prst="line">
              <a:avLst/>
            </a:prstGeom>
            <a:ln w="31750">
              <a:solidFill>
                <a:srgbClr val="9AA0A6"/>
              </a:solidFill>
            </a:ln>
          </p:spPr>
        </p:cxnSp>
        <p:cxnSp>
          <p:nvCxnSpPr>
            <p:cNvPr id="65" name="Connector 64"/>
            <p:cNvCxnSpPr/>
            <p:nvPr/>
          </p:nvCxnSpPr>
          <p:spPr>
            <a:xfrm>
              <a:off x="10287000" y="3127248"/>
              <a:ext cx="0" cy="256032"/>
            </a:xfrm>
            <a:prstGeom prst="line">
              <a:avLst/>
            </a:prstGeom>
            <a:ln w="31750">
              <a:solidFill>
                <a:srgbClr val="9AA0A6"/>
              </a:solidFill>
            </a:ln>
          </p:spPr>
        </p:cxnSp>
        <p:sp>
          <p:nvSpPr>
            <p:cNvPr id="66" name="Oval 65"/>
            <p:cNvSpPr/>
            <p:nvPr/>
          </p:nvSpPr>
          <p:spPr>
            <a:xfrm>
              <a:off x="10881360" y="3026664"/>
              <a:ext cx="457200" cy="45720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7" name="Connector 66"/>
            <p:cNvCxnSpPr/>
            <p:nvPr/>
          </p:nvCxnSpPr>
          <p:spPr>
            <a:xfrm flipV="1">
              <a:off x="11109960" y="3145536"/>
              <a:ext cx="128016" cy="109728"/>
            </a:xfrm>
            <a:prstGeom prst="line">
              <a:avLst/>
            </a:prstGeom>
            <a:ln w="25400">
              <a:solidFill>
                <a:srgbClr val="F2C14E"/>
              </a:solidFill>
            </a:ln>
          </p:spPr>
        </p:cxnSp>
        <p:sp>
          <p:nvSpPr>
            <p:cNvPr id="68" name="Oval 67"/>
            <p:cNvSpPr/>
            <p:nvPr/>
          </p:nvSpPr>
          <p:spPr>
            <a:xfrm>
              <a:off x="7589520" y="3739896"/>
              <a:ext cx="457200" cy="45720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9" name="Connector 68"/>
            <p:cNvCxnSpPr/>
            <p:nvPr/>
          </p:nvCxnSpPr>
          <p:spPr>
            <a:xfrm>
              <a:off x="7690104" y="3968496"/>
              <a:ext cx="256032" cy="0"/>
            </a:xfrm>
            <a:prstGeom prst="line">
              <a:avLst/>
            </a:prstGeom>
            <a:ln w="31750">
              <a:solidFill>
                <a:srgbClr val="9AA0A6"/>
              </a:solidFill>
            </a:ln>
          </p:spPr>
        </p:cxnSp>
        <p:cxnSp>
          <p:nvCxnSpPr>
            <p:cNvPr id="70" name="Connector 69"/>
            <p:cNvCxnSpPr/>
            <p:nvPr/>
          </p:nvCxnSpPr>
          <p:spPr>
            <a:xfrm>
              <a:off x="7818120" y="3840480"/>
              <a:ext cx="0" cy="256032"/>
            </a:xfrm>
            <a:prstGeom prst="line">
              <a:avLst/>
            </a:prstGeom>
            <a:ln w="31750">
              <a:solidFill>
                <a:srgbClr val="9AA0A6"/>
              </a:solidFill>
            </a:ln>
          </p:spPr>
        </p:cxnSp>
        <p:sp>
          <p:nvSpPr>
            <p:cNvPr id="71" name="Oval 70"/>
            <p:cNvSpPr/>
            <p:nvPr/>
          </p:nvSpPr>
          <p:spPr>
            <a:xfrm>
              <a:off x="8412480" y="3739896"/>
              <a:ext cx="457200" cy="45720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2" name="Connector 71"/>
            <p:cNvCxnSpPr/>
            <p:nvPr/>
          </p:nvCxnSpPr>
          <p:spPr>
            <a:xfrm flipV="1">
              <a:off x="8641080" y="3858768"/>
              <a:ext cx="128016" cy="109728"/>
            </a:xfrm>
            <a:prstGeom prst="line">
              <a:avLst/>
            </a:prstGeom>
            <a:ln w="25400">
              <a:solidFill>
                <a:srgbClr val="F2C14E"/>
              </a:solidFill>
            </a:ln>
          </p:spPr>
        </p:cxnSp>
        <p:sp>
          <p:nvSpPr>
            <p:cNvPr id="73" name="Oval 72"/>
            <p:cNvSpPr/>
            <p:nvPr/>
          </p:nvSpPr>
          <p:spPr>
            <a:xfrm>
              <a:off x="9235440" y="3739896"/>
              <a:ext cx="457200" cy="45720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4" name="Connector 73"/>
            <p:cNvCxnSpPr/>
            <p:nvPr/>
          </p:nvCxnSpPr>
          <p:spPr>
            <a:xfrm>
              <a:off x="9336024" y="3968496"/>
              <a:ext cx="256032" cy="0"/>
            </a:xfrm>
            <a:prstGeom prst="line">
              <a:avLst/>
            </a:prstGeom>
            <a:ln w="31750">
              <a:solidFill>
                <a:srgbClr val="9AA0A6"/>
              </a:solidFill>
            </a:ln>
          </p:spPr>
        </p:cxnSp>
        <p:cxnSp>
          <p:nvCxnSpPr>
            <p:cNvPr id="75" name="Connector 74"/>
            <p:cNvCxnSpPr/>
            <p:nvPr/>
          </p:nvCxnSpPr>
          <p:spPr>
            <a:xfrm>
              <a:off x="9464040" y="3840480"/>
              <a:ext cx="0" cy="256032"/>
            </a:xfrm>
            <a:prstGeom prst="line">
              <a:avLst/>
            </a:prstGeom>
            <a:ln w="31750">
              <a:solidFill>
                <a:srgbClr val="9AA0A6"/>
              </a:solidFill>
            </a:ln>
          </p:spPr>
        </p:cxnSp>
        <p:sp>
          <p:nvSpPr>
            <p:cNvPr id="76" name="Oval 75"/>
            <p:cNvSpPr/>
            <p:nvPr/>
          </p:nvSpPr>
          <p:spPr>
            <a:xfrm>
              <a:off x="10058400" y="3739896"/>
              <a:ext cx="457200" cy="45720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7" name="Connector 76"/>
            <p:cNvCxnSpPr/>
            <p:nvPr/>
          </p:nvCxnSpPr>
          <p:spPr>
            <a:xfrm flipV="1">
              <a:off x="10287000" y="3858768"/>
              <a:ext cx="128016" cy="109728"/>
            </a:xfrm>
            <a:prstGeom prst="line">
              <a:avLst/>
            </a:prstGeom>
            <a:ln w="25400">
              <a:solidFill>
                <a:srgbClr val="F2C14E"/>
              </a:solidFill>
            </a:ln>
          </p:spPr>
        </p:cxnSp>
        <p:sp>
          <p:nvSpPr>
            <p:cNvPr id="78" name="Oval 77"/>
            <p:cNvSpPr/>
            <p:nvPr/>
          </p:nvSpPr>
          <p:spPr>
            <a:xfrm>
              <a:off x="10881360" y="3739896"/>
              <a:ext cx="457200" cy="45720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9" name="Connector 78"/>
            <p:cNvCxnSpPr/>
            <p:nvPr/>
          </p:nvCxnSpPr>
          <p:spPr>
            <a:xfrm>
              <a:off x="10981944" y="3968496"/>
              <a:ext cx="256032" cy="0"/>
            </a:xfrm>
            <a:prstGeom prst="line">
              <a:avLst/>
            </a:prstGeom>
            <a:ln w="31750">
              <a:solidFill>
                <a:srgbClr val="9AA0A6"/>
              </a:solidFill>
            </a:ln>
          </p:spPr>
        </p:cxnSp>
        <p:cxnSp>
          <p:nvCxnSpPr>
            <p:cNvPr id="80" name="Connector 79"/>
            <p:cNvCxnSpPr/>
            <p:nvPr/>
          </p:nvCxnSpPr>
          <p:spPr>
            <a:xfrm>
              <a:off x="11109960" y="3840480"/>
              <a:ext cx="0" cy="256032"/>
            </a:xfrm>
            <a:prstGeom prst="line">
              <a:avLst/>
            </a:prstGeom>
            <a:ln w="31750">
              <a:solidFill>
                <a:srgbClr val="9AA0A6"/>
              </a:solidFill>
            </a:ln>
          </p:spPr>
        </p:cxnSp>
        <p:sp>
          <p:nvSpPr>
            <p:cNvPr id="81" name="Oval 80"/>
            <p:cNvSpPr/>
            <p:nvPr/>
          </p:nvSpPr>
          <p:spPr>
            <a:xfrm>
              <a:off x="7589520" y="4453128"/>
              <a:ext cx="457200" cy="45720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82" name="Connector 81"/>
            <p:cNvCxnSpPr/>
            <p:nvPr/>
          </p:nvCxnSpPr>
          <p:spPr>
            <a:xfrm flipV="1">
              <a:off x="7818120" y="4572000"/>
              <a:ext cx="128016" cy="109728"/>
            </a:xfrm>
            <a:prstGeom prst="line">
              <a:avLst/>
            </a:prstGeom>
            <a:ln w="25400">
              <a:solidFill>
                <a:srgbClr val="F2C14E"/>
              </a:solidFill>
            </a:ln>
          </p:spPr>
        </p:cxnSp>
        <p:sp>
          <p:nvSpPr>
            <p:cNvPr id="83" name="Oval 82"/>
            <p:cNvSpPr/>
            <p:nvPr/>
          </p:nvSpPr>
          <p:spPr>
            <a:xfrm>
              <a:off x="8412480" y="4453128"/>
              <a:ext cx="457200" cy="45720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84" name="Connector 83"/>
            <p:cNvCxnSpPr/>
            <p:nvPr/>
          </p:nvCxnSpPr>
          <p:spPr>
            <a:xfrm>
              <a:off x="8513064" y="4681728"/>
              <a:ext cx="256032" cy="0"/>
            </a:xfrm>
            <a:prstGeom prst="line">
              <a:avLst/>
            </a:prstGeom>
            <a:ln w="31750">
              <a:solidFill>
                <a:srgbClr val="9AA0A6"/>
              </a:solidFill>
            </a:ln>
          </p:spPr>
        </p:cxnSp>
        <p:cxnSp>
          <p:nvCxnSpPr>
            <p:cNvPr id="85" name="Connector 84"/>
            <p:cNvCxnSpPr/>
            <p:nvPr/>
          </p:nvCxnSpPr>
          <p:spPr>
            <a:xfrm>
              <a:off x="8641080" y="4553712"/>
              <a:ext cx="0" cy="256032"/>
            </a:xfrm>
            <a:prstGeom prst="line">
              <a:avLst/>
            </a:prstGeom>
            <a:ln w="31750">
              <a:solidFill>
                <a:srgbClr val="9AA0A6"/>
              </a:solidFill>
            </a:ln>
          </p:spPr>
        </p:cxnSp>
        <p:sp>
          <p:nvSpPr>
            <p:cNvPr id="86" name="Oval 85"/>
            <p:cNvSpPr/>
            <p:nvPr/>
          </p:nvSpPr>
          <p:spPr>
            <a:xfrm>
              <a:off x="9235440" y="4453128"/>
              <a:ext cx="457200" cy="45720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87" name="Connector 86"/>
            <p:cNvCxnSpPr/>
            <p:nvPr/>
          </p:nvCxnSpPr>
          <p:spPr>
            <a:xfrm flipV="1">
              <a:off x="9464040" y="4572000"/>
              <a:ext cx="128016" cy="109728"/>
            </a:xfrm>
            <a:prstGeom prst="line">
              <a:avLst/>
            </a:prstGeom>
            <a:ln w="25400">
              <a:solidFill>
                <a:srgbClr val="F2C14E"/>
              </a:solidFill>
            </a:ln>
          </p:spPr>
        </p:cxnSp>
        <p:sp>
          <p:nvSpPr>
            <p:cNvPr id="88" name="Oval 87"/>
            <p:cNvSpPr/>
            <p:nvPr/>
          </p:nvSpPr>
          <p:spPr>
            <a:xfrm>
              <a:off x="10058400" y="4453128"/>
              <a:ext cx="457200" cy="45720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89" name="Connector 88"/>
            <p:cNvCxnSpPr/>
            <p:nvPr/>
          </p:nvCxnSpPr>
          <p:spPr>
            <a:xfrm>
              <a:off x="10158984" y="4681728"/>
              <a:ext cx="256032" cy="0"/>
            </a:xfrm>
            <a:prstGeom prst="line">
              <a:avLst/>
            </a:prstGeom>
            <a:ln w="31750">
              <a:solidFill>
                <a:srgbClr val="9AA0A6"/>
              </a:solidFill>
            </a:ln>
          </p:spPr>
        </p:cxnSp>
        <p:cxnSp>
          <p:nvCxnSpPr>
            <p:cNvPr id="90" name="Connector 89"/>
            <p:cNvCxnSpPr/>
            <p:nvPr/>
          </p:nvCxnSpPr>
          <p:spPr>
            <a:xfrm>
              <a:off x="10287000" y="4553712"/>
              <a:ext cx="0" cy="256032"/>
            </a:xfrm>
            <a:prstGeom prst="line">
              <a:avLst/>
            </a:prstGeom>
            <a:ln w="31750">
              <a:solidFill>
                <a:srgbClr val="9AA0A6"/>
              </a:solidFill>
            </a:ln>
          </p:spPr>
        </p:cxnSp>
        <p:sp>
          <p:nvSpPr>
            <p:cNvPr id="91" name="Oval 90"/>
            <p:cNvSpPr/>
            <p:nvPr/>
          </p:nvSpPr>
          <p:spPr>
            <a:xfrm>
              <a:off x="10881360" y="4453128"/>
              <a:ext cx="457200" cy="45720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92" name="Connector 91"/>
            <p:cNvCxnSpPr/>
            <p:nvPr/>
          </p:nvCxnSpPr>
          <p:spPr>
            <a:xfrm flipV="1">
              <a:off x="11109960" y="4572000"/>
              <a:ext cx="128016" cy="109728"/>
            </a:xfrm>
            <a:prstGeom prst="line">
              <a:avLst/>
            </a:prstGeom>
            <a:ln w="25400">
              <a:solidFill>
                <a:srgbClr val="F2C14E"/>
              </a:solidFill>
            </a:ln>
          </p:spPr>
        </p:cxnSp>
        <p:sp>
          <p:nvSpPr>
            <p:cNvPr id="93" name="&quot;No&quot; Symbol 92"/>
            <p:cNvSpPr/>
            <p:nvPr/>
          </p:nvSpPr>
          <p:spPr>
            <a:xfrm>
              <a:off x="7863840" y="1828800"/>
              <a:ext cx="3246120" cy="3246120"/>
            </a:xfrm>
            <a:prstGeom prst="noSmoking">
              <a:avLst/>
            </a:prstGeom>
            <a:solidFill>
              <a:srgbClr val="E5484D">
                <a:alpha val="9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94" name="Caption"/>
          <p:cNvSpPr/>
          <p:nvPr/>
        </p:nvSpPr>
        <p:spPr>
          <a:xfrm>
            <a:off x="548640" y="574243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27432" rIns="182880" bIns="27432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No injectors and no dozens of valves. It is steam driving, not a full simulator.</a:t>
            </a:r>
          </a:p>
        </p:txBody>
      </p:sp>
      <p:sp>
        <p:nvSpPr>
          <p:cNvPr id="95" name="Caption rule"/>
          <p:cNvSpPr/>
          <p:nvPr/>
        </p:nvSpPr>
        <p:spPr>
          <a:xfrm>
            <a:off x="548640" y="5742432"/>
            <a:ext cx="73152" cy="69494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Slide number"/>
          <p:cNvSpPr txBox="1"/>
          <p:nvPr/>
        </p:nvSpPr>
        <p:spPr>
          <a:xfrm>
            <a:off x="11064240" y="647395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Mistakes have natural results</a:t>
            </a:r>
          </a:p>
        </p:txBody>
      </p:sp>
      <p:sp>
        <p:nvSpPr>
          <p:cNvPr id="3" name="Status chip"/>
          <p:cNvSpPr/>
          <p:nvPr/>
        </p:nvSpPr>
        <p:spPr>
          <a:xfrm>
            <a:off x="10131552" y="457200"/>
            <a:ext cx="1481328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Diagram: four mistakes and their natural results, and a crossed-out card" descr="Four cause and effect pairs: wrong settings give weaker pull, too much power makes wheels slip, low steam pressure gives less power, a weak fire gives a weaker engine. A crossed-out card reads Explosions and permanent damage."/>
          <p:cNvGrpSpPr/>
          <p:nvPr/>
        </p:nvGrpSpPr>
        <p:grpSpPr>
          <a:xfrm>
            <a:off x="548640" y="1417320"/>
            <a:ext cx="11091672" cy="3392424"/>
            <a:chOff x="548640" y="1417320"/>
            <a:chExt cx="11091672" cy="3392424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417320"/>
              <a:ext cx="3200400" cy="731520"/>
            </a:xfrm>
            <a:prstGeom prst="roundRect">
              <a:avLst>
                <a:gd name="adj" fmla="val 12500"/>
              </a:avLst>
            </a:prstGeom>
            <a:solidFill>
              <a:srgbClr val="2B2F36"/>
            </a:solidFill>
            <a:ln w="19050">
              <a:solidFill>
                <a:srgbClr val="9AA0A6"/>
              </a:solidFill>
            </a:ln>
          </p:spPr>
          <p:txBody>
            <a:bodyPr rtlCol="0" anchor="ctr" wrap="square" lIns="73152" tIns="27432" rIns="73152" bIns="27432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Wrong settings</a:t>
              </a:r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3840480" y="1783080"/>
              <a:ext cx="685800" cy="0"/>
            </a:xfrm>
            <a:prstGeom prst="line">
              <a:avLst/>
            </a:prstGeom>
            <a:ln w="38100">
              <a:solidFill>
                <a:srgbClr val="F28C28"/>
              </a:solidFill>
              <a:tailEnd type="triangle" w="med" len="med"/>
            </a:ln>
          </p:spPr>
        </p:cxnSp>
        <p:sp>
          <p:nvSpPr>
            <p:cNvPr id="7" name="Rounded Rectangle 6"/>
            <p:cNvSpPr/>
            <p:nvPr/>
          </p:nvSpPr>
          <p:spPr>
            <a:xfrm>
              <a:off x="4617720" y="1417320"/>
              <a:ext cx="3200400" cy="731520"/>
            </a:xfrm>
            <a:prstGeom prst="roundRect">
              <a:avLst>
                <a:gd name="adj" fmla="val 12500"/>
              </a:avLst>
            </a:prstGeom>
            <a:solidFill>
              <a:srgbClr val="343A43"/>
            </a:solidFill>
            <a:ln w="25400">
              <a:solidFill>
                <a:srgbClr val="F28C28"/>
              </a:solidFill>
            </a:ln>
          </p:spPr>
          <p:txBody>
            <a:bodyPr rtlCol="0" anchor="ctr" wrap="square" lIns="73152" tIns="27432" rIns="73152" bIns="27432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Weaker pull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48640" y="2304288"/>
              <a:ext cx="3200400" cy="731520"/>
            </a:xfrm>
            <a:prstGeom prst="roundRect">
              <a:avLst>
                <a:gd name="adj" fmla="val 12500"/>
              </a:avLst>
            </a:prstGeom>
            <a:solidFill>
              <a:srgbClr val="2B2F36"/>
            </a:solidFill>
            <a:ln w="19050">
              <a:solidFill>
                <a:srgbClr val="9AA0A6"/>
              </a:solidFill>
            </a:ln>
          </p:spPr>
          <p:txBody>
            <a:bodyPr rtlCol="0" anchor="ctr" wrap="square" lIns="73152" tIns="27432" rIns="73152" bIns="27432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Too much power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3840480" y="2670048"/>
              <a:ext cx="685800" cy="0"/>
            </a:xfrm>
            <a:prstGeom prst="line">
              <a:avLst/>
            </a:prstGeom>
            <a:ln w="38100">
              <a:solidFill>
                <a:srgbClr val="F28C28"/>
              </a:solidFill>
              <a:tailEnd type="triangle" w="med" len="med"/>
            </a:ln>
          </p:spPr>
        </p:cxnSp>
        <p:sp>
          <p:nvSpPr>
            <p:cNvPr id="10" name="Rounded Rectangle 9"/>
            <p:cNvSpPr/>
            <p:nvPr/>
          </p:nvSpPr>
          <p:spPr>
            <a:xfrm>
              <a:off x="4617720" y="2304288"/>
              <a:ext cx="3200400" cy="731520"/>
            </a:xfrm>
            <a:prstGeom prst="roundRect">
              <a:avLst>
                <a:gd name="adj" fmla="val 12500"/>
              </a:avLst>
            </a:prstGeom>
            <a:solidFill>
              <a:srgbClr val="343A43"/>
            </a:solidFill>
            <a:ln w="25400">
              <a:solidFill>
                <a:srgbClr val="F28C28"/>
              </a:solidFill>
            </a:ln>
          </p:spPr>
          <p:txBody>
            <a:bodyPr rtlCol="0" anchor="ctr" wrap="square" lIns="73152" tIns="27432" rIns="73152" bIns="27432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Wheels slip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48640" y="3191256"/>
              <a:ext cx="3200400" cy="731520"/>
            </a:xfrm>
            <a:prstGeom prst="roundRect">
              <a:avLst>
                <a:gd name="adj" fmla="val 12500"/>
              </a:avLst>
            </a:prstGeom>
            <a:solidFill>
              <a:srgbClr val="2B2F36"/>
            </a:solidFill>
            <a:ln w="19050">
              <a:solidFill>
                <a:srgbClr val="9AA0A6"/>
              </a:solidFill>
            </a:ln>
          </p:spPr>
          <p:txBody>
            <a:bodyPr rtlCol="0" anchor="ctr" wrap="square" lIns="73152" tIns="27432" rIns="73152" bIns="27432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Low steam pressure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3840480" y="3557016"/>
              <a:ext cx="685800" cy="0"/>
            </a:xfrm>
            <a:prstGeom prst="line">
              <a:avLst/>
            </a:prstGeom>
            <a:ln w="38100">
              <a:solidFill>
                <a:srgbClr val="F28C28"/>
              </a:solidFill>
              <a:tailEnd type="triangle" w="med" len="med"/>
            </a:ln>
          </p:spPr>
        </p:cxnSp>
        <p:sp>
          <p:nvSpPr>
            <p:cNvPr id="13" name="Rounded Rectangle 12"/>
            <p:cNvSpPr/>
            <p:nvPr/>
          </p:nvSpPr>
          <p:spPr>
            <a:xfrm>
              <a:off x="4617720" y="3191256"/>
              <a:ext cx="3200400" cy="731520"/>
            </a:xfrm>
            <a:prstGeom prst="roundRect">
              <a:avLst>
                <a:gd name="adj" fmla="val 12500"/>
              </a:avLst>
            </a:prstGeom>
            <a:solidFill>
              <a:srgbClr val="343A43"/>
            </a:solidFill>
            <a:ln w="25400">
              <a:solidFill>
                <a:srgbClr val="F28C28"/>
              </a:solidFill>
            </a:ln>
          </p:spPr>
          <p:txBody>
            <a:bodyPr rtlCol="0" anchor="ctr" wrap="square" lIns="73152" tIns="27432" rIns="73152" bIns="27432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Less power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48640" y="4078224"/>
              <a:ext cx="3200400" cy="731520"/>
            </a:xfrm>
            <a:prstGeom prst="roundRect">
              <a:avLst>
                <a:gd name="adj" fmla="val 12500"/>
              </a:avLst>
            </a:prstGeom>
            <a:solidFill>
              <a:srgbClr val="2B2F36"/>
            </a:solidFill>
            <a:ln w="19050">
              <a:solidFill>
                <a:srgbClr val="9AA0A6"/>
              </a:solidFill>
            </a:ln>
          </p:spPr>
          <p:txBody>
            <a:bodyPr rtlCol="0" anchor="ctr" wrap="square" lIns="73152" tIns="27432" rIns="73152" bIns="27432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Weak fire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3840480" y="4443984"/>
              <a:ext cx="685800" cy="0"/>
            </a:xfrm>
            <a:prstGeom prst="line">
              <a:avLst/>
            </a:prstGeom>
            <a:ln w="38100">
              <a:solidFill>
                <a:srgbClr val="F28C28"/>
              </a:solidFill>
              <a:tailEnd type="triangle" w="med" len="med"/>
            </a:ln>
          </p:spPr>
        </p:cxnSp>
        <p:sp>
          <p:nvSpPr>
            <p:cNvPr id="16" name="Rounded Rectangle 15"/>
            <p:cNvSpPr/>
            <p:nvPr/>
          </p:nvSpPr>
          <p:spPr>
            <a:xfrm>
              <a:off x="4617720" y="4078224"/>
              <a:ext cx="3200400" cy="731520"/>
            </a:xfrm>
            <a:prstGeom prst="roundRect">
              <a:avLst>
                <a:gd name="adj" fmla="val 12500"/>
              </a:avLst>
            </a:prstGeom>
            <a:solidFill>
              <a:srgbClr val="343A43"/>
            </a:solidFill>
            <a:ln w="25400">
              <a:solidFill>
                <a:srgbClr val="F28C28"/>
              </a:solidFill>
            </a:ln>
          </p:spPr>
          <p:txBody>
            <a:bodyPr rtlCol="0" anchor="ctr" wrap="square" lIns="73152" tIns="27432" rIns="73152" bIns="27432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Weaker engine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321040" y="1417320"/>
              <a:ext cx="3319272" cy="2651760"/>
            </a:xfrm>
            <a:prstGeom prst="roundRect">
              <a:avLst>
                <a:gd name="adj" fmla="val 3448"/>
              </a:avLst>
            </a:prstGeom>
            <a:solidFill>
              <a:srgbClr val="2B2F36"/>
            </a:solidFill>
            <a:ln w="38100">
              <a:solidFill>
                <a:srgbClr val="E5484D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ross"/>
            <p:cNvCxnSpPr/>
            <p:nvPr/>
          </p:nvCxnSpPr>
          <p:spPr>
            <a:xfrm>
              <a:off x="8321040" y="1417320"/>
              <a:ext cx="3319272" cy="2651760"/>
            </a:xfrm>
            <a:prstGeom prst="line">
              <a:avLst/>
            </a:prstGeom>
            <a:ln w="63500">
              <a:solidFill>
                <a:srgbClr val="E5484D">
                  <a:alpha val="75000"/>
                </a:srgbClr>
              </a:solidFill>
            </a:ln>
          </p:spPr>
        </p:cxnSp>
        <p:cxnSp>
          <p:nvCxnSpPr>
            <p:cNvPr id="19" name="Cross"/>
            <p:cNvCxnSpPr/>
            <p:nvPr/>
          </p:nvCxnSpPr>
          <p:spPr>
            <a:xfrm flipH="1">
              <a:off x="8321040" y="1417320"/>
              <a:ext cx="3319272" cy="2651760"/>
            </a:xfrm>
            <a:prstGeom prst="line">
              <a:avLst/>
            </a:prstGeom>
            <a:ln w="63500">
              <a:solidFill>
                <a:srgbClr val="E5484D">
                  <a:alpha val="75000"/>
                </a:srgbClr>
              </a:solidFill>
            </a:ln>
          </p:spPr>
        </p:cxnSp>
        <p:sp>
          <p:nvSpPr>
            <p:cNvPr id="20" name="TextBox 19"/>
            <p:cNvSpPr txBox="1"/>
            <p:nvPr/>
          </p:nvSpPr>
          <p:spPr>
            <a:xfrm>
              <a:off x="8503920" y="1965960"/>
              <a:ext cx="2953512" cy="15544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200" b="1" i="0" lang="en-GB">
                  <a:solidFill>
                    <a:srgbClr val="F2F2F2"/>
                  </a:solidFill>
                  <a:latin typeface="Arial"/>
                </a:rPr>
                <a:t>Explosions and permanent damage</a:t>
              </a:r>
            </a:p>
          </p:txBody>
        </p:sp>
      </p:grpSp>
      <p:sp>
        <p:nvSpPr>
          <p:cNvPr id="21" name="Inline chip"/>
          <p:cNvSpPr/>
          <p:nvPr/>
        </p:nvSpPr>
        <p:spPr>
          <a:xfrm>
            <a:off x="548640" y="5029200"/>
            <a:ext cx="2751965" cy="329184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none" lIns="73152" tIns="18288" rIns="73152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F2F2F2"/>
                </a:solidFill>
                <a:latin typeface="Arial"/>
              </a:rPr>
              <a:t>Exact rules: undecided (OQ24)</a:t>
            </a:r>
          </a:p>
        </p:txBody>
      </p:sp>
      <p:sp>
        <p:nvSpPr>
          <p:cNvPr id="22" name="Caption"/>
          <p:cNvSpPr/>
          <p:nvPr/>
        </p:nvSpPr>
        <p:spPr>
          <a:xfrm>
            <a:off x="548640" y="574243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27432" rIns="182880" bIns="27432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Bad driving costs speed and pulling power. It never wrecks your engine.</a:t>
            </a:r>
          </a:p>
        </p:txBody>
      </p:sp>
      <p:sp>
        <p:nvSpPr>
          <p:cNvPr id="23" name="Caption rule"/>
          <p:cNvSpPr/>
          <p:nvPr/>
        </p:nvSpPr>
        <p:spPr>
          <a:xfrm>
            <a:off x="548640" y="5742432"/>
            <a:ext cx="73152" cy="69494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lide number"/>
          <p:cNvSpPr txBox="1"/>
          <p:nvPr/>
        </p:nvSpPr>
        <p:spPr>
          <a:xfrm>
            <a:off x="11064240" y="647395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Skill can pay</a:t>
            </a:r>
          </a:p>
        </p:txBody>
      </p:sp>
      <p:sp>
        <p:nvSpPr>
          <p:cNvPr id="3" name="Status chip"/>
          <p:cNvSpPr/>
          <p:nvPr/>
        </p:nvSpPr>
        <p:spPr>
          <a:xfrm>
            <a:off x="10131552" y="457200"/>
            <a:ext cx="1481328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Diagram: a hill with two speed lines" descr="A hill profile. Two speed lines run across it: Simple is steady and Advanced is slightly higher. A marker shows where to prepare before the climb. Shape only, not measured."/>
          <p:cNvGrpSpPr/>
          <p:nvPr/>
        </p:nvGrpSpPr>
        <p:grpSpPr>
          <a:xfrm>
            <a:off x="548640" y="1325880"/>
            <a:ext cx="11091672" cy="3749040"/>
            <a:chOff x="548640" y="1325880"/>
            <a:chExt cx="11091672" cy="3749040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325880"/>
              <a:ext cx="11091672" cy="3749040"/>
            </a:xfrm>
            <a:prstGeom prst="roundRect">
              <a:avLst>
                <a:gd name="adj" fmla="val 1951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914400" y="3520440"/>
              <a:ext cx="10332720" cy="1417320"/>
            </a:xfrm>
            <a:custGeom>
              <a:avLst/>
              <a:gdLst/>
              <a:ahLst/>
              <a:cxnLst/>
              <a:rect l="l" t="t" r="r" b="b"/>
              <a:pathLst>
                <a:path w="10332720" h="1417320">
                  <a:moveTo>
                    <a:pt x="0" y="914400"/>
                  </a:moveTo>
                  <a:lnTo>
                    <a:pt x="0" y="914400"/>
                  </a:lnTo>
                  <a:lnTo>
                    <a:pt x="91440" y="914400"/>
                  </a:lnTo>
                  <a:lnTo>
                    <a:pt x="182880" y="914400"/>
                  </a:lnTo>
                  <a:lnTo>
                    <a:pt x="274320" y="914400"/>
                  </a:lnTo>
                  <a:lnTo>
                    <a:pt x="365760" y="914400"/>
                  </a:lnTo>
                  <a:lnTo>
                    <a:pt x="457200" y="914400"/>
                  </a:lnTo>
                  <a:lnTo>
                    <a:pt x="548640" y="914400"/>
                  </a:lnTo>
                  <a:lnTo>
                    <a:pt x="640080" y="914400"/>
                  </a:lnTo>
                  <a:lnTo>
                    <a:pt x="731520" y="914400"/>
                  </a:lnTo>
                  <a:lnTo>
                    <a:pt x="822960" y="914400"/>
                  </a:lnTo>
                  <a:lnTo>
                    <a:pt x="914400" y="914400"/>
                  </a:lnTo>
                  <a:lnTo>
                    <a:pt x="1005840" y="914400"/>
                  </a:lnTo>
                  <a:lnTo>
                    <a:pt x="1097280" y="914400"/>
                  </a:lnTo>
                  <a:lnTo>
                    <a:pt x="1188720" y="914400"/>
                  </a:lnTo>
                  <a:lnTo>
                    <a:pt x="1280160" y="914400"/>
                  </a:lnTo>
                  <a:lnTo>
                    <a:pt x="1371600" y="914400"/>
                  </a:lnTo>
                  <a:lnTo>
                    <a:pt x="1463040" y="914400"/>
                  </a:lnTo>
                  <a:lnTo>
                    <a:pt x="1554480" y="914400"/>
                  </a:lnTo>
                  <a:lnTo>
                    <a:pt x="1645920" y="914400"/>
                  </a:lnTo>
                  <a:lnTo>
                    <a:pt x="1737360" y="914400"/>
                  </a:lnTo>
                  <a:lnTo>
                    <a:pt x="1828800" y="914400"/>
                  </a:lnTo>
                  <a:lnTo>
                    <a:pt x="1920240" y="914400"/>
                  </a:lnTo>
                  <a:lnTo>
                    <a:pt x="2011680" y="914400"/>
                  </a:lnTo>
                  <a:lnTo>
                    <a:pt x="2103120" y="914400"/>
                  </a:lnTo>
                  <a:lnTo>
                    <a:pt x="2194560" y="914400"/>
                  </a:lnTo>
                  <a:lnTo>
                    <a:pt x="2286000" y="914400"/>
                  </a:lnTo>
                  <a:lnTo>
                    <a:pt x="2377440" y="914400"/>
                  </a:lnTo>
                  <a:lnTo>
                    <a:pt x="2468880" y="914400"/>
                  </a:lnTo>
                  <a:lnTo>
                    <a:pt x="2560320" y="914400"/>
                  </a:lnTo>
                  <a:lnTo>
                    <a:pt x="2651760" y="914400"/>
                  </a:lnTo>
                  <a:lnTo>
                    <a:pt x="2743200" y="914400"/>
                  </a:lnTo>
                  <a:lnTo>
                    <a:pt x="2834640" y="914400"/>
                  </a:lnTo>
                  <a:lnTo>
                    <a:pt x="2926080" y="914400"/>
                  </a:lnTo>
                  <a:lnTo>
                    <a:pt x="3017520" y="914400"/>
                  </a:lnTo>
                  <a:lnTo>
                    <a:pt x="3108960" y="914400"/>
                  </a:lnTo>
                  <a:lnTo>
                    <a:pt x="3200400" y="914400"/>
                  </a:lnTo>
                  <a:lnTo>
                    <a:pt x="3291840" y="914400"/>
                  </a:lnTo>
                  <a:lnTo>
                    <a:pt x="3383280" y="914400"/>
                  </a:lnTo>
                  <a:lnTo>
                    <a:pt x="3474720" y="914400"/>
                  </a:lnTo>
                  <a:lnTo>
                    <a:pt x="3566160" y="914400"/>
                  </a:lnTo>
                  <a:lnTo>
                    <a:pt x="3657600" y="914400"/>
                  </a:lnTo>
                  <a:lnTo>
                    <a:pt x="3749040" y="914400"/>
                  </a:lnTo>
                  <a:lnTo>
                    <a:pt x="3840480" y="914400"/>
                  </a:lnTo>
                  <a:lnTo>
                    <a:pt x="3931920" y="914400"/>
                  </a:lnTo>
                  <a:lnTo>
                    <a:pt x="4023360" y="914400"/>
                  </a:lnTo>
                  <a:lnTo>
                    <a:pt x="4114800" y="908771"/>
                  </a:lnTo>
                  <a:lnTo>
                    <a:pt x="4206240" y="892023"/>
                  </a:lnTo>
                  <a:lnTo>
                    <a:pt x="4297680" y="864568"/>
                  </a:lnTo>
                  <a:lnTo>
                    <a:pt x="4389120" y="827083"/>
                  </a:lnTo>
                  <a:lnTo>
                    <a:pt x="4480560" y="780489"/>
                  </a:lnTo>
                  <a:lnTo>
                    <a:pt x="4572000" y="725935"/>
                  </a:lnTo>
                  <a:lnTo>
                    <a:pt x="4663440" y="664764"/>
                  </a:lnTo>
                  <a:lnTo>
                    <a:pt x="4754880" y="598483"/>
                  </a:lnTo>
                  <a:lnTo>
                    <a:pt x="4846320" y="528722"/>
                  </a:lnTo>
                  <a:lnTo>
                    <a:pt x="4937760" y="457200"/>
                  </a:lnTo>
                  <a:lnTo>
                    <a:pt x="5029200" y="385678"/>
                  </a:lnTo>
                  <a:lnTo>
                    <a:pt x="5120640" y="315917"/>
                  </a:lnTo>
                  <a:lnTo>
                    <a:pt x="5212080" y="249636"/>
                  </a:lnTo>
                  <a:lnTo>
                    <a:pt x="5303520" y="188465"/>
                  </a:lnTo>
                  <a:lnTo>
                    <a:pt x="5394960" y="133911"/>
                  </a:lnTo>
                  <a:lnTo>
                    <a:pt x="5486400" y="87317"/>
                  </a:lnTo>
                  <a:lnTo>
                    <a:pt x="5577840" y="49832"/>
                  </a:lnTo>
                  <a:lnTo>
                    <a:pt x="5669280" y="22377"/>
                  </a:lnTo>
                  <a:lnTo>
                    <a:pt x="5760720" y="5629"/>
                  </a:lnTo>
                  <a:lnTo>
                    <a:pt x="5852160" y="0"/>
                  </a:lnTo>
                  <a:lnTo>
                    <a:pt x="5943600" y="5629"/>
                  </a:lnTo>
                  <a:lnTo>
                    <a:pt x="6035040" y="22377"/>
                  </a:lnTo>
                  <a:lnTo>
                    <a:pt x="6126480" y="49832"/>
                  </a:lnTo>
                  <a:lnTo>
                    <a:pt x="6217920" y="87317"/>
                  </a:lnTo>
                  <a:lnTo>
                    <a:pt x="6309360" y="133911"/>
                  </a:lnTo>
                  <a:lnTo>
                    <a:pt x="6400800" y="188465"/>
                  </a:lnTo>
                  <a:lnTo>
                    <a:pt x="6492240" y="249636"/>
                  </a:lnTo>
                  <a:lnTo>
                    <a:pt x="6583680" y="315917"/>
                  </a:lnTo>
                  <a:lnTo>
                    <a:pt x="6675120" y="385678"/>
                  </a:lnTo>
                  <a:lnTo>
                    <a:pt x="6766560" y="457200"/>
                  </a:lnTo>
                  <a:lnTo>
                    <a:pt x="6858000" y="528722"/>
                  </a:lnTo>
                  <a:lnTo>
                    <a:pt x="6949440" y="598483"/>
                  </a:lnTo>
                  <a:lnTo>
                    <a:pt x="7040880" y="664764"/>
                  </a:lnTo>
                  <a:lnTo>
                    <a:pt x="7132320" y="725935"/>
                  </a:lnTo>
                  <a:lnTo>
                    <a:pt x="7223760" y="780489"/>
                  </a:lnTo>
                  <a:lnTo>
                    <a:pt x="7315200" y="827083"/>
                  </a:lnTo>
                  <a:lnTo>
                    <a:pt x="7406640" y="864568"/>
                  </a:lnTo>
                  <a:lnTo>
                    <a:pt x="7498080" y="892023"/>
                  </a:lnTo>
                  <a:lnTo>
                    <a:pt x="7589520" y="908771"/>
                  </a:lnTo>
                  <a:lnTo>
                    <a:pt x="7680960" y="914400"/>
                  </a:lnTo>
                  <a:lnTo>
                    <a:pt x="7772400" y="914400"/>
                  </a:lnTo>
                  <a:lnTo>
                    <a:pt x="7863840" y="914400"/>
                  </a:lnTo>
                  <a:lnTo>
                    <a:pt x="7955280" y="914400"/>
                  </a:lnTo>
                  <a:lnTo>
                    <a:pt x="8046720" y="914400"/>
                  </a:lnTo>
                  <a:lnTo>
                    <a:pt x="8138160" y="914400"/>
                  </a:lnTo>
                  <a:lnTo>
                    <a:pt x="8229600" y="914400"/>
                  </a:lnTo>
                  <a:lnTo>
                    <a:pt x="8321040" y="914400"/>
                  </a:lnTo>
                  <a:lnTo>
                    <a:pt x="8412480" y="914400"/>
                  </a:lnTo>
                  <a:lnTo>
                    <a:pt x="8503920" y="914400"/>
                  </a:lnTo>
                  <a:lnTo>
                    <a:pt x="8595360" y="914400"/>
                  </a:lnTo>
                  <a:lnTo>
                    <a:pt x="8686800" y="914400"/>
                  </a:lnTo>
                  <a:lnTo>
                    <a:pt x="8778240" y="914400"/>
                  </a:lnTo>
                  <a:lnTo>
                    <a:pt x="8869680" y="914400"/>
                  </a:lnTo>
                  <a:lnTo>
                    <a:pt x="8961120" y="914400"/>
                  </a:lnTo>
                  <a:lnTo>
                    <a:pt x="9052560" y="914400"/>
                  </a:lnTo>
                  <a:lnTo>
                    <a:pt x="9144000" y="914400"/>
                  </a:lnTo>
                  <a:lnTo>
                    <a:pt x="9235440" y="914400"/>
                  </a:lnTo>
                  <a:lnTo>
                    <a:pt x="9326880" y="914400"/>
                  </a:lnTo>
                  <a:lnTo>
                    <a:pt x="9418320" y="914400"/>
                  </a:lnTo>
                  <a:lnTo>
                    <a:pt x="9509760" y="914400"/>
                  </a:lnTo>
                  <a:lnTo>
                    <a:pt x="9601200" y="914400"/>
                  </a:lnTo>
                  <a:lnTo>
                    <a:pt x="9692640" y="914400"/>
                  </a:lnTo>
                  <a:lnTo>
                    <a:pt x="9784080" y="914400"/>
                  </a:lnTo>
                  <a:lnTo>
                    <a:pt x="9875520" y="914400"/>
                  </a:lnTo>
                  <a:lnTo>
                    <a:pt x="9966960" y="914400"/>
                  </a:lnTo>
                  <a:lnTo>
                    <a:pt x="10058400" y="914400"/>
                  </a:lnTo>
                  <a:lnTo>
                    <a:pt x="10149840" y="914400"/>
                  </a:lnTo>
                  <a:lnTo>
                    <a:pt x="10241280" y="914400"/>
                  </a:lnTo>
                  <a:lnTo>
                    <a:pt x="10332720" y="914400"/>
                  </a:lnTo>
                  <a:lnTo>
                    <a:pt x="10332720" y="914400"/>
                  </a:lnTo>
                  <a:lnTo>
                    <a:pt x="10332720" y="1417320"/>
                  </a:lnTo>
                  <a:lnTo>
                    <a:pt x="0" y="1417320"/>
                  </a:lnTo>
                  <a:close/>
                </a:path>
              </a:pathLst>
            </a:cu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914400" y="3520440"/>
              <a:ext cx="10332720" cy="914400"/>
            </a:xfrm>
            <a:custGeom>
              <a:avLst/>
              <a:gdLst/>
              <a:ahLst/>
              <a:cxnLst/>
              <a:rect l="l" t="t" r="r" b="b"/>
              <a:pathLst>
                <a:path w="10332720" h="914400">
                  <a:moveTo>
                    <a:pt x="0" y="914400"/>
                  </a:moveTo>
                  <a:lnTo>
                    <a:pt x="91440" y="914400"/>
                  </a:lnTo>
                  <a:lnTo>
                    <a:pt x="182880" y="914400"/>
                  </a:lnTo>
                  <a:lnTo>
                    <a:pt x="274320" y="914400"/>
                  </a:lnTo>
                  <a:lnTo>
                    <a:pt x="365760" y="914400"/>
                  </a:lnTo>
                  <a:lnTo>
                    <a:pt x="457200" y="914400"/>
                  </a:lnTo>
                  <a:lnTo>
                    <a:pt x="548640" y="914400"/>
                  </a:lnTo>
                  <a:lnTo>
                    <a:pt x="640080" y="914400"/>
                  </a:lnTo>
                  <a:lnTo>
                    <a:pt x="731520" y="914400"/>
                  </a:lnTo>
                  <a:lnTo>
                    <a:pt x="822960" y="914400"/>
                  </a:lnTo>
                  <a:lnTo>
                    <a:pt x="914400" y="914400"/>
                  </a:lnTo>
                  <a:lnTo>
                    <a:pt x="1005840" y="914400"/>
                  </a:lnTo>
                  <a:lnTo>
                    <a:pt x="1097280" y="914400"/>
                  </a:lnTo>
                  <a:lnTo>
                    <a:pt x="1188720" y="914400"/>
                  </a:lnTo>
                  <a:lnTo>
                    <a:pt x="1280160" y="914400"/>
                  </a:lnTo>
                  <a:lnTo>
                    <a:pt x="1371600" y="914400"/>
                  </a:lnTo>
                  <a:lnTo>
                    <a:pt x="1463040" y="914400"/>
                  </a:lnTo>
                  <a:lnTo>
                    <a:pt x="1554480" y="914400"/>
                  </a:lnTo>
                  <a:lnTo>
                    <a:pt x="1645920" y="914400"/>
                  </a:lnTo>
                  <a:lnTo>
                    <a:pt x="1737360" y="914400"/>
                  </a:lnTo>
                  <a:lnTo>
                    <a:pt x="1828800" y="914400"/>
                  </a:lnTo>
                  <a:lnTo>
                    <a:pt x="1920240" y="914400"/>
                  </a:lnTo>
                  <a:lnTo>
                    <a:pt x="2011680" y="914400"/>
                  </a:lnTo>
                  <a:lnTo>
                    <a:pt x="2103120" y="914400"/>
                  </a:lnTo>
                  <a:lnTo>
                    <a:pt x="2194560" y="914400"/>
                  </a:lnTo>
                  <a:lnTo>
                    <a:pt x="2286000" y="914400"/>
                  </a:lnTo>
                  <a:lnTo>
                    <a:pt x="2377440" y="914400"/>
                  </a:lnTo>
                  <a:lnTo>
                    <a:pt x="2468880" y="914400"/>
                  </a:lnTo>
                  <a:lnTo>
                    <a:pt x="2560320" y="914400"/>
                  </a:lnTo>
                  <a:lnTo>
                    <a:pt x="2651760" y="914400"/>
                  </a:lnTo>
                  <a:lnTo>
                    <a:pt x="2743200" y="914400"/>
                  </a:lnTo>
                  <a:lnTo>
                    <a:pt x="2834640" y="914400"/>
                  </a:lnTo>
                  <a:lnTo>
                    <a:pt x="2926080" y="914400"/>
                  </a:lnTo>
                  <a:lnTo>
                    <a:pt x="3017520" y="914400"/>
                  </a:lnTo>
                  <a:lnTo>
                    <a:pt x="3108960" y="914400"/>
                  </a:lnTo>
                  <a:lnTo>
                    <a:pt x="3200400" y="914400"/>
                  </a:lnTo>
                  <a:lnTo>
                    <a:pt x="3291840" y="914400"/>
                  </a:lnTo>
                  <a:lnTo>
                    <a:pt x="3383280" y="914400"/>
                  </a:lnTo>
                  <a:lnTo>
                    <a:pt x="3474720" y="914400"/>
                  </a:lnTo>
                  <a:lnTo>
                    <a:pt x="3566160" y="914400"/>
                  </a:lnTo>
                  <a:lnTo>
                    <a:pt x="3657600" y="914400"/>
                  </a:lnTo>
                  <a:lnTo>
                    <a:pt x="3749040" y="914400"/>
                  </a:lnTo>
                  <a:lnTo>
                    <a:pt x="3840480" y="914400"/>
                  </a:lnTo>
                  <a:lnTo>
                    <a:pt x="3931920" y="914400"/>
                  </a:lnTo>
                  <a:lnTo>
                    <a:pt x="4023360" y="914400"/>
                  </a:lnTo>
                  <a:lnTo>
                    <a:pt x="4114800" y="908771"/>
                  </a:lnTo>
                  <a:lnTo>
                    <a:pt x="4206240" y="892023"/>
                  </a:lnTo>
                  <a:lnTo>
                    <a:pt x="4297680" y="864568"/>
                  </a:lnTo>
                  <a:lnTo>
                    <a:pt x="4389120" y="827083"/>
                  </a:lnTo>
                  <a:lnTo>
                    <a:pt x="4480560" y="780489"/>
                  </a:lnTo>
                  <a:lnTo>
                    <a:pt x="4572000" y="725935"/>
                  </a:lnTo>
                  <a:lnTo>
                    <a:pt x="4663440" y="664764"/>
                  </a:lnTo>
                  <a:lnTo>
                    <a:pt x="4754880" y="598483"/>
                  </a:lnTo>
                  <a:lnTo>
                    <a:pt x="4846320" y="528722"/>
                  </a:lnTo>
                  <a:lnTo>
                    <a:pt x="4937760" y="457200"/>
                  </a:lnTo>
                  <a:lnTo>
                    <a:pt x="5029200" y="385678"/>
                  </a:lnTo>
                  <a:lnTo>
                    <a:pt x="5120640" y="315917"/>
                  </a:lnTo>
                  <a:lnTo>
                    <a:pt x="5212080" y="249636"/>
                  </a:lnTo>
                  <a:lnTo>
                    <a:pt x="5303520" y="188465"/>
                  </a:lnTo>
                  <a:lnTo>
                    <a:pt x="5394960" y="133911"/>
                  </a:lnTo>
                  <a:lnTo>
                    <a:pt x="5486400" y="87317"/>
                  </a:lnTo>
                  <a:lnTo>
                    <a:pt x="5577840" y="49832"/>
                  </a:lnTo>
                  <a:lnTo>
                    <a:pt x="5669280" y="22377"/>
                  </a:lnTo>
                  <a:lnTo>
                    <a:pt x="5760720" y="5629"/>
                  </a:lnTo>
                  <a:lnTo>
                    <a:pt x="5852160" y="0"/>
                  </a:lnTo>
                  <a:lnTo>
                    <a:pt x="5943600" y="5629"/>
                  </a:lnTo>
                  <a:lnTo>
                    <a:pt x="6035040" y="22377"/>
                  </a:lnTo>
                  <a:lnTo>
                    <a:pt x="6126480" y="49832"/>
                  </a:lnTo>
                  <a:lnTo>
                    <a:pt x="6217920" y="87317"/>
                  </a:lnTo>
                  <a:lnTo>
                    <a:pt x="6309360" y="133911"/>
                  </a:lnTo>
                  <a:lnTo>
                    <a:pt x="6400800" y="188465"/>
                  </a:lnTo>
                  <a:lnTo>
                    <a:pt x="6492240" y="249636"/>
                  </a:lnTo>
                  <a:lnTo>
                    <a:pt x="6583680" y="315917"/>
                  </a:lnTo>
                  <a:lnTo>
                    <a:pt x="6675120" y="385678"/>
                  </a:lnTo>
                  <a:lnTo>
                    <a:pt x="6766560" y="457200"/>
                  </a:lnTo>
                  <a:lnTo>
                    <a:pt x="6858000" y="528722"/>
                  </a:lnTo>
                  <a:lnTo>
                    <a:pt x="6949440" y="598483"/>
                  </a:lnTo>
                  <a:lnTo>
                    <a:pt x="7040880" y="664764"/>
                  </a:lnTo>
                  <a:lnTo>
                    <a:pt x="7132320" y="725935"/>
                  </a:lnTo>
                  <a:lnTo>
                    <a:pt x="7223760" y="780489"/>
                  </a:lnTo>
                  <a:lnTo>
                    <a:pt x="7315200" y="827083"/>
                  </a:lnTo>
                  <a:lnTo>
                    <a:pt x="7406640" y="864568"/>
                  </a:lnTo>
                  <a:lnTo>
                    <a:pt x="7498080" y="892023"/>
                  </a:lnTo>
                  <a:lnTo>
                    <a:pt x="7589520" y="908771"/>
                  </a:lnTo>
                  <a:lnTo>
                    <a:pt x="7680960" y="914400"/>
                  </a:lnTo>
                  <a:lnTo>
                    <a:pt x="7772400" y="914400"/>
                  </a:lnTo>
                  <a:lnTo>
                    <a:pt x="7863840" y="914400"/>
                  </a:lnTo>
                  <a:lnTo>
                    <a:pt x="7955280" y="914400"/>
                  </a:lnTo>
                  <a:lnTo>
                    <a:pt x="8046720" y="914400"/>
                  </a:lnTo>
                  <a:lnTo>
                    <a:pt x="8138160" y="914400"/>
                  </a:lnTo>
                  <a:lnTo>
                    <a:pt x="8229600" y="914400"/>
                  </a:lnTo>
                  <a:lnTo>
                    <a:pt x="8321040" y="914400"/>
                  </a:lnTo>
                  <a:lnTo>
                    <a:pt x="8412480" y="914400"/>
                  </a:lnTo>
                  <a:lnTo>
                    <a:pt x="8503920" y="914400"/>
                  </a:lnTo>
                  <a:lnTo>
                    <a:pt x="8595360" y="914400"/>
                  </a:lnTo>
                  <a:lnTo>
                    <a:pt x="8686800" y="914400"/>
                  </a:lnTo>
                  <a:lnTo>
                    <a:pt x="8778240" y="914400"/>
                  </a:lnTo>
                  <a:lnTo>
                    <a:pt x="8869680" y="914400"/>
                  </a:lnTo>
                  <a:lnTo>
                    <a:pt x="8961120" y="914400"/>
                  </a:lnTo>
                  <a:lnTo>
                    <a:pt x="9052560" y="914400"/>
                  </a:lnTo>
                  <a:lnTo>
                    <a:pt x="9144000" y="914400"/>
                  </a:lnTo>
                  <a:lnTo>
                    <a:pt x="9235440" y="914400"/>
                  </a:lnTo>
                  <a:lnTo>
                    <a:pt x="9326880" y="914400"/>
                  </a:lnTo>
                  <a:lnTo>
                    <a:pt x="9418320" y="914400"/>
                  </a:lnTo>
                  <a:lnTo>
                    <a:pt x="9509760" y="914400"/>
                  </a:lnTo>
                  <a:lnTo>
                    <a:pt x="9601200" y="914400"/>
                  </a:lnTo>
                  <a:lnTo>
                    <a:pt x="9692640" y="914400"/>
                  </a:lnTo>
                  <a:lnTo>
                    <a:pt x="9784080" y="914400"/>
                  </a:lnTo>
                  <a:lnTo>
                    <a:pt x="9875520" y="914400"/>
                  </a:lnTo>
                  <a:lnTo>
                    <a:pt x="9966960" y="914400"/>
                  </a:lnTo>
                  <a:lnTo>
                    <a:pt x="10058400" y="914400"/>
                  </a:lnTo>
                  <a:lnTo>
                    <a:pt x="10149840" y="914400"/>
                  </a:lnTo>
                  <a:lnTo>
                    <a:pt x="10241280" y="914400"/>
                  </a:lnTo>
                  <a:lnTo>
                    <a:pt x="10332720" y="914400"/>
                  </a:lnTo>
                </a:path>
              </a:pathLst>
            </a:custGeom>
            <a:noFill/>
            <a:ln w="317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035040" y="4480560"/>
              <a:ext cx="1463040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A9B0B8"/>
                  </a:solidFill>
                  <a:latin typeface="Arial"/>
                </a:rPr>
                <a:t>Hill</a:t>
              </a:r>
            </a:p>
          </p:txBody>
        </p:sp>
        <p:sp>
          <p:nvSpPr>
            <p:cNvPr id="9" name="Freeform 8"/>
            <p:cNvSpPr/>
            <p:nvPr/>
          </p:nvSpPr>
          <p:spPr>
            <a:xfrm>
              <a:off x="1005840" y="2788920"/>
              <a:ext cx="9326880" cy="292608"/>
            </a:xfrm>
            <a:custGeom>
              <a:avLst/>
              <a:gdLst/>
              <a:ahLst/>
              <a:cxnLst/>
              <a:rect l="l" t="t" r="r" b="b"/>
              <a:pathLst>
                <a:path w="9326880" h="292608">
                  <a:moveTo>
                    <a:pt x="0" y="0"/>
                  </a:moveTo>
                  <a:lnTo>
                    <a:pt x="91440" y="0"/>
                  </a:lnTo>
                  <a:lnTo>
                    <a:pt x="182880" y="0"/>
                  </a:lnTo>
                  <a:lnTo>
                    <a:pt x="274320" y="0"/>
                  </a:lnTo>
                  <a:lnTo>
                    <a:pt x="365760" y="0"/>
                  </a:lnTo>
                  <a:lnTo>
                    <a:pt x="457200" y="0"/>
                  </a:lnTo>
                  <a:lnTo>
                    <a:pt x="548640" y="0"/>
                  </a:lnTo>
                  <a:lnTo>
                    <a:pt x="640080" y="0"/>
                  </a:lnTo>
                  <a:lnTo>
                    <a:pt x="731520" y="0"/>
                  </a:lnTo>
                  <a:lnTo>
                    <a:pt x="822960" y="0"/>
                  </a:lnTo>
                  <a:lnTo>
                    <a:pt x="914400" y="0"/>
                  </a:lnTo>
                  <a:lnTo>
                    <a:pt x="1005840" y="0"/>
                  </a:lnTo>
                  <a:lnTo>
                    <a:pt x="1097280" y="0"/>
                  </a:lnTo>
                  <a:lnTo>
                    <a:pt x="1188720" y="0"/>
                  </a:lnTo>
                  <a:lnTo>
                    <a:pt x="1280160" y="0"/>
                  </a:lnTo>
                  <a:lnTo>
                    <a:pt x="1371600" y="0"/>
                  </a:lnTo>
                  <a:lnTo>
                    <a:pt x="1463040" y="0"/>
                  </a:lnTo>
                  <a:lnTo>
                    <a:pt x="1554480" y="0"/>
                  </a:lnTo>
                  <a:lnTo>
                    <a:pt x="1645920" y="0"/>
                  </a:lnTo>
                  <a:lnTo>
                    <a:pt x="1737360" y="0"/>
                  </a:lnTo>
                  <a:lnTo>
                    <a:pt x="1828800" y="0"/>
                  </a:lnTo>
                  <a:lnTo>
                    <a:pt x="1920240" y="0"/>
                  </a:lnTo>
                  <a:lnTo>
                    <a:pt x="2011680" y="0"/>
                  </a:lnTo>
                  <a:lnTo>
                    <a:pt x="2103120" y="0"/>
                  </a:lnTo>
                  <a:lnTo>
                    <a:pt x="2194560" y="0"/>
                  </a:lnTo>
                  <a:lnTo>
                    <a:pt x="2286000" y="0"/>
                  </a:lnTo>
                  <a:lnTo>
                    <a:pt x="2377440" y="0"/>
                  </a:lnTo>
                  <a:lnTo>
                    <a:pt x="2468880" y="0"/>
                  </a:lnTo>
                  <a:lnTo>
                    <a:pt x="2560320" y="0"/>
                  </a:lnTo>
                  <a:lnTo>
                    <a:pt x="2651760" y="0"/>
                  </a:lnTo>
                  <a:lnTo>
                    <a:pt x="2743200" y="0"/>
                  </a:lnTo>
                  <a:lnTo>
                    <a:pt x="2834640" y="0"/>
                  </a:lnTo>
                  <a:lnTo>
                    <a:pt x="2926080" y="0"/>
                  </a:lnTo>
                  <a:lnTo>
                    <a:pt x="3017520" y="0"/>
                  </a:lnTo>
                  <a:lnTo>
                    <a:pt x="3108960" y="0"/>
                  </a:lnTo>
                  <a:lnTo>
                    <a:pt x="3200400" y="0"/>
                  </a:lnTo>
                  <a:lnTo>
                    <a:pt x="3291840" y="0"/>
                  </a:lnTo>
                  <a:lnTo>
                    <a:pt x="3383280" y="0"/>
                  </a:lnTo>
                  <a:lnTo>
                    <a:pt x="3474720" y="0"/>
                  </a:lnTo>
                  <a:lnTo>
                    <a:pt x="3566160" y="0"/>
                  </a:lnTo>
                  <a:lnTo>
                    <a:pt x="3657600" y="0"/>
                  </a:lnTo>
                  <a:lnTo>
                    <a:pt x="3749040" y="0"/>
                  </a:lnTo>
                  <a:lnTo>
                    <a:pt x="3840480" y="0"/>
                  </a:lnTo>
                  <a:lnTo>
                    <a:pt x="3931920" y="0"/>
                  </a:lnTo>
                  <a:lnTo>
                    <a:pt x="4023360" y="1801"/>
                  </a:lnTo>
                  <a:lnTo>
                    <a:pt x="4114800" y="7161"/>
                  </a:lnTo>
                  <a:lnTo>
                    <a:pt x="4206240" y="15946"/>
                  </a:lnTo>
                  <a:lnTo>
                    <a:pt x="4297680" y="27942"/>
                  </a:lnTo>
                  <a:lnTo>
                    <a:pt x="4389120" y="42851"/>
                  </a:lnTo>
                  <a:lnTo>
                    <a:pt x="4480560" y="60309"/>
                  </a:lnTo>
                  <a:lnTo>
                    <a:pt x="4572000" y="79883"/>
                  </a:lnTo>
                  <a:lnTo>
                    <a:pt x="4663440" y="101094"/>
                  </a:lnTo>
                  <a:lnTo>
                    <a:pt x="4754880" y="123417"/>
                  </a:lnTo>
                  <a:lnTo>
                    <a:pt x="4846320" y="146304"/>
                  </a:lnTo>
                  <a:lnTo>
                    <a:pt x="4937760" y="169191"/>
                  </a:lnTo>
                  <a:lnTo>
                    <a:pt x="5029200" y="191514"/>
                  </a:lnTo>
                  <a:lnTo>
                    <a:pt x="5120640" y="212725"/>
                  </a:lnTo>
                  <a:lnTo>
                    <a:pt x="5212080" y="232299"/>
                  </a:lnTo>
                  <a:lnTo>
                    <a:pt x="5303520" y="249757"/>
                  </a:lnTo>
                  <a:lnTo>
                    <a:pt x="5394960" y="264666"/>
                  </a:lnTo>
                  <a:lnTo>
                    <a:pt x="5486400" y="276662"/>
                  </a:lnTo>
                  <a:lnTo>
                    <a:pt x="5577840" y="285447"/>
                  </a:lnTo>
                  <a:lnTo>
                    <a:pt x="5669280" y="290807"/>
                  </a:lnTo>
                  <a:lnTo>
                    <a:pt x="5760720" y="292608"/>
                  </a:lnTo>
                  <a:lnTo>
                    <a:pt x="5852160" y="290807"/>
                  </a:lnTo>
                  <a:lnTo>
                    <a:pt x="5943600" y="285447"/>
                  </a:lnTo>
                  <a:lnTo>
                    <a:pt x="6035040" y="276662"/>
                  </a:lnTo>
                  <a:lnTo>
                    <a:pt x="6126480" y="264666"/>
                  </a:lnTo>
                  <a:lnTo>
                    <a:pt x="6217920" y="249757"/>
                  </a:lnTo>
                  <a:lnTo>
                    <a:pt x="6309360" y="232299"/>
                  </a:lnTo>
                  <a:lnTo>
                    <a:pt x="6400800" y="212725"/>
                  </a:lnTo>
                  <a:lnTo>
                    <a:pt x="6492240" y="191514"/>
                  </a:lnTo>
                  <a:lnTo>
                    <a:pt x="6583680" y="169191"/>
                  </a:lnTo>
                  <a:lnTo>
                    <a:pt x="6675120" y="146304"/>
                  </a:lnTo>
                  <a:lnTo>
                    <a:pt x="6766560" y="123417"/>
                  </a:lnTo>
                  <a:lnTo>
                    <a:pt x="6858000" y="101094"/>
                  </a:lnTo>
                  <a:lnTo>
                    <a:pt x="6949440" y="79883"/>
                  </a:lnTo>
                  <a:lnTo>
                    <a:pt x="7040880" y="60309"/>
                  </a:lnTo>
                  <a:lnTo>
                    <a:pt x="7132320" y="42851"/>
                  </a:lnTo>
                  <a:lnTo>
                    <a:pt x="7223760" y="27942"/>
                  </a:lnTo>
                  <a:lnTo>
                    <a:pt x="7315200" y="15946"/>
                  </a:lnTo>
                  <a:lnTo>
                    <a:pt x="7406640" y="7161"/>
                  </a:lnTo>
                  <a:lnTo>
                    <a:pt x="7498080" y="1801"/>
                  </a:lnTo>
                  <a:lnTo>
                    <a:pt x="7589520" y="0"/>
                  </a:lnTo>
                  <a:lnTo>
                    <a:pt x="7680960" y="0"/>
                  </a:lnTo>
                  <a:lnTo>
                    <a:pt x="7772400" y="0"/>
                  </a:lnTo>
                  <a:lnTo>
                    <a:pt x="7863840" y="0"/>
                  </a:lnTo>
                  <a:lnTo>
                    <a:pt x="7955280" y="0"/>
                  </a:lnTo>
                  <a:lnTo>
                    <a:pt x="8046720" y="0"/>
                  </a:lnTo>
                  <a:lnTo>
                    <a:pt x="8138160" y="0"/>
                  </a:lnTo>
                  <a:lnTo>
                    <a:pt x="8229600" y="0"/>
                  </a:lnTo>
                  <a:lnTo>
                    <a:pt x="8321040" y="0"/>
                  </a:lnTo>
                  <a:lnTo>
                    <a:pt x="8412480" y="0"/>
                  </a:lnTo>
                  <a:lnTo>
                    <a:pt x="8503920" y="0"/>
                  </a:lnTo>
                  <a:lnTo>
                    <a:pt x="8595360" y="0"/>
                  </a:lnTo>
                  <a:lnTo>
                    <a:pt x="8686800" y="0"/>
                  </a:lnTo>
                  <a:lnTo>
                    <a:pt x="8778240" y="0"/>
                  </a:lnTo>
                  <a:lnTo>
                    <a:pt x="8869680" y="0"/>
                  </a:lnTo>
                  <a:lnTo>
                    <a:pt x="8961120" y="0"/>
                  </a:lnTo>
                  <a:lnTo>
                    <a:pt x="9052560" y="0"/>
                  </a:lnTo>
                  <a:lnTo>
                    <a:pt x="9144000" y="0"/>
                  </a:lnTo>
                  <a:lnTo>
                    <a:pt x="9235440" y="0"/>
                  </a:lnTo>
                  <a:lnTo>
                    <a:pt x="9326880" y="0"/>
                  </a:lnTo>
                </a:path>
              </a:pathLst>
            </a:custGeom>
            <a:noFill/>
            <a:ln w="5080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1005840" y="2487168"/>
              <a:ext cx="9326880" cy="201168"/>
            </a:xfrm>
            <a:custGeom>
              <a:avLst/>
              <a:gdLst/>
              <a:ahLst/>
              <a:cxnLst/>
              <a:rect l="l" t="t" r="r" b="b"/>
              <a:pathLst>
                <a:path w="9326880" h="201168">
                  <a:moveTo>
                    <a:pt x="0" y="0"/>
                  </a:moveTo>
                  <a:lnTo>
                    <a:pt x="91440" y="0"/>
                  </a:lnTo>
                  <a:lnTo>
                    <a:pt x="182880" y="0"/>
                  </a:lnTo>
                  <a:lnTo>
                    <a:pt x="274320" y="0"/>
                  </a:lnTo>
                  <a:lnTo>
                    <a:pt x="365760" y="0"/>
                  </a:lnTo>
                  <a:lnTo>
                    <a:pt x="457200" y="0"/>
                  </a:lnTo>
                  <a:lnTo>
                    <a:pt x="548640" y="0"/>
                  </a:lnTo>
                  <a:lnTo>
                    <a:pt x="640080" y="0"/>
                  </a:lnTo>
                  <a:lnTo>
                    <a:pt x="731520" y="0"/>
                  </a:lnTo>
                  <a:lnTo>
                    <a:pt x="822960" y="0"/>
                  </a:lnTo>
                  <a:lnTo>
                    <a:pt x="914400" y="0"/>
                  </a:lnTo>
                  <a:lnTo>
                    <a:pt x="1005840" y="0"/>
                  </a:lnTo>
                  <a:lnTo>
                    <a:pt x="1097280" y="0"/>
                  </a:lnTo>
                  <a:lnTo>
                    <a:pt x="1188720" y="0"/>
                  </a:lnTo>
                  <a:lnTo>
                    <a:pt x="1280160" y="0"/>
                  </a:lnTo>
                  <a:lnTo>
                    <a:pt x="1371600" y="0"/>
                  </a:lnTo>
                  <a:lnTo>
                    <a:pt x="1463040" y="0"/>
                  </a:lnTo>
                  <a:lnTo>
                    <a:pt x="1554480" y="0"/>
                  </a:lnTo>
                  <a:lnTo>
                    <a:pt x="1645920" y="0"/>
                  </a:lnTo>
                  <a:lnTo>
                    <a:pt x="1737360" y="0"/>
                  </a:lnTo>
                  <a:lnTo>
                    <a:pt x="1828800" y="0"/>
                  </a:lnTo>
                  <a:lnTo>
                    <a:pt x="1920240" y="0"/>
                  </a:lnTo>
                  <a:lnTo>
                    <a:pt x="2011680" y="0"/>
                  </a:lnTo>
                  <a:lnTo>
                    <a:pt x="2103120" y="0"/>
                  </a:lnTo>
                  <a:lnTo>
                    <a:pt x="2194560" y="0"/>
                  </a:lnTo>
                  <a:lnTo>
                    <a:pt x="2286000" y="0"/>
                  </a:lnTo>
                  <a:lnTo>
                    <a:pt x="2377440" y="0"/>
                  </a:lnTo>
                  <a:lnTo>
                    <a:pt x="2468880" y="0"/>
                  </a:lnTo>
                  <a:lnTo>
                    <a:pt x="2560320" y="0"/>
                  </a:lnTo>
                  <a:lnTo>
                    <a:pt x="2651760" y="0"/>
                  </a:lnTo>
                  <a:lnTo>
                    <a:pt x="2743200" y="0"/>
                  </a:lnTo>
                  <a:lnTo>
                    <a:pt x="2834640" y="0"/>
                  </a:lnTo>
                  <a:lnTo>
                    <a:pt x="2926080" y="0"/>
                  </a:lnTo>
                  <a:lnTo>
                    <a:pt x="3017520" y="0"/>
                  </a:lnTo>
                  <a:lnTo>
                    <a:pt x="3108960" y="0"/>
                  </a:lnTo>
                  <a:lnTo>
                    <a:pt x="3200400" y="0"/>
                  </a:lnTo>
                  <a:lnTo>
                    <a:pt x="3291840" y="0"/>
                  </a:lnTo>
                  <a:lnTo>
                    <a:pt x="3383280" y="0"/>
                  </a:lnTo>
                  <a:lnTo>
                    <a:pt x="3474720" y="0"/>
                  </a:lnTo>
                  <a:lnTo>
                    <a:pt x="3566160" y="0"/>
                  </a:lnTo>
                  <a:lnTo>
                    <a:pt x="3657600" y="0"/>
                  </a:lnTo>
                  <a:lnTo>
                    <a:pt x="3749040" y="0"/>
                  </a:lnTo>
                  <a:lnTo>
                    <a:pt x="3840480" y="0"/>
                  </a:lnTo>
                  <a:lnTo>
                    <a:pt x="3931920" y="0"/>
                  </a:lnTo>
                  <a:lnTo>
                    <a:pt x="4023360" y="1238"/>
                  </a:lnTo>
                  <a:lnTo>
                    <a:pt x="4114800" y="4923"/>
                  </a:lnTo>
                  <a:lnTo>
                    <a:pt x="4206240" y="10963"/>
                  </a:lnTo>
                  <a:lnTo>
                    <a:pt x="4297680" y="19210"/>
                  </a:lnTo>
                  <a:lnTo>
                    <a:pt x="4389120" y="29460"/>
                  </a:lnTo>
                  <a:lnTo>
                    <a:pt x="4480560" y="41462"/>
                  </a:lnTo>
                  <a:lnTo>
                    <a:pt x="4572000" y="54920"/>
                  </a:lnTo>
                  <a:lnTo>
                    <a:pt x="4663440" y="69502"/>
                  </a:lnTo>
                  <a:lnTo>
                    <a:pt x="4754880" y="84849"/>
                  </a:lnTo>
                  <a:lnTo>
                    <a:pt x="4846320" y="100584"/>
                  </a:lnTo>
                  <a:lnTo>
                    <a:pt x="4937760" y="116319"/>
                  </a:lnTo>
                  <a:lnTo>
                    <a:pt x="5029200" y="131666"/>
                  </a:lnTo>
                  <a:lnTo>
                    <a:pt x="5120640" y="146248"/>
                  </a:lnTo>
                  <a:lnTo>
                    <a:pt x="5212080" y="159706"/>
                  </a:lnTo>
                  <a:lnTo>
                    <a:pt x="5303520" y="171708"/>
                  </a:lnTo>
                  <a:lnTo>
                    <a:pt x="5394960" y="181958"/>
                  </a:lnTo>
                  <a:lnTo>
                    <a:pt x="5486400" y="190205"/>
                  </a:lnTo>
                  <a:lnTo>
                    <a:pt x="5577840" y="196245"/>
                  </a:lnTo>
                  <a:lnTo>
                    <a:pt x="5669280" y="199930"/>
                  </a:lnTo>
                  <a:lnTo>
                    <a:pt x="5760720" y="201168"/>
                  </a:lnTo>
                  <a:lnTo>
                    <a:pt x="5852160" y="199930"/>
                  </a:lnTo>
                  <a:lnTo>
                    <a:pt x="5943600" y="196245"/>
                  </a:lnTo>
                  <a:lnTo>
                    <a:pt x="6035040" y="190205"/>
                  </a:lnTo>
                  <a:lnTo>
                    <a:pt x="6126480" y="181958"/>
                  </a:lnTo>
                  <a:lnTo>
                    <a:pt x="6217920" y="171708"/>
                  </a:lnTo>
                  <a:lnTo>
                    <a:pt x="6309360" y="159706"/>
                  </a:lnTo>
                  <a:lnTo>
                    <a:pt x="6400800" y="146248"/>
                  </a:lnTo>
                  <a:lnTo>
                    <a:pt x="6492240" y="131666"/>
                  </a:lnTo>
                  <a:lnTo>
                    <a:pt x="6583680" y="116319"/>
                  </a:lnTo>
                  <a:lnTo>
                    <a:pt x="6675120" y="100584"/>
                  </a:lnTo>
                  <a:lnTo>
                    <a:pt x="6766560" y="84849"/>
                  </a:lnTo>
                  <a:lnTo>
                    <a:pt x="6858000" y="69502"/>
                  </a:lnTo>
                  <a:lnTo>
                    <a:pt x="6949440" y="54920"/>
                  </a:lnTo>
                  <a:lnTo>
                    <a:pt x="7040880" y="41462"/>
                  </a:lnTo>
                  <a:lnTo>
                    <a:pt x="7132320" y="29460"/>
                  </a:lnTo>
                  <a:lnTo>
                    <a:pt x="7223760" y="19210"/>
                  </a:lnTo>
                  <a:lnTo>
                    <a:pt x="7315200" y="10963"/>
                  </a:lnTo>
                  <a:lnTo>
                    <a:pt x="7406640" y="4923"/>
                  </a:lnTo>
                  <a:lnTo>
                    <a:pt x="7498080" y="1238"/>
                  </a:lnTo>
                  <a:lnTo>
                    <a:pt x="7589520" y="0"/>
                  </a:lnTo>
                  <a:lnTo>
                    <a:pt x="7680960" y="0"/>
                  </a:lnTo>
                  <a:lnTo>
                    <a:pt x="7772400" y="0"/>
                  </a:lnTo>
                  <a:lnTo>
                    <a:pt x="7863840" y="0"/>
                  </a:lnTo>
                  <a:lnTo>
                    <a:pt x="7955280" y="0"/>
                  </a:lnTo>
                  <a:lnTo>
                    <a:pt x="8046720" y="0"/>
                  </a:lnTo>
                  <a:lnTo>
                    <a:pt x="8138160" y="0"/>
                  </a:lnTo>
                  <a:lnTo>
                    <a:pt x="8229600" y="0"/>
                  </a:lnTo>
                  <a:lnTo>
                    <a:pt x="8321040" y="0"/>
                  </a:lnTo>
                  <a:lnTo>
                    <a:pt x="8412480" y="0"/>
                  </a:lnTo>
                  <a:lnTo>
                    <a:pt x="8503920" y="0"/>
                  </a:lnTo>
                  <a:lnTo>
                    <a:pt x="8595360" y="0"/>
                  </a:lnTo>
                  <a:lnTo>
                    <a:pt x="8686800" y="0"/>
                  </a:lnTo>
                  <a:lnTo>
                    <a:pt x="8778240" y="0"/>
                  </a:lnTo>
                  <a:lnTo>
                    <a:pt x="8869680" y="0"/>
                  </a:lnTo>
                  <a:lnTo>
                    <a:pt x="8961120" y="0"/>
                  </a:lnTo>
                  <a:lnTo>
                    <a:pt x="9052560" y="0"/>
                  </a:lnTo>
                  <a:lnTo>
                    <a:pt x="9144000" y="0"/>
                  </a:lnTo>
                  <a:lnTo>
                    <a:pt x="9235440" y="0"/>
                  </a:lnTo>
                  <a:lnTo>
                    <a:pt x="9326880" y="0"/>
                  </a:lnTo>
                </a:path>
              </a:pathLst>
            </a:custGeom>
            <a:noFill/>
            <a:ln w="50800">
              <a:solidFill>
                <a:srgbClr val="F28C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424160" y="2286000"/>
              <a:ext cx="1188720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8C28"/>
                  </a:solidFill>
                  <a:latin typeface="Arial"/>
                </a:rPr>
                <a:t>Advanced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424160" y="2743200"/>
              <a:ext cx="1188720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Simple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4206240" y="1481328"/>
              <a:ext cx="0" cy="2953512"/>
            </a:xfrm>
            <a:prstGeom prst="line">
              <a:avLst/>
            </a:prstGeom>
            <a:ln w="28575">
              <a:solidFill>
                <a:srgbClr val="F2C14E"/>
              </a:solidFill>
              <a:prstDash val="dash"/>
            </a:ln>
          </p:spPr>
        </p:cxnSp>
        <p:sp>
          <p:nvSpPr>
            <p:cNvPr id="14" name="TextBox 13"/>
            <p:cNvSpPr txBox="1"/>
            <p:nvPr/>
          </p:nvSpPr>
          <p:spPr>
            <a:xfrm>
              <a:off x="4315968" y="1417320"/>
              <a:ext cx="3657600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C14E"/>
                  </a:solidFill>
                  <a:latin typeface="Arial"/>
                </a:rPr>
                <a:t>Prepare before the climb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 flipV="1">
              <a:off x="868680" y="1874520"/>
              <a:ext cx="0" cy="2560320"/>
            </a:xfrm>
            <a:prstGeom prst="line">
              <a:avLst/>
            </a:prstGeom>
            <a:ln w="28575">
              <a:solidFill>
                <a:srgbClr val="9AA0A6"/>
              </a:solidFill>
              <a:tailEnd type="triangle" w="med" len="med"/>
            </a:ln>
          </p:spPr>
        </p:cxnSp>
        <p:sp>
          <p:nvSpPr>
            <p:cNvPr id="16" name="TextBox 15"/>
            <p:cNvSpPr txBox="1"/>
            <p:nvPr/>
          </p:nvSpPr>
          <p:spPr>
            <a:xfrm>
              <a:off x="960120" y="1417320"/>
              <a:ext cx="1463040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A9B0B8"/>
                  </a:solidFill>
                  <a:latin typeface="Arial"/>
                </a:rPr>
                <a:t>Speed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548640" y="5138928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 lang="en-GB">
                <a:solidFill>
                  <a:srgbClr val="A9B0B8"/>
                </a:solidFill>
                <a:latin typeface="Arial"/>
              </a:rPr>
              <a:t>Shape only. Not measured.</a:t>
            </a:r>
          </a:p>
        </p:txBody>
      </p:sp>
      <p:sp>
        <p:nvSpPr>
          <p:cNvPr id="18" name="Inline chip"/>
          <p:cNvSpPr/>
          <p:nvPr/>
        </p:nvSpPr>
        <p:spPr>
          <a:xfrm>
            <a:off x="8423872" y="5138928"/>
            <a:ext cx="3216440" cy="329184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none" lIns="73152" tIns="18288" rIns="73152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F2F2F2"/>
                </a:solidFill>
                <a:latin typeface="Arial"/>
              </a:rPr>
              <a:t>How much better: undecided (OQ24)</a:t>
            </a:r>
          </a:p>
        </p:txBody>
      </p:sp>
      <p:sp>
        <p:nvSpPr>
          <p:cNvPr id="19" name="Caption"/>
          <p:cNvSpPr/>
          <p:nvPr/>
        </p:nvSpPr>
        <p:spPr>
          <a:xfrm>
            <a:off x="548640" y="574243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27432" rIns="182880" bIns="27432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Skilled drivers can prepare for hills and squeeze out a little more. Simple stays fine.</a:t>
            </a:r>
          </a:p>
        </p:txBody>
      </p:sp>
      <p:sp>
        <p:nvSpPr>
          <p:cNvPr id="20" name="Caption rule"/>
          <p:cNvSpPr/>
          <p:nvPr/>
        </p:nvSpPr>
        <p:spPr>
          <a:xfrm>
            <a:off x="548640" y="5742432"/>
            <a:ext cx="73152" cy="69494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Slide number"/>
          <p:cNvSpPr txBox="1"/>
          <p:nvPr/>
        </p:nvSpPr>
        <p:spPr>
          <a:xfrm>
            <a:off x="11064240" y="647395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Liveries: history first</a:t>
            </a:r>
          </a:p>
        </p:txBody>
      </p:sp>
      <p:sp>
        <p:nvSpPr>
          <p:cNvPr id="3" name="Status chip"/>
          <p:cNvSpPr/>
          <p:nvPr/>
        </p:nvSpPr>
        <p:spPr>
          <a:xfrm>
            <a:off x="10131552" y="457200"/>
            <a:ext cx="1481328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Diagram: a locomotive silhouette and four example livery swatches" descr="A steam locomotive with four colour swatches labelled Historical, Historical, Corporate and Custom. Examples only."/>
          <p:cNvGrpSpPr/>
          <p:nvPr/>
        </p:nvGrpSpPr>
        <p:grpSpPr>
          <a:xfrm>
            <a:off x="548640" y="1371600"/>
            <a:ext cx="10506456" cy="3977640"/>
            <a:chOff x="548640" y="1371600"/>
            <a:chExt cx="10506456" cy="3977640"/>
          </a:xfrm>
        </p:grpSpPr>
        <p:sp>
          <p:nvSpPr>
            <p:cNvPr id="5" name="Rectangle 4"/>
            <p:cNvSpPr/>
            <p:nvPr/>
          </p:nvSpPr>
          <p:spPr>
            <a:xfrm>
              <a:off x="2534371" y="2932258"/>
              <a:ext cx="4762294" cy="303976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939672" y="2020330"/>
              <a:ext cx="2938437" cy="962591"/>
            </a:xfrm>
            <a:prstGeom prst="roundRect">
              <a:avLst>
                <a:gd name="adj" fmla="val 31578"/>
              </a:avLst>
            </a:prstGeom>
            <a:solidFill>
              <a:srgbClr val="2E6B45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585034" y="2020330"/>
              <a:ext cx="455964" cy="962591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686359" y="1615028"/>
              <a:ext cx="303976" cy="405302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585034" y="1539034"/>
              <a:ext cx="506627" cy="151988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256903" y="1767016"/>
              <a:ext cx="557290" cy="303976"/>
            </a:xfrm>
            <a:prstGeom prst="roundRect">
              <a:avLst>
                <a:gd name="adj" fmla="val 50000"/>
              </a:avLst>
            </a:prstGeom>
            <a:solidFill>
              <a:srgbClr val="2E6B45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40998" y="2476294"/>
              <a:ext cx="2735786" cy="202651"/>
            </a:xfrm>
            <a:prstGeom prst="rect">
              <a:avLst/>
            </a:prstGeom>
            <a:solidFill>
              <a:srgbClr val="F2C14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675458" y="1564365"/>
              <a:ext cx="1570544" cy="1418556"/>
            </a:xfrm>
            <a:prstGeom prst="rect">
              <a:avLst/>
            </a:prstGeom>
            <a:solidFill>
              <a:srgbClr val="2E6B45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523470" y="1463040"/>
              <a:ext cx="1874520" cy="151988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030097" y="1868342"/>
              <a:ext cx="658615" cy="557290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040998" y="2932258"/>
              <a:ext cx="709278" cy="303976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3471631" y="3008252"/>
              <a:ext cx="759941" cy="759941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3783206" y="3319828"/>
              <a:ext cx="136789" cy="136789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4282234" y="3008252"/>
              <a:ext cx="759941" cy="759941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4593810" y="3319828"/>
              <a:ext cx="136789" cy="136789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5092837" y="3008252"/>
              <a:ext cx="759941" cy="759941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5404413" y="3319828"/>
              <a:ext cx="136789" cy="136789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3851601" y="3388223"/>
              <a:ext cx="1621207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23" name="Oval 22"/>
            <p:cNvSpPr/>
            <p:nvPr/>
          </p:nvSpPr>
          <p:spPr>
            <a:xfrm>
              <a:off x="2813016" y="3312229"/>
              <a:ext cx="455964" cy="455964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2999961" y="3499174"/>
              <a:ext cx="82074" cy="82074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296665" y="2932258"/>
              <a:ext cx="2482472" cy="303976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397990" y="2172318"/>
              <a:ext cx="2330484" cy="810603"/>
            </a:xfrm>
            <a:prstGeom prst="roundRect">
              <a:avLst>
                <a:gd name="adj" fmla="val 12500"/>
              </a:avLst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499316" y="1868342"/>
              <a:ext cx="2127834" cy="354639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7625972" y="3210903"/>
              <a:ext cx="557290" cy="557290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7854461" y="3439392"/>
              <a:ext cx="100312" cy="100312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8892540" y="3210903"/>
              <a:ext cx="557290" cy="557290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9121029" y="3439392"/>
              <a:ext cx="100312" cy="100312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2011680" y="3794760"/>
              <a:ext cx="8138160" cy="0"/>
            </a:xfrm>
            <a:prstGeom prst="line">
              <a:avLst/>
            </a:prstGeom>
            <a:ln w="38100">
              <a:solidFill>
                <a:srgbClr val="9AA0A6"/>
              </a:solidFill>
            </a:ln>
          </p:spPr>
        </p:cxnSp>
        <p:sp>
          <p:nvSpPr>
            <p:cNvPr id="33" name="Rounded Rectangle 32"/>
            <p:cNvSpPr/>
            <p:nvPr/>
          </p:nvSpPr>
          <p:spPr>
            <a:xfrm>
              <a:off x="1097280" y="4160520"/>
              <a:ext cx="2194560" cy="731520"/>
            </a:xfrm>
            <a:prstGeom prst="roundRect">
              <a:avLst>
                <a:gd name="adj" fmla="val 12500"/>
              </a:avLst>
            </a:prstGeom>
            <a:solidFill>
              <a:srgbClr val="2E6B45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097280" y="4937760"/>
              <a:ext cx="2194560" cy="4114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Historical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3685032" y="4160520"/>
              <a:ext cx="2194560" cy="731520"/>
            </a:xfrm>
            <a:prstGeom prst="roundRect">
              <a:avLst>
                <a:gd name="adj" fmla="val 12500"/>
              </a:avLst>
            </a:prstGeom>
            <a:solidFill>
              <a:srgbClr val="8C2F39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685032" y="4937760"/>
              <a:ext cx="2194560" cy="4114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Historical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6272784" y="4160520"/>
              <a:ext cx="2194560" cy="731520"/>
            </a:xfrm>
            <a:prstGeom prst="roundRect">
              <a:avLst>
                <a:gd name="adj" fmla="val 12500"/>
              </a:avLst>
            </a:prstGeom>
            <a:solidFill>
              <a:srgbClr val="F28C28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272784" y="4937760"/>
              <a:ext cx="2194560" cy="4114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Corporate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8860536" y="4160520"/>
              <a:ext cx="2194560" cy="731520"/>
            </a:xfrm>
            <a:prstGeom prst="roundRect">
              <a:avLst>
                <a:gd name="adj" fmla="val 12500"/>
              </a:avLst>
            </a:prstGeom>
            <a:solidFill>
              <a:srgbClr val="2FA3A0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860536" y="4937760"/>
              <a:ext cx="2194560" cy="4114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Custom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48640" y="1371600"/>
              <a:ext cx="2377440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0" i="1" lang="en-GB">
                  <a:solidFill>
                    <a:srgbClr val="A9B0B8"/>
                  </a:solidFill>
                  <a:latin typeface="Arial"/>
                </a:rPr>
                <a:t>Examples only.</a:t>
              </a:r>
            </a:p>
          </p:txBody>
        </p:sp>
      </p:grpSp>
      <p:sp>
        <p:nvSpPr>
          <p:cNvPr id="42" name="Caption"/>
          <p:cNvSpPr/>
          <p:nvPr/>
        </p:nvSpPr>
        <p:spPr>
          <a:xfrm>
            <a:off x="548640" y="574243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27432" rIns="182880" bIns="27432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Engines come in historical liveries. Corporate or custom looks stay possible.</a:t>
            </a:r>
          </a:p>
        </p:txBody>
      </p:sp>
      <p:sp>
        <p:nvSpPr>
          <p:cNvPr id="43" name="Caption rule"/>
          <p:cNvSpPr/>
          <p:nvPr/>
        </p:nvSpPr>
        <p:spPr>
          <a:xfrm>
            <a:off x="548640" y="5742432"/>
            <a:ext cx="73152" cy="69494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Slide number"/>
          <p:cNvSpPr txBox="1"/>
          <p:nvPr/>
        </p:nvSpPr>
        <p:spPr>
          <a:xfrm>
            <a:off x="11064240" y="647395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Not sold separately</a:t>
            </a:r>
          </a:p>
        </p:txBody>
      </p:sp>
      <p:sp>
        <p:nvSpPr>
          <p:cNvPr id="3" name="Status chip"/>
          <p:cNvSpPr/>
          <p:nvPr/>
        </p:nvSpPr>
        <p:spPr>
          <a:xfrm>
            <a:off x="10131552" y="457200"/>
            <a:ext cx="1481328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Diagram: livery swatches in the pack, with a crossed-out price tag" descr="Four livery swatches inside a box marked as the pack you own. A blank price tag beside it is crossed out with a red cross."/>
          <p:cNvGrpSpPr/>
          <p:nvPr/>
        </p:nvGrpSpPr>
        <p:grpSpPr>
          <a:xfrm>
            <a:off x="548640" y="1508760"/>
            <a:ext cx="11064240" cy="3749040"/>
            <a:chOff x="548640" y="1508760"/>
            <a:chExt cx="11064240" cy="3749040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508760"/>
              <a:ext cx="8961120" cy="3749040"/>
            </a:xfrm>
            <a:prstGeom prst="roundRect">
              <a:avLst>
                <a:gd name="adj" fmla="val 2926"/>
              </a:avLst>
            </a:prstGeom>
            <a:noFill/>
            <a:ln w="31750">
              <a:solidFill>
                <a:srgbClr val="F28C28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05840" y="2011680"/>
              <a:ext cx="1737360" cy="1645920"/>
            </a:xfrm>
            <a:prstGeom prst="roundRect">
              <a:avLst>
                <a:gd name="adj" fmla="val 5555"/>
              </a:avLst>
            </a:prstGeom>
            <a:solidFill>
              <a:srgbClr val="2E6B45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108960" y="2011680"/>
              <a:ext cx="1737360" cy="1645920"/>
            </a:xfrm>
            <a:prstGeom prst="roundRect">
              <a:avLst>
                <a:gd name="adj" fmla="val 5555"/>
              </a:avLst>
            </a:prstGeom>
            <a:solidFill>
              <a:srgbClr val="8C2F39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212080" y="2011680"/>
              <a:ext cx="1737360" cy="1645920"/>
            </a:xfrm>
            <a:prstGeom prst="roundRect">
              <a:avLst>
                <a:gd name="adj" fmla="val 5555"/>
              </a:avLst>
            </a:prstGeom>
            <a:solidFill>
              <a:srgbClr val="F28C28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315200" y="2011680"/>
              <a:ext cx="1737360" cy="1645920"/>
            </a:xfrm>
            <a:prstGeom prst="roundRect">
              <a:avLst>
                <a:gd name="adj" fmla="val 5555"/>
              </a:avLst>
            </a:prstGeom>
            <a:solidFill>
              <a:srgbClr val="2FA3A0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31520" y="4069080"/>
              <a:ext cx="8595360" cy="5486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200" b="1" i="0" lang="en-GB">
                  <a:solidFill>
                    <a:srgbClr val="F28C28"/>
                  </a:solidFill>
                  <a:latin typeface="Arial"/>
                </a:rPr>
                <a:t>The pack you own</a:t>
              </a:r>
            </a:p>
          </p:txBody>
        </p:sp>
        <p:sp>
          <p:nvSpPr>
            <p:cNvPr id="11" name="Freeform 10"/>
            <p:cNvSpPr/>
            <p:nvPr/>
          </p:nvSpPr>
          <p:spPr>
            <a:xfrm>
              <a:off x="9921240" y="2834640"/>
              <a:ext cx="1554480" cy="868680"/>
            </a:xfrm>
            <a:custGeom>
              <a:avLst/>
              <a:gdLst/>
              <a:ahLst/>
              <a:cxnLst/>
              <a:rect l="l" t="t" r="r" b="b"/>
              <a:pathLst>
                <a:path w="1554480" h="868680">
                  <a:moveTo>
                    <a:pt x="390906" y="0"/>
                  </a:moveTo>
                  <a:lnTo>
                    <a:pt x="1554480" y="0"/>
                  </a:lnTo>
                  <a:lnTo>
                    <a:pt x="1554480" y="868680"/>
                  </a:lnTo>
                  <a:lnTo>
                    <a:pt x="390906" y="868680"/>
                  </a:lnTo>
                  <a:lnTo>
                    <a:pt x="0" y="434340"/>
                  </a:lnTo>
                  <a:close/>
                </a:path>
              </a:pathLst>
            </a:custGeom>
            <a:solidFill>
              <a:srgbClr val="F2C14E"/>
            </a:solidFill>
            <a:ln w="190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10216591" y="3199486"/>
              <a:ext cx="138989" cy="138989"/>
            </a:xfrm>
            <a:prstGeom prst="ellipse">
              <a:avLst/>
            </a:prstGeom>
            <a:solidFill>
              <a:srgbClr val="1E2126"/>
            </a:solidFill>
            <a:ln w="15875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10620756" y="3095244"/>
              <a:ext cx="621792" cy="0"/>
            </a:xfrm>
            <a:prstGeom prst="line">
              <a:avLst/>
            </a:prstGeom>
            <a:ln w="25400">
              <a:solidFill>
                <a:srgbClr val="101418"/>
              </a:solidFill>
            </a:ln>
          </p:spPr>
        </p:cxnSp>
        <p:cxnSp>
          <p:nvCxnSpPr>
            <p:cNvPr id="14" name="Connector 13"/>
            <p:cNvCxnSpPr/>
            <p:nvPr/>
          </p:nvCxnSpPr>
          <p:spPr>
            <a:xfrm>
              <a:off x="10620756" y="3442716"/>
              <a:ext cx="466344" cy="0"/>
            </a:xfrm>
            <a:prstGeom prst="line">
              <a:avLst/>
            </a:prstGeom>
            <a:ln w="25400">
              <a:solidFill>
                <a:srgbClr val="101418"/>
              </a:solidFill>
            </a:ln>
          </p:spPr>
        </p:cxnSp>
        <p:cxnSp>
          <p:nvCxnSpPr>
            <p:cNvPr id="15" name="Cross"/>
            <p:cNvCxnSpPr/>
            <p:nvPr/>
          </p:nvCxnSpPr>
          <p:spPr>
            <a:xfrm>
              <a:off x="9784080" y="2560320"/>
              <a:ext cx="1828800" cy="1417320"/>
            </a:xfrm>
            <a:prstGeom prst="line">
              <a:avLst/>
            </a:prstGeom>
            <a:ln w="101600">
              <a:solidFill>
                <a:srgbClr val="E5484D">
                  <a:alpha val="90000"/>
                </a:srgbClr>
              </a:solidFill>
            </a:ln>
          </p:spPr>
        </p:cxnSp>
        <p:cxnSp>
          <p:nvCxnSpPr>
            <p:cNvPr id="16" name="Cross"/>
            <p:cNvCxnSpPr/>
            <p:nvPr/>
          </p:nvCxnSpPr>
          <p:spPr>
            <a:xfrm flipH="1">
              <a:off x="9784080" y="2560320"/>
              <a:ext cx="1828800" cy="1417320"/>
            </a:xfrm>
            <a:prstGeom prst="line">
              <a:avLst/>
            </a:prstGeom>
            <a:ln w="101600">
              <a:solidFill>
                <a:srgbClr val="E5484D">
                  <a:alpha val="90000"/>
                </a:srgbClr>
              </a:solidFill>
            </a:ln>
          </p:spPr>
        </p:cxnSp>
      </p:grpSp>
      <p:sp>
        <p:nvSpPr>
          <p:cNvPr id="17" name="Caption"/>
          <p:cNvSpPr/>
          <p:nvPr/>
        </p:nvSpPr>
        <p:spPr>
          <a:xfrm>
            <a:off x="548640" y="574243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27432" rIns="182880" bIns="27432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Historical liveries come with the pack you own. They are not sold one by one.</a:t>
            </a:r>
          </a:p>
        </p:txBody>
      </p:sp>
      <p:sp>
        <p:nvSpPr>
          <p:cNvPr id="18" name="Caption rule"/>
          <p:cNvSpPr/>
          <p:nvPr/>
        </p:nvSpPr>
        <p:spPr>
          <a:xfrm>
            <a:off x="548640" y="5742432"/>
            <a:ext cx="73152" cy="69494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lide number"/>
          <p:cNvSpPr txBox="1"/>
          <p:nvPr/>
        </p:nvSpPr>
        <p:spPr>
          <a:xfrm>
            <a:off x="11064240" y="647395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Picking a livery</a:t>
            </a:r>
          </a:p>
        </p:txBody>
      </p:sp>
      <p:sp>
        <p:nvSpPr>
          <p:cNvPr id="3" name="Status chip"/>
          <p:cNvSpPr/>
          <p:nvPr/>
        </p:nvSpPr>
        <p:spPr>
          <a:xfrm>
            <a:off x="10131552" y="457200"/>
            <a:ext cx="1481328" cy="365760"/>
          </a:xfrm>
          <a:prstGeom prst="roundRect">
            <a:avLst>
              <a:gd name="adj" fmla="val 30000"/>
            </a:avLst>
          </a:prstGeom>
          <a:solidFill>
            <a:srgbClr val="B084F5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PROPOSED</a:t>
            </a:r>
          </a:p>
        </p:txBody>
      </p:sp>
      <p:grpSp>
        <p:nvGrpSpPr>
          <p:cNvPr id="4" name="Mock-up: a livery customiser panel" descr="A mock customiser panel with an engine preview on the left and a grid of twelve colour swatches on the right, one of them selected."/>
          <p:cNvGrpSpPr/>
          <p:nvPr/>
        </p:nvGrpSpPr>
        <p:grpSpPr>
          <a:xfrm>
            <a:off x="1645920" y="1417320"/>
            <a:ext cx="8897112" cy="3429000"/>
            <a:chOff x="1645920" y="1417320"/>
            <a:chExt cx="8897112" cy="3429000"/>
          </a:xfrm>
        </p:grpSpPr>
        <p:sp>
          <p:nvSpPr>
            <p:cNvPr id="5" name="Rounded Rectangle 4"/>
            <p:cNvSpPr/>
            <p:nvPr/>
          </p:nvSpPr>
          <p:spPr>
            <a:xfrm>
              <a:off x="1645920" y="1417320"/>
              <a:ext cx="8897112" cy="3429000"/>
            </a:xfrm>
            <a:prstGeom prst="roundRect">
              <a:avLst>
                <a:gd name="adj" fmla="val 3200"/>
              </a:avLst>
            </a:prstGeom>
            <a:solidFill>
              <a:srgbClr val="2B2F36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645920" y="1417320"/>
              <a:ext cx="8897112" cy="384048"/>
            </a:xfrm>
            <a:prstGeom prst="roundRect">
              <a:avLst>
                <a:gd name="adj" fmla="val 28571"/>
              </a:avLst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664208" y="1645920"/>
              <a:ext cx="8860536" cy="155448"/>
            </a:xfrm>
            <a:prstGeom prst="rect">
              <a:avLst/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851660" y="1540764"/>
              <a:ext cx="137160" cy="137160"/>
            </a:xfrm>
            <a:prstGeom prst="ellipse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125980" y="1540764"/>
              <a:ext cx="137160" cy="137160"/>
            </a:xfrm>
            <a:prstGeom prst="ellipse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400300" y="1540764"/>
              <a:ext cx="137160" cy="137160"/>
            </a:xfrm>
            <a:prstGeom prst="ellipse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874520" y="2011680"/>
              <a:ext cx="4572000" cy="2606040"/>
            </a:xfrm>
            <a:prstGeom prst="roundRect">
              <a:avLst>
                <a:gd name="adj" fmla="val 3508"/>
              </a:avLst>
            </a:prstGeom>
            <a:solidFill>
              <a:srgbClr val="1E2126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257579" y="3211521"/>
              <a:ext cx="2555377" cy="163109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475058" y="2722194"/>
              <a:ext cx="1576722" cy="516512"/>
            </a:xfrm>
            <a:prstGeom prst="roundRect">
              <a:avLst>
                <a:gd name="adj" fmla="val 31578"/>
              </a:avLst>
            </a:prstGeom>
            <a:solidFill>
              <a:srgbClr val="2E6B45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284764" y="2722194"/>
              <a:ext cx="244664" cy="516512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339134" y="2504715"/>
              <a:ext cx="163109" cy="217479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284764" y="2463937"/>
              <a:ext cx="271849" cy="81555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181865" y="2586269"/>
              <a:ext cx="299034" cy="163109"/>
            </a:xfrm>
            <a:prstGeom prst="roundRect">
              <a:avLst>
                <a:gd name="adj" fmla="val 50000"/>
              </a:avLst>
            </a:prstGeom>
            <a:solidFill>
              <a:srgbClr val="2E6B45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529428" y="2966857"/>
              <a:ext cx="1467983" cy="108739"/>
            </a:xfrm>
            <a:prstGeom prst="rect">
              <a:avLst/>
            </a:prstGeom>
            <a:solidFill>
              <a:srgbClr val="F2C14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943041" y="2477530"/>
              <a:ext cx="842731" cy="761176"/>
            </a:xfrm>
            <a:prstGeom prst="rect">
              <a:avLst/>
            </a:prstGeom>
            <a:solidFill>
              <a:srgbClr val="2E6B45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861486" y="2423160"/>
              <a:ext cx="1005840" cy="81555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133335" y="2640639"/>
              <a:ext cx="353403" cy="299034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529428" y="3211521"/>
              <a:ext cx="380588" cy="163109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2760499" y="3252298"/>
              <a:ext cx="407773" cy="407773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2927686" y="3419485"/>
              <a:ext cx="73399" cy="73399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3195457" y="3252298"/>
              <a:ext cx="407773" cy="407773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3362644" y="3419485"/>
              <a:ext cx="73399" cy="73399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3630415" y="3252298"/>
              <a:ext cx="407773" cy="407773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3797602" y="3419485"/>
              <a:ext cx="73399" cy="73399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9" name="Connector 28"/>
            <p:cNvCxnSpPr/>
            <p:nvPr/>
          </p:nvCxnSpPr>
          <p:spPr>
            <a:xfrm>
              <a:off x="2964386" y="3456185"/>
              <a:ext cx="869916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30" name="Oval 29"/>
            <p:cNvSpPr/>
            <p:nvPr/>
          </p:nvSpPr>
          <p:spPr>
            <a:xfrm>
              <a:off x="2407096" y="3415408"/>
              <a:ext cx="244664" cy="244664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2507408" y="3515720"/>
              <a:ext cx="44039" cy="44039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812957" y="3211521"/>
              <a:ext cx="1332058" cy="163109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867326" y="2803748"/>
              <a:ext cx="1250504" cy="434958"/>
            </a:xfrm>
            <a:prstGeom prst="roundRect">
              <a:avLst>
                <a:gd name="adj" fmla="val 12500"/>
              </a:avLst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921696" y="2640639"/>
              <a:ext cx="1141764" cy="190294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4989658" y="3361038"/>
              <a:ext cx="299034" cy="299034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5112262" y="3483642"/>
              <a:ext cx="53826" cy="53826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5669280" y="3361038"/>
              <a:ext cx="299034" cy="299034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5791884" y="3483642"/>
              <a:ext cx="53826" cy="53826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9" name="Connector 38"/>
            <p:cNvCxnSpPr/>
            <p:nvPr/>
          </p:nvCxnSpPr>
          <p:spPr>
            <a:xfrm>
              <a:off x="2011680" y="4114800"/>
              <a:ext cx="4297680" cy="0"/>
            </a:xfrm>
            <a:prstGeom prst="line">
              <a:avLst/>
            </a:prstGeom>
            <a:ln w="38100">
              <a:solidFill>
                <a:srgbClr val="9AA0A6"/>
              </a:solidFill>
            </a:ln>
          </p:spPr>
        </p:cxnSp>
        <p:sp>
          <p:nvSpPr>
            <p:cNvPr id="40" name="Rounded Rectangle 39"/>
            <p:cNvSpPr/>
            <p:nvPr/>
          </p:nvSpPr>
          <p:spPr>
            <a:xfrm>
              <a:off x="6903720" y="2057400"/>
              <a:ext cx="731520" cy="731520"/>
            </a:xfrm>
            <a:prstGeom prst="roundRect">
              <a:avLst>
                <a:gd name="adj" fmla="val 12500"/>
              </a:avLst>
            </a:prstGeom>
            <a:solidFill>
              <a:srgbClr val="2E6B45"/>
            </a:solidFill>
            <a:ln w="5080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7790688" y="2057400"/>
              <a:ext cx="731520" cy="731520"/>
            </a:xfrm>
            <a:prstGeom prst="roundRect">
              <a:avLst>
                <a:gd name="adj" fmla="val 12500"/>
              </a:avLst>
            </a:prstGeom>
            <a:solidFill>
              <a:srgbClr val="8C2F39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8677656" y="2057400"/>
              <a:ext cx="731520" cy="731520"/>
            </a:xfrm>
            <a:prstGeom prst="roundRect">
              <a:avLst>
                <a:gd name="adj" fmla="val 12500"/>
              </a:avLst>
            </a:prstGeom>
            <a:solidFill>
              <a:srgbClr val="F28C28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9564624" y="2057400"/>
              <a:ext cx="731520" cy="731520"/>
            </a:xfrm>
            <a:prstGeom prst="roundRect">
              <a:avLst>
                <a:gd name="adj" fmla="val 12500"/>
              </a:avLst>
            </a:prstGeom>
            <a:solidFill>
              <a:srgbClr val="2FA3A0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6903720" y="2944368"/>
              <a:ext cx="731520" cy="731520"/>
            </a:xfrm>
            <a:prstGeom prst="roundRect">
              <a:avLst>
                <a:gd name="adj" fmla="val 12500"/>
              </a:avLst>
            </a:prstGeom>
            <a:solidFill>
              <a:srgbClr val="5A4A7A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7790688" y="2944368"/>
              <a:ext cx="731520" cy="731520"/>
            </a:xfrm>
            <a:prstGeom prst="roundRect">
              <a:avLst>
                <a:gd name="adj" fmla="val 12500"/>
              </a:avLst>
            </a:prstGeom>
            <a:solidFill>
              <a:srgbClr val="C9A227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8677656" y="2944368"/>
              <a:ext cx="731520" cy="731520"/>
            </a:xfrm>
            <a:prstGeom prst="roundRect">
              <a:avLst>
                <a:gd name="adj" fmla="val 12500"/>
              </a:avLst>
            </a:prstGeom>
            <a:solidFill>
              <a:srgbClr val="2F4F7F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9564624" y="2944368"/>
              <a:ext cx="731520" cy="731520"/>
            </a:xfrm>
            <a:prstGeom prst="roundRect">
              <a:avLst>
                <a:gd name="adj" fmla="val 12500"/>
              </a:avLst>
            </a:prstGeom>
            <a:solidFill>
              <a:srgbClr val="7A2E1D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6903720" y="3831336"/>
              <a:ext cx="731520" cy="731520"/>
            </a:xfrm>
            <a:prstGeom prst="roundRect">
              <a:avLst>
                <a:gd name="adj" fmla="val 12500"/>
              </a:avLst>
            </a:prstGeom>
            <a:solidFill>
              <a:srgbClr val="4A4A4A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7790688" y="3831336"/>
              <a:ext cx="731520" cy="731520"/>
            </a:xfrm>
            <a:prstGeom prst="roundRect">
              <a:avLst>
                <a:gd name="adj" fmla="val 12500"/>
              </a:avLst>
            </a:prstGeom>
            <a:solidFill>
              <a:srgbClr val="B5B5B5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8677656" y="3831336"/>
              <a:ext cx="731520" cy="731520"/>
            </a:xfrm>
            <a:prstGeom prst="roundRect">
              <a:avLst>
                <a:gd name="adj" fmla="val 12500"/>
              </a:avLst>
            </a:prstGeom>
            <a:solidFill>
              <a:srgbClr val="1F5F5B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9564624" y="3831336"/>
              <a:ext cx="731520" cy="731520"/>
            </a:xfrm>
            <a:prstGeom prst="roundRect">
              <a:avLst>
                <a:gd name="adj" fmla="val 12500"/>
              </a:avLst>
            </a:prstGeom>
            <a:solidFill>
              <a:srgbClr val="D9D2B0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52" name="Inline chip"/>
          <p:cNvSpPr/>
          <p:nvPr/>
        </p:nvSpPr>
        <p:spPr>
          <a:xfrm>
            <a:off x="4783977" y="5029200"/>
            <a:ext cx="2623741" cy="329184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none" lIns="73152" tIns="18288" rIns="73152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F2F2F2"/>
                </a:solidFill>
                <a:latin typeface="Arial"/>
              </a:rPr>
              <a:t>Licensing: undecided (OQ25)</a:t>
            </a:r>
          </a:p>
        </p:txBody>
      </p:sp>
      <p:sp>
        <p:nvSpPr>
          <p:cNvPr id="53" name="Caption"/>
          <p:cNvSpPr/>
          <p:nvPr/>
        </p:nvSpPr>
        <p:spPr>
          <a:xfrm>
            <a:off x="548640" y="574243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27432" rIns="182880" bIns="27432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You might pick liveries in the game's own customiser. That is not checked yet.</a:t>
            </a:r>
          </a:p>
        </p:txBody>
      </p:sp>
      <p:sp>
        <p:nvSpPr>
          <p:cNvPr id="54" name="Caption rule"/>
          <p:cNvSpPr/>
          <p:nvPr/>
        </p:nvSpPr>
        <p:spPr>
          <a:xfrm>
            <a:off x="548640" y="5742432"/>
            <a:ext cx="73152" cy="69494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Slide number"/>
          <p:cNvSpPr txBox="1"/>
          <p:nvPr/>
        </p:nvSpPr>
        <p:spPr>
          <a:xfrm>
            <a:off x="11064240" y="647395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Prestige engines</a:t>
            </a:r>
          </a:p>
        </p:txBody>
      </p:sp>
      <p:sp>
        <p:nvSpPr>
          <p:cNvPr id="3" name="Status chip"/>
          <p:cNvSpPr/>
          <p:nvPr/>
        </p:nvSpPr>
        <p:spPr>
          <a:xfrm>
            <a:off x="10131552" y="457200"/>
            <a:ext cx="1481328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Diagram: a prestige engine on a pedestal with a tag and a card" descr="A steam locomotive on a display pedestal with a tag reading Extremely expensive, and a card reading Not better at hauling. A small golden cup stands for the game trophies."/>
          <p:cNvGrpSpPr/>
          <p:nvPr/>
        </p:nvGrpSpPr>
        <p:grpSpPr>
          <a:xfrm>
            <a:off x="685800" y="1645920"/>
            <a:ext cx="10927080" cy="3474720"/>
            <a:chOff x="685800" y="1645920"/>
            <a:chExt cx="10927080" cy="3474720"/>
          </a:xfrm>
        </p:grpSpPr>
        <p:sp>
          <p:nvSpPr>
            <p:cNvPr id="5" name="Rounded Rectangle 4"/>
            <p:cNvSpPr/>
            <p:nvPr/>
          </p:nvSpPr>
          <p:spPr>
            <a:xfrm>
              <a:off x="822960" y="4754880"/>
              <a:ext cx="5120640" cy="365760"/>
            </a:xfrm>
            <a:prstGeom prst="roundRect">
              <a:avLst>
                <a:gd name="adj" fmla="val 15000"/>
              </a:avLst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188720" y="4370832"/>
              <a:ext cx="4389120" cy="411480"/>
            </a:xfrm>
            <a:prstGeom prst="roundRect">
              <a:avLst>
                <a:gd name="adj" fmla="val 13333"/>
              </a:avLst>
            </a:prstGeom>
            <a:solidFill>
              <a:srgbClr val="343A43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437091" y="3686638"/>
              <a:ext cx="2613454" cy="166816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659512" y="3186190"/>
              <a:ext cx="1612557" cy="528251"/>
            </a:xfrm>
            <a:prstGeom prst="roundRect">
              <a:avLst>
                <a:gd name="adj" fmla="val 31578"/>
              </a:avLst>
            </a:prstGeom>
            <a:solidFill>
              <a:srgbClr val="F2C14E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464894" y="3186190"/>
              <a:ext cx="250224" cy="528251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520499" y="2963768"/>
              <a:ext cx="166816" cy="222422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464894" y="2922064"/>
              <a:ext cx="278027" cy="83408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382383" y="3047176"/>
              <a:ext cx="305830" cy="166816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715118" y="3436414"/>
              <a:ext cx="1501346" cy="111211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160858" y="2935965"/>
              <a:ext cx="861884" cy="778476"/>
            </a:xfrm>
            <a:prstGeom prst="rect">
              <a:avLst/>
            </a:prstGeom>
            <a:solidFill>
              <a:srgbClr val="F2C14E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077450" y="2880360"/>
              <a:ext cx="1028700" cy="83408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355477" y="3102782"/>
              <a:ext cx="361435" cy="305830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715118" y="3686638"/>
              <a:ext cx="389238" cy="166816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1951441" y="3728342"/>
              <a:ext cx="417041" cy="417041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2122427" y="3899329"/>
              <a:ext cx="75067" cy="75067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2396284" y="3728342"/>
              <a:ext cx="417041" cy="417041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2567271" y="3899329"/>
              <a:ext cx="75067" cy="75067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2841127" y="3728342"/>
              <a:ext cx="417041" cy="417041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3012114" y="3899329"/>
              <a:ext cx="75067" cy="75067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Connector 23"/>
            <p:cNvCxnSpPr/>
            <p:nvPr/>
          </p:nvCxnSpPr>
          <p:spPr>
            <a:xfrm>
              <a:off x="2159961" y="3936863"/>
              <a:ext cx="889687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25" name="Oval 24"/>
            <p:cNvSpPr/>
            <p:nvPr/>
          </p:nvSpPr>
          <p:spPr>
            <a:xfrm>
              <a:off x="1590006" y="3895159"/>
              <a:ext cx="250224" cy="250224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1692598" y="3997751"/>
              <a:ext cx="45040" cy="4504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050545" y="3686638"/>
              <a:ext cx="1362332" cy="166816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4106150" y="3269598"/>
              <a:ext cx="1278924" cy="444843"/>
            </a:xfrm>
            <a:prstGeom prst="roundRect">
              <a:avLst>
                <a:gd name="adj" fmla="val 12500"/>
              </a:avLst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161756" y="3102782"/>
              <a:ext cx="1167714" cy="194619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4231262" y="3839553"/>
              <a:ext cx="305830" cy="305830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4356653" y="3964943"/>
              <a:ext cx="55049" cy="55049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4926330" y="3839553"/>
              <a:ext cx="305830" cy="305830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5051720" y="3964943"/>
              <a:ext cx="55049" cy="55049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4" name="Connector 33"/>
            <p:cNvCxnSpPr/>
            <p:nvPr/>
          </p:nvCxnSpPr>
          <p:spPr>
            <a:xfrm>
              <a:off x="1188720" y="4370832"/>
              <a:ext cx="4389120" cy="0"/>
            </a:xfrm>
            <a:prstGeom prst="line">
              <a:avLst/>
            </a:prstGeom>
            <a:ln w="38100">
              <a:solidFill>
                <a:srgbClr val="9AA0A6"/>
              </a:solidFill>
            </a:ln>
          </p:spPr>
        </p:cxnSp>
        <p:sp>
          <p:nvSpPr>
            <p:cNvPr id="35" name="Freeform 34"/>
            <p:cNvSpPr/>
            <p:nvPr/>
          </p:nvSpPr>
          <p:spPr>
            <a:xfrm>
              <a:off x="685800" y="1645920"/>
              <a:ext cx="3154680" cy="685800"/>
            </a:xfrm>
            <a:custGeom>
              <a:avLst/>
              <a:gdLst/>
              <a:ahLst/>
              <a:cxnLst/>
              <a:rect l="l" t="t" r="r" b="b"/>
              <a:pathLst>
                <a:path w="3154680" h="685800">
                  <a:moveTo>
                    <a:pt x="320040" y="0"/>
                  </a:moveTo>
                  <a:lnTo>
                    <a:pt x="3154680" y="0"/>
                  </a:lnTo>
                  <a:lnTo>
                    <a:pt x="3154680" y="685800"/>
                  </a:lnTo>
                  <a:lnTo>
                    <a:pt x="320040" y="6858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2C14E"/>
            </a:solidFill>
            <a:ln w="190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950976" y="1915668"/>
              <a:ext cx="146304" cy="146304"/>
            </a:xfrm>
            <a:prstGeom prst="ellipse">
              <a:avLst/>
            </a:prstGeom>
            <a:solidFill>
              <a:srgbClr val="1E2126"/>
            </a:solidFill>
            <a:ln w="190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280160" y="1691640"/>
              <a:ext cx="2514600" cy="5943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101418"/>
                  </a:solidFill>
                  <a:latin typeface="Arial"/>
                </a:rPr>
                <a:t>Extremely expensive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6675120" y="1645920"/>
              <a:ext cx="4937760" cy="1143000"/>
            </a:xfrm>
            <a:prstGeom prst="roundRect">
              <a:avLst>
                <a:gd name="adj" fmla="val 8000"/>
              </a:avLst>
            </a:prstGeom>
            <a:solidFill>
              <a:srgbClr val="343A43"/>
            </a:solidFill>
            <a:ln w="31750">
              <a:solidFill>
                <a:srgbClr val="F28C28"/>
              </a:solidFill>
            </a:ln>
          </p:spPr>
          <p:txBody>
            <a:bodyPr rtlCol="0" anchor="ctr" wrap="square" lIns="73152" tIns="27432" rIns="73152" bIns="27432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400" b="1" i="0" lang="en-GB">
                  <a:solidFill>
                    <a:srgbClr val="F2F2F2"/>
                  </a:solidFill>
                  <a:latin typeface="Arial"/>
                </a:rPr>
                <a:t>Not better at hauling</a:t>
              </a:r>
            </a:p>
          </p:txBody>
        </p:sp>
        <p:sp>
          <p:nvSpPr>
            <p:cNvPr id="40" name="Freeform 39"/>
            <p:cNvSpPr/>
            <p:nvPr/>
          </p:nvSpPr>
          <p:spPr>
            <a:xfrm>
              <a:off x="7066026" y="3749040"/>
              <a:ext cx="864108" cy="617220"/>
            </a:xfrm>
            <a:custGeom>
              <a:avLst/>
              <a:gdLst/>
              <a:ahLst/>
              <a:cxnLst/>
              <a:rect l="l" t="t" r="r" b="b"/>
              <a:pathLst>
                <a:path w="864108" h="617220">
                  <a:moveTo>
                    <a:pt x="0" y="0"/>
                  </a:moveTo>
                  <a:lnTo>
                    <a:pt x="864108" y="0"/>
                  </a:lnTo>
                  <a:lnTo>
                    <a:pt x="725851" y="617220"/>
                  </a:lnTo>
                  <a:lnTo>
                    <a:pt x="138257" y="617220"/>
                  </a:lnTo>
                  <a:close/>
                </a:path>
              </a:pathLst>
            </a:custGeom>
            <a:solidFill>
              <a:srgbClr val="F2C14E"/>
            </a:solidFill>
            <a:ln w="190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6887261" y="3804590"/>
              <a:ext cx="320954" cy="320954"/>
            </a:xfrm>
            <a:prstGeom prst="ellipse">
              <a:avLst/>
            </a:prstGeom>
            <a:noFill/>
            <a:ln w="38100">
              <a:solidFill>
                <a:srgbClr val="F2C14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7787945" y="3804590"/>
              <a:ext cx="320954" cy="320954"/>
            </a:xfrm>
            <a:prstGeom prst="ellipse">
              <a:avLst/>
            </a:prstGeom>
            <a:noFill/>
            <a:ln w="38100">
              <a:solidFill>
                <a:srgbClr val="F2C14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436358" y="4366260"/>
              <a:ext cx="123444" cy="345643"/>
            </a:xfrm>
            <a:prstGeom prst="rect">
              <a:avLst/>
            </a:prstGeom>
            <a:solidFill>
              <a:srgbClr val="F2C14E"/>
            </a:solidFill>
            <a:ln w="1270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7169719" y="4711903"/>
              <a:ext cx="656722" cy="271577"/>
            </a:xfrm>
            <a:prstGeom prst="roundRect">
              <a:avLst>
                <a:gd name="adj" fmla="val 16835"/>
              </a:avLst>
            </a:prstGeom>
            <a:solidFill>
              <a:srgbClr val="F2C14E"/>
            </a:solidFill>
            <a:ln w="190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9" name="Inline chip"/>
          <p:cNvSpPr/>
          <p:nvPr/>
        </p:nvSpPr>
        <p:spPr>
          <a:xfrm>
            <a:off x="6675120" y="3200400"/>
            <a:ext cx="4218579" cy="329184"/>
          </a:xfrm>
          <a:prstGeom prst="roundRect">
            <a:avLst>
              <a:gd name="adj" fmla="val 50000"/>
            </a:avLst>
          </a:prstGeom>
          <a:solidFill>
            <a:srgbClr val="4A515B"/>
          </a:solidFill>
          <a:ln>
            <a:noFill/>
          </a:ln>
        </p:spPr>
        <p:txBody>
          <a:bodyPr rtlCol="0" anchor="ctr" wrap="none" lIns="73152" tIns="18288" rIns="73152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F2F2F2"/>
                </a:solidFill>
                <a:latin typeface="Arial"/>
              </a:rPr>
              <a:t>BACKGROUND  </a:t>
            </a:r>
            <a:r>
              <a:rPr sz="1400" b="0" i="0" lang="en-GB">
                <a:solidFill>
                  <a:srgbClr val="F2F2F2"/>
                </a:solidFill>
                <a:latin typeface="Arial"/>
              </a:rPr>
              <a:t>Like the game's golden trophies</a:t>
            </a:r>
          </a:p>
        </p:txBody>
      </p:sp>
      <p:sp>
        <p:nvSpPr>
          <p:cNvPr id="45" name="Caption"/>
          <p:cNvSpPr/>
          <p:nvPr/>
        </p:nvSpPr>
        <p:spPr>
          <a:xfrm>
            <a:off x="548640" y="574243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27432" rIns="182880" bIns="27432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Prestige engines are trophies for display. They are not better at hauling.</a:t>
            </a:r>
          </a:p>
        </p:txBody>
      </p:sp>
      <p:sp>
        <p:nvSpPr>
          <p:cNvPr id="46" name="Caption rule"/>
          <p:cNvSpPr/>
          <p:nvPr/>
        </p:nvSpPr>
        <p:spPr>
          <a:xfrm>
            <a:off x="548640" y="5742432"/>
            <a:ext cx="73152" cy="69494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Slide number"/>
          <p:cNvSpPr txBox="1"/>
          <p:nvPr/>
        </p:nvSpPr>
        <p:spPr>
          <a:xfrm>
            <a:off x="11064240" y="647395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Famous, named engines</a:t>
            </a:r>
          </a:p>
        </p:txBody>
      </p:sp>
      <p:sp>
        <p:nvSpPr>
          <p:cNvPr id="3" name="Status chip"/>
          <p:cNvSpPr/>
          <p:nvPr/>
        </p:nvSpPr>
        <p:spPr>
          <a:xfrm>
            <a:off x="10131552" y="457200"/>
            <a:ext cx="1481328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Diagram: a nameplate card with a fixed name, a fixed number and one per world" descr="A brass nameplate reading Fixed name, a number plate reading Fixed number, and a globe marked one, reading One per world."/>
          <p:cNvGrpSpPr/>
          <p:nvPr/>
        </p:nvGrpSpPr>
        <p:grpSpPr>
          <a:xfrm>
            <a:off x="731520" y="1463040"/>
            <a:ext cx="10515600" cy="3200400"/>
            <a:chOff x="731520" y="1463040"/>
            <a:chExt cx="10515600" cy="3200400"/>
          </a:xfrm>
        </p:grpSpPr>
        <p:sp>
          <p:nvSpPr>
            <p:cNvPr id="5" name="Rounded Rectangle 4"/>
            <p:cNvSpPr/>
            <p:nvPr/>
          </p:nvSpPr>
          <p:spPr>
            <a:xfrm>
              <a:off x="731520" y="1463040"/>
              <a:ext cx="6675120" cy="3200400"/>
            </a:xfrm>
            <a:prstGeom prst="roundRect">
              <a:avLst>
                <a:gd name="adj" fmla="val 342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97280" y="1783080"/>
              <a:ext cx="5943600" cy="1417320"/>
            </a:xfrm>
            <a:prstGeom prst="roundRect">
              <a:avLst>
                <a:gd name="adj" fmla="val 32258"/>
              </a:avLst>
            </a:prstGeom>
            <a:solidFill>
              <a:srgbClr val="1B1D21"/>
            </a:solidFill>
            <a:ln w="76200">
              <a:solidFill>
                <a:srgbClr val="C9A22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261872" y="1947672"/>
              <a:ext cx="5614416" cy="1088136"/>
            </a:xfrm>
            <a:prstGeom prst="roundRect">
              <a:avLst>
                <a:gd name="adj" fmla="val 33613"/>
              </a:avLst>
            </a:prstGeom>
            <a:noFill/>
            <a:ln w="19050">
              <a:solidFill>
                <a:srgbClr val="C9A22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63040" y="1965960"/>
              <a:ext cx="5212080" cy="10515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000" b="1" i="0" lang="en-GB">
                  <a:solidFill>
                    <a:srgbClr val="C9A227"/>
                  </a:solidFill>
                  <a:latin typeface="Arial"/>
                </a:rPr>
                <a:t>Fixed name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331720" y="3474720"/>
              <a:ext cx="3474720" cy="914400"/>
            </a:xfrm>
            <a:prstGeom prst="roundRect">
              <a:avLst>
                <a:gd name="adj" fmla="val 10000"/>
              </a:avLst>
            </a:prstGeom>
            <a:solidFill>
              <a:srgbClr val="1B1D21"/>
            </a:solidFill>
            <a:ln w="3810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423160" y="3520440"/>
              <a:ext cx="329184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600" b="1" i="0" lang="en-GB">
                  <a:solidFill>
                    <a:srgbClr val="F2F2F2"/>
                  </a:solidFill>
                  <a:latin typeface="Arial"/>
                </a:rPr>
                <a:t>Fixed number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8595360" y="1691640"/>
              <a:ext cx="2011680" cy="2011680"/>
            </a:xfrm>
            <a:prstGeom prst="ellipse">
              <a:avLst/>
            </a:prstGeom>
            <a:solidFill>
              <a:srgbClr val="4DA3FF"/>
            </a:solidFill>
            <a:ln w="2540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9198864" y="1691640"/>
              <a:ext cx="804672" cy="2011680"/>
            </a:xfrm>
            <a:prstGeom prst="ellipse">
              <a:avLst/>
            </a:prstGeom>
            <a:noFill/>
            <a:ln w="1905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8595360" y="2697480"/>
              <a:ext cx="2011680" cy="0"/>
            </a:xfrm>
            <a:prstGeom prst="line">
              <a:avLst/>
            </a:prstGeom>
            <a:ln w="19050">
              <a:solidFill>
                <a:srgbClr val="E8E8E8"/>
              </a:solidFill>
            </a:ln>
          </p:spPr>
        </p:cxnSp>
        <p:cxnSp>
          <p:nvCxnSpPr>
            <p:cNvPr id="14" name="Connector 13"/>
            <p:cNvCxnSpPr/>
            <p:nvPr/>
          </p:nvCxnSpPr>
          <p:spPr>
            <a:xfrm>
              <a:off x="8736178" y="2194560"/>
              <a:ext cx="1730044" cy="0"/>
            </a:xfrm>
            <a:prstGeom prst="line">
              <a:avLst/>
            </a:prstGeom>
            <a:ln w="15875">
              <a:solidFill>
                <a:srgbClr val="E8E8E8"/>
              </a:solidFill>
            </a:ln>
          </p:spPr>
        </p:cxnSp>
        <p:cxnSp>
          <p:nvCxnSpPr>
            <p:cNvPr id="15" name="Connector 14"/>
            <p:cNvCxnSpPr/>
            <p:nvPr/>
          </p:nvCxnSpPr>
          <p:spPr>
            <a:xfrm>
              <a:off x="8736178" y="3200400"/>
              <a:ext cx="1730044" cy="0"/>
            </a:xfrm>
            <a:prstGeom prst="line">
              <a:avLst/>
            </a:prstGeom>
            <a:ln w="15875">
              <a:solidFill>
                <a:srgbClr val="E8E8E8"/>
              </a:solidFill>
            </a:ln>
          </p:spPr>
        </p:cxnSp>
        <p:sp>
          <p:nvSpPr>
            <p:cNvPr id="16" name="Oval 15"/>
            <p:cNvSpPr/>
            <p:nvPr/>
          </p:nvSpPr>
          <p:spPr>
            <a:xfrm>
              <a:off x="10149840" y="1463040"/>
              <a:ext cx="640080" cy="640080"/>
            </a:xfrm>
            <a:prstGeom prst="ellipse">
              <a:avLst/>
            </a:prstGeom>
            <a:solidFill>
              <a:srgbClr val="F28C28"/>
            </a:solidFill>
            <a:ln w="2540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adge"/>
            <p:cNvSpPr txBox="1"/>
            <p:nvPr/>
          </p:nvSpPr>
          <p:spPr>
            <a:xfrm>
              <a:off x="10149840" y="1463040"/>
              <a:ext cx="640080" cy="6400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600" b="1" i="0" lang="en-GB">
                  <a:solidFill>
                    <a:srgbClr val="101418"/>
                  </a:solidFill>
                  <a:latin typeface="Arial"/>
                </a:rPr>
                <a:t>1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955280" y="3886200"/>
              <a:ext cx="3291840" cy="5486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400" b="1" i="0" lang="en-GB">
                  <a:solidFill>
                    <a:srgbClr val="F2F2F2"/>
                  </a:solidFill>
                  <a:latin typeface="Arial"/>
                </a:rPr>
                <a:t>One per world</a:t>
              </a:r>
            </a:p>
          </p:txBody>
        </p:sp>
      </p:grpSp>
      <p:sp>
        <p:nvSpPr>
          <p:cNvPr id="19" name="Inline chip"/>
          <p:cNvSpPr/>
          <p:nvPr/>
        </p:nvSpPr>
        <p:spPr>
          <a:xfrm>
            <a:off x="4576486" y="4983480"/>
            <a:ext cx="3038723" cy="329184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none" lIns="73152" tIns="18288" rIns="73152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F2F2F2"/>
                </a:solidFill>
                <a:latin typeface="Arial"/>
              </a:rPr>
              <a:t>Which engines: undecided (OQ25)</a:t>
            </a:r>
          </a:p>
        </p:txBody>
      </p:sp>
      <p:sp>
        <p:nvSpPr>
          <p:cNvPr id="20" name="Caption"/>
          <p:cNvSpPr/>
          <p:nvPr/>
        </p:nvSpPr>
        <p:spPr>
          <a:xfrm>
            <a:off x="548640" y="574243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27432" rIns="182880" bIns="27432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A prestige engine is one real, famous machine. Its name and number never change.</a:t>
            </a:r>
          </a:p>
        </p:txBody>
      </p:sp>
      <p:sp>
        <p:nvSpPr>
          <p:cNvPr id="21" name="Caption rule"/>
          <p:cNvSpPr/>
          <p:nvPr/>
        </p:nvSpPr>
        <p:spPr>
          <a:xfrm>
            <a:off x="548640" y="5742432"/>
            <a:ext cx="73152" cy="69494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Slide number"/>
          <p:cNvSpPr txBox="1"/>
          <p:nvPr/>
        </p:nvSpPr>
        <p:spPr>
          <a:xfrm>
            <a:off x="11064240" y="647395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Prestige in the core game</a:t>
            </a:r>
          </a:p>
        </p:txBody>
      </p:sp>
      <p:sp>
        <p:nvSpPr>
          <p:cNvPr id="3" name="Status chip"/>
          <p:cNvSpPr/>
          <p:nvPr/>
        </p:nvSpPr>
        <p:spPr>
          <a:xfrm>
            <a:off x="10131552" y="457200"/>
            <a:ext cx="1481328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Diagram: a normal engine beside a prestige engine" descr="A normal orange engine beside a special engine of the same class with a white colour band and a fixed plate, labelled Fixed name and number."/>
          <p:cNvGrpSpPr/>
          <p:nvPr/>
        </p:nvGrpSpPr>
        <p:grpSpPr>
          <a:xfrm>
            <a:off x="548640" y="1417320"/>
            <a:ext cx="10881360" cy="3611880"/>
            <a:chOff x="548640" y="1417320"/>
            <a:chExt cx="10881360" cy="3611880"/>
          </a:xfrm>
        </p:grpSpPr>
        <p:sp>
          <p:nvSpPr>
            <p:cNvPr id="5" name="Rectangle 4"/>
            <p:cNvSpPr/>
            <p:nvPr/>
          </p:nvSpPr>
          <p:spPr>
            <a:xfrm>
              <a:off x="998525" y="3604565"/>
              <a:ext cx="4125773" cy="263347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349654" y="2814523"/>
              <a:ext cx="2545690" cy="833933"/>
            </a:xfrm>
            <a:prstGeom prst="roundRect">
              <a:avLst>
                <a:gd name="adj" fmla="val 31578"/>
              </a:avLst>
            </a:prstGeom>
            <a:solidFill>
              <a:srgbClr val="F28C28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42416" y="2814523"/>
              <a:ext cx="395021" cy="833933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30198" y="2463394"/>
              <a:ext cx="263347" cy="351130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042416" y="2397557"/>
              <a:ext cx="438912" cy="131674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490826" y="2595067"/>
              <a:ext cx="482803" cy="263347"/>
            </a:xfrm>
            <a:prstGeom prst="roundRect">
              <a:avLst>
                <a:gd name="adj" fmla="val 50000"/>
              </a:avLst>
            </a:prstGeom>
            <a:solidFill>
              <a:srgbClr val="F28C28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719779" y="2419502"/>
              <a:ext cx="1360627" cy="1228954"/>
            </a:xfrm>
            <a:prstGeom prst="rect">
              <a:avLst/>
            </a:prstGeom>
            <a:solidFill>
              <a:srgbClr val="F28C28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588106" y="2331720"/>
              <a:ext cx="1623974" cy="131674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027018" y="2682850"/>
              <a:ext cx="570586" cy="482803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437437" y="3604565"/>
              <a:ext cx="614477" cy="263347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810512" y="3670402"/>
              <a:ext cx="658368" cy="658368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2080443" y="3940332"/>
              <a:ext cx="118506" cy="118506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512771" y="3670402"/>
              <a:ext cx="658368" cy="658368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782702" y="3940332"/>
              <a:ext cx="118506" cy="118506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3215030" y="3670402"/>
              <a:ext cx="658368" cy="658368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3484961" y="3940332"/>
              <a:ext cx="118506" cy="118506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1" name="Connector 20"/>
            <p:cNvCxnSpPr/>
            <p:nvPr/>
          </p:nvCxnSpPr>
          <p:spPr>
            <a:xfrm>
              <a:off x="2139696" y="3999586"/>
              <a:ext cx="1404518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22" name="Oval 21"/>
            <p:cNvSpPr/>
            <p:nvPr/>
          </p:nvSpPr>
          <p:spPr>
            <a:xfrm>
              <a:off x="1239926" y="3933749"/>
              <a:ext cx="395021" cy="395021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1401885" y="4095707"/>
              <a:ext cx="71104" cy="71104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759245" y="3604565"/>
              <a:ext cx="4125773" cy="263347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7110374" y="2814523"/>
              <a:ext cx="2545690" cy="833933"/>
            </a:xfrm>
            <a:prstGeom prst="roundRect">
              <a:avLst>
                <a:gd name="adj" fmla="val 31578"/>
              </a:avLst>
            </a:prstGeom>
            <a:solidFill>
              <a:srgbClr val="F28C28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803136" y="2814523"/>
              <a:ext cx="395021" cy="833933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890918" y="2463394"/>
              <a:ext cx="263347" cy="351130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803136" y="2397557"/>
              <a:ext cx="438912" cy="131674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8251546" y="2595067"/>
              <a:ext cx="482803" cy="263347"/>
            </a:xfrm>
            <a:prstGeom prst="roundRect">
              <a:avLst>
                <a:gd name="adj" fmla="val 50000"/>
              </a:avLst>
            </a:prstGeom>
            <a:solidFill>
              <a:srgbClr val="F28C28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198157" y="3209544"/>
              <a:ext cx="2370125" cy="175565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9480499" y="2419502"/>
              <a:ext cx="1360627" cy="1228954"/>
            </a:xfrm>
            <a:prstGeom prst="rect">
              <a:avLst/>
            </a:prstGeom>
            <a:solidFill>
              <a:srgbClr val="F28C28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348826" y="2331720"/>
              <a:ext cx="1623974" cy="131674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787738" y="2682850"/>
              <a:ext cx="570586" cy="482803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198157" y="3604565"/>
              <a:ext cx="614477" cy="263347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8602675" y="2946197"/>
              <a:ext cx="658368" cy="307238"/>
            </a:xfrm>
            <a:prstGeom prst="rect">
              <a:avLst/>
            </a:prstGeom>
            <a:solidFill>
              <a:srgbClr val="F2C14E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7571232" y="3670402"/>
              <a:ext cx="658368" cy="658368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7841163" y="3940332"/>
              <a:ext cx="118506" cy="118506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8273491" y="3670402"/>
              <a:ext cx="658368" cy="658368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8543422" y="3940332"/>
              <a:ext cx="118506" cy="118506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8975750" y="3670402"/>
              <a:ext cx="658368" cy="658368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9245681" y="3940332"/>
              <a:ext cx="118506" cy="118506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2" name="Connector 41"/>
            <p:cNvCxnSpPr/>
            <p:nvPr/>
          </p:nvCxnSpPr>
          <p:spPr>
            <a:xfrm>
              <a:off x="7900416" y="3999586"/>
              <a:ext cx="1404518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43" name="Oval 42"/>
            <p:cNvSpPr/>
            <p:nvPr/>
          </p:nvSpPr>
          <p:spPr>
            <a:xfrm>
              <a:off x="7000646" y="3933749"/>
              <a:ext cx="395021" cy="395021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7162605" y="4095707"/>
              <a:ext cx="71104" cy="71104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5" name="Connector 44"/>
            <p:cNvCxnSpPr/>
            <p:nvPr/>
          </p:nvCxnSpPr>
          <p:spPr>
            <a:xfrm>
              <a:off x="548640" y="4297680"/>
              <a:ext cx="4846320" cy="0"/>
            </a:xfrm>
            <a:prstGeom prst="line">
              <a:avLst/>
            </a:prstGeom>
            <a:ln w="38100">
              <a:solidFill>
                <a:srgbClr val="9AA0A6"/>
              </a:solidFill>
            </a:ln>
          </p:spPr>
        </p:cxnSp>
        <p:cxnSp>
          <p:nvCxnSpPr>
            <p:cNvPr id="46" name="Connector 45"/>
            <p:cNvCxnSpPr/>
            <p:nvPr/>
          </p:nvCxnSpPr>
          <p:spPr>
            <a:xfrm>
              <a:off x="6309360" y="4297680"/>
              <a:ext cx="5120640" cy="0"/>
            </a:xfrm>
            <a:prstGeom prst="line">
              <a:avLst/>
            </a:prstGeom>
            <a:ln w="38100">
              <a:solidFill>
                <a:srgbClr val="9AA0A6"/>
              </a:solidFill>
            </a:ln>
          </p:spPr>
        </p:cxnSp>
        <p:sp>
          <p:nvSpPr>
            <p:cNvPr id="47" name="TextBox 46"/>
            <p:cNvSpPr txBox="1"/>
            <p:nvPr/>
          </p:nvSpPr>
          <p:spPr>
            <a:xfrm>
              <a:off x="822960" y="4572000"/>
              <a:ext cx="438912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Normal engine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583680" y="4572000"/>
              <a:ext cx="438912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C14E"/>
                  </a:solidFill>
                  <a:latin typeface="Arial"/>
                </a:rPr>
                <a:t>Prestige engine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406640" y="1417320"/>
              <a:ext cx="2651760" cy="4114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C14E"/>
                  </a:solidFill>
                  <a:latin typeface="Arial"/>
                </a:rPr>
                <a:t>Fixed name and number</a:t>
              </a:r>
            </a:p>
          </p:txBody>
        </p:sp>
        <p:cxnSp>
          <p:nvCxnSpPr>
            <p:cNvPr id="50" name="Connector 49"/>
            <p:cNvCxnSpPr/>
            <p:nvPr/>
          </p:nvCxnSpPr>
          <p:spPr>
            <a:xfrm>
              <a:off x="8931859" y="1847088"/>
              <a:ext cx="0" cy="1051560"/>
            </a:xfrm>
            <a:prstGeom prst="line">
              <a:avLst/>
            </a:prstGeom>
            <a:ln w="28575">
              <a:solidFill>
                <a:srgbClr val="F2C14E"/>
              </a:solidFill>
              <a:tailEnd type="triangle" w="med" len="med"/>
            </a:ln>
          </p:spPr>
        </p:cxnSp>
      </p:grpSp>
      <p:sp>
        <p:nvSpPr>
          <p:cNvPr id="51" name="Caption"/>
          <p:cNvSpPr/>
          <p:nvPr/>
        </p:nvSpPr>
        <p:spPr>
          <a:xfrm>
            <a:off x="548640" y="574243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27432" rIns="182880" bIns="27432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Even the core game could have a prestige engine: one special member of a core class.</a:t>
            </a:r>
          </a:p>
        </p:txBody>
      </p:sp>
      <p:sp>
        <p:nvSpPr>
          <p:cNvPr id="52" name="Caption rule"/>
          <p:cNvSpPr/>
          <p:nvPr/>
        </p:nvSpPr>
        <p:spPr>
          <a:xfrm>
            <a:off x="548640" y="5742432"/>
            <a:ext cx="73152" cy="69494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Slide number"/>
          <p:cNvSpPr txBox="1"/>
          <p:nvPr/>
        </p:nvSpPr>
        <p:spPr>
          <a:xfrm>
            <a:off x="11064240" y="647395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Showpiece coaches</a:t>
            </a:r>
          </a:p>
        </p:txBody>
      </p:sp>
      <p:sp>
        <p:nvSpPr>
          <p:cNvPr id="3" name="Status chip"/>
          <p:cNvSpPr/>
          <p:nvPr/>
        </p:nvSpPr>
        <p:spPr>
          <a:xfrm>
            <a:off x="10131552" y="457200"/>
            <a:ext cx="1481328" cy="365760"/>
          </a:xfrm>
          <a:prstGeom prst="roundRect">
            <a:avLst>
              <a:gd name="adj" fmla="val 30000"/>
            </a:avLst>
          </a:prstGeom>
          <a:solidFill>
            <a:srgbClr val="B084F5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PROPOSED</a:t>
            </a:r>
          </a:p>
        </p:txBody>
      </p:sp>
      <p:grpSp>
        <p:nvGrpSpPr>
          <p:cNvPr id="4" name="Diagram: an engine with two display coaches" descr="A steam locomotive with its tender pulling two coaches, with a bracket labelled Display only."/>
          <p:cNvGrpSpPr/>
          <p:nvPr/>
        </p:nvGrpSpPr>
        <p:grpSpPr>
          <a:xfrm>
            <a:off x="457200" y="2331720"/>
            <a:ext cx="11247120" cy="2496312"/>
            <a:chOff x="457200" y="2331720"/>
            <a:chExt cx="11247120" cy="2496312"/>
          </a:xfrm>
        </p:grpSpPr>
        <p:sp>
          <p:nvSpPr>
            <p:cNvPr id="5" name="Rectangle 4"/>
            <p:cNvSpPr/>
            <p:nvPr/>
          </p:nvSpPr>
          <p:spPr>
            <a:xfrm>
              <a:off x="855088" y="3227585"/>
              <a:ext cx="2903838" cy="185351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102223" y="2671531"/>
              <a:ext cx="1791730" cy="586946"/>
            </a:xfrm>
            <a:prstGeom prst="roundRect">
              <a:avLst>
                <a:gd name="adj" fmla="val 31578"/>
              </a:avLst>
            </a:prstGeom>
            <a:solidFill>
              <a:srgbClr val="2E6B45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885979" y="2671531"/>
              <a:ext cx="278027" cy="586946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947763" y="2424396"/>
              <a:ext cx="185351" cy="247135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885979" y="2378058"/>
              <a:ext cx="308919" cy="92676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905412" y="2517071"/>
              <a:ext cx="339811" cy="185351"/>
            </a:xfrm>
            <a:prstGeom prst="roundRect">
              <a:avLst>
                <a:gd name="adj" fmla="val 50000"/>
              </a:avLst>
            </a:prstGeom>
            <a:solidFill>
              <a:srgbClr val="2E6B45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164006" y="2949558"/>
              <a:ext cx="1668162" cy="123568"/>
            </a:xfrm>
            <a:prstGeom prst="rect">
              <a:avLst/>
            </a:prstGeom>
            <a:solidFill>
              <a:srgbClr val="F2C14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770385" y="2393504"/>
              <a:ext cx="957649" cy="864973"/>
            </a:xfrm>
            <a:prstGeom prst="rect">
              <a:avLst/>
            </a:prstGeom>
            <a:solidFill>
              <a:srgbClr val="2E6B45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677709" y="2331720"/>
              <a:ext cx="1143000" cy="92676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986628" y="2578855"/>
              <a:ext cx="401595" cy="339811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164006" y="3227585"/>
              <a:ext cx="432486" cy="185351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1426588" y="3273923"/>
              <a:ext cx="463378" cy="463378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1616573" y="3463908"/>
              <a:ext cx="83408" cy="83408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1920858" y="3273923"/>
              <a:ext cx="463378" cy="463378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2110843" y="3463908"/>
              <a:ext cx="83408" cy="83408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2415128" y="3273923"/>
              <a:ext cx="463378" cy="463378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2605113" y="3463908"/>
              <a:ext cx="83408" cy="83408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1658277" y="3505612"/>
              <a:ext cx="98854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23" name="Oval 22"/>
            <p:cNvSpPr/>
            <p:nvPr/>
          </p:nvSpPr>
          <p:spPr>
            <a:xfrm>
              <a:off x="1024993" y="3459274"/>
              <a:ext cx="278027" cy="278027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1138984" y="3573265"/>
              <a:ext cx="50045" cy="50045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758925" y="3227585"/>
              <a:ext cx="1513703" cy="185351"/>
            </a:xfrm>
            <a:prstGeom prst="rect">
              <a:avLst/>
            </a:prstGeom>
            <a:solidFill>
              <a:srgbClr val="3D434C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3820709" y="2764206"/>
              <a:ext cx="1421027" cy="494270"/>
            </a:xfrm>
            <a:prstGeom prst="roundRect">
              <a:avLst>
                <a:gd name="adj" fmla="val 12500"/>
              </a:avLst>
            </a:prstGeom>
            <a:solidFill>
              <a:srgbClr val="6C7480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882493" y="2578855"/>
              <a:ext cx="1297459" cy="216243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3959723" y="3397490"/>
              <a:ext cx="339811" cy="339811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4099045" y="3536813"/>
              <a:ext cx="61166" cy="61166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4732020" y="3397490"/>
              <a:ext cx="339811" cy="339811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4871342" y="3536813"/>
              <a:ext cx="61166" cy="61166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5394960" y="2889504"/>
              <a:ext cx="2834640" cy="663306"/>
            </a:xfrm>
            <a:prstGeom prst="roundRect">
              <a:avLst>
                <a:gd name="adj" fmla="val 11028"/>
              </a:avLst>
            </a:prstGeom>
            <a:solidFill>
              <a:srgbClr val="8C2F39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597920" y="3017063"/>
              <a:ext cx="367369" cy="238110"/>
            </a:xfrm>
            <a:prstGeom prst="roundRect">
              <a:avLst>
                <a:gd name="adj" fmla="val 11520"/>
              </a:avLst>
            </a:prstGeom>
            <a:solidFill>
              <a:srgbClr val="1B1D21"/>
            </a:solidFill>
            <a:ln w="952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6108155" y="3017063"/>
              <a:ext cx="367369" cy="238110"/>
            </a:xfrm>
            <a:prstGeom prst="roundRect">
              <a:avLst>
                <a:gd name="adj" fmla="val 11520"/>
              </a:avLst>
            </a:prstGeom>
            <a:solidFill>
              <a:srgbClr val="1B1D21"/>
            </a:solidFill>
            <a:ln w="952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6618391" y="3017063"/>
              <a:ext cx="367369" cy="238110"/>
            </a:xfrm>
            <a:prstGeom prst="roundRect">
              <a:avLst>
                <a:gd name="adj" fmla="val 11520"/>
              </a:avLst>
            </a:prstGeom>
            <a:solidFill>
              <a:srgbClr val="1B1D21"/>
            </a:solidFill>
            <a:ln w="952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7128626" y="3017063"/>
              <a:ext cx="367369" cy="238110"/>
            </a:xfrm>
            <a:prstGeom prst="roundRect">
              <a:avLst>
                <a:gd name="adj" fmla="val 11520"/>
              </a:avLst>
            </a:prstGeom>
            <a:solidFill>
              <a:srgbClr val="1B1D21"/>
            </a:solidFill>
            <a:ln w="952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638861" y="3017063"/>
              <a:ext cx="367369" cy="238110"/>
            </a:xfrm>
            <a:prstGeom prst="roundRect">
              <a:avLst>
                <a:gd name="adj" fmla="val 11520"/>
              </a:avLst>
            </a:prstGeom>
            <a:solidFill>
              <a:srgbClr val="1B1D21"/>
            </a:solidFill>
            <a:ln w="952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5451653" y="3569818"/>
              <a:ext cx="2721254" cy="51024"/>
            </a:xfrm>
            <a:prstGeom prst="rect">
              <a:avLst/>
            </a:prstGeom>
            <a:solidFill>
              <a:srgbClr val="343A43"/>
            </a:solidFill>
            <a:ln w="952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5746455" y="3569818"/>
              <a:ext cx="204094" cy="204094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5830134" y="3653496"/>
              <a:ext cx="36737" cy="36737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7674011" y="3569818"/>
              <a:ext cx="204094" cy="204094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7757689" y="3653496"/>
              <a:ext cx="36737" cy="36737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321040" y="2889504"/>
              <a:ext cx="2834640" cy="663306"/>
            </a:xfrm>
            <a:prstGeom prst="roundRect">
              <a:avLst>
                <a:gd name="adj" fmla="val 11028"/>
              </a:avLst>
            </a:prstGeom>
            <a:solidFill>
              <a:srgbClr val="8C2F39"/>
            </a:solidFill>
            <a:ln w="12700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8524000" y="3017063"/>
              <a:ext cx="367369" cy="238110"/>
            </a:xfrm>
            <a:prstGeom prst="roundRect">
              <a:avLst>
                <a:gd name="adj" fmla="val 11520"/>
              </a:avLst>
            </a:prstGeom>
            <a:solidFill>
              <a:srgbClr val="1B1D21"/>
            </a:solidFill>
            <a:ln w="952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034235" y="3017063"/>
              <a:ext cx="367369" cy="238110"/>
            </a:xfrm>
            <a:prstGeom prst="roundRect">
              <a:avLst>
                <a:gd name="adj" fmla="val 11520"/>
              </a:avLst>
            </a:prstGeom>
            <a:solidFill>
              <a:srgbClr val="1B1D21"/>
            </a:solidFill>
            <a:ln w="952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9544471" y="3017063"/>
              <a:ext cx="367369" cy="238110"/>
            </a:xfrm>
            <a:prstGeom prst="roundRect">
              <a:avLst>
                <a:gd name="adj" fmla="val 11520"/>
              </a:avLst>
            </a:prstGeom>
            <a:solidFill>
              <a:srgbClr val="1B1D21"/>
            </a:solidFill>
            <a:ln w="952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10054706" y="3017063"/>
              <a:ext cx="367369" cy="238110"/>
            </a:xfrm>
            <a:prstGeom prst="roundRect">
              <a:avLst>
                <a:gd name="adj" fmla="val 11520"/>
              </a:avLst>
            </a:prstGeom>
            <a:solidFill>
              <a:srgbClr val="1B1D21"/>
            </a:solidFill>
            <a:ln w="952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10564941" y="3017063"/>
              <a:ext cx="367369" cy="238110"/>
            </a:xfrm>
            <a:prstGeom prst="roundRect">
              <a:avLst>
                <a:gd name="adj" fmla="val 11520"/>
              </a:avLst>
            </a:prstGeom>
            <a:solidFill>
              <a:srgbClr val="1B1D21"/>
            </a:solidFill>
            <a:ln w="952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8377733" y="3569818"/>
              <a:ext cx="2721254" cy="51024"/>
            </a:xfrm>
            <a:prstGeom prst="rect">
              <a:avLst/>
            </a:prstGeom>
            <a:solidFill>
              <a:srgbClr val="343A43"/>
            </a:solidFill>
            <a:ln w="952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8672535" y="3569818"/>
              <a:ext cx="204094" cy="204094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8756214" y="3653496"/>
              <a:ext cx="36737" cy="36737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10600091" y="3569818"/>
              <a:ext cx="204094" cy="204094"/>
            </a:xfrm>
            <a:prstGeom prst="ellipse">
              <a:avLst/>
            </a:prstGeom>
            <a:solidFill>
              <a:srgbClr val="1B1D21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10683769" y="3653496"/>
              <a:ext cx="36737" cy="36737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4" name="Connector 53"/>
            <p:cNvCxnSpPr/>
            <p:nvPr/>
          </p:nvCxnSpPr>
          <p:spPr>
            <a:xfrm>
              <a:off x="457200" y="3749040"/>
              <a:ext cx="11247120" cy="0"/>
            </a:xfrm>
            <a:prstGeom prst="line">
              <a:avLst/>
            </a:prstGeom>
            <a:ln w="38100">
              <a:solidFill>
                <a:srgbClr val="9AA0A6"/>
              </a:solidFill>
            </a:ln>
          </p:spPr>
        </p:cxnSp>
        <p:cxnSp>
          <p:nvCxnSpPr>
            <p:cNvPr id="55" name="Connector 54"/>
            <p:cNvCxnSpPr/>
            <p:nvPr/>
          </p:nvCxnSpPr>
          <p:spPr>
            <a:xfrm>
              <a:off x="822960" y="4160520"/>
              <a:ext cx="10332720" cy="0"/>
            </a:xfrm>
            <a:prstGeom prst="line">
              <a:avLst/>
            </a:prstGeom>
            <a:ln w="28575">
              <a:solidFill>
                <a:srgbClr val="F2C14E"/>
              </a:solidFill>
            </a:ln>
          </p:spPr>
        </p:cxnSp>
        <p:cxnSp>
          <p:nvCxnSpPr>
            <p:cNvPr id="56" name="Connector 55"/>
            <p:cNvCxnSpPr/>
            <p:nvPr/>
          </p:nvCxnSpPr>
          <p:spPr>
            <a:xfrm>
              <a:off x="822960" y="4050792"/>
              <a:ext cx="0" cy="219456"/>
            </a:xfrm>
            <a:prstGeom prst="line">
              <a:avLst/>
            </a:prstGeom>
            <a:ln w="28575">
              <a:solidFill>
                <a:srgbClr val="F2C14E"/>
              </a:solidFill>
            </a:ln>
          </p:spPr>
        </p:cxnSp>
        <p:cxnSp>
          <p:nvCxnSpPr>
            <p:cNvPr id="57" name="Connector 56"/>
            <p:cNvCxnSpPr/>
            <p:nvPr/>
          </p:nvCxnSpPr>
          <p:spPr>
            <a:xfrm>
              <a:off x="11155680" y="4050792"/>
              <a:ext cx="0" cy="219456"/>
            </a:xfrm>
            <a:prstGeom prst="line">
              <a:avLst/>
            </a:prstGeom>
            <a:ln w="28575">
              <a:solidFill>
                <a:srgbClr val="F2C14E"/>
              </a:solidFill>
            </a:ln>
          </p:spPr>
        </p:cxnSp>
        <p:sp>
          <p:nvSpPr>
            <p:cNvPr id="58" name="Rounded Rectangle 57"/>
            <p:cNvSpPr/>
            <p:nvPr/>
          </p:nvSpPr>
          <p:spPr>
            <a:xfrm>
              <a:off x="4910328" y="4370832"/>
              <a:ext cx="2377440" cy="457200"/>
            </a:xfrm>
            <a:prstGeom prst="roundRect">
              <a:avLst>
                <a:gd name="adj" fmla="val 50000"/>
              </a:avLst>
            </a:prstGeom>
            <a:solidFill>
              <a:srgbClr val="2B2F36"/>
            </a:solidFill>
            <a:ln w="25400">
              <a:solidFill>
                <a:srgbClr val="F2C14E"/>
              </a:solidFill>
            </a:ln>
          </p:spPr>
          <p:txBody>
            <a:bodyPr rtlCol="0" anchor="ctr" wrap="square" lIns="73152" tIns="27432" rIns="73152" bIns="27432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Display only</a:t>
              </a:r>
            </a:p>
          </p:txBody>
        </p:sp>
      </p:grpSp>
      <p:sp>
        <p:nvSpPr>
          <p:cNvPr id="59" name="Inline chip"/>
          <p:cNvSpPr/>
          <p:nvPr/>
        </p:nvSpPr>
        <p:spPr>
          <a:xfrm>
            <a:off x="4556782" y="5029200"/>
            <a:ext cx="3078131" cy="329184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none" lIns="73152" tIns="18288" rIns="73152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F2F2F2"/>
                </a:solidFill>
                <a:latin typeface="Arial"/>
              </a:rPr>
              <a:t>Which coaches: undecided (OQ25)</a:t>
            </a:r>
          </a:p>
        </p:txBody>
      </p:sp>
      <p:sp>
        <p:nvSpPr>
          <p:cNvPr id="60" name="Caption"/>
          <p:cNvSpPr/>
          <p:nvPr/>
        </p:nvSpPr>
        <p:spPr>
          <a:xfrm>
            <a:off x="548640" y="574243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27432" rIns="182880" bIns="27432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Historic coaches might join a prestige engine for show. There is still no passenger economy.</a:t>
            </a:r>
          </a:p>
        </p:txBody>
      </p:sp>
      <p:sp>
        <p:nvSpPr>
          <p:cNvPr id="61" name="Caption rule"/>
          <p:cNvSpPr/>
          <p:nvPr/>
        </p:nvSpPr>
        <p:spPr>
          <a:xfrm>
            <a:off x="548640" y="5742432"/>
            <a:ext cx="73152" cy="69494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Slide number"/>
          <p:cNvSpPr txBox="1"/>
          <p:nvPr/>
        </p:nvSpPr>
        <p:spPr>
          <a:xfrm>
            <a:off x="11064240" y="647395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Where this stands</a:t>
            </a:r>
          </a:p>
        </p:txBody>
      </p:sp>
      <p:sp>
        <p:nvSpPr>
          <p:cNvPr id="3" name="Status chip"/>
          <p:cNvSpPr/>
          <p:nvPr/>
        </p:nvSpPr>
        <p:spPr>
          <a:xfrm>
            <a:off x="10131552" y="457200"/>
            <a:ext cx="1481328" cy="365760"/>
          </a:xfrm>
          <a:prstGeom prst="roundRect">
            <a:avLst>
              <a:gd name="adj" fmla="val 30000"/>
            </a:avLst>
          </a:prstGeom>
          <a:solidFill>
            <a:srgbClr val="4DA3FF"/>
          </a:solidFill>
          <a:ln>
            <a:noFill/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PROVISIONAL</a:t>
            </a:r>
          </a:p>
        </p:txBody>
      </p:sp>
      <p:grpSp>
        <p:nvGrpSpPr>
          <p:cNvPr id="4" name="Diagram: four post-launch ideas, none started" descr="A row of four steps, each marked as an idea: advanced buildings, advanced driving, liveries and prestige engines."/>
          <p:cNvGrpSpPr/>
          <p:nvPr/>
        </p:nvGrpSpPr>
        <p:grpSpPr>
          <a:xfrm>
            <a:off x="548640" y="1508760"/>
            <a:ext cx="11091672" cy="2926080"/>
            <a:chOff x="548640" y="1508760"/>
            <a:chExt cx="11091672" cy="2926080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508760"/>
              <a:ext cx="2560320" cy="2926080"/>
            </a:xfrm>
            <a:prstGeom prst="roundRect">
              <a:avLst>
                <a:gd name="adj" fmla="val 285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303020" y="1805940"/>
              <a:ext cx="1051560" cy="1051560"/>
            </a:xfrm>
            <a:prstGeom prst="ellipse">
              <a:avLst/>
            </a:prstGeom>
            <a:solidFill>
              <a:srgbClr val="2B2F36"/>
            </a:solidFill>
            <a:ln w="31750">
              <a:solidFill>
                <a:srgbClr val="A9B0B8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600200" y="2029968"/>
              <a:ext cx="457200" cy="457200"/>
            </a:xfrm>
            <a:prstGeom prst="ellipse">
              <a:avLst/>
            </a:prstGeom>
            <a:solidFill>
              <a:srgbClr val="F2C14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728216" y="2450592"/>
              <a:ext cx="201168" cy="137160"/>
            </a:xfrm>
            <a:prstGeom prst="roundRect">
              <a:avLst>
                <a:gd name="adj" fmla="val 20000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755648" y="2578608"/>
              <a:ext cx="146304" cy="54864"/>
            </a:xfrm>
            <a:prstGeom prst="roundRect">
              <a:avLst>
                <a:gd name="adj" fmla="val 50000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8368" y="3200400"/>
              <a:ext cx="2340864" cy="1097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Advanced buildings: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C14E"/>
                  </a:solidFill>
                  <a:latin typeface="Arial"/>
                </a:rPr>
                <a:t>an idea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392424" y="1508760"/>
              <a:ext cx="2560320" cy="2926080"/>
            </a:xfrm>
            <a:prstGeom prst="roundRect">
              <a:avLst>
                <a:gd name="adj" fmla="val 285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4146804" y="1805940"/>
              <a:ext cx="1051560" cy="1051560"/>
            </a:xfrm>
            <a:prstGeom prst="ellipse">
              <a:avLst/>
            </a:prstGeom>
            <a:solidFill>
              <a:srgbClr val="2B2F36"/>
            </a:solidFill>
            <a:ln w="31750">
              <a:solidFill>
                <a:srgbClr val="A9B0B8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4443984" y="2029968"/>
              <a:ext cx="457200" cy="457200"/>
            </a:xfrm>
            <a:prstGeom prst="ellipse">
              <a:avLst/>
            </a:prstGeom>
            <a:solidFill>
              <a:srgbClr val="F2C14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572000" y="2450592"/>
              <a:ext cx="201168" cy="137160"/>
            </a:xfrm>
            <a:prstGeom prst="roundRect">
              <a:avLst>
                <a:gd name="adj" fmla="val 20000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599432" y="2578608"/>
              <a:ext cx="146304" cy="54864"/>
            </a:xfrm>
            <a:prstGeom prst="roundRect">
              <a:avLst>
                <a:gd name="adj" fmla="val 50000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502152" y="3200400"/>
              <a:ext cx="2340864" cy="1097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Advanced driving: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C14E"/>
                  </a:solidFill>
                  <a:latin typeface="Arial"/>
                </a:rPr>
                <a:t>an idea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236208" y="1508760"/>
              <a:ext cx="2560320" cy="2926080"/>
            </a:xfrm>
            <a:prstGeom prst="roundRect">
              <a:avLst>
                <a:gd name="adj" fmla="val 285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6990588" y="1805940"/>
              <a:ext cx="1051560" cy="1051560"/>
            </a:xfrm>
            <a:prstGeom prst="ellipse">
              <a:avLst/>
            </a:prstGeom>
            <a:solidFill>
              <a:srgbClr val="2B2F36"/>
            </a:solidFill>
            <a:ln w="31750">
              <a:solidFill>
                <a:srgbClr val="A9B0B8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7287768" y="2029968"/>
              <a:ext cx="457200" cy="457200"/>
            </a:xfrm>
            <a:prstGeom prst="ellipse">
              <a:avLst/>
            </a:prstGeom>
            <a:solidFill>
              <a:srgbClr val="F2C14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415784" y="2450592"/>
              <a:ext cx="201168" cy="137160"/>
            </a:xfrm>
            <a:prstGeom prst="roundRect">
              <a:avLst>
                <a:gd name="adj" fmla="val 20000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7443216" y="2578608"/>
              <a:ext cx="146304" cy="54864"/>
            </a:xfrm>
            <a:prstGeom prst="roundRect">
              <a:avLst>
                <a:gd name="adj" fmla="val 50000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345936" y="3200400"/>
              <a:ext cx="2340864" cy="1097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Liveries: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C14E"/>
                  </a:solidFill>
                  <a:latin typeface="Arial"/>
                </a:rPr>
                <a:t>an idea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079992" y="1508760"/>
              <a:ext cx="2560320" cy="2926080"/>
            </a:xfrm>
            <a:prstGeom prst="roundRect">
              <a:avLst>
                <a:gd name="adj" fmla="val 285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9834372" y="1805940"/>
              <a:ext cx="1051560" cy="1051560"/>
            </a:xfrm>
            <a:prstGeom prst="ellipse">
              <a:avLst/>
            </a:prstGeom>
            <a:solidFill>
              <a:srgbClr val="2B2F36"/>
            </a:solidFill>
            <a:ln w="31750">
              <a:solidFill>
                <a:srgbClr val="A9B0B8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10131552" y="2029968"/>
              <a:ext cx="457200" cy="457200"/>
            </a:xfrm>
            <a:prstGeom prst="ellipse">
              <a:avLst/>
            </a:prstGeom>
            <a:solidFill>
              <a:srgbClr val="F2C14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10259568" y="2450592"/>
              <a:ext cx="201168" cy="137160"/>
            </a:xfrm>
            <a:prstGeom prst="roundRect">
              <a:avLst>
                <a:gd name="adj" fmla="val 20000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10287000" y="2578608"/>
              <a:ext cx="146304" cy="54864"/>
            </a:xfrm>
            <a:prstGeom prst="roundRect">
              <a:avLst>
                <a:gd name="adj" fmla="val 50000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189720" y="3200400"/>
              <a:ext cx="2340864" cy="1097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Prestige engines: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C14E"/>
                  </a:solidFill>
                  <a:latin typeface="Arial"/>
                </a:rPr>
                <a:t>an idea</a:t>
              </a:r>
            </a:p>
          </p:txBody>
        </p:sp>
        <p:sp>
          <p:nvSpPr>
            <p:cNvPr id="29" name="Chevron 28"/>
            <p:cNvSpPr/>
            <p:nvPr/>
          </p:nvSpPr>
          <p:spPr>
            <a:xfrm>
              <a:off x="3182112" y="2834640"/>
              <a:ext cx="137160" cy="329184"/>
            </a:xfrm>
            <a:prstGeom prst="chevron">
              <a:avLst/>
            </a:prstGeom>
            <a:solidFill>
              <a:srgbClr val="A9B0B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Chevron 29"/>
            <p:cNvSpPr/>
            <p:nvPr/>
          </p:nvSpPr>
          <p:spPr>
            <a:xfrm>
              <a:off x="6025896" y="2834640"/>
              <a:ext cx="137160" cy="329184"/>
            </a:xfrm>
            <a:prstGeom prst="chevron">
              <a:avLst/>
            </a:prstGeom>
            <a:solidFill>
              <a:srgbClr val="A9B0B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Chevron 30"/>
            <p:cNvSpPr/>
            <p:nvPr/>
          </p:nvSpPr>
          <p:spPr>
            <a:xfrm>
              <a:off x="8869680" y="2834640"/>
              <a:ext cx="137160" cy="329184"/>
            </a:xfrm>
            <a:prstGeom prst="chevron">
              <a:avLst/>
            </a:prstGeom>
            <a:solidFill>
              <a:srgbClr val="A9B0B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2" name="Inline chip"/>
          <p:cNvSpPr/>
          <p:nvPr/>
        </p:nvSpPr>
        <p:spPr>
          <a:xfrm>
            <a:off x="4547017" y="4937760"/>
            <a:ext cx="3097661" cy="329184"/>
          </a:xfrm>
          <a:prstGeom prst="roundRect">
            <a:avLst>
              <a:gd name="adj" fmla="val 50000"/>
            </a:avLst>
          </a:prstGeom>
          <a:solidFill>
            <a:srgbClr val="4DA3FF"/>
          </a:solidFill>
          <a:ln>
            <a:noFill/>
          </a:ln>
        </p:spPr>
        <p:txBody>
          <a:bodyPr rtlCol="0" anchor="ctr" wrap="none" lIns="73152" tIns="18288" rIns="73152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PROVISIONAL  </a:t>
            </a:r>
            <a:r>
              <a:rPr sz="1400" b="0" i="0" lang="en-GB">
                <a:solidFill>
                  <a:srgbClr val="101418"/>
                </a:solidFill>
                <a:latin typeface="Arial"/>
              </a:rPr>
              <a:t>Plans can change.</a:t>
            </a:r>
          </a:p>
        </p:txBody>
      </p:sp>
      <p:sp>
        <p:nvSpPr>
          <p:cNvPr id="33" name="Caption"/>
          <p:cNvSpPr/>
          <p:nvPr/>
        </p:nvSpPr>
        <p:spPr>
          <a:xfrm>
            <a:off x="548640" y="574243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27432" rIns="182880" bIns="27432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Late steam, advanced driving and prestige are ideas for after launch.</a:t>
            </a:r>
          </a:p>
        </p:txBody>
      </p:sp>
      <p:sp>
        <p:nvSpPr>
          <p:cNvPr id="34" name="Caption rule"/>
          <p:cNvSpPr/>
          <p:nvPr/>
        </p:nvSpPr>
        <p:spPr>
          <a:xfrm>
            <a:off x="548640" y="5742432"/>
            <a:ext cx="73152" cy="69494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Slide number"/>
          <p:cNvSpPr txBox="1"/>
          <p:nvPr/>
        </p:nvSpPr>
        <p:spPr>
          <a:xfrm>
            <a:off x="11064240" y="647395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Still undecided</a:t>
            </a:r>
          </a:p>
        </p:txBody>
      </p:sp>
      <p:sp>
        <p:nvSpPr>
          <p:cNvPr id="3" name="Status chip"/>
          <p:cNvSpPr/>
          <p:nvPr/>
        </p:nvSpPr>
        <p:spPr>
          <a:xfrm>
            <a:off x="10131552" y="457200"/>
            <a:ext cx="1481328" cy="365760"/>
          </a:xfrm>
          <a:prstGeom prst="roundRect">
            <a:avLst>
              <a:gd name="adj" fmla="val 30000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none" lIns="36576" tIns="18288" rIns="36576" bIns="18288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F2F2F2"/>
                </a:solidFill>
                <a:latin typeface="Arial"/>
              </a:rPr>
              <a:t>UNDECIDED</a:t>
            </a:r>
          </a:p>
        </p:txBody>
      </p:sp>
      <p:grpSp>
        <p:nvGrpSpPr>
          <p:cNvPr id="4" name="Diagram: eight open questions" descr="A grid of eight cards, each marked Undecided, listing the open questions about advanced buildings, balance, driving formulas, the Advanced bonus, liveries, prestige engines, prestige prices and names and licences."/>
          <p:cNvGrpSpPr/>
          <p:nvPr/>
        </p:nvGrpSpPr>
        <p:grpSpPr>
          <a:xfrm>
            <a:off x="548640" y="1417320"/>
            <a:ext cx="11091672" cy="3749040"/>
            <a:chOff x="548640" y="1417320"/>
            <a:chExt cx="11091672" cy="3749040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417320"/>
              <a:ext cx="2651760" cy="1783080"/>
            </a:xfrm>
            <a:prstGeom prst="roundRect">
              <a:avLst>
                <a:gd name="adj" fmla="val 41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Inline chip"/>
            <p:cNvSpPr/>
            <p:nvPr/>
          </p:nvSpPr>
          <p:spPr>
            <a:xfrm>
              <a:off x="731520" y="1600200"/>
              <a:ext cx="1280160" cy="31089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none" lIns="27432" tIns="0" rIns="27432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31520" y="2057400"/>
              <a:ext cx="2286000" cy="10515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Which advanced buildings? </a:t>
              </a:r>
              <a:r>
                <a:rPr sz="1800" b="0" i="0" lang="en-GB">
                  <a:solidFill>
                    <a:srgbClr val="A9B0B8"/>
                  </a:solidFill>
                  <a:latin typeface="Arial"/>
                </a:rPr>
                <a:t>(OQ22)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361944" y="1417320"/>
              <a:ext cx="2651760" cy="1783080"/>
            </a:xfrm>
            <a:prstGeom prst="roundRect">
              <a:avLst>
                <a:gd name="adj" fmla="val 41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Inline chip"/>
            <p:cNvSpPr/>
            <p:nvPr/>
          </p:nvSpPr>
          <p:spPr>
            <a:xfrm>
              <a:off x="3544824" y="1600200"/>
              <a:ext cx="1280160" cy="31089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none" lIns="27432" tIns="0" rIns="27432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44824" y="2057400"/>
              <a:ext cx="2286000" cy="10515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Balance against electric </a:t>
              </a:r>
              <a:r>
                <a:rPr sz="1800" b="0" i="0" lang="en-GB">
                  <a:solidFill>
                    <a:srgbClr val="A9B0B8"/>
                  </a:solidFill>
                  <a:latin typeface="Arial"/>
                </a:rPr>
                <a:t>(OQ22)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175248" y="1417320"/>
              <a:ext cx="2651760" cy="1783080"/>
            </a:xfrm>
            <a:prstGeom prst="roundRect">
              <a:avLst>
                <a:gd name="adj" fmla="val 41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Inline chip"/>
            <p:cNvSpPr/>
            <p:nvPr/>
          </p:nvSpPr>
          <p:spPr>
            <a:xfrm>
              <a:off x="6358128" y="1600200"/>
              <a:ext cx="1280160" cy="31089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none" lIns="27432" tIns="0" rIns="27432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358128" y="2057400"/>
              <a:ext cx="2286000" cy="10515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Driving formulas </a:t>
              </a:r>
              <a:r>
                <a:rPr sz="1800" b="0" i="0" lang="en-GB">
                  <a:solidFill>
                    <a:srgbClr val="A9B0B8"/>
                  </a:solidFill>
                  <a:latin typeface="Arial"/>
                </a:rPr>
                <a:t>(OQ24)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988552" y="1417320"/>
              <a:ext cx="2651760" cy="1783080"/>
            </a:xfrm>
            <a:prstGeom prst="roundRect">
              <a:avLst>
                <a:gd name="adj" fmla="val 41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Inline chip"/>
            <p:cNvSpPr/>
            <p:nvPr/>
          </p:nvSpPr>
          <p:spPr>
            <a:xfrm>
              <a:off x="9171432" y="1600200"/>
              <a:ext cx="1280160" cy="31089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none" lIns="27432" tIns="0" rIns="27432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171432" y="2057400"/>
              <a:ext cx="2286000" cy="10515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Size of the Advanced bonus </a:t>
              </a:r>
              <a:r>
                <a:rPr sz="1800" b="0" i="0" lang="en-GB">
                  <a:solidFill>
                    <a:srgbClr val="A9B0B8"/>
                  </a:solidFill>
                  <a:latin typeface="Arial"/>
                </a:rPr>
                <a:t>(OQ24)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48640" y="3383280"/>
              <a:ext cx="2651760" cy="1783080"/>
            </a:xfrm>
            <a:prstGeom prst="roundRect">
              <a:avLst>
                <a:gd name="adj" fmla="val 41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Inline chip"/>
            <p:cNvSpPr/>
            <p:nvPr/>
          </p:nvSpPr>
          <p:spPr>
            <a:xfrm>
              <a:off x="731520" y="3566160"/>
              <a:ext cx="1280160" cy="31089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none" lIns="27432" tIns="0" rIns="27432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31520" y="4023360"/>
              <a:ext cx="2286000" cy="10515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Livery integration </a:t>
              </a:r>
              <a:r>
                <a:rPr sz="1800" b="0" i="0" lang="en-GB">
                  <a:solidFill>
                    <a:srgbClr val="A9B0B8"/>
                  </a:solidFill>
                  <a:latin typeface="Arial"/>
                </a:rPr>
                <a:t>(OQ25)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361944" y="3383280"/>
              <a:ext cx="2651760" cy="1783080"/>
            </a:xfrm>
            <a:prstGeom prst="roundRect">
              <a:avLst>
                <a:gd name="adj" fmla="val 41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Inline chip"/>
            <p:cNvSpPr/>
            <p:nvPr/>
          </p:nvSpPr>
          <p:spPr>
            <a:xfrm>
              <a:off x="3544824" y="3566160"/>
              <a:ext cx="1280160" cy="31089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none" lIns="27432" tIns="0" rIns="27432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544824" y="4023360"/>
              <a:ext cx="2286000" cy="10515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Which prestige engines? </a:t>
              </a:r>
              <a:r>
                <a:rPr sz="1800" b="0" i="0" lang="en-GB">
                  <a:solidFill>
                    <a:srgbClr val="A9B0B8"/>
                  </a:solidFill>
                  <a:latin typeface="Arial"/>
                </a:rPr>
                <a:t>(OQ25)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6175248" y="3383280"/>
              <a:ext cx="2651760" cy="1783080"/>
            </a:xfrm>
            <a:prstGeom prst="roundRect">
              <a:avLst>
                <a:gd name="adj" fmla="val 41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Inline chip"/>
            <p:cNvSpPr/>
            <p:nvPr/>
          </p:nvSpPr>
          <p:spPr>
            <a:xfrm>
              <a:off x="6358128" y="3566160"/>
              <a:ext cx="1280160" cy="31089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none" lIns="27432" tIns="0" rIns="27432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358128" y="4023360"/>
              <a:ext cx="2286000" cy="10515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Prestige prices </a:t>
              </a:r>
              <a:r>
                <a:rPr sz="1800" b="0" i="0" lang="en-GB">
                  <a:solidFill>
                    <a:srgbClr val="A9B0B8"/>
                  </a:solidFill>
                  <a:latin typeface="Arial"/>
                </a:rPr>
                <a:t>(OQ25)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988552" y="3383280"/>
              <a:ext cx="2651760" cy="1783080"/>
            </a:xfrm>
            <a:prstGeom prst="roundRect">
              <a:avLst>
                <a:gd name="adj" fmla="val 41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Inline chip"/>
            <p:cNvSpPr/>
            <p:nvPr/>
          </p:nvSpPr>
          <p:spPr>
            <a:xfrm>
              <a:off x="9171432" y="3566160"/>
              <a:ext cx="1280160" cy="31089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none" lIns="27432" tIns="0" rIns="27432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171432" y="4023360"/>
              <a:ext cx="2286000" cy="10515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Names and licences </a:t>
              </a:r>
              <a:r>
                <a:rPr sz="1800" b="0" i="0" lang="en-GB">
                  <a:solidFill>
                    <a:srgbClr val="A9B0B8"/>
                  </a:solidFill>
                  <a:latin typeface="Arial"/>
                </a:rPr>
                <a:t>(OQ25)</a:t>
              </a:r>
            </a:p>
          </p:txBody>
        </p:sp>
      </p:grpSp>
      <p:sp>
        <p:nvSpPr>
          <p:cNvPr id="29" name="Caption"/>
          <p:cNvSpPr/>
          <p:nvPr/>
        </p:nvSpPr>
        <p:spPr>
          <a:xfrm>
            <a:off x="548640" y="574243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27432" rIns="182880" bIns="27432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These questions are open. Nothing here has been chosen yet.</a:t>
            </a:r>
          </a:p>
        </p:txBody>
      </p:sp>
      <p:sp>
        <p:nvSpPr>
          <p:cNvPr id="30" name="Caption rule"/>
          <p:cNvSpPr/>
          <p:nvPr/>
        </p:nvSpPr>
        <p:spPr>
          <a:xfrm>
            <a:off x="548640" y="5742432"/>
            <a:ext cx="73152" cy="69494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lide number"/>
          <p:cNvSpPr txBox="1"/>
          <p:nvPr/>
        </p:nvSpPr>
        <p:spPr>
          <a:xfrm>
            <a:off x="11064240" y="647395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Image credits</a:t>
            </a:r>
          </a:p>
        </p:txBody>
      </p:sp>
      <p:graphicFrame>
        <p:nvGraphicFramePr>
          <p:cNvPr id="3" name="Table: image credits" descr="Credit table for the one photograph in this deck: slot P12, shown on slide 1, by Tony Hisgett, licence CC BY 2.0, with a link to Wikimedia Commons."/>
          <p:cNvGraphicFramePr>
            <a:graphicFrameLocks noGrp="1"/>
          </p:cNvGraphicFramePr>
          <p:nvPr/>
        </p:nvGraphicFramePr>
        <p:xfrm>
          <a:off x="548640" y="1463040"/>
          <a:ext cx="11091672" cy="1097280"/>
        </p:xfrm>
        <a:graphic>
          <a:graphicData uri="http://schemas.openxmlformats.org/drawingml/2006/table">
            <a:tbl>
              <a:tblPr firstRow="1" bandRow="0" bandCol="0" firstCol="0" lastRow="0" lastCol="0">
                <a:tableStyleId>{5C22544A-7EE6-4342-B048-85BDC9FD1C3A}</a:tableStyleId>
              </a:tblPr>
              <a:tblGrid>
                <a:gridCol w="914400"/>
                <a:gridCol w="914400"/>
                <a:gridCol w="2926080"/>
                <a:gridCol w="2194560"/>
                <a:gridCol w="4142232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 i="0" lang="en-GB">
                          <a:solidFill>
                            <a:srgbClr val="F2F2F2"/>
                          </a:solidFill>
                          <a:latin typeface="Arial"/>
                        </a:rPr>
                        <a:t>Slot</a:t>
                      </a:r>
                    </a:p>
                  </a:txBody>
                  <a:tcPr marL="109728" marR="109728" anchor="ctr">
                    <a:lnL w="12700">
                      <a:solidFill>
                        <a:srgbClr val="4A515B"/>
                      </a:solidFill>
                    </a:lnL>
                    <a:lnR w="12700">
                      <a:solidFill>
                        <a:srgbClr val="4A515B"/>
                      </a:solidFill>
                    </a:lnR>
                    <a:lnT w="12700">
                      <a:solidFill>
                        <a:srgbClr val="4A515B"/>
                      </a:solidFill>
                    </a:lnT>
                    <a:lnB w="12700">
                      <a:solidFill>
                        <a:srgbClr val="4A515B"/>
                      </a:solidFill>
                    </a:lnB>
                    <a:solidFill>
                      <a:srgbClr val="343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 lang="en-GB">
                          <a:solidFill>
                            <a:srgbClr val="F2F2F2"/>
                          </a:solidFill>
                          <a:latin typeface="Arial"/>
                        </a:rPr>
                        <a:t>Slide</a:t>
                      </a:r>
                    </a:p>
                  </a:txBody>
                  <a:tcPr marL="109728" marR="109728" anchor="ctr">
                    <a:lnL w="12700">
                      <a:solidFill>
                        <a:srgbClr val="4A515B"/>
                      </a:solidFill>
                    </a:lnL>
                    <a:lnR w="12700">
                      <a:solidFill>
                        <a:srgbClr val="4A515B"/>
                      </a:solidFill>
                    </a:lnR>
                    <a:lnT w="12700">
                      <a:solidFill>
                        <a:srgbClr val="4A515B"/>
                      </a:solidFill>
                    </a:lnT>
                    <a:lnB w="12700">
                      <a:solidFill>
                        <a:srgbClr val="4A515B"/>
                      </a:solidFill>
                    </a:lnB>
                    <a:solidFill>
                      <a:srgbClr val="343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 lang="en-GB">
                          <a:solidFill>
                            <a:srgbClr val="F2F2F2"/>
                          </a:solidFill>
                          <a:latin typeface="Arial"/>
                        </a:rPr>
                        <a:t>Author</a:t>
                      </a:r>
                    </a:p>
                  </a:txBody>
                  <a:tcPr marL="109728" marR="109728" anchor="ctr">
                    <a:lnL w="12700">
                      <a:solidFill>
                        <a:srgbClr val="4A515B"/>
                      </a:solidFill>
                    </a:lnL>
                    <a:lnR w="12700">
                      <a:solidFill>
                        <a:srgbClr val="4A515B"/>
                      </a:solidFill>
                    </a:lnR>
                    <a:lnT w="12700">
                      <a:solidFill>
                        <a:srgbClr val="4A515B"/>
                      </a:solidFill>
                    </a:lnT>
                    <a:lnB w="12700">
                      <a:solidFill>
                        <a:srgbClr val="4A515B"/>
                      </a:solidFill>
                    </a:lnB>
                    <a:solidFill>
                      <a:srgbClr val="343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 lang="en-GB">
                          <a:solidFill>
                            <a:srgbClr val="F2F2F2"/>
                          </a:solidFill>
                          <a:latin typeface="Arial"/>
                        </a:rPr>
                        <a:t>Licence</a:t>
                      </a:r>
                    </a:p>
                  </a:txBody>
                  <a:tcPr marL="109728" marR="109728" anchor="ctr">
                    <a:lnL w="12700">
                      <a:solidFill>
                        <a:srgbClr val="4A515B"/>
                      </a:solidFill>
                    </a:lnL>
                    <a:lnR w="12700">
                      <a:solidFill>
                        <a:srgbClr val="4A515B"/>
                      </a:solidFill>
                    </a:lnR>
                    <a:lnT w="12700">
                      <a:solidFill>
                        <a:srgbClr val="4A515B"/>
                      </a:solidFill>
                    </a:lnT>
                    <a:lnB w="12700">
                      <a:solidFill>
                        <a:srgbClr val="4A515B"/>
                      </a:solidFill>
                    </a:lnB>
                    <a:solidFill>
                      <a:srgbClr val="343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 lang="en-GB">
                          <a:solidFill>
                            <a:srgbClr val="F2F2F2"/>
                          </a:solidFill>
                          <a:latin typeface="Arial"/>
                        </a:rPr>
                        <a:t>Source link</a:t>
                      </a:r>
                    </a:p>
                  </a:txBody>
                  <a:tcPr marL="109728" marR="109728" anchor="ctr">
                    <a:lnL w="12700">
                      <a:solidFill>
                        <a:srgbClr val="4A515B"/>
                      </a:solidFill>
                    </a:lnL>
                    <a:lnR w="12700">
                      <a:solidFill>
                        <a:srgbClr val="4A515B"/>
                      </a:solidFill>
                    </a:lnR>
                    <a:lnT w="12700">
                      <a:solidFill>
                        <a:srgbClr val="4A515B"/>
                      </a:solidFill>
                    </a:lnT>
                    <a:lnB w="12700">
                      <a:solidFill>
                        <a:srgbClr val="4A515B"/>
                      </a:solidFill>
                    </a:lnB>
                    <a:solidFill>
                      <a:srgbClr val="343A4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 i="0" lang="en-GB">
                          <a:solidFill>
                            <a:srgbClr val="F2F2F2"/>
                          </a:solidFill>
                          <a:latin typeface="Arial"/>
                        </a:rPr>
                        <a:t>P12</a:t>
                      </a:r>
                    </a:p>
                  </a:txBody>
                  <a:tcPr marL="109728" marR="109728" anchor="ctr">
                    <a:lnL w="12700">
                      <a:solidFill>
                        <a:srgbClr val="4A515B"/>
                      </a:solidFill>
                    </a:lnL>
                    <a:lnR w="12700">
                      <a:solidFill>
                        <a:srgbClr val="4A515B"/>
                      </a:solidFill>
                    </a:lnR>
                    <a:lnT w="12700">
                      <a:solidFill>
                        <a:srgbClr val="4A515B"/>
                      </a:solidFill>
                    </a:lnT>
                    <a:lnB w="12700">
                      <a:solidFill>
                        <a:srgbClr val="4A515B"/>
                      </a:solidFill>
                    </a:lnB>
                    <a:solidFill>
                      <a:srgbClr val="2B2F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 lang="en-GB">
                          <a:solidFill>
                            <a:srgbClr val="F2F2F2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109728" anchor="ctr">
                    <a:lnL w="12700">
                      <a:solidFill>
                        <a:srgbClr val="4A515B"/>
                      </a:solidFill>
                    </a:lnL>
                    <a:lnR w="12700">
                      <a:solidFill>
                        <a:srgbClr val="4A515B"/>
                      </a:solidFill>
                    </a:lnR>
                    <a:lnT w="12700">
                      <a:solidFill>
                        <a:srgbClr val="4A515B"/>
                      </a:solidFill>
                    </a:lnT>
                    <a:lnB w="12700">
                      <a:solidFill>
                        <a:srgbClr val="4A515B"/>
                      </a:solidFill>
                    </a:lnB>
                    <a:solidFill>
                      <a:srgbClr val="2B2F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 lang="en-GB">
                          <a:solidFill>
                            <a:srgbClr val="F2F2F2"/>
                          </a:solidFill>
                          <a:latin typeface="Arial"/>
                        </a:rPr>
                        <a:t>Tony Hisgett</a:t>
                      </a:r>
                    </a:p>
                  </a:txBody>
                  <a:tcPr marL="109728" marR="109728" anchor="ctr">
                    <a:lnL w="12700">
                      <a:solidFill>
                        <a:srgbClr val="4A515B"/>
                      </a:solidFill>
                    </a:lnL>
                    <a:lnR w="12700">
                      <a:solidFill>
                        <a:srgbClr val="4A515B"/>
                      </a:solidFill>
                    </a:lnR>
                    <a:lnT w="12700">
                      <a:solidFill>
                        <a:srgbClr val="4A515B"/>
                      </a:solidFill>
                    </a:lnT>
                    <a:lnB w="12700">
                      <a:solidFill>
                        <a:srgbClr val="4A515B"/>
                      </a:solidFill>
                    </a:lnB>
                    <a:solidFill>
                      <a:srgbClr val="2B2F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 lang="en-GB">
                          <a:solidFill>
                            <a:srgbClr val="F2F2F2"/>
                          </a:solidFill>
                          <a:latin typeface="Arial"/>
                        </a:rPr>
                        <a:t>CC BY 2.0</a:t>
                      </a:r>
                    </a:p>
                  </a:txBody>
                  <a:tcPr marL="109728" marR="109728" anchor="ctr">
                    <a:lnL w="12700">
                      <a:solidFill>
                        <a:srgbClr val="4A515B"/>
                      </a:solidFill>
                    </a:lnL>
                    <a:lnR w="12700">
                      <a:solidFill>
                        <a:srgbClr val="4A515B"/>
                      </a:solidFill>
                    </a:lnR>
                    <a:lnT w="12700">
                      <a:solidFill>
                        <a:srgbClr val="4A515B"/>
                      </a:solidFill>
                    </a:lnT>
                    <a:lnB w="12700">
                      <a:solidFill>
                        <a:srgbClr val="4A515B"/>
                      </a:solidFill>
                    </a:lnB>
                    <a:solidFill>
                      <a:srgbClr val="2B2F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 lang="en-GB" u="sng">
                          <a:solidFill>
                            <a:srgbClr val="4DA3FF"/>
                          </a:solidFill>
                          <a:latin typeface="Arial"/>
                          <a:hlinkClick r:id="rId2"/>
                        </a:rPr>
                        <a:t>Commons</a:t>
                      </a:r>
                    </a:p>
                  </a:txBody>
                  <a:tcPr marL="109728" marR="109728" anchor="ctr">
                    <a:lnL w="12700">
                      <a:solidFill>
                        <a:srgbClr val="4A515B"/>
                      </a:solidFill>
                    </a:lnL>
                    <a:lnR w="12700">
                      <a:solidFill>
                        <a:srgbClr val="4A515B"/>
                      </a:solidFill>
                    </a:lnR>
                    <a:lnT w="12700">
                      <a:solidFill>
                        <a:srgbClr val="4A515B"/>
                      </a:solidFill>
                    </a:lnT>
                    <a:lnB w="12700">
                      <a:solidFill>
                        <a:srgbClr val="4A515B"/>
                      </a:solidFill>
                    </a:lnB>
                    <a:solidFill>
                      <a:srgbClr val="2B2F36"/>
                    </a:solidFill>
                  </a:tcPr>
                </a:tc>
              </a:tr>
            </a:tbl>
          </a:graphicData>
        </a:graphic>
      </p:graphicFrame>
      <p:sp>
        <p:nvSpPr>
          <p:cNvPr id="4" name="Table note"/>
          <p:cNvSpPr txBox="1"/>
          <p:nvPr/>
        </p:nvSpPr>
        <p:spPr>
          <a:xfrm>
            <a:off x="548640" y="29718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CC BY-SA photos are shown unmodified except for resizing.</a:t>
            </a:r>
          </a:p>
        </p:txBody>
      </p:sp>
      <p:sp>
        <p:nvSpPr>
          <p:cNvPr id="5" name="Table note"/>
          <p:cNvSpPr txBox="1"/>
          <p:nvPr/>
        </p:nvSpPr>
        <p:spPr>
          <a:xfrm>
            <a:off x="548640" y="34290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The photograph shows a real steam locomotive. It is not a model from the mod.</a:t>
            </a:r>
          </a:p>
        </p:txBody>
      </p:sp>
      <p:sp>
        <p:nvSpPr>
          <p:cNvPr id="6" name="Caption"/>
          <p:cNvSpPr/>
          <p:nvPr/>
        </p:nvSpPr>
        <p:spPr>
          <a:xfrm>
            <a:off x="548640" y="5742432"/>
            <a:ext cx="11091672" cy="694944"/>
          </a:xfrm>
          <a:prstGeom prst="roundRect">
            <a:avLst>
              <a:gd name="adj" fmla="val 10526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27432" rIns="182880" bIns="27432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Photographs come from Wikimedia Commons under Creative Commons licences.</a:t>
            </a:r>
          </a:p>
        </p:txBody>
      </p:sp>
      <p:sp>
        <p:nvSpPr>
          <p:cNvPr id="7" name="Caption rule"/>
          <p:cNvSpPr/>
          <p:nvPr/>
        </p:nvSpPr>
        <p:spPr>
          <a:xfrm>
            <a:off x="548640" y="5742432"/>
            <a:ext cx="73152" cy="69494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lide number"/>
          <p:cNvSpPr txBox="1"/>
          <p:nvPr/>
        </p:nvSpPr>
        <p:spPr>
          <a:xfrm>
            <a:off x="11064240" y="647395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DA3FF"/>
      </a:hlink>
      <a:folHlink>
        <a:srgbClr val="B084F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After Launch, Part 2: Late Steam, Advanced Driving and Prestige, Explained</dc:title>
  <dc:subject>Explainer deck about post-launch late steam, advanced driving and prestige ideas</dc:subject>
  <dc:creator>Claude (Early Locomotion project)</dc:creator>
  <cp:keywords/>
  <dc:description>generated using python-pptx</dc:description>
  <cp:lastModifiedBy>Claude (Early Locomotion project)</cp:lastModifiedBy>
  <cp:revision>1</cp:revision>
  <dcterms:created xsi:type="dcterms:W3CDTF">2013-01-27T09:14:16Z</dcterms:created>
  <dcterms:modified xsi:type="dcterms:W3CDTF">2013-01-27T09:15:58Z</dcterms:modified>
  <cp:category/>
  <dc:language>en-GB</dc:language>
</cp:coreProperties>
</file>