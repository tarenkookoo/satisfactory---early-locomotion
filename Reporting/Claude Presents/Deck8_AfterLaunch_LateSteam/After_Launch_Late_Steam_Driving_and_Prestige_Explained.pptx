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097280"/>
            <a:ext cx="6675120" cy="269748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After Launch: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Late Steam, Driving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and Prestige</a:t>
            </a:r>
          </a:p>
        </p:txBody>
      </p:sp>
      <p:sp>
        <p:nvSpPr>
          <p:cNvPr id="3" name="Orange rule"/>
          <p:cNvSpPr/>
          <p:nvPr/>
        </p:nvSpPr>
        <p:spPr>
          <a:xfrm>
            <a:off x="548640" y="3931920"/>
            <a:ext cx="1645920" cy="6400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"/>
          <p:cNvSpPr txBox="1"/>
          <p:nvPr/>
        </p:nvSpPr>
        <p:spPr>
          <a:xfrm>
            <a:off x="548640" y="420624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Ideas for after the first release, for people who love steam. All of it comes later.</a:t>
            </a:r>
          </a:p>
        </p:txBody>
      </p:sp>
      <p:pic>
        <p:nvPicPr>
          <p:cNvPr id="5" name="Picture P12_9f_92203.jpg" descr="A large black British steam locomotive seen from the front three-quarter, standing on a heritage railway."/>
          <p:cNvPicPr>
            <a:picLocks noChangeAspect="1"/>
          </p:cNvPicPr>
          <p:nvPr/>
        </p:nvPicPr>
        <p:blipFill>
          <a:blip r:embed="rId2"/>
          <a:srcRect l="43386" r="9524"/>
          <a:stretch>
            <a:fillRect/>
          </a:stretch>
        </p:blipFill>
        <p:spPr>
          <a:xfrm>
            <a:off x="7406640" y="411480"/>
            <a:ext cx="4233672" cy="5806440"/>
          </a:xfrm>
          <a:prstGeom prst="roundRect">
            <a:avLst>
              <a:gd name="adj" fmla="val 1727"/>
            </a:avLst>
          </a:prstGeom>
        </p:spPr>
      </p:pic>
      <p:sp>
        <p:nvSpPr>
          <p:cNvPr id="6" name="Credit line"/>
          <p:cNvSpPr txBox="1"/>
          <p:nvPr/>
        </p:nvSpPr>
        <p:spPr>
          <a:xfrm>
            <a:off x="7406640" y="6291072"/>
            <a:ext cx="42336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lang="en-GB">
                <a:solidFill>
                  <a:srgbClr val="A9B0B8"/>
                </a:solidFill>
                <a:latin typeface="Arial"/>
              </a:rPr>
              <a:t>A real steam locomotive, shown for illustration.</a:t>
            </a:r>
            <a:br/>
            <a:r>
              <a:rPr sz="1000" b="0" i="0" lang="en-GB">
                <a:solidFill>
                  <a:srgbClr val="A9B0B8"/>
                </a:solidFill>
                <a:latin typeface="Arial"/>
              </a:rPr>
              <a:t>Photo: Tony Hisgett, CC BY 2.0.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Diagram: tag legend" descr="Five tags with their meanings: Agreed, Proposed, Provisional, Undecided and Background."/>
          <p:cNvGrpSpPr/>
          <p:nvPr/>
        </p:nvGrpSpPr>
        <p:grpSpPr>
          <a:xfrm>
            <a:off x="548640" y="1371600"/>
            <a:ext cx="7040880" cy="3986784"/>
            <a:chOff x="548640" y="1371600"/>
            <a:chExt cx="7040880" cy="3986784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137160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"/>
            <p:cNvSpPr/>
            <p:nvPr/>
          </p:nvSpPr>
          <p:spPr>
            <a:xfrm>
              <a:off x="777240" y="149047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80360" y="146304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" y="219456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Legend chip"/>
            <p:cNvSpPr/>
            <p:nvPr/>
          </p:nvSpPr>
          <p:spPr>
            <a:xfrm>
              <a:off x="777240" y="231343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80360" y="228600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01752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egend chip"/>
            <p:cNvSpPr/>
            <p:nvPr/>
          </p:nvSpPr>
          <p:spPr>
            <a:xfrm>
              <a:off x="777240" y="313639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880360" y="310896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4048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egend chip"/>
            <p:cNvSpPr/>
            <p:nvPr/>
          </p:nvSpPr>
          <p:spPr>
            <a:xfrm>
              <a:off x="777240" y="3959352"/>
              <a:ext cx="1828800" cy="457200"/>
            </a:xfrm>
            <a:prstGeom prst="roundRect">
              <a:avLst>
                <a:gd name="adj" fmla="val 28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360" y="393192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48640" y="466344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"/>
            <p:cNvSpPr/>
            <p:nvPr/>
          </p:nvSpPr>
          <p:spPr>
            <a:xfrm>
              <a:off x="777240" y="478231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80360" y="475488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9" name="Sketch: a slide with a tag in its corner" descr="Sketch of a slide with a coloured tag in its top-right corner."/>
          <p:cNvGrpSpPr/>
          <p:nvPr/>
        </p:nvGrpSpPr>
        <p:grpSpPr>
          <a:xfrm>
            <a:off x="8138160" y="1737360"/>
            <a:ext cx="3502152" cy="2148840"/>
            <a:chOff x="8138160" y="1737360"/>
            <a:chExt cx="3502152" cy="2148840"/>
          </a:xfrm>
        </p:grpSpPr>
        <p:sp>
          <p:nvSpPr>
            <p:cNvPr id="20" name="Rounded Rectangle 19"/>
            <p:cNvSpPr/>
            <p:nvPr/>
          </p:nvSpPr>
          <p:spPr>
            <a:xfrm>
              <a:off x="8138160" y="1737360"/>
              <a:ext cx="3502152" cy="2148840"/>
            </a:xfrm>
            <a:prstGeom prst="roundRect">
              <a:avLst>
                <a:gd name="adj" fmla="val 4255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241280" y="1874520"/>
              <a:ext cx="1234440" cy="274320"/>
            </a:xfrm>
            <a:prstGeom prst="roundRect">
              <a:avLst>
                <a:gd name="adj" fmla="val 33333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366760" y="1920240"/>
              <a:ext cx="146304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366760" y="2468880"/>
              <a:ext cx="301752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366760" y="2697480"/>
              <a:ext cx="237744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366760" y="2926080"/>
              <a:ext cx="27432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66760" y="3154680"/>
              <a:ext cx="173736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366760" y="3429000"/>
              <a:ext cx="3017520" cy="274320"/>
            </a:xfrm>
            <a:prstGeom prst="roundRect">
              <a:avLst>
                <a:gd name="adj" fmla="val 2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366760" y="3429000"/>
              <a:ext cx="54864" cy="27432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Electric still wins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team and electric compared" descr="Paired bars show electric rail ahead of steam on speed, throughput, traffic density and convenience. The bars show shape only."/>
          <p:cNvGrpSpPr/>
          <p:nvPr/>
        </p:nvGrpSpPr>
        <p:grpSpPr>
          <a:xfrm>
            <a:off x="548640" y="1417320"/>
            <a:ext cx="10149840" cy="4123944"/>
            <a:chOff x="548640" y="1417320"/>
            <a:chExt cx="10149840" cy="4123944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14173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66160" y="14721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66160" y="14721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66160" y="18745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18745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23317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Throughput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66160" y="23865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66160" y="2386584"/>
              <a:ext cx="2852928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66160" y="27889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66160" y="27889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32461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Traffic density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566160" y="33009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566160" y="3300984"/>
              <a:ext cx="2496312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566160" y="37033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566160" y="37033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48640" y="41605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Convenience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566160" y="42153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566160" y="42153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66160" y="46177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566160" y="46177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56616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31920" y="5157216"/>
              <a:ext cx="11887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1208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577840" y="5157216"/>
              <a:ext cx="137160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Electric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680960" y="5157216"/>
              <a:ext cx="30175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1" lang="en-GB">
                  <a:solidFill>
                    <a:srgbClr val="A9B0B8"/>
                  </a:solidFill>
                  <a:latin typeface="Arial"/>
                </a:rPr>
                <a:t>Shape only. Not measured.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Even with packs, electric rail stays the better railway. Steam is a choice, not an upgrade.</a:t>
            </a:r>
          </a:p>
        </p:txBody>
      </p:sp>
      <p:sp>
        <p:nvSpPr>
          <p:cNvPr id="3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Steam's strength: scale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late steam terminal beside an electric station" descr="Top-down plan of a large steam terminal with six tracks, platforms and many trains, next to a small compact electric station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786384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41732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Late steam terminal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731520" y="3589020"/>
              <a:ext cx="15544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731520" y="3547872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3630168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2286000" y="23317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108960" y="23317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108960" y="22905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08960" y="23728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4" name="Rectangle 13"/>
            <p:cNvSpPr/>
            <p:nvPr/>
          </p:nvSpPr>
          <p:spPr>
            <a:xfrm>
              <a:off x="7543800" y="22219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2286000" y="283464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3108960" y="283464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3108960" y="279349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3108960" y="287578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9" name="Rectangle 18"/>
            <p:cNvSpPr/>
            <p:nvPr/>
          </p:nvSpPr>
          <p:spPr>
            <a:xfrm>
              <a:off x="7543800" y="272491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2286000" y="333756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3108960" y="333756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3108960" y="329641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3108960" y="337870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Rectangle 23"/>
            <p:cNvSpPr/>
            <p:nvPr/>
          </p:nvSpPr>
          <p:spPr>
            <a:xfrm>
              <a:off x="7543800" y="322783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2286000" y="358902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3108960" y="384048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3108960" y="379933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3108960" y="388162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9" name="Rectangle 28"/>
            <p:cNvSpPr/>
            <p:nvPr/>
          </p:nvSpPr>
          <p:spPr>
            <a:xfrm>
              <a:off x="7543800" y="373075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2286000" y="358902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3108960" y="434340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3108960" y="430225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3108960" y="438454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4" name="Rectangle 33"/>
            <p:cNvSpPr/>
            <p:nvPr/>
          </p:nvSpPr>
          <p:spPr>
            <a:xfrm>
              <a:off x="7543800" y="423367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2286000" y="35890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3108960" y="48463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3108960" y="48051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>
              <a:off x="3108960" y="48874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9" name="Rectangle 38"/>
            <p:cNvSpPr/>
            <p:nvPr/>
          </p:nvSpPr>
          <p:spPr>
            <a:xfrm>
              <a:off x="7543800" y="47365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726680" y="2103120"/>
              <a:ext cx="502920" cy="2971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023360" y="248259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023360" y="348843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023360" y="449427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4114800" y="22128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4192524" y="22905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568342" y="22366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9204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4068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8932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5303520" y="27157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381244" y="27934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757062" y="27395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8076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62940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6126480" y="321868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6204204" y="329641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580022" y="324246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3840480" y="372160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918204" y="379933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294022" y="374538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61772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516636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571500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26364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5852160" y="4224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5929884" y="4302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6305702" y="4248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6629400" y="4233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4480560" y="47274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4558284" y="48051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934102" y="47512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25780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80644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22960" y="2148840"/>
              <a:ext cx="1371600" cy="685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60120" y="4160520"/>
              <a:ext cx="1097280" cy="1097280"/>
            </a:xfrm>
            <a:prstGeom prst="ellipse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60120" y="4709160"/>
              <a:ext cx="109728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77" name="Oval 76"/>
            <p:cNvSpPr/>
            <p:nvPr/>
          </p:nvSpPr>
          <p:spPr>
            <a:xfrm>
              <a:off x="1417320" y="4617720"/>
              <a:ext cx="182880" cy="18288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8686800" y="1325880"/>
              <a:ext cx="2953512" cy="4251960"/>
            </a:xfrm>
            <a:prstGeom prst="roundRect">
              <a:avLst>
                <a:gd name="adj" fmla="val 247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869680" y="1417320"/>
              <a:ext cx="26517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station</a:t>
              </a:r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8961120" y="3593592"/>
              <a:ext cx="2377440" cy="91440"/>
            </a:xfrm>
            <a:prstGeom prst="roundRect">
              <a:avLst>
                <a:gd name="adj" fmla="val 50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23544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100584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09728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555480" y="3154680"/>
              <a:ext cx="1051560" cy="347472"/>
            </a:xfrm>
            <a:prstGeom prst="roundRect">
              <a:avLst>
                <a:gd name="adj" fmla="val 26315"/>
              </a:avLst>
            </a:prstGeom>
            <a:solidFill>
              <a:srgbClr val="6CA0DC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969264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1001268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1033272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464040" y="4069080"/>
              <a:ext cx="137160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646920" y="4370832"/>
              <a:ext cx="1005840" cy="4572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is about scale: big terminals, many tracks, busy yards.</a:t>
            </a:r>
          </a:p>
        </p:txBody>
      </p:sp>
      <p:sp>
        <p:nvSpPr>
          <p:cNvPr id="9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For people who love steam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ore buildings beside locked pack buildings" descr="A split panel: small basic buildings in the core game on the left, and larger advanced buildings behind a padlock on the right, marked as needing a p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3152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731520" y="452628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448513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456742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1" name="Rectangle 10"/>
            <p:cNvSpPr/>
            <p:nvPr/>
          </p:nvSpPr>
          <p:spPr>
            <a:xfrm>
              <a:off x="1097280" y="3657600"/>
              <a:ext cx="2377440" cy="18288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2788920"/>
              <a:ext cx="1097280" cy="86868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1280160" y="2423160"/>
              <a:ext cx="1280160" cy="3657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45920" y="3108960"/>
              <a:ext cx="320040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40480" y="2240280"/>
              <a:ext cx="868680" cy="548640"/>
            </a:xfrm>
            <a:prstGeom prst="roundRect">
              <a:avLst>
                <a:gd name="adj" fmla="val 16666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93192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2628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40080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400800" y="44348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6400800" y="43936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6400800" y="44759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6400800" y="46634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6400800" y="46222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6400800" y="47045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5" name="Rectangle 24"/>
            <p:cNvSpPr/>
            <p:nvPr/>
          </p:nvSpPr>
          <p:spPr>
            <a:xfrm>
              <a:off x="6629400" y="3566160"/>
              <a:ext cx="3657600" cy="22860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766560" y="2514600"/>
              <a:ext cx="2468880" cy="105156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6675120" y="1920240"/>
              <a:ext cx="2651760" cy="5943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04088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8096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32104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418320" y="2560320"/>
              <a:ext cx="868680" cy="100584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sosceles Triangle 31"/>
            <p:cNvSpPr/>
            <p:nvPr/>
          </p:nvSpPr>
          <p:spPr>
            <a:xfrm>
              <a:off x="9326880" y="2240280"/>
              <a:ext cx="1051560" cy="32004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561320" y="1828800"/>
              <a:ext cx="914400" cy="777240"/>
            </a:xfrm>
            <a:prstGeom prst="roundRect">
              <a:avLst>
                <a:gd name="adj" fmla="val 11764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625328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320272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1E2126">
                <a:alpha val="6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626221" y="2502713"/>
              <a:ext cx="578358" cy="841248"/>
            </a:xfrm>
            <a:prstGeom prst="roundRect">
              <a:avLst>
                <a:gd name="adj" fmla="val 50000"/>
              </a:avLst>
            </a:prstGeom>
            <a:noFill/>
            <a:ln w="889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389620" y="3070555"/>
              <a:ext cx="1051560" cy="757123"/>
            </a:xfrm>
            <a:prstGeom prst="roundRect">
              <a:avLst>
                <a:gd name="adj" fmla="val 13888"/>
              </a:avLst>
            </a:prstGeom>
            <a:solidFill>
              <a:srgbClr val="F2C14E"/>
            </a:solidFill>
            <a:ln w="254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31275" y="3280867"/>
              <a:ext cx="168250" cy="16825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878595" y="3386023"/>
              <a:ext cx="73609" cy="21031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726680" y="4892040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Needs a pack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77240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Core: basic buildings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28232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Pack: advanced buildings</a:t>
              </a:r>
            </a:p>
          </p:txBody>
        </p:sp>
      </p:grpSp>
      <p:sp>
        <p:nvSpPr>
          <p:cNvPr id="4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Advanced steam buildings come only with packs. They are for people who keep steam on purpose.</a:t>
            </a:r>
          </a:p>
        </p:txBody>
      </p:sp>
      <p:sp>
        <p:nvSpPr>
          <p:cNvPr id="4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buildings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 smaller and a bigger terminal" descr="Top-down plans of a smaller terminal with one platform and a bigger terminal with extra platforms and a larger service yard."/>
          <p:cNvGrpSpPr/>
          <p:nvPr/>
        </p:nvGrpSpPr>
        <p:grpSpPr>
          <a:xfrm>
            <a:off x="548640" y="1325880"/>
            <a:ext cx="11091672" cy="3749040"/>
            <a:chOff x="548640" y="132588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3931920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63440" y="1325880"/>
              <a:ext cx="6976872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17320"/>
              <a:ext cx="3474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Smaller terminal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92040" y="1417320"/>
              <a:ext cx="43891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Bigger terminal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731520" y="27432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27020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27843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32004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31520" y="31592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731520" y="32415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5" name="Rectangle 14"/>
            <p:cNvSpPr/>
            <p:nvPr/>
          </p:nvSpPr>
          <p:spPr>
            <a:xfrm>
              <a:off x="1371600" y="2871216"/>
              <a:ext cx="256032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3081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540764" y="3159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16582" y="3105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240280" y="3090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31520" y="3840480"/>
              <a:ext cx="35661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8680" y="4206240"/>
              <a:ext cx="2423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868680" y="4165092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868680" y="4247388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Oval 23"/>
            <p:cNvSpPr/>
            <p:nvPr/>
          </p:nvSpPr>
          <p:spPr>
            <a:xfrm>
              <a:off x="3520440" y="411480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892040" y="21488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4892040" y="21076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4892040" y="21899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4892040" y="26060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4892040" y="25648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4892040" y="26471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4892040" y="30632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4892040" y="30220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4892040" y="31043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4892040" y="35204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4892040" y="34792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4892040" y="35615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7" name="Rectangle 36"/>
            <p:cNvSpPr/>
            <p:nvPr/>
          </p:nvSpPr>
          <p:spPr>
            <a:xfrm>
              <a:off x="5394960" y="22768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94960" y="27340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94960" y="31912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486400" y="20299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5564124" y="21076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939942" y="20537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26364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1228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36092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6217920" y="29443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295644" y="30220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71462" y="29681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99516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54380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5120640" y="34015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5198364" y="34792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5574182" y="34253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89788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4652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99516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54380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4846320" y="1965960"/>
              <a:ext cx="4937760" cy="1828800"/>
            </a:xfrm>
            <a:prstGeom prst="roundRect">
              <a:avLst>
                <a:gd name="adj" fmla="val 5000"/>
              </a:avLst>
            </a:prstGeom>
            <a:noFill/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875520" y="2468880"/>
              <a:ext cx="164592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Extra</a:t>
              </a:r>
              <a:br/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platforms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846320" y="3931920"/>
              <a:ext cx="49377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4983480" y="411480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2" name="Connector 61"/>
            <p:cNvCxnSpPr/>
            <p:nvPr/>
          </p:nvCxnSpPr>
          <p:spPr>
            <a:xfrm>
              <a:off x="4983480" y="407365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3" name="Connector 62"/>
            <p:cNvCxnSpPr/>
            <p:nvPr/>
          </p:nvCxnSpPr>
          <p:spPr>
            <a:xfrm>
              <a:off x="4983480" y="415594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4" name="Connector 63"/>
            <p:cNvCxnSpPr/>
            <p:nvPr/>
          </p:nvCxnSpPr>
          <p:spPr>
            <a:xfrm>
              <a:off x="4983480" y="438912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5" name="Connector 64"/>
            <p:cNvCxnSpPr/>
            <p:nvPr/>
          </p:nvCxnSpPr>
          <p:spPr>
            <a:xfrm>
              <a:off x="4983480" y="434797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4983480" y="443026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4983480" y="466344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4983480" y="462229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4983480" y="470458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70" name="Oval 69"/>
            <p:cNvSpPr/>
            <p:nvPr/>
          </p:nvSpPr>
          <p:spPr>
            <a:xfrm>
              <a:off x="8823960" y="402336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144000" y="4526280"/>
              <a:ext cx="457200" cy="2743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875520" y="4023360"/>
              <a:ext cx="1691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Larger service</a:t>
              </a:r>
              <a:br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yard</a:t>
              </a:r>
            </a:p>
          </p:txBody>
        </p:sp>
      </p:grpSp>
      <p:sp>
        <p:nvSpPr>
          <p:cNvPr id="73" name="Inline chip"/>
          <p:cNvSpPr/>
          <p:nvPr/>
        </p:nvSpPr>
        <p:spPr>
          <a:xfrm>
            <a:off x="9056437" y="5212080"/>
            <a:ext cx="2583875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list: undecided (OQ22)</a:t>
            </a:r>
          </a:p>
        </p:txBody>
      </p:sp>
      <p:sp>
        <p:nvSpPr>
          <p:cNvPr id="7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terminals and faster servicing could appear.</a:t>
            </a:r>
          </a:p>
        </p:txBody>
      </p:sp>
      <p:sp>
        <p:nvSpPr>
          <p:cNvPr id="7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signalling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small and large signal box reach" descr="A small signal box with a short reach ring and three signal posts, and a large signal box with a wide reach ring and six signal posts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4297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29200" y="1325880"/>
              <a:ext cx="661111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389888"/>
              <a:ext cx="393192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9AA0A6"/>
                  </a:solidFill>
                  <a:latin typeface="Arial"/>
                </a:rPr>
                <a:t>Short reach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257800" y="1389888"/>
              <a:ext cx="548640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Large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Wide reach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08760" y="2560320"/>
              <a:ext cx="2377440" cy="2377440"/>
            </a:xfrm>
            <a:prstGeom prst="ellipse">
              <a:avLst/>
            </a:prstGeom>
            <a:solidFill>
              <a:srgbClr val="9AA0A6">
                <a:alpha val="14000"/>
              </a:srgbClr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731520" y="4389120"/>
              <a:ext cx="3931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4347972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4430268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3" name="Rectangle 12"/>
            <p:cNvSpPr/>
            <p:nvPr/>
          </p:nvSpPr>
          <p:spPr>
            <a:xfrm>
              <a:off x="233172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224028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787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0445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2827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188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6846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227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589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3247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628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675120" y="2194560"/>
              <a:ext cx="3291840" cy="3291840"/>
            </a:xfrm>
            <a:prstGeom prst="ellipse">
              <a:avLst/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5212080" y="4389120"/>
              <a:ext cx="6217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5212080" y="4347972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5212080" y="4430268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8" name="Rectangle 27"/>
            <p:cNvSpPr/>
            <p:nvPr/>
          </p:nvSpPr>
          <p:spPr>
            <a:xfrm>
              <a:off x="795528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786384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8708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9366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71747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737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395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6776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766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9424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1805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3795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3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6835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88248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94831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18642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3854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4512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6893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8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signal boxes and better interlocking could manage larger networks.</a:t>
            </a:r>
          </a:p>
        </p:txBody>
      </p:sp>
      <p:sp>
        <p:nvSpPr>
          <p:cNvPr id="49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 line that stays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emaphore post and crossed-out electronic powers" descr="A tall semaphore signal post beside a card reading Electronic-signal powers, crossed out with a red cross."/>
          <p:cNvGrpSpPr/>
          <p:nvPr/>
        </p:nvGrpSpPr>
        <p:grpSpPr>
          <a:xfrm>
            <a:off x="2011680" y="1554480"/>
            <a:ext cx="9144000" cy="3694176"/>
            <a:chOff x="2011680" y="1554480"/>
            <a:chExt cx="9144000" cy="3694176"/>
          </a:xfrm>
        </p:grpSpPr>
        <p:sp>
          <p:nvSpPr>
            <p:cNvPr id="5" name="Rectangle 4"/>
            <p:cNvSpPr/>
            <p:nvPr/>
          </p:nvSpPr>
          <p:spPr>
            <a:xfrm>
              <a:off x="2011680" y="5138928"/>
              <a:ext cx="2377440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08376" y="1554480"/>
              <a:ext cx="384048" cy="361188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2424" y="1650492"/>
              <a:ext cx="2240280" cy="448056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781398" y="1650492"/>
              <a:ext cx="268834" cy="44805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400300" y="1650492"/>
              <a:ext cx="448056" cy="448056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0" y="2468880"/>
              <a:ext cx="5669280" cy="1737360"/>
            </a:xfrm>
            <a:prstGeom prst="roundRect">
              <a:avLst>
                <a:gd name="adj" fmla="val 5263"/>
              </a:avLst>
            </a:prstGeom>
            <a:solidFill>
              <a:srgbClr val="343A43"/>
            </a:solidFill>
            <a:ln w="381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5852160" y="2743200"/>
              <a:ext cx="1097280" cy="1234440"/>
            </a:xfrm>
            <a:custGeom>
              <a:avLst/>
              <a:gdLst/>
              <a:ahLst/>
              <a:cxnLst/>
              <a:rect l="l" t="t" r="r" b="b"/>
              <a:pathLst>
                <a:path w="1097280" h="1234440">
                  <a:moveTo>
                    <a:pt x="182880" y="0"/>
                  </a:moveTo>
                  <a:lnTo>
                    <a:pt x="868680" y="0"/>
                  </a:lnTo>
                  <a:lnTo>
                    <a:pt x="548640" y="457200"/>
                  </a:lnTo>
                  <a:lnTo>
                    <a:pt x="1097280" y="457200"/>
                  </a:lnTo>
                  <a:lnTo>
                    <a:pt x="320040" y="1234440"/>
                  </a:lnTo>
                  <a:lnTo>
                    <a:pt x="50292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ross"/>
            <p:cNvCxnSpPr/>
            <p:nvPr/>
          </p:nvCxnSpPr>
          <p:spPr>
            <a:xfrm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cxnSp>
          <p:nvCxnSpPr>
            <p:cNvPr id="13" name="Cross"/>
            <p:cNvCxnSpPr/>
            <p:nvPr/>
          </p:nvCxnSpPr>
          <p:spPr>
            <a:xfrm flipH="1"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7132320" y="2606040"/>
              <a:ext cx="3840480" cy="1463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Electronic-signal powers</a:t>
              </a:r>
            </a:p>
          </p:txBody>
        </p:sp>
      </p:grpSp>
      <p:sp>
        <p:nvSpPr>
          <p:cNvPr id="15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must not simply copy electric rail's abilities.</a:t>
            </a:r>
          </a:p>
        </p:txBody>
      </p:sp>
      <p:sp>
        <p:nvSpPr>
          <p:cNvPr id="16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Two ways to drive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imple and advanced driver cards" descr="Two driver cards. Simple shows one lever because the crew handles the details. Advanced shows three levers because you handle the engine, and is for packs only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Simple: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the crew handles the details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28232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Advanced: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you handle the engine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204972" y="2331720"/>
              <a:ext cx="128016" cy="274320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 flipV="1">
              <a:off x="3268980" y="2825496"/>
              <a:ext cx="0" cy="1837944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1" name="Oval 10"/>
            <p:cNvSpPr/>
            <p:nvPr/>
          </p:nvSpPr>
          <p:spPr>
            <a:xfrm>
              <a:off x="3017520" y="2574036"/>
              <a:ext cx="502920" cy="502920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4608576"/>
              <a:ext cx="731520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61695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768096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746721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7006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55964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 flipV="1">
              <a:off x="8919972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9" name="Oval 18"/>
            <p:cNvSpPr/>
            <p:nvPr/>
          </p:nvSpPr>
          <p:spPr>
            <a:xfrm>
              <a:off x="8706231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609076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8583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014984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993609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83894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726680" y="4919472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Advanced: packs only</a:t>
              </a:r>
            </a:p>
          </p:txBody>
        </p:sp>
      </p:grpSp>
      <p:sp>
        <p:nvSpPr>
          <p:cNvPr id="26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Simple is the default. Advanced driving is optional and comes with packs.</a:t>
            </a:r>
          </a:p>
        </p:txBody>
      </p:sp>
      <p:sp>
        <p:nvSpPr>
          <p:cNvPr id="27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DA3FF"/>
      </a:hlink>
      <a:folHlink>
        <a:srgbClr val="B084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After Launch, Part 2: Late Steam, Advanced Driving and Prestige, Explained</dc:title>
  <dc:subject>Explainer deck about post-launch late steam, advanced driving and prestige ideas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