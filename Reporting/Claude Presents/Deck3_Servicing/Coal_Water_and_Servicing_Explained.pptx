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mmons.wikimedia.org/wiki/File:73082_Camelot_British_Railways_Standard_Class_5_4-6-0_-_54304789041.jpg" TargetMode="External"/><Relationship Id="rId3" Type="http://schemas.openxmlformats.org/officeDocument/2006/relationships/hyperlink" Target="https://commons.wikimedia.org/wiki/File:British_Railways_Standard_Class_4MT_2-6-4_Tank_Locomotive_No._80151_-_54303345950.jpg" TargetMode="External"/><Relationship Id="rId4" Type="http://schemas.openxmlformats.org/officeDocument/2006/relationships/hyperlink" Target="https://commons.wikimedia.org/wiki/File:Didcot_Railway_Centre_Water_(4714616590).jpg" TargetMode="External"/><Relationship Id="rId5" Type="http://schemas.openxmlformats.org/officeDocument/2006/relationships/hyperlink" Target="https://commons.wikimedia.org/wiki/File:Signal_and_Water_Tower_(3715807921).jpg" TargetMode="External"/><Relationship Id="rId6" Type="http://schemas.openxmlformats.org/officeDocument/2006/relationships/hyperlink" Target="https://commons.wikimedia.org/wiki/File:Coaling_stage,_GWS_Didcot-9940117084.jpg" TargetMode="External"/><Relationship Id="rId7" Type="http://schemas.openxmlformats.org/officeDocument/2006/relationships/hyperlink" Target="https://commons.wikimedia.org/wiki/File:Carnforth_Ash_plant,_water_tower_and_Cenotaph_coaling_tower.jpg" TargetMode="External"/><Relationship Id="rId8" Type="http://schemas.openxmlformats.org/officeDocument/2006/relationships/hyperlink" Target="https://commons.wikimedia.org/wiki/File:Coal_stage_and_water_tank,_Didcot_Railway_Centre,_England.jpg" TargetMode="External"/><Relationship Id="rId9" Type="http://schemas.openxmlformats.org/officeDocument/2006/relationships/hyperlink" Target="https://commons.wikimedia.org/wiki/File:Norton_Fitzwarren_-_LMS_tender.JP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1417320"/>
            <a:ext cx="6035040" cy="1828800"/>
          </a:xfrm>
        </p:spPr>
        <p:txBody>
          <a:bodyPr wrap="square" anchor="b" lIns="0" rIns="0" tIns="0" bIns="0">
            <a:noAutofit/>
          </a:bodyPr>
          <a:lstStyle/>
          <a:p>
            <a:pPr algn="l"/>
            <a:r>
              <a:rPr sz="5400" b="1" i="0" lang="en-GB">
                <a:solidFill>
                  <a:srgbClr val="F2F2F2"/>
                </a:solidFill>
                <a:latin typeface="Arial"/>
              </a:rPr>
              <a:t>Coal, Water and Servicing</a:t>
            </a:r>
          </a:p>
        </p:txBody>
      </p:sp>
      <p:pic>
        <p:nvPicPr>
          <p:cNvPr id="3" name="P17_coal_stage_water_tank_didcot" descr="A coal stage and a water tank at Didcot Railway Centre."/>
          <p:cNvPicPr>
            <a:picLocks noChangeAspect="1"/>
          </p:cNvPicPr>
          <p:nvPr/>
        </p:nvPicPr>
        <p:blipFill>
          <a:blip r:embed="rId2"/>
          <a:srcRect l="33812" r="20724"/>
          <a:stretch>
            <a:fillRect/>
          </a:stretch>
        </p:blipFill>
        <p:spPr>
          <a:xfrm>
            <a:off x="6903720" y="457200"/>
            <a:ext cx="4736592" cy="5852160"/>
          </a:xfrm>
          <a:prstGeom prst="roundRect">
            <a:avLst>
              <a:gd name="adj" fmla="val 1544"/>
            </a:avLst>
          </a:prstGeom>
        </p:spPr>
      </p:pic>
      <p:sp>
        <p:nvSpPr>
          <p:cNvPr id="4" name="CREDIT"/>
          <p:cNvSpPr txBox="1"/>
          <p:nvPr/>
        </p:nvSpPr>
        <p:spPr>
          <a:xfrm>
            <a:off x="6903720" y="6364224"/>
            <a:ext cx="4736592" cy="201168"/>
          </a:xfrm>
          <a:prstGeom prst="rect">
            <a:avLst/>
          </a:prstGeom>
          <a:noFill/>
        </p:spPr>
        <p:txBody>
          <a:bodyPr wrap="square" anchor="t" lIns="0" tIns="0" rIns="0" bIns="0">
            <a:noAutofit/>
          </a:bodyPr>
          <a:lstStyle/>
          <a:p>
            <a:pPr algn="l"/>
            <a:r>
              <a:rPr sz="1000" b="0" i="0" lang="en-GB">
                <a:solidFill>
                  <a:srgbClr val="A9B0B8"/>
                </a:solidFill>
                <a:latin typeface="Arial"/>
              </a:rPr>
              <a:t>Rosser1954, CC BY-SA 4.0. Coal stage and water tank, Didcot.</a:t>
            </a:r>
          </a:p>
        </p:txBody>
      </p:sp>
      <p:sp>
        <p:nvSpPr>
          <p:cNvPr id="5" name="orange rule"/>
          <p:cNvSpPr/>
          <p:nvPr/>
        </p:nvSpPr>
        <p:spPr>
          <a:xfrm>
            <a:off x="548640" y="3429000"/>
            <a:ext cx="1645920" cy="73152"/>
          </a:xfrm>
          <a:prstGeom prst="rect">
            <a:avLst/>
          </a:prstGeom>
          <a:solidFill>
            <a:srgbClr val="F28C28"/>
          </a:solidFill>
          <a:ln>
            <a:noFill/>
          </a:ln>
        </p:spPr>
        <p:txBody>
          <a:bodyPr rtlCol="0" anchor="ctr"/>
          <a:lstStyle/>
          <a:p>
            <a:pPr algn="ctr"/>
          </a:p>
        </p:txBody>
      </p:sp>
      <p:sp>
        <p:nvSpPr>
          <p:cNvPr id="6" name="CAPTION"/>
          <p:cNvSpPr txBox="1"/>
          <p:nvPr/>
        </p:nvSpPr>
        <p:spPr>
          <a:xfrm>
            <a:off x="548640" y="3703320"/>
            <a:ext cx="5943600" cy="1188720"/>
          </a:xfrm>
          <a:prstGeom prst="rect">
            <a:avLst/>
          </a:prstGeom>
          <a:noFill/>
        </p:spPr>
        <p:txBody>
          <a:bodyPr wrap="square" anchor="t" lIns="0" tIns="0" rIns="0" bIns="0">
            <a:noAutofit/>
          </a:bodyPr>
          <a:lstStyle/>
          <a:p>
            <a:pPr algn="l"/>
            <a:r>
              <a:rPr sz="2000" b="0" i="0" lang="en-GB">
                <a:solidFill>
                  <a:srgbClr val="F2F2F2"/>
                </a:solidFill>
                <a:latin typeface="Arial"/>
              </a:rPr>
              <a:t>How steam locomotives eat, drink and get serviced, and how the mod plans to do it.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How to read this guide</a:t>
            </a:r>
          </a:p>
        </p:txBody>
      </p:sp>
      <p:grpSp>
        <p:nvGrpSpPr>
          <p:cNvPr id="3" name="Tag legend" descr="Legend: five tags and what each means. Agreed is decided, Proposed is suggested, Provisional is a test number, Undecided is an open question, Background is a real-world fact."/>
          <p:cNvGrpSpPr/>
          <p:nvPr/>
        </p:nvGrpSpPr>
        <p:grpSpPr>
          <a:xfrm>
            <a:off x="548640" y="1371600"/>
            <a:ext cx="7315200" cy="4206240"/>
            <a:chOff x="548640" y="1371600"/>
            <a:chExt cx="7315200" cy="4206240"/>
          </a:xfrm>
        </p:grpSpPr>
        <p:sp>
          <p:nvSpPr>
            <p:cNvPr id="4" name="legend panel"/>
            <p:cNvSpPr/>
            <p:nvPr/>
          </p:nvSpPr>
          <p:spPr>
            <a:xfrm>
              <a:off x="548640" y="1371600"/>
              <a:ext cx="7315200" cy="4206240"/>
            </a:xfrm>
            <a:prstGeom prst="roundRect">
              <a:avLst>
                <a:gd name="adj" fmla="val 1739"/>
              </a:avLst>
            </a:prstGeom>
            <a:solidFill>
              <a:srgbClr val="2B2F36"/>
            </a:solidFill>
            <a:ln>
              <a:noFill/>
            </a:ln>
          </p:spPr>
          <p:txBody>
            <a:bodyPr rtlCol="0" anchor="ctr"/>
            <a:lstStyle/>
            <a:p>
              <a:pPr algn="ctr"/>
            </a:p>
          </p:txBody>
        </p:sp>
        <p:sp>
          <p:nvSpPr>
            <p:cNvPr id="5" name="CHIP LEGEND"/>
            <p:cNvSpPr/>
            <p:nvPr/>
          </p:nvSpPr>
          <p:spPr>
            <a:xfrm>
              <a:off x="868680" y="1572768"/>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sp>
          <p:nvSpPr>
            <p:cNvPr id="6" name="LEGEND TEXT"/>
            <p:cNvSpPr txBox="1"/>
            <p:nvPr/>
          </p:nvSpPr>
          <p:spPr>
            <a:xfrm>
              <a:off x="2743200" y="1481328"/>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Decided.</a:t>
              </a:r>
            </a:p>
          </p:txBody>
        </p:sp>
        <p:sp>
          <p:nvSpPr>
            <p:cNvPr id="7" name="CHIP LEGEND"/>
            <p:cNvSpPr/>
            <p:nvPr/>
          </p:nvSpPr>
          <p:spPr>
            <a:xfrm>
              <a:off x="868680" y="2359152"/>
              <a:ext cx="1554480" cy="365760"/>
            </a:xfrm>
            <a:prstGeom prst="roundRect">
              <a:avLst>
                <a:gd name="adj" fmla="val 300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8" name="LEGEND TEXT"/>
            <p:cNvSpPr txBox="1"/>
            <p:nvPr/>
          </p:nvSpPr>
          <p:spPr>
            <a:xfrm>
              <a:off x="2743200" y="2267712"/>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Suggested, not confirmed.</a:t>
              </a:r>
            </a:p>
          </p:txBody>
        </p:sp>
        <p:sp>
          <p:nvSpPr>
            <p:cNvPr id="9" name="CHIP LEGEND"/>
            <p:cNvSpPr/>
            <p:nvPr/>
          </p:nvSpPr>
          <p:spPr>
            <a:xfrm>
              <a:off x="868680" y="3145536"/>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sp>
          <p:nvSpPr>
            <p:cNvPr id="10" name="LEGEND TEXT"/>
            <p:cNvSpPr txBox="1"/>
            <p:nvPr/>
          </p:nvSpPr>
          <p:spPr>
            <a:xfrm>
              <a:off x="2743200" y="3054096"/>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A test number that may change.</a:t>
              </a:r>
            </a:p>
          </p:txBody>
        </p:sp>
        <p:sp>
          <p:nvSpPr>
            <p:cNvPr id="11" name="CHIP LEGEND"/>
            <p:cNvSpPr/>
            <p:nvPr/>
          </p:nvSpPr>
          <p:spPr>
            <a:xfrm>
              <a:off x="868680" y="3931920"/>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sp>
          <p:nvSpPr>
            <p:cNvPr id="12" name="LEGEND TEXT"/>
            <p:cNvSpPr txBox="1"/>
            <p:nvPr/>
          </p:nvSpPr>
          <p:spPr>
            <a:xfrm>
              <a:off x="2743200" y="3840480"/>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Still an open question.</a:t>
              </a:r>
            </a:p>
          </p:txBody>
        </p:sp>
        <p:sp>
          <p:nvSpPr>
            <p:cNvPr id="13" name="CHIP LEGEND"/>
            <p:cNvSpPr/>
            <p:nvPr/>
          </p:nvSpPr>
          <p:spPr>
            <a:xfrm>
              <a:off x="868680" y="4718304"/>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sp>
          <p:nvSpPr>
            <p:cNvPr id="14" name="LEGEND TEXT"/>
            <p:cNvSpPr txBox="1"/>
            <p:nvPr/>
          </p:nvSpPr>
          <p:spPr>
            <a:xfrm>
              <a:off x="2743200" y="4626864"/>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A real-world fact.</a:t>
              </a:r>
            </a:p>
          </p:txBody>
        </p:sp>
      </p:grpSp>
      <p:grpSp>
        <p:nvGrpSpPr>
          <p:cNvPr id="15" name="Corner sketch" descr="Sketch of a slide with a tag in its top-right corner."/>
          <p:cNvGrpSpPr/>
          <p:nvPr/>
        </p:nvGrpSpPr>
        <p:grpSpPr>
          <a:xfrm>
            <a:off x="8412480" y="1737360"/>
            <a:ext cx="3200400" cy="1801368"/>
            <a:chOff x="8412480" y="1737360"/>
            <a:chExt cx="3200400" cy="1801368"/>
          </a:xfrm>
        </p:grpSpPr>
        <p:sp>
          <p:nvSpPr>
            <p:cNvPr id="16" name="slide sketch"/>
            <p:cNvSpPr/>
            <p:nvPr/>
          </p:nvSpPr>
          <p:spPr>
            <a:xfrm>
              <a:off x="8412480" y="1737360"/>
              <a:ext cx="3200400" cy="1801368"/>
            </a:xfrm>
            <a:prstGeom prst="roundRect">
              <a:avLst>
                <a:gd name="adj" fmla="val 4060"/>
              </a:avLst>
            </a:prstGeom>
            <a:solidFill>
              <a:srgbClr val="1E2126"/>
            </a:solidFill>
            <a:ln w="25400">
              <a:solidFill>
                <a:srgbClr val="9AA0A6"/>
              </a:solidFill>
            </a:ln>
          </p:spPr>
          <p:txBody>
            <a:bodyPr rtlCol="0" anchor="ctr"/>
            <a:lstStyle/>
            <a:p>
              <a:pPr algn="ctr"/>
            </a:p>
          </p:txBody>
        </p:sp>
        <p:sp>
          <p:nvSpPr>
            <p:cNvPr id="17" name="title line"/>
            <p:cNvSpPr/>
            <p:nvPr/>
          </p:nvSpPr>
          <p:spPr>
            <a:xfrm>
              <a:off x="8641080" y="1965960"/>
              <a:ext cx="1371600" cy="109728"/>
            </a:xfrm>
            <a:prstGeom prst="rect">
              <a:avLst/>
            </a:prstGeom>
            <a:solidFill>
              <a:srgbClr val="4A515B"/>
            </a:solidFill>
            <a:ln>
              <a:noFill/>
            </a:ln>
          </p:spPr>
          <p:txBody>
            <a:bodyPr rtlCol="0" anchor="ctr"/>
            <a:lstStyle/>
            <a:p>
              <a:pPr algn="ctr"/>
            </a:p>
          </p:txBody>
        </p:sp>
        <p:sp>
          <p:nvSpPr>
            <p:cNvPr id="18" name="body line"/>
            <p:cNvSpPr/>
            <p:nvPr/>
          </p:nvSpPr>
          <p:spPr>
            <a:xfrm>
              <a:off x="8641080" y="2286000"/>
              <a:ext cx="2011680" cy="73152"/>
            </a:xfrm>
            <a:prstGeom prst="rect">
              <a:avLst/>
            </a:prstGeom>
            <a:solidFill>
              <a:srgbClr val="4A515B"/>
            </a:solidFill>
            <a:ln>
              <a:noFill/>
            </a:ln>
          </p:spPr>
          <p:txBody>
            <a:bodyPr rtlCol="0" anchor="ctr"/>
            <a:lstStyle/>
            <a:p>
              <a:pPr algn="ctr"/>
            </a:p>
          </p:txBody>
        </p:sp>
        <p:sp>
          <p:nvSpPr>
            <p:cNvPr id="19" name="body line"/>
            <p:cNvSpPr/>
            <p:nvPr/>
          </p:nvSpPr>
          <p:spPr>
            <a:xfrm>
              <a:off x="8641080" y="2468880"/>
              <a:ext cx="1645920" cy="73152"/>
            </a:xfrm>
            <a:prstGeom prst="rect">
              <a:avLst/>
            </a:prstGeom>
            <a:solidFill>
              <a:srgbClr val="4A515B"/>
            </a:solidFill>
            <a:ln>
              <a:noFill/>
            </a:ln>
          </p:spPr>
          <p:txBody>
            <a:bodyPr rtlCol="0" anchor="ctr"/>
            <a:lstStyle/>
            <a:p>
              <a:pPr algn="ctr"/>
            </a:p>
          </p:txBody>
        </p:sp>
        <p:sp>
          <p:nvSpPr>
            <p:cNvPr id="20" name="tag sketch"/>
            <p:cNvSpPr/>
            <p:nvPr/>
          </p:nvSpPr>
          <p:spPr>
            <a:xfrm>
              <a:off x="10698480" y="1920240"/>
              <a:ext cx="731520" cy="237744"/>
            </a:xfrm>
            <a:prstGeom prst="roundRect">
              <a:avLst>
                <a:gd name="adj" fmla="val 30769"/>
              </a:avLst>
            </a:prstGeom>
            <a:solidFill>
              <a:srgbClr val="3FB950"/>
            </a:solidFill>
            <a:ln>
              <a:noFill/>
            </a:ln>
          </p:spPr>
          <p:txBody>
            <a:bodyPr rtlCol="0" anchor="ctr"/>
            <a:lstStyle/>
            <a:p>
              <a:pPr algn="ctr"/>
            </a:p>
          </p:txBody>
        </p:sp>
        <p:cxnSp>
          <p:nvCxnSpPr>
            <p:cNvPr id="21" name="pointer"/>
            <p:cNvCxnSpPr/>
            <p:nvPr/>
          </p:nvCxnSpPr>
          <p:spPr>
            <a:xfrm flipV="1">
              <a:off x="10058400" y="2194560"/>
              <a:ext cx="822960" cy="548640"/>
            </a:xfrm>
            <a:prstGeom prst="line">
              <a:avLst/>
            </a:prstGeom>
            <a:ln w="28575">
              <a:solidFill>
                <a:srgbClr val="F28C28"/>
              </a:solidFill>
              <a:tailEnd type="triangle" w="med" len="med"/>
            </a:ln>
          </p:spPr>
        </p:cxnSp>
      </p:grpSp>
      <p:sp>
        <p:nvSpPr>
          <p:cNvPr id="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3"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4"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Every idea carries a tag in the top-right corner.</a:t>
            </a:r>
          </a:p>
        </p:txBody>
      </p:sp>
      <p:sp>
        <p:nvSpPr>
          <p:cNvPr id="25"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What an engine needs</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grpSp>
        <p:nvGrpSpPr>
          <p:cNvPr id="4" name="Engine cutaway" descr="Side cutaway of a steam engine. Coal burns in the firebox and heats water in the boiler. Steam drives a piston and rods turn the wheels. Water is fed into the boiler."/>
          <p:cNvGrpSpPr/>
          <p:nvPr/>
        </p:nvGrpSpPr>
        <p:grpSpPr>
          <a:xfrm>
            <a:off x="1097280" y="850392"/>
            <a:ext cx="9509760" cy="4590288"/>
            <a:chOff x="1097280" y="850392"/>
            <a:chExt cx="9509760" cy="4590288"/>
          </a:xfrm>
        </p:grpSpPr>
        <p:sp>
          <p:nvSpPr>
            <p:cNvPr id="5" name="rail"/>
            <p:cNvSpPr/>
            <p:nvPr/>
          </p:nvSpPr>
          <p:spPr>
            <a:xfrm>
              <a:off x="1097280" y="5285232"/>
              <a:ext cx="9144000" cy="64008"/>
            </a:xfrm>
            <a:prstGeom prst="rect">
              <a:avLst/>
            </a:prstGeom>
            <a:solidFill>
              <a:srgbClr val="9AA0A6"/>
            </a:solidFill>
            <a:ln>
              <a:noFill/>
            </a:ln>
          </p:spPr>
          <p:txBody>
            <a:bodyPr rtlCol="0" anchor="ctr"/>
            <a:lstStyle/>
            <a:p>
              <a:pPr algn="ctr"/>
            </a:p>
          </p:txBody>
        </p:sp>
        <p:sp>
          <p:nvSpPr>
            <p:cNvPr id="6" name="sleeper"/>
            <p:cNvSpPr/>
            <p:nvPr/>
          </p:nvSpPr>
          <p:spPr>
            <a:xfrm>
              <a:off x="1188720" y="5349240"/>
              <a:ext cx="109728" cy="91440"/>
            </a:xfrm>
            <a:prstGeom prst="rect">
              <a:avLst/>
            </a:prstGeom>
            <a:solidFill>
              <a:srgbClr val="6B5B4B"/>
            </a:solidFill>
            <a:ln>
              <a:noFill/>
            </a:ln>
          </p:spPr>
          <p:txBody>
            <a:bodyPr rtlCol="0" anchor="ctr"/>
            <a:lstStyle/>
            <a:p>
              <a:pPr algn="ctr"/>
            </a:p>
          </p:txBody>
        </p:sp>
        <p:sp>
          <p:nvSpPr>
            <p:cNvPr id="7" name="sleeper"/>
            <p:cNvSpPr/>
            <p:nvPr/>
          </p:nvSpPr>
          <p:spPr>
            <a:xfrm>
              <a:off x="1554480" y="5349240"/>
              <a:ext cx="109728" cy="91440"/>
            </a:xfrm>
            <a:prstGeom prst="rect">
              <a:avLst/>
            </a:prstGeom>
            <a:solidFill>
              <a:srgbClr val="6B5B4B"/>
            </a:solidFill>
            <a:ln>
              <a:noFill/>
            </a:ln>
          </p:spPr>
          <p:txBody>
            <a:bodyPr rtlCol="0" anchor="ctr"/>
            <a:lstStyle/>
            <a:p>
              <a:pPr algn="ctr"/>
            </a:p>
          </p:txBody>
        </p:sp>
        <p:sp>
          <p:nvSpPr>
            <p:cNvPr id="8" name="sleeper"/>
            <p:cNvSpPr/>
            <p:nvPr/>
          </p:nvSpPr>
          <p:spPr>
            <a:xfrm>
              <a:off x="1920240" y="5349240"/>
              <a:ext cx="109728" cy="91440"/>
            </a:xfrm>
            <a:prstGeom prst="rect">
              <a:avLst/>
            </a:prstGeom>
            <a:solidFill>
              <a:srgbClr val="6B5B4B"/>
            </a:solidFill>
            <a:ln>
              <a:noFill/>
            </a:ln>
          </p:spPr>
          <p:txBody>
            <a:bodyPr rtlCol="0" anchor="ctr"/>
            <a:lstStyle/>
            <a:p>
              <a:pPr algn="ctr"/>
            </a:p>
          </p:txBody>
        </p:sp>
        <p:sp>
          <p:nvSpPr>
            <p:cNvPr id="9" name="sleeper"/>
            <p:cNvSpPr/>
            <p:nvPr/>
          </p:nvSpPr>
          <p:spPr>
            <a:xfrm>
              <a:off x="2286000" y="5349240"/>
              <a:ext cx="109728" cy="91440"/>
            </a:xfrm>
            <a:prstGeom prst="rect">
              <a:avLst/>
            </a:prstGeom>
            <a:solidFill>
              <a:srgbClr val="6B5B4B"/>
            </a:solidFill>
            <a:ln>
              <a:noFill/>
            </a:ln>
          </p:spPr>
          <p:txBody>
            <a:bodyPr rtlCol="0" anchor="ctr"/>
            <a:lstStyle/>
            <a:p>
              <a:pPr algn="ctr"/>
            </a:p>
          </p:txBody>
        </p:sp>
        <p:sp>
          <p:nvSpPr>
            <p:cNvPr id="10" name="sleeper"/>
            <p:cNvSpPr/>
            <p:nvPr/>
          </p:nvSpPr>
          <p:spPr>
            <a:xfrm>
              <a:off x="2651760" y="5349240"/>
              <a:ext cx="109728" cy="91440"/>
            </a:xfrm>
            <a:prstGeom prst="rect">
              <a:avLst/>
            </a:prstGeom>
            <a:solidFill>
              <a:srgbClr val="6B5B4B"/>
            </a:solidFill>
            <a:ln>
              <a:noFill/>
            </a:ln>
          </p:spPr>
          <p:txBody>
            <a:bodyPr rtlCol="0" anchor="ctr"/>
            <a:lstStyle/>
            <a:p>
              <a:pPr algn="ctr"/>
            </a:p>
          </p:txBody>
        </p:sp>
        <p:sp>
          <p:nvSpPr>
            <p:cNvPr id="11" name="sleeper"/>
            <p:cNvSpPr/>
            <p:nvPr/>
          </p:nvSpPr>
          <p:spPr>
            <a:xfrm>
              <a:off x="3017520" y="5349240"/>
              <a:ext cx="109728" cy="91440"/>
            </a:xfrm>
            <a:prstGeom prst="rect">
              <a:avLst/>
            </a:prstGeom>
            <a:solidFill>
              <a:srgbClr val="6B5B4B"/>
            </a:solidFill>
            <a:ln>
              <a:noFill/>
            </a:ln>
          </p:spPr>
          <p:txBody>
            <a:bodyPr rtlCol="0" anchor="ctr"/>
            <a:lstStyle/>
            <a:p>
              <a:pPr algn="ctr"/>
            </a:p>
          </p:txBody>
        </p:sp>
        <p:sp>
          <p:nvSpPr>
            <p:cNvPr id="12" name="sleeper"/>
            <p:cNvSpPr/>
            <p:nvPr/>
          </p:nvSpPr>
          <p:spPr>
            <a:xfrm>
              <a:off x="3383280" y="5349240"/>
              <a:ext cx="109728" cy="91440"/>
            </a:xfrm>
            <a:prstGeom prst="rect">
              <a:avLst/>
            </a:prstGeom>
            <a:solidFill>
              <a:srgbClr val="6B5B4B"/>
            </a:solidFill>
            <a:ln>
              <a:noFill/>
            </a:ln>
          </p:spPr>
          <p:txBody>
            <a:bodyPr rtlCol="0" anchor="ctr"/>
            <a:lstStyle/>
            <a:p>
              <a:pPr algn="ctr"/>
            </a:p>
          </p:txBody>
        </p:sp>
        <p:sp>
          <p:nvSpPr>
            <p:cNvPr id="13" name="sleeper"/>
            <p:cNvSpPr/>
            <p:nvPr/>
          </p:nvSpPr>
          <p:spPr>
            <a:xfrm>
              <a:off x="3749040" y="5349240"/>
              <a:ext cx="109728" cy="91440"/>
            </a:xfrm>
            <a:prstGeom prst="rect">
              <a:avLst/>
            </a:prstGeom>
            <a:solidFill>
              <a:srgbClr val="6B5B4B"/>
            </a:solidFill>
            <a:ln>
              <a:noFill/>
            </a:ln>
          </p:spPr>
          <p:txBody>
            <a:bodyPr rtlCol="0" anchor="ctr"/>
            <a:lstStyle/>
            <a:p>
              <a:pPr algn="ctr"/>
            </a:p>
          </p:txBody>
        </p:sp>
        <p:sp>
          <p:nvSpPr>
            <p:cNvPr id="14" name="sleeper"/>
            <p:cNvSpPr/>
            <p:nvPr/>
          </p:nvSpPr>
          <p:spPr>
            <a:xfrm>
              <a:off x="4114800" y="5349240"/>
              <a:ext cx="109728" cy="91440"/>
            </a:xfrm>
            <a:prstGeom prst="rect">
              <a:avLst/>
            </a:prstGeom>
            <a:solidFill>
              <a:srgbClr val="6B5B4B"/>
            </a:solidFill>
            <a:ln>
              <a:noFill/>
            </a:ln>
          </p:spPr>
          <p:txBody>
            <a:bodyPr rtlCol="0" anchor="ctr"/>
            <a:lstStyle/>
            <a:p>
              <a:pPr algn="ctr"/>
            </a:p>
          </p:txBody>
        </p:sp>
        <p:sp>
          <p:nvSpPr>
            <p:cNvPr id="15" name="sleeper"/>
            <p:cNvSpPr/>
            <p:nvPr/>
          </p:nvSpPr>
          <p:spPr>
            <a:xfrm>
              <a:off x="4480560" y="5349240"/>
              <a:ext cx="109728" cy="91440"/>
            </a:xfrm>
            <a:prstGeom prst="rect">
              <a:avLst/>
            </a:prstGeom>
            <a:solidFill>
              <a:srgbClr val="6B5B4B"/>
            </a:solidFill>
            <a:ln>
              <a:noFill/>
            </a:ln>
          </p:spPr>
          <p:txBody>
            <a:bodyPr rtlCol="0" anchor="ctr"/>
            <a:lstStyle/>
            <a:p>
              <a:pPr algn="ctr"/>
            </a:p>
          </p:txBody>
        </p:sp>
        <p:sp>
          <p:nvSpPr>
            <p:cNvPr id="16" name="sleeper"/>
            <p:cNvSpPr/>
            <p:nvPr/>
          </p:nvSpPr>
          <p:spPr>
            <a:xfrm>
              <a:off x="4846320" y="5349240"/>
              <a:ext cx="109728" cy="91440"/>
            </a:xfrm>
            <a:prstGeom prst="rect">
              <a:avLst/>
            </a:prstGeom>
            <a:solidFill>
              <a:srgbClr val="6B5B4B"/>
            </a:solidFill>
            <a:ln>
              <a:noFill/>
            </a:ln>
          </p:spPr>
          <p:txBody>
            <a:bodyPr rtlCol="0" anchor="ctr"/>
            <a:lstStyle/>
            <a:p>
              <a:pPr algn="ctr"/>
            </a:p>
          </p:txBody>
        </p:sp>
        <p:sp>
          <p:nvSpPr>
            <p:cNvPr id="17" name="sleeper"/>
            <p:cNvSpPr/>
            <p:nvPr/>
          </p:nvSpPr>
          <p:spPr>
            <a:xfrm>
              <a:off x="5212080" y="5349240"/>
              <a:ext cx="109728" cy="91440"/>
            </a:xfrm>
            <a:prstGeom prst="rect">
              <a:avLst/>
            </a:prstGeom>
            <a:solidFill>
              <a:srgbClr val="6B5B4B"/>
            </a:solidFill>
            <a:ln>
              <a:noFill/>
            </a:ln>
          </p:spPr>
          <p:txBody>
            <a:bodyPr rtlCol="0" anchor="ctr"/>
            <a:lstStyle/>
            <a:p>
              <a:pPr algn="ctr"/>
            </a:p>
          </p:txBody>
        </p:sp>
        <p:sp>
          <p:nvSpPr>
            <p:cNvPr id="18" name="sleeper"/>
            <p:cNvSpPr/>
            <p:nvPr/>
          </p:nvSpPr>
          <p:spPr>
            <a:xfrm>
              <a:off x="5577840" y="5349240"/>
              <a:ext cx="109728" cy="91440"/>
            </a:xfrm>
            <a:prstGeom prst="rect">
              <a:avLst/>
            </a:prstGeom>
            <a:solidFill>
              <a:srgbClr val="6B5B4B"/>
            </a:solidFill>
            <a:ln>
              <a:noFill/>
            </a:ln>
          </p:spPr>
          <p:txBody>
            <a:bodyPr rtlCol="0" anchor="ctr"/>
            <a:lstStyle/>
            <a:p>
              <a:pPr algn="ctr"/>
            </a:p>
          </p:txBody>
        </p:sp>
        <p:sp>
          <p:nvSpPr>
            <p:cNvPr id="19" name="sleeper"/>
            <p:cNvSpPr/>
            <p:nvPr/>
          </p:nvSpPr>
          <p:spPr>
            <a:xfrm>
              <a:off x="5943600" y="5349240"/>
              <a:ext cx="109728" cy="91440"/>
            </a:xfrm>
            <a:prstGeom prst="rect">
              <a:avLst/>
            </a:prstGeom>
            <a:solidFill>
              <a:srgbClr val="6B5B4B"/>
            </a:solidFill>
            <a:ln>
              <a:noFill/>
            </a:ln>
          </p:spPr>
          <p:txBody>
            <a:bodyPr rtlCol="0" anchor="ctr"/>
            <a:lstStyle/>
            <a:p>
              <a:pPr algn="ctr"/>
            </a:p>
          </p:txBody>
        </p:sp>
        <p:sp>
          <p:nvSpPr>
            <p:cNvPr id="20" name="sleeper"/>
            <p:cNvSpPr/>
            <p:nvPr/>
          </p:nvSpPr>
          <p:spPr>
            <a:xfrm>
              <a:off x="6309360" y="5349240"/>
              <a:ext cx="109728" cy="91440"/>
            </a:xfrm>
            <a:prstGeom prst="rect">
              <a:avLst/>
            </a:prstGeom>
            <a:solidFill>
              <a:srgbClr val="6B5B4B"/>
            </a:solidFill>
            <a:ln>
              <a:noFill/>
            </a:ln>
          </p:spPr>
          <p:txBody>
            <a:bodyPr rtlCol="0" anchor="ctr"/>
            <a:lstStyle/>
            <a:p>
              <a:pPr algn="ctr"/>
            </a:p>
          </p:txBody>
        </p:sp>
        <p:sp>
          <p:nvSpPr>
            <p:cNvPr id="21" name="sleeper"/>
            <p:cNvSpPr/>
            <p:nvPr/>
          </p:nvSpPr>
          <p:spPr>
            <a:xfrm>
              <a:off x="6675120" y="5349240"/>
              <a:ext cx="109728" cy="91440"/>
            </a:xfrm>
            <a:prstGeom prst="rect">
              <a:avLst/>
            </a:prstGeom>
            <a:solidFill>
              <a:srgbClr val="6B5B4B"/>
            </a:solidFill>
            <a:ln>
              <a:noFill/>
            </a:ln>
          </p:spPr>
          <p:txBody>
            <a:bodyPr rtlCol="0" anchor="ctr"/>
            <a:lstStyle/>
            <a:p>
              <a:pPr algn="ctr"/>
            </a:p>
          </p:txBody>
        </p:sp>
        <p:sp>
          <p:nvSpPr>
            <p:cNvPr id="22" name="sleeper"/>
            <p:cNvSpPr/>
            <p:nvPr/>
          </p:nvSpPr>
          <p:spPr>
            <a:xfrm>
              <a:off x="7040880" y="5349240"/>
              <a:ext cx="109728" cy="91440"/>
            </a:xfrm>
            <a:prstGeom prst="rect">
              <a:avLst/>
            </a:prstGeom>
            <a:solidFill>
              <a:srgbClr val="6B5B4B"/>
            </a:solidFill>
            <a:ln>
              <a:noFill/>
            </a:ln>
          </p:spPr>
          <p:txBody>
            <a:bodyPr rtlCol="0" anchor="ctr"/>
            <a:lstStyle/>
            <a:p>
              <a:pPr algn="ctr"/>
            </a:p>
          </p:txBody>
        </p:sp>
        <p:sp>
          <p:nvSpPr>
            <p:cNvPr id="23" name="sleeper"/>
            <p:cNvSpPr/>
            <p:nvPr/>
          </p:nvSpPr>
          <p:spPr>
            <a:xfrm>
              <a:off x="7406640" y="5349240"/>
              <a:ext cx="109728" cy="91440"/>
            </a:xfrm>
            <a:prstGeom prst="rect">
              <a:avLst/>
            </a:prstGeom>
            <a:solidFill>
              <a:srgbClr val="6B5B4B"/>
            </a:solidFill>
            <a:ln>
              <a:noFill/>
            </a:ln>
          </p:spPr>
          <p:txBody>
            <a:bodyPr rtlCol="0" anchor="ctr"/>
            <a:lstStyle/>
            <a:p>
              <a:pPr algn="ctr"/>
            </a:p>
          </p:txBody>
        </p:sp>
        <p:sp>
          <p:nvSpPr>
            <p:cNvPr id="24" name="sleeper"/>
            <p:cNvSpPr/>
            <p:nvPr/>
          </p:nvSpPr>
          <p:spPr>
            <a:xfrm>
              <a:off x="7772400" y="5349240"/>
              <a:ext cx="109728" cy="91440"/>
            </a:xfrm>
            <a:prstGeom prst="rect">
              <a:avLst/>
            </a:prstGeom>
            <a:solidFill>
              <a:srgbClr val="6B5B4B"/>
            </a:solidFill>
            <a:ln>
              <a:noFill/>
            </a:ln>
          </p:spPr>
          <p:txBody>
            <a:bodyPr rtlCol="0" anchor="ctr"/>
            <a:lstStyle/>
            <a:p>
              <a:pPr algn="ctr"/>
            </a:p>
          </p:txBody>
        </p:sp>
        <p:sp>
          <p:nvSpPr>
            <p:cNvPr id="25" name="sleeper"/>
            <p:cNvSpPr/>
            <p:nvPr/>
          </p:nvSpPr>
          <p:spPr>
            <a:xfrm>
              <a:off x="8138160" y="5349240"/>
              <a:ext cx="109728" cy="91440"/>
            </a:xfrm>
            <a:prstGeom prst="rect">
              <a:avLst/>
            </a:prstGeom>
            <a:solidFill>
              <a:srgbClr val="6B5B4B"/>
            </a:solidFill>
            <a:ln>
              <a:noFill/>
            </a:ln>
          </p:spPr>
          <p:txBody>
            <a:bodyPr rtlCol="0" anchor="ctr"/>
            <a:lstStyle/>
            <a:p>
              <a:pPr algn="ctr"/>
            </a:p>
          </p:txBody>
        </p:sp>
        <p:sp>
          <p:nvSpPr>
            <p:cNvPr id="26" name="sleeper"/>
            <p:cNvSpPr/>
            <p:nvPr/>
          </p:nvSpPr>
          <p:spPr>
            <a:xfrm>
              <a:off x="8503920" y="5349240"/>
              <a:ext cx="109728" cy="91440"/>
            </a:xfrm>
            <a:prstGeom prst="rect">
              <a:avLst/>
            </a:prstGeom>
            <a:solidFill>
              <a:srgbClr val="6B5B4B"/>
            </a:solidFill>
            <a:ln>
              <a:noFill/>
            </a:ln>
          </p:spPr>
          <p:txBody>
            <a:bodyPr rtlCol="0" anchor="ctr"/>
            <a:lstStyle/>
            <a:p>
              <a:pPr algn="ctr"/>
            </a:p>
          </p:txBody>
        </p:sp>
        <p:sp>
          <p:nvSpPr>
            <p:cNvPr id="27" name="sleeper"/>
            <p:cNvSpPr/>
            <p:nvPr/>
          </p:nvSpPr>
          <p:spPr>
            <a:xfrm>
              <a:off x="8869680" y="5349240"/>
              <a:ext cx="109728" cy="91440"/>
            </a:xfrm>
            <a:prstGeom prst="rect">
              <a:avLst/>
            </a:prstGeom>
            <a:solidFill>
              <a:srgbClr val="6B5B4B"/>
            </a:solidFill>
            <a:ln>
              <a:noFill/>
            </a:ln>
          </p:spPr>
          <p:txBody>
            <a:bodyPr rtlCol="0" anchor="ctr"/>
            <a:lstStyle/>
            <a:p>
              <a:pPr algn="ctr"/>
            </a:p>
          </p:txBody>
        </p:sp>
        <p:sp>
          <p:nvSpPr>
            <p:cNvPr id="28" name="sleeper"/>
            <p:cNvSpPr/>
            <p:nvPr/>
          </p:nvSpPr>
          <p:spPr>
            <a:xfrm>
              <a:off x="9235440" y="5349240"/>
              <a:ext cx="109728" cy="91440"/>
            </a:xfrm>
            <a:prstGeom prst="rect">
              <a:avLst/>
            </a:prstGeom>
            <a:solidFill>
              <a:srgbClr val="6B5B4B"/>
            </a:solidFill>
            <a:ln>
              <a:noFill/>
            </a:ln>
          </p:spPr>
          <p:txBody>
            <a:bodyPr rtlCol="0" anchor="ctr"/>
            <a:lstStyle/>
            <a:p>
              <a:pPr algn="ctr"/>
            </a:p>
          </p:txBody>
        </p:sp>
        <p:sp>
          <p:nvSpPr>
            <p:cNvPr id="29" name="sleeper"/>
            <p:cNvSpPr/>
            <p:nvPr/>
          </p:nvSpPr>
          <p:spPr>
            <a:xfrm>
              <a:off x="9601200" y="5349240"/>
              <a:ext cx="109728" cy="91440"/>
            </a:xfrm>
            <a:prstGeom prst="rect">
              <a:avLst/>
            </a:prstGeom>
            <a:solidFill>
              <a:srgbClr val="6B5B4B"/>
            </a:solidFill>
            <a:ln>
              <a:noFill/>
            </a:ln>
          </p:spPr>
          <p:txBody>
            <a:bodyPr rtlCol="0" anchor="ctr"/>
            <a:lstStyle/>
            <a:p>
              <a:pPr algn="ctr"/>
            </a:p>
          </p:txBody>
        </p:sp>
        <p:sp>
          <p:nvSpPr>
            <p:cNvPr id="30" name="sleeper"/>
            <p:cNvSpPr/>
            <p:nvPr/>
          </p:nvSpPr>
          <p:spPr>
            <a:xfrm>
              <a:off x="9966960" y="5349240"/>
              <a:ext cx="109728" cy="91440"/>
            </a:xfrm>
            <a:prstGeom prst="rect">
              <a:avLst/>
            </a:prstGeom>
            <a:solidFill>
              <a:srgbClr val="6B5B4B"/>
            </a:solidFill>
            <a:ln>
              <a:noFill/>
            </a:ln>
          </p:spPr>
          <p:txBody>
            <a:bodyPr rtlCol="0" anchor="ctr"/>
            <a:lstStyle/>
            <a:p>
              <a:pPr algn="ctr"/>
            </a:p>
          </p:txBody>
        </p:sp>
        <p:sp>
          <p:nvSpPr>
            <p:cNvPr id="31" name="cab"/>
            <p:cNvSpPr/>
            <p:nvPr/>
          </p:nvSpPr>
          <p:spPr>
            <a:xfrm>
              <a:off x="1371600" y="1993391"/>
              <a:ext cx="1371600" cy="1737360"/>
            </a:xfrm>
            <a:prstGeom prst="rect">
              <a:avLst/>
            </a:prstGeom>
            <a:solidFill>
              <a:srgbClr val="343A43"/>
            </a:solidFill>
            <a:ln w="25400">
              <a:solidFill>
                <a:srgbClr val="9AA0A6"/>
              </a:solidFill>
            </a:ln>
          </p:spPr>
          <p:txBody>
            <a:bodyPr rtlCol="0" anchor="ctr"/>
            <a:lstStyle/>
            <a:p>
              <a:pPr algn="ctr"/>
            </a:p>
          </p:txBody>
        </p:sp>
        <p:sp>
          <p:nvSpPr>
            <p:cNvPr id="32" name="cab roof"/>
            <p:cNvSpPr/>
            <p:nvPr/>
          </p:nvSpPr>
          <p:spPr>
            <a:xfrm>
              <a:off x="1261872" y="1883664"/>
              <a:ext cx="1591056" cy="128016"/>
            </a:xfrm>
            <a:prstGeom prst="rect">
              <a:avLst/>
            </a:prstGeom>
            <a:solidFill>
              <a:srgbClr val="9AA0A6"/>
            </a:solidFill>
            <a:ln>
              <a:noFill/>
            </a:ln>
          </p:spPr>
          <p:txBody>
            <a:bodyPr rtlCol="0" anchor="ctr"/>
            <a:lstStyle/>
            <a:p>
              <a:pPr algn="ctr"/>
            </a:p>
          </p:txBody>
        </p:sp>
        <p:sp>
          <p:nvSpPr>
            <p:cNvPr id="33" name="cab window"/>
            <p:cNvSpPr/>
            <p:nvPr/>
          </p:nvSpPr>
          <p:spPr>
            <a:xfrm>
              <a:off x="1600200" y="2267712"/>
              <a:ext cx="502920" cy="502920"/>
            </a:xfrm>
            <a:prstGeom prst="rect">
              <a:avLst/>
            </a:prstGeom>
            <a:solidFill>
              <a:srgbClr val="1B1D21"/>
            </a:solidFill>
            <a:ln w="12700">
              <a:solidFill>
                <a:srgbClr val="6B7078"/>
              </a:solidFill>
            </a:ln>
          </p:spPr>
          <p:txBody>
            <a:bodyPr rtlCol="0" anchor="ctr"/>
            <a:lstStyle/>
            <a:p>
              <a:pPr algn="ctr"/>
            </a:p>
          </p:txBody>
        </p:sp>
        <p:sp>
          <p:nvSpPr>
            <p:cNvPr id="34" name="boiler shell"/>
            <p:cNvSpPr/>
            <p:nvPr/>
          </p:nvSpPr>
          <p:spPr>
            <a:xfrm>
              <a:off x="2743200" y="2450591"/>
              <a:ext cx="6035040" cy="1280160"/>
            </a:xfrm>
            <a:prstGeom prst="roundRect">
              <a:avLst>
                <a:gd name="adj" fmla="val 17857"/>
              </a:avLst>
            </a:prstGeom>
            <a:solidFill>
              <a:srgbClr val="4F5762"/>
            </a:solidFill>
            <a:ln w="31750">
              <a:solidFill>
                <a:srgbClr val="9AA0A6"/>
              </a:solidFill>
            </a:ln>
          </p:spPr>
          <p:txBody>
            <a:bodyPr rtlCol="0" anchor="ctr"/>
            <a:lstStyle/>
            <a:p>
              <a:pPr algn="ctr"/>
            </a:p>
          </p:txBody>
        </p:sp>
        <p:sp>
          <p:nvSpPr>
            <p:cNvPr id="35" name="water"/>
            <p:cNvSpPr/>
            <p:nvPr/>
          </p:nvSpPr>
          <p:spPr>
            <a:xfrm>
              <a:off x="3291840" y="2999232"/>
              <a:ext cx="5394960" cy="640080"/>
            </a:xfrm>
            <a:prstGeom prst="roundRect">
              <a:avLst>
                <a:gd name="adj" fmla="val 21428"/>
              </a:avLst>
            </a:prstGeom>
            <a:solidFill>
              <a:srgbClr val="4DA3FF"/>
            </a:solidFill>
            <a:ln>
              <a:noFill/>
            </a:ln>
          </p:spPr>
          <p:txBody>
            <a:bodyPr rtlCol="0" anchor="ctr"/>
            <a:lstStyle/>
            <a:p>
              <a:pPr algn="ctr"/>
            </a:p>
          </p:txBody>
        </p:sp>
        <p:sp>
          <p:nvSpPr>
            <p:cNvPr id="36" name="smokebox"/>
            <p:cNvSpPr/>
            <p:nvPr/>
          </p:nvSpPr>
          <p:spPr>
            <a:xfrm>
              <a:off x="8686800" y="2450591"/>
              <a:ext cx="822960" cy="1280160"/>
            </a:xfrm>
            <a:prstGeom prst="roundRect">
              <a:avLst>
                <a:gd name="adj" fmla="val 13333"/>
              </a:avLst>
            </a:prstGeom>
            <a:solidFill>
              <a:srgbClr val="6B7078"/>
            </a:solidFill>
            <a:ln w="25400">
              <a:solidFill>
                <a:srgbClr val="9AA0A6"/>
              </a:solidFill>
            </a:ln>
          </p:spPr>
          <p:txBody>
            <a:bodyPr rtlCol="0" anchor="ctr"/>
            <a:lstStyle/>
            <a:p>
              <a:pPr algn="ctr"/>
            </a:p>
          </p:txBody>
        </p:sp>
        <p:sp>
          <p:nvSpPr>
            <p:cNvPr id="37" name="chimney"/>
            <p:cNvSpPr/>
            <p:nvPr/>
          </p:nvSpPr>
          <p:spPr>
            <a:xfrm>
              <a:off x="8732520" y="1581912"/>
              <a:ext cx="731520" cy="868679"/>
            </a:xfrm>
            <a:custGeom>
              <a:avLst/>
              <a:gdLst/>
              <a:ahLst/>
              <a:cxnLst/>
              <a:rect l="l" t="t" r="r" b="b"/>
              <a:pathLst>
                <a:path w="731520" h="868679">
                  <a:moveTo>
                    <a:pt x="137160" y="868679"/>
                  </a:moveTo>
                  <a:lnTo>
                    <a:pt x="137160" y="274320"/>
                  </a:lnTo>
                  <a:lnTo>
                    <a:pt x="0" y="0"/>
                  </a:lnTo>
                  <a:lnTo>
                    <a:pt x="731520" y="0"/>
                  </a:lnTo>
                  <a:lnTo>
                    <a:pt x="594360" y="274320"/>
                  </a:lnTo>
                  <a:lnTo>
                    <a:pt x="594360" y="868679"/>
                  </a:lnTo>
                  <a:close/>
                </a:path>
              </a:pathLst>
            </a:custGeom>
            <a:solidFill>
              <a:srgbClr val="3A3F47"/>
            </a:solidFill>
            <a:ln w="25400">
              <a:solidFill>
                <a:srgbClr val="9AA0A6"/>
              </a:solidFill>
            </a:ln>
          </p:spPr>
          <p:txBody>
            <a:bodyPr rtlCol="0" anchor="ctr"/>
            <a:lstStyle/>
            <a:p>
              <a:pPr algn="ctr"/>
            </a:p>
          </p:txBody>
        </p:sp>
        <p:sp>
          <p:nvSpPr>
            <p:cNvPr id="38" name="dome"/>
            <p:cNvSpPr/>
            <p:nvPr/>
          </p:nvSpPr>
          <p:spPr>
            <a:xfrm>
              <a:off x="4937760" y="2249424"/>
              <a:ext cx="822960" cy="237744"/>
            </a:xfrm>
            <a:prstGeom prst="roundRect">
              <a:avLst>
                <a:gd name="adj" fmla="val 38461"/>
              </a:avLst>
            </a:prstGeom>
            <a:solidFill>
              <a:srgbClr val="9AA0A6"/>
            </a:solidFill>
            <a:ln>
              <a:noFill/>
            </a:ln>
          </p:spPr>
          <p:txBody>
            <a:bodyPr rtlCol="0" anchor="ctr"/>
            <a:lstStyle/>
            <a:p>
              <a:pPr algn="ctr"/>
            </a:p>
          </p:txBody>
        </p:sp>
        <p:sp>
          <p:nvSpPr>
            <p:cNvPr id="39" name="puff"/>
            <p:cNvSpPr/>
            <p:nvPr/>
          </p:nvSpPr>
          <p:spPr>
            <a:xfrm>
              <a:off x="8961120" y="1216152"/>
              <a:ext cx="502920" cy="274320"/>
            </a:xfrm>
            <a:prstGeom prst="ellipse">
              <a:avLst/>
            </a:prstGeom>
            <a:solidFill>
              <a:srgbClr val="F2F2F2">
                <a:alpha val="85000"/>
              </a:srgbClr>
            </a:solidFill>
            <a:ln>
              <a:noFill/>
            </a:ln>
          </p:spPr>
          <p:txBody>
            <a:bodyPr rtlCol="0" anchor="ctr"/>
            <a:lstStyle/>
            <a:p>
              <a:pPr algn="ctr"/>
            </a:p>
          </p:txBody>
        </p:sp>
        <p:sp>
          <p:nvSpPr>
            <p:cNvPr id="40" name="puff"/>
            <p:cNvSpPr/>
            <p:nvPr/>
          </p:nvSpPr>
          <p:spPr>
            <a:xfrm>
              <a:off x="9189720" y="850392"/>
              <a:ext cx="685800" cy="347472"/>
            </a:xfrm>
            <a:prstGeom prst="ellipse">
              <a:avLst/>
            </a:prstGeom>
            <a:solidFill>
              <a:srgbClr val="F2F2F2">
                <a:alpha val="85000"/>
              </a:srgbClr>
            </a:solidFill>
            <a:ln>
              <a:noFill/>
            </a:ln>
          </p:spPr>
          <p:txBody>
            <a:bodyPr rtlCol="0" anchor="ctr"/>
            <a:lstStyle/>
            <a:p>
              <a:pPr algn="ctr"/>
            </a:p>
          </p:txBody>
        </p:sp>
        <p:sp>
          <p:nvSpPr>
            <p:cNvPr id="41" name="firebox"/>
            <p:cNvSpPr/>
            <p:nvPr/>
          </p:nvSpPr>
          <p:spPr>
            <a:xfrm>
              <a:off x="1554480" y="2724912"/>
              <a:ext cx="1645920" cy="1005840"/>
            </a:xfrm>
            <a:prstGeom prst="roundRect">
              <a:avLst>
                <a:gd name="adj" fmla="val 7272"/>
              </a:avLst>
            </a:prstGeom>
            <a:solidFill>
              <a:srgbClr val="F28C28"/>
            </a:solidFill>
            <a:ln>
              <a:noFill/>
            </a:ln>
          </p:spPr>
          <p:txBody>
            <a:bodyPr rtlCol="0" anchor="ctr"/>
            <a:lstStyle/>
            <a:p>
              <a:pPr algn="ctr"/>
            </a:p>
          </p:txBody>
        </p:sp>
        <p:sp>
          <p:nvSpPr>
            <p:cNvPr id="42" name="coal on grate"/>
            <p:cNvSpPr/>
            <p:nvPr/>
          </p:nvSpPr>
          <p:spPr>
            <a:xfrm>
              <a:off x="1737360" y="3328415"/>
              <a:ext cx="1325880" cy="402337"/>
            </a:xfrm>
            <a:custGeom>
              <a:avLst/>
              <a:gdLst/>
              <a:ahLst/>
              <a:cxnLst/>
              <a:rect l="l" t="t" r="r" b="b"/>
              <a:pathLst>
                <a:path w="1325880" h="402337">
                  <a:moveTo>
                    <a:pt x="0" y="402337"/>
                  </a:moveTo>
                  <a:lnTo>
                    <a:pt x="228600" y="109729"/>
                  </a:lnTo>
                  <a:lnTo>
                    <a:pt x="502920" y="0"/>
                  </a:lnTo>
                  <a:lnTo>
                    <a:pt x="777240" y="109729"/>
                  </a:lnTo>
                  <a:lnTo>
                    <a:pt x="1051560" y="54865"/>
                  </a:lnTo>
                  <a:lnTo>
                    <a:pt x="1325880" y="402337"/>
                  </a:lnTo>
                  <a:close/>
                </a:path>
              </a:pathLst>
            </a:custGeom>
            <a:solidFill>
              <a:srgbClr val="1B1D21"/>
            </a:solidFill>
            <a:ln w="15875">
              <a:solidFill>
                <a:srgbClr val="6B7078"/>
              </a:solidFill>
            </a:ln>
          </p:spPr>
          <p:txBody>
            <a:bodyPr rtlCol="0" anchor="ctr"/>
            <a:lstStyle/>
            <a:p>
              <a:pPr algn="ctr"/>
            </a:p>
          </p:txBody>
        </p:sp>
        <p:sp>
          <p:nvSpPr>
            <p:cNvPr id="43" name="steam path"/>
            <p:cNvSpPr/>
            <p:nvPr/>
          </p:nvSpPr>
          <p:spPr>
            <a:xfrm>
              <a:off x="5943600" y="2724912"/>
              <a:ext cx="3154680" cy="1188720"/>
            </a:xfrm>
            <a:custGeom>
              <a:avLst/>
              <a:gdLst/>
              <a:ahLst/>
              <a:cxnLst/>
              <a:rect l="l" t="t" r="r" b="b"/>
              <a:pathLst>
                <a:path w="3154680" h="1188720">
                  <a:moveTo>
                    <a:pt x="0" y="0"/>
                  </a:moveTo>
                  <a:lnTo>
                    <a:pt x="3154680" y="0"/>
                  </a:lnTo>
                  <a:lnTo>
                    <a:pt x="3154680" y="1188720"/>
                  </a:lnTo>
                </a:path>
              </a:pathLst>
            </a:custGeom>
            <a:noFill/>
            <a:ln w="38100">
              <a:solidFill>
                <a:srgbClr val="F2F2F2"/>
              </a:solidFill>
              <a:tailEnd type="triangle" w="med" len="med"/>
            </a:ln>
          </p:spPr>
          <p:txBody>
            <a:bodyPr rtlCol="0" anchor="ctr"/>
            <a:lstStyle/>
            <a:p>
              <a:pPr algn="ctr"/>
            </a:p>
          </p:txBody>
        </p:sp>
        <p:sp>
          <p:nvSpPr>
            <p:cNvPr id="44" name="cylinder"/>
            <p:cNvSpPr/>
            <p:nvPr/>
          </p:nvSpPr>
          <p:spPr>
            <a:xfrm>
              <a:off x="8503920" y="3959352"/>
              <a:ext cx="1005840" cy="502920"/>
            </a:xfrm>
            <a:prstGeom prst="roundRect">
              <a:avLst>
                <a:gd name="adj" fmla="val 18181"/>
              </a:avLst>
            </a:prstGeom>
            <a:solidFill>
              <a:srgbClr val="9AA0A6"/>
            </a:solidFill>
            <a:ln>
              <a:noFill/>
            </a:ln>
          </p:spPr>
          <p:txBody>
            <a:bodyPr rtlCol="0" anchor="ctr"/>
            <a:lstStyle/>
            <a:p>
              <a:pPr algn="ctr"/>
            </a:p>
          </p:txBody>
        </p:sp>
        <p:sp>
          <p:nvSpPr>
            <p:cNvPr id="45" name="piston head"/>
            <p:cNvSpPr/>
            <p:nvPr/>
          </p:nvSpPr>
          <p:spPr>
            <a:xfrm>
              <a:off x="8686800" y="4023360"/>
              <a:ext cx="128016" cy="374904"/>
            </a:xfrm>
            <a:prstGeom prst="rect">
              <a:avLst/>
            </a:prstGeom>
            <a:solidFill>
              <a:srgbClr val="F2F2F2"/>
            </a:solidFill>
            <a:ln>
              <a:noFill/>
            </a:ln>
          </p:spPr>
          <p:txBody>
            <a:bodyPr rtlCol="0" anchor="ctr"/>
            <a:lstStyle/>
            <a:p>
              <a:pPr algn="ctr"/>
            </a:p>
          </p:txBody>
        </p:sp>
        <p:sp>
          <p:nvSpPr>
            <p:cNvPr id="46" name="piston rod"/>
            <p:cNvSpPr/>
            <p:nvPr/>
          </p:nvSpPr>
          <p:spPr>
            <a:xfrm>
              <a:off x="7589520" y="4187952"/>
              <a:ext cx="1097280" cy="91440"/>
            </a:xfrm>
            <a:prstGeom prst="rect">
              <a:avLst/>
            </a:prstGeom>
            <a:solidFill>
              <a:srgbClr val="D0D4D8"/>
            </a:solidFill>
            <a:ln>
              <a:noFill/>
            </a:ln>
          </p:spPr>
          <p:txBody>
            <a:bodyPr rtlCol="0" anchor="ctr"/>
            <a:lstStyle/>
            <a:p>
              <a:pPr algn="ctr"/>
            </a:p>
          </p:txBody>
        </p:sp>
        <p:sp>
          <p:nvSpPr>
            <p:cNvPr id="47" name="crosshead"/>
            <p:cNvSpPr/>
            <p:nvPr/>
          </p:nvSpPr>
          <p:spPr>
            <a:xfrm>
              <a:off x="7516367" y="4096512"/>
              <a:ext cx="146304" cy="274320"/>
            </a:xfrm>
            <a:prstGeom prst="rect">
              <a:avLst/>
            </a:prstGeom>
            <a:solidFill>
              <a:srgbClr val="9AA0A6"/>
            </a:solidFill>
            <a:ln>
              <a:noFill/>
            </a:ln>
          </p:spPr>
          <p:txBody>
            <a:bodyPr rtlCol="0" anchor="ctr"/>
            <a:lstStyle/>
            <a:p>
              <a:pPr algn="ctr"/>
            </a:p>
          </p:txBody>
        </p:sp>
        <p:sp>
          <p:nvSpPr>
            <p:cNvPr id="48" name="wheel"/>
            <p:cNvSpPr/>
            <p:nvPr/>
          </p:nvSpPr>
          <p:spPr>
            <a:xfrm>
              <a:off x="2971800" y="4279392"/>
              <a:ext cx="1005840" cy="1005840"/>
            </a:xfrm>
            <a:prstGeom prst="ellipse">
              <a:avLst/>
            </a:prstGeom>
            <a:solidFill>
              <a:srgbClr val="1B1D21"/>
            </a:solidFill>
            <a:ln w="38100">
              <a:solidFill>
                <a:srgbClr val="9AA0A6"/>
              </a:solidFill>
            </a:ln>
          </p:spPr>
          <p:txBody>
            <a:bodyPr rtlCol="0" anchor="ctr"/>
            <a:lstStyle/>
            <a:p>
              <a:pPr algn="ctr"/>
            </a:p>
          </p:txBody>
        </p:sp>
        <p:sp>
          <p:nvSpPr>
            <p:cNvPr id="49" name="hub"/>
            <p:cNvSpPr/>
            <p:nvPr/>
          </p:nvSpPr>
          <p:spPr>
            <a:xfrm>
              <a:off x="3383279" y="4690872"/>
              <a:ext cx="182880" cy="182880"/>
            </a:xfrm>
            <a:prstGeom prst="ellipse">
              <a:avLst/>
            </a:prstGeom>
            <a:solidFill>
              <a:srgbClr val="9AA0A6"/>
            </a:solidFill>
            <a:ln>
              <a:noFill/>
            </a:ln>
          </p:spPr>
          <p:txBody>
            <a:bodyPr rtlCol="0" anchor="ctr"/>
            <a:lstStyle/>
            <a:p>
              <a:pPr algn="ctr"/>
            </a:p>
          </p:txBody>
        </p:sp>
        <p:sp>
          <p:nvSpPr>
            <p:cNvPr id="50" name="wheel"/>
            <p:cNvSpPr/>
            <p:nvPr/>
          </p:nvSpPr>
          <p:spPr>
            <a:xfrm>
              <a:off x="4343400" y="4279392"/>
              <a:ext cx="1005840" cy="1005840"/>
            </a:xfrm>
            <a:prstGeom prst="ellipse">
              <a:avLst/>
            </a:prstGeom>
            <a:solidFill>
              <a:srgbClr val="1B1D21"/>
            </a:solidFill>
            <a:ln w="38100">
              <a:solidFill>
                <a:srgbClr val="9AA0A6"/>
              </a:solidFill>
            </a:ln>
          </p:spPr>
          <p:txBody>
            <a:bodyPr rtlCol="0" anchor="ctr"/>
            <a:lstStyle/>
            <a:p>
              <a:pPr algn="ctr"/>
            </a:p>
          </p:txBody>
        </p:sp>
        <p:sp>
          <p:nvSpPr>
            <p:cNvPr id="51" name="hub"/>
            <p:cNvSpPr/>
            <p:nvPr/>
          </p:nvSpPr>
          <p:spPr>
            <a:xfrm>
              <a:off x="4754880" y="4690872"/>
              <a:ext cx="182880" cy="182880"/>
            </a:xfrm>
            <a:prstGeom prst="ellipse">
              <a:avLst/>
            </a:prstGeom>
            <a:solidFill>
              <a:srgbClr val="9AA0A6"/>
            </a:solidFill>
            <a:ln>
              <a:noFill/>
            </a:ln>
          </p:spPr>
          <p:txBody>
            <a:bodyPr rtlCol="0" anchor="ctr"/>
            <a:lstStyle/>
            <a:p>
              <a:pPr algn="ctr"/>
            </a:p>
          </p:txBody>
        </p:sp>
        <p:sp>
          <p:nvSpPr>
            <p:cNvPr id="52" name="wheel"/>
            <p:cNvSpPr/>
            <p:nvPr/>
          </p:nvSpPr>
          <p:spPr>
            <a:xfrm>
              <a:off x="5715000" y="4279392"/>
              <a:ext cx="1005840" cy="1005840"/>
            </a:xfrm>
            <a:prstGeom prst="ellipse">
              <a:avLst/>
            </a:prstGeom>
            <a:solidFill>
              <a:srgbClr val="1B1D21"/>
            </a:solidFill>
            <a:ln w="38100">
              <a:solidFill>
                <a:srgbClr val="9AA0A6"/>
              </a:solidFill>
            </a:ln>
          </p:spPr>
          <p:txBody>
            <a:bodyPr rtlCol="0" anchor="ctr"/>
            <a:lstStyle/>
            <a:p>
              <a:pPr algn="ctr"/>
            </a:p>
          </p:txBody>
        </p:sp>
        <p:sp>
          <p:nvSpPr>
            <p:cNvPr id="53" name="hub"/>
            <p:cNvSpPr/>
            <p:nvPr/>
          </p:nvSpPr>
          <p:spPr>
            <a:xfrm>
              <a:off x="6126480" y="4690872"/>
              <a:ext cx="182880" cy="182880"/>
            </a:xfrm>
            <a:prstGeom prst="ellipse">
              <a:avLst/>
            </a:prstGeom>
            <a:solidFill>
              <a:srgbClr val="9AA0A6"/>
            </a:solidFill>
            <a:ln>
              <a:noFill/>
            </a:ln>
          </p:spPr>
          <p:txBody>
            <a:bodyPr rtlCol="0" anchor="ctr"/>
            <a:lstStyle/>
            <a:p>
              <a:pPr algn="ctr"/>
            </a:p>
          </p:txBody>
        </p:sp>
        <p:sp>
          <p:nvSpPr>
            <p:cNvPr id="54" name="coupling rod"/>
            <p:cNvSpPr/>
            <p:nvPr/>
          </p:nvSpPr>
          <p:spPr>
            <a:xfrm>
              <a:off x="3474720" y="4407408"/>
              <a:ext cx="2743200" cy="91440"/>
            </a:xfrm>
            <a:prstGeom prst="rect">
              <a:avLst/>
            </a:prstGeom>
            <a:solidFill>
              <a:srgbClr val="D0D4D8"/>
            </a:solidFill>
            <a:ln>
              <a:noFill/>
            </a:ln>
          </p:spPr>
          <p:txBody>
            <a:bodyPr rtlCol="0" anchor="ctr"/>
            <a:lstStyle/>
            <a:p>
              <a:pPr algn="ctr"/>
            </a:p>
          </p:txBody>
        </p:sp>
        <p:cxnSp>
          <p:nvCxnSpPr>
            <p:cNvPr id="55" name="connecting rod"/>
            <p:cNvCxnSpPr/>
            <p:nvPr/>
          </p:nvCxnSpPr>
          <p:spPr>
            <a:xfrm flipH="1">
              <a:off x="6217920" y="4233672"/>
              <a:ext cx="1371600" cy="219456"/>
            </a:xfrm>
            <a:prstGeom prst="line">
              <a:avLst/>
            </a:prstGeom>
            <a:ln w="76200">
              <a:solidFill>
                <a:srgbClr val="D0D4D8"/>
              </a:solidFill>
            </a:ln>
          </p:spPr>
        </p:cxnSp>
        <p:sp>
          <p:nvSpPr>
            <p:cNvPr id="56" name="crank pin"/>
            <p:cNvSpPr/>
            <p:nvPr/>
          </p:nvSpPr>
          <p:spPr>
            <a:xfrm>
              <a:off x="3392424" y="4370832"/>
              <a:ext cx="164592" cy="164592"/>
            </a:xfrm>
            <a:prstGeom prst="ellipse">
              <a:avLst/>
            </a:prstGeom>
            <a:solidFill>
              <a:srgbClr val="F28C28"/>
            </a:solidFill>
            <a:ln>
              <a:noFill/>
            </a:ln>
          </p:spPr>
          <p:txBody>
            <a:bodyPr rtlCol="0" anchor="ctr"/>
            <a:lstStyle/>
            <a:p>
              <a:pPr algn="ctr"/>
            </a:p>
          </p:txBody>
        </p:sp>
        <p:sp>
          <p:nvSpPr>
            <p:cNvPr id="57" name="crank pin"/>
            <p:cNvSpPr/>
            <p:nvPr/>
          </p:nvSpPr>
          <p:spPr>
            <a:xfrm>
              <a:off x="4764024" y="4370832"/>
              <a:ext cx="164592" cy="164592"/>
            </a:xfrm>
            <a:prstGeom prst="ellipse">
              <a:avLst/>
            </a:prstGeom>
            <a:solidFill>
              <a:srgbClr val="F28C28"/>
            </a:solidFill>
            <a:ln>
              <a:noFill/>
            </a:ln>
          </p:spPr>
          <p:txBody>
            <a:bodyPr rtlCol="0" anchor="ctr"/>
            <a:lstStyle/>
            <a:p>
              <a:pPr algn="ctr"/>
            </a:p>
          </p:txBody>
        </p:sp>
        <p:sp>
          <p:nvSpPr>
            <p:cNvPr id="58" name="crank pin"/>
            <p:cNvSpPr/>
            <p:nvPr/>
          </p:nvSpPr>
          <p:spPr>
            <a:xfrm>
              <a:off x="6135624" y="4370832"/>
              <a:ext cx="164592" cy="164592"/>
            </a:xfrm>
            <a:prstGeom prst="ellipse">
              <a:avLst/>
            </a:prstGeom>
            <a:solidFill>
              <a:srgbClr val="F28C28"/>
            </a:solidFill>
            <a:ln>
              <a:noFill/>
            </a:ln>
          </p:spPr>
          <p:txBody>
            <a:bodyPr rtlCol="0" anchor="ctr"/>
            <a:lstStyle/>
            <a:p>
              <a:pPr algn="ctr"/>
            </a:p>
          </p:txBody>
        </p:sp>
        <p:cxnSp>
          <p:nvCxnSpPr>
            <p:cNvPr id="59" name="water arrow"/>
            <p:cNvCxnSpPr/>
            <p:nvPr/>
          </p:nvCxnSpPr>
          <p:spPr>
            <a:xfrm>
              <a:off x="5029200" y="1261872"/>
              <a:ext cx="0" cy="1143000"/>
            </a:xfrm>
            <a:prstGeom prst="line">
              <a:avLst/>
            </a:prstGeom>
            <a:ln w="57150">
              <a:solidFill>
                <a:srgbClr val="4DA3FF"/>
              </a:solidFill>
              <a:tailEnd type="triangle" w="med" len="med"/>
            </a:ln>
          </p:spPr>
        </p:cxnSp>
        <p:sp>
          <p:nvSpPr>
            <p:cNvPr id="60" name="water label"/>
            <p:cNvSpPr txBox="1"/>
            <p:nvPr/>
          </p:nvSpPr>
          <p:spPr>
            <a:xfrm>
              <a:off x="3383280" y="1216152"/>
              <a:ext cx="1508760" cy="365760"/>
            </a:xfrm>
            <a:prstGeom prst="rect">
              <a:avLst/>
            </a:prstGeom>
            <a:noFill/>
          </p:spPr>
          <p:txBody>
            <a:bodyPr wrap="square" anchor="ctr" lIns="18288" tIns="9144" rIns="18288" bIns="9144">
              <a:noAutofit/>
            </a:bodyPr>
            <a:lstStyle/>
            <a:p>
              <a:pPr algn="r"/>
              <a:r>
                <a:rPr sz="1800" b="1" i="0" lang="en-GB">
                  <a:solidFill>
                    <a:srgbClr val="4DA3FF"/>
                  </a:solidFill>
                  <a:latin typeface="Arial"/>
                </a:rPr>
                <a:t>Water</a:t>
              </a:r>
            </a:p>
          </p:txBody>
        </p:sp>
        <p:sp>
          <p:nvSpPr>
            <p:cNvPr id="61" name="badge"/>
            <p:cNvSpPr/>
            <p:nvPr/>
          </p:nvSpPr>
          <p:spPr>
            <a:xfrm>
              <a:off x="1668779" y="4210812"/>
              <a:ext cx="411480" cy="41148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1</a:t>
              </a:r>
            </a:p>
          </p:txBody>
        </p:sp>
        <p:cxnSp>
          <p:nvCxnSpPr>
            <p:cNvPr id="62" name="leader"/>
            <p:cNvCxnSpPr/>
            <p:nvPr/>
          </p:nvCxnSpPr>
          <p:spPr>
            <a:xfrm flipV="1">
              <a:off x="1874519" y="3547872"/>
              <a:ext cx="320041" cy="667512"/>
            </a:xfrm>
            <a:prstGeom prst="line">
              <a:avLst/>
            </a:prstGeom>
            <a:ln w="25400">
              <a:solidFill>
                <a:srgbClr val="F28C28"/>
              </a:solidFill>
            </a:ln>
          </p:spPr>
        </p:cxnSp>
        <p:sp>
          <p:nvSpPr>
            <p:cNvPr id="63" name="badge label"/>
            <p:cNvSpPr txBox="1"/>
            <p:nvPr/>
          </p:nvSpPr>
          <p:spPr>
            <a:xfrm>
              <a:off x="2148840" y="4206240"/>
              <a:ext cx="914400" cy="411480"/>
            </a:xfrm>
            <a:prstGeom prst="rect">
              <a:avLst/>
            </a:prstGeom>
            <a:noFill/>
          </p:spPr>
          <p:txBody>
            <a:bodyPr wrap="square" anchor="ctr" lIns="18288" tIns="9144" rIns="18288" bIns="9144">
              <a:noAutofit/>
            </a:bodyPr>
            <a:lstStyle/>
            <a:p>
              <a:pPr algn="l"/>
              <a:r>
                <a:rPr sz="1800" b="1" i="0" lang="en-GB">
                  <a:solidFill>
                    <a:srgbClr val="F2F2F2"/>
                  </a:solidFill>
                  <a:latin typeface="Arial"/>
                </a:rPr>
                <a:t>Coal</a:t>
              </a:r>
            </a:p>
          </p:txBody>
        </p:sp>
        <p:sp>
          <p:nvSpPr>
            <p:cNvPr id="64" name="badge"/>
            <p:cNvSpPr/>
            <p:nvPr/>
          </p:nvSpPr>
          <p:spPr>
            <a:xfrm>
              <a:off x="6560820" y="1604772"/>
              <a:ext cx="411480" cy="41148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2</a:t>
              </a:r>
            </a:p>
          </p:txBody>
        </p:sp>
        <p:cxnSp>
          <p:nvCxnSpPr>
            <p:cNvPr id="65" name="leader"/>
            <p:cNvCxnSpPr/>
            <p:nvPr/>
          </p:nvCxnSpPr>
          <p:spPr>
            <a:xfrm>
              <a:off x="6766560" y="2020824"/>
              <a:ext cx="0" cy="658367"/>
            </a:xfrm>
            <a:prstGeom prst="line">
              <a:avLst/>
            </a:prstGeom>
            <a:ln w="25400">
              <a:solidFill>
                <a:srgbClr val="F28C28"/>
              </a:solidFill>
            </a:ln>
          </p:spPr>
        </p:cxnSp>
        <p:sp>
          <p:nvSpPr>
            <p:cNvPr id="66" name="badge label"/>
            <p:cNvSpPr txBox="1"/>
            <p:nvPr/>
          </p:nvSpPr>
          <p:spPr>
            <a:xfrm>
              <a:off x="7040880" y="1609344"/>
              <a:ext cx="1097280" cy="411480"/>
            </a:xfrm>
            <a:prstGeom prst="rect">
              <a:avLst/>
            </a:prstGeom>
            <a:noFill/>
          </p:spPr>
          <p:txBody>
            <a:bodyPr wrap="square" anchor="ctr" lIns="18288" tIns="9144" rIns="18288" bIns="9144">
              <a:noAutofit/>
            </a:bodyPr>
            <a:lstStyle/>
            <a:p>
              <a:pPr algn="l"/>
              <a:r>
                <a:rPr sz="1800" b="1" i="0" lang="en-GB">
                  <a:solidFill>
                    <a:srgbClr val="F2F2F2"/>
                  </a:solidFill>
                  <a:latin typeface="Arial"/>
                </a:rPr>
                <a:t>Steam</a:t>
              </a:r>
            </a:p>
          </p:txBody>
        </p:sp>
        <p:sp>
          <p:nvSpPr>
            <p:cNvPr id="67" name="badge"/>
            <p:cNvSpPr/>
            <p:nvPr/>
          </p:nvSpPr>
          <p:spPr>
            <a:xfrm>
              <a:off x="9029700" y="4713732"/>
              <a:ext cx="411480" cy="41148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3</a:t>
              </a:r>
            </a:p>
          </p:txBody>
        </p:sp>
        <p:cxnSp>
          <p:nvCxnSpPr>
            <p:cNvPr id="68" name="leader"/>
            <p:cNvCxnSpPr/>
            <p:nvPr/>
          </p:nvCxnSpPr>
          <p:spPr>
            <a:xfrm flipV="1">
              <a:off x="9235440" y="4462272"/>
              <a:ext cx="0" cy="256032"/>
            </a:xfrm>
            <a:prstGeom prst="line">
              <a:avLst/>
            </a:prstGeom>
            <a:ln w="25400">
              <a:solidFill>
                <a:srgbClr val="F28C28"/>
              </a:solidFill>
            </a:ln>
          </p:spPr>
        </p:cxnSp>
        <p:sp>
          <p:nvSpPr>
            <p:cNvPr id="69" name="badge label"/>
            <p:cNvSpPr txBox="1"/>
            <p:nvPr/>
          </p:nvSpPr>
          <p:spPr>
            <a:xfrm>
              <a:off x="9509760" y="4709160"/>
              <a:ext cx="1097280" cy="411480"/>
            </a:xfrm>
            <a:prstGeom prst="rect">
              <a:avLst/>
            </a:prstGeom>
            <a:noFill/>
          </p:spPr>
          <p:txBody>
            <a:bodyPr wrap="square" anchor="ctr" lIns="18288" tIns="9144" rIns="18288" bIns="9144">
              <a:noAutofit/>
            </a:bodyPr>
            <a:lstStyle/>
            <a:p>
              <a:pPr algn="l"/>
              <a:r>
                <a:rPr sz="1800" b="1" i="0" lang="en-GB">
                  <a:solidFill>
                    <a:srgbClr val="F2F2F2"/>
                  </a:solidFill>
                  <a:latin typeface="Arial"/>
                </a:rPr>
                <a:t>Piston</a:t>
              </a:r>
            </a:p>
          </p:txBody>
        </p:sp>
        <p:sp>
          <p:nvSpPr>
            <p:cNvPr id="70" name="badge"/>
            <p:cNvSpPr/>
            <p:nvPr/>
          </p:nvSpPr>
          <p:spPr>
            <a:xfrm>
              <a:off x="7338060" y="4713732"/>
              <a:ext cx="411480" cy="41148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4</a:t>
              </a:r>
            </a:p>
          </p:txBody>
        </p:sp>
        <p:cxnSp>
          <p:nvCxnSpPr>
            <p:cNvPr id="71" name="leader"/>
            <p:cNvCxnSpPr/>
            <p:nvPr/>
          </p:nvCxnSpPr>
          <p:spPr>
            <a:xfrm flipH="1">
              <a:off x="6766560" y="4919472"/>
              <a:ext cx="576072" cy="0"/>
            </a:xfrm>
            <a:prstGeom prst="line">
              <a:avLst/>
            </a:prstGeom>
            <a:ln w="25400">
              <a:solidFill>
                <a:srgbClr val="F28C28"/>
              </a:solidFill>
            </a:ln>
          </p:spPr>
        </p:cxnSp>
        <p:sp>
          <p:nvSpPr>
            <p:cNvPr id="72" name="badge label"/>
            <p:cNvSpPr txBox="1"/>
            <p:nvPr/>
          </p:nvSpPr>
          <p:spPr>
            <a:xfrm>
              <a:off x="7818120" y="4709160"/>
              <a:ext cx="1097280" cy="411480"/>
            </a:xfrm>
            <a:prstGeom prst="rect">
              <a:avLst/>
            </a:prstGeom>
            <a:noFill/>
          </p:spPr>
          <p:txBody>
            <a:bodyPr wrap="square" anchor="ctr" lIns="18288" tIns="9144" rIns="18288" bIns="9144">
              <a:noAutofit/>
            </a:bodyPr>
            <a:lstStyle/>
            <a:p>
              <a:pPr algn="l"/>
              <a:r>
                <a:rPr sz="1800" b="1" i="0" lang="en-GB">
                  <a:solidFill>
                    <a:srgbClr val="F2F2F2"/>
                  </a:solidFill>
                  <a:latin typeface="Arial"/>
                </a:rPr>
                <a:t>Wheels</a:t>
              </a:r>
            </a:p>
          </p:txBody>
        </p:sp>
      </p:grpSp>
      <p:sp>
        <p:nvSpPr>
          <p:cNvPr id="7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7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75"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Coal heats water. Steam pushes pistons. The engine needs both coal and water.</a:t>
            </a:r>
          </a:p>
        </p:txBody>
      </p:sp>
      <p:sp>
        <p:nvSpPr>
          <p:cNvPr id="7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0" presetClass="entr" presetSubtype="0" fill="hold" nodeType="withEffect">
                                  <p:stCondLst>
                                    <p:cond delay="600"/>
                                  </p:stCondLst>
                                  <p:childTnLst>
                                    <p:set>
                                      <p:cBhvr>
                                        <p:cTn id="12" dur="1" fill="hold">
                                          <p:stCondLst>
                                            <p:cond delay="0"/>
                                          </p:stCondLst>
                                        </p:cTn>
                                        <p:tgtEl>
                                          <p:spTgt spid="74"/>
                                        </p:tgtEl>
                                        <p:attrNameLst>
                                          <p:attrName>style.visibility</p:attrName>
                                        </p:attrNameLst>
                                      </p:cBhvr>
                                      <p:to>
                                        <p:strVal val="visible"/>
                                      </p:to>
                                    </p:set>
                                    <p:animEffect transition="in" filter="fade">
                                      <p:cBhvr>
                                        <p:cTn id="13" dur="500"/>
                                        <p:tgtEl>
                                          <p:spTgt spid="74"/>
                                        </p:tgtEl>
                                      </p:cBhvr>
                                    </p:animEffect>
                                  </p:childTnLst>
                                </p:cTn>
                              </p:par>
                              <p:par>
                                <p:cTn id="14" presetID="10" presetClass="entr" presetSubtype="0" fill="hold" nodeType="withEffect">
                                  <p:stCondLst>
                                    <p:cond delay="90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Steam is used once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anks before and after" descr="Before a long trip the coal tank and water tank are both nearly full. After it, coal is about half full and water is almost empty. Steam leaves the chimney and is not used again."/>
          <p:cNvGrpSpPr/>
          <p:nvPr/>
        </p:nvGrpSpPr>
        <p:grpSpPr>
          <a:xfrm>
            <a:off x="822960" y="1371600"/>
            <a:ext cx="10835640" cy="4114800"/>
            <a:chOff x="822960" y="1371600"/>
            <a:chExt cx="10835640" cy="4114800"/>
          </a:xfrm>
        </p:grpSpPr>
        <p:sp>
          <p:nvSpPr>
            <p:cNvPr id="5" name="state label"/>
            <p:cNvSpPr txBox="1"/>
            <p:nvPr/>
          </p:nvSpPr>
          <p:spPr>
            <a:xfrm>
              <a:off x="822960" y="1371600"/>
              <a:ext cx="3383280" cy="365760"/>
            </a:xfrm>
            <a:prstGeom prst="rect">
              <a:avLst/>
            </a:prstGeom>
            <a:noFill/>
          </p:spPr>
          <p:txBody>
            <a:bodyPr wrap="square" anchor="ctr" lIns="18288" tIns="9144" rIns="18288" bIns="9144">
              <a:noAutofit/>
            </a:bodyPr>
            <a:lstStyle/>
            <a:p>
              <a:pPr algn="ctr"/>
              <a:r>
                <a:rPr sz="1400" b="1" i="0" lang="en-GB">
                  <a:solidFill>
                    <a:srgbClr val="A9B0B8"/>
                  </a:solidFill>
                  <a:latin typeface="Arial"/>
                </a:rPr>
                <a:t>Before</a:t>
              </a:r>
            </a:p>
          </p:txBody>
        </p:sp>
        <p:sp>
          <p:nvSpPr>
            <p:cNvPr id="6" name="state label"/>
            <p:cNvSpPr txBox="1"/>
            <p:nvPr/>
          </p:nvSpPr>
          <p:spPr>
            <a:xfrm>
              <a:off x="6400800" y="1371600"/>
              <a:ext cx="3383280" cy="365760"/>
            </a:xfrm>
            <a:prstGeom prst="rect">
              <a:avLst/>
            </a:prstGeom>
            <a:noFill/>
          </p:spPr>
          <p:txBody>
            <a:bodyPr wrap="square" anchor="ctr" lIns="18288" tIns="9144" rIns="18288" bIns="9144">
              <a:noAutofit/>
            </a:bodyPr>
            <a:lstStyle/>
            <a:p>
              <a:pPr algn="ctr"/>
              <a:r>
                <a:rPr sz="1400" b="1" i="0" lang="en-GB">
                  <a:solidFill>
                    <a:srgbClr val="A9B0B8"/>
                  </a:solidFill>
                  <a:latin typeface="Arial"/>
                </a:rPr>
                <a:t>After</a:t>
              </a:r>
            </a:p>
          </p:txBody>
        </p:sp>
        <p:sp>
          <p:nvSpPr>
            <p:cNvPr id="7" name="coal tank before"/>
            <p:cNvSpPr/>
            <p:nvPr/>
          </p:nvSpPr>
          <p:spPr>
            <a:xfrm>
              <a:off x="822960" y="1828800"/>
              <a:ext cx="1463040" cy="2377440"/>
            </a:xfrm>
            <a:prstGeom prst="roundRect">
              <a:avLst>
                <a:gd name="adj" fmla="val 6250"/>
              </a:avLst>
            </a:prstGeom>
            <a:solidFill>
              <a:srgbClr val="2B2F36"/>
            </a:solidFill>
            <a:ln w="28575">
              <a:solidFill>
                <a:srgbClr val="9AA0A6"/>
              </a:solidFill>
            </a:ln>
          </p:spPr>
          <p:txBody>
            <a:bodyPr rtlCol="0" anchor="ctr"/>
            <a:lstStyle/>
            <a:p>
              <a:pPr algn="ctr"/>
            </a:p>
          </p:txBody>
        </p:sp>
        <p:sp>
          <p:nvSpPr>
            <p:cNvPr id="8" name="coal tank before fill"/>
            <p:cNvSpPr/>
            <p:nvPr/>
          </p:nvSpPr>
          <p:spPr>
            <a:xfrm>
              <a:off x="877824" y="2337206"/>
              <a:ext cx="1353312" cy="1814169"/>
            </a:xfrm>
            <a:prstGeom prst="rect">
              <a:avLst/>
            </a:prstGeom>
            <a:solidFill>
              <a:srgbClr val="1B1D21"/>
            </a:solidFill>
            <a:ln w="15875">
              <a:solidFill>
                <a:srgbClr val="8A9099"/>
              </a:solidFill>
            </a:ln>
          </p:spPr>
          <p:txBody>
            <a:bodyPr rtlCol="0" anchor="ctr"/>
            <a:lstStyle/>
            <a:p>
              <a:pPr algn="ctr"/>
            </a:p>
          </p:txBody>
        </p:sp>
        <p:sp>
          <p:nvSpPr>
            <p:cNvPr id="9" name="water tank before"/>
            <p:cNvSpPr/>
            <p:nvPr/>
          </p:nvSpPr>
          <p:spPr>
            <a:xfrm>
              <a:off x="2743200" y="1828800"/>
              <a:ext cx="1463040" cy="2377440"/>
            </a:xfrm>
            <a:prstGeom prst="roundRect">
              <a:avLst>
                <a:gd name="adj" fmla="val 6250"/>
              </a:avLst>
            </a:prstGeom>
            <a:solidFill>
              <a:srgbClr val="2B2F36"/>
            </a:solidFill>
            <a:ln w="28575">
              <a:solidFill>
                <a:srgbClr val="9AA0A6"/>
              </a:solidFill>
            </a:ln>
          </p:spPr>
          <p:txBody>
            <a:bodyPr rtlCol="0" anchor="ctr"/>
            <a:lstStyle/>
            <a:p>
              <a:pPr algn="ctr"/>
            </a:p>
          </p:txBody>
        </p:sp>
        <p:sp>
          <p:nvSpPr>
            <p:cNvPr id="10" name="water tank before fill"/>
            <p:cNvSpPr/>
            <p:nvPr/>
          </p:nvSpPr>
          <p:spPr>
            <a:xfrm>
              <a:off x="2798064" y="2337206"/>
              <a:ext cx="1353312" cy="1814169"/>
            </a:xfrm>
            <a:prstGeom prst="rect">
              <a:avLst/>
            </a:prstGeom>
            <a:solidFill>
              <a:srgbClr val="4DA3FF"/>
            </a:solidFill>
            <a:ln>
              <a:noFill/>
            </a:ln>
          </p:spPr>
          <p:txBody>
            <a:bodyPr rtlCol="0" anchor="ctr"/>
            <a:lstStyle/>
            <a:p>
              <a:pPr algn="ctr"/>
            </a:p>
          </p:txBody>
        </p:sp>
        <p:sp>
          <p:nvSpPr>
            <p:cNvPr id="11" name="tank label"/>
            <p:cNvSpPr txBox="1"/>
            <p:nvPr/>
          </p:nvSpPr>
          <p:spPr>
            <a:xfrm>
              <a:off x="822960" y="4251959"/>
              <a:ext cx="14630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Coal</a:t>
              </a:r>
            </a:p>
          </p:txBody>
        </p:sp>
        <p:sp>
          <p:nvSpPr>
            <p:cNvPr id="12" name="tank label"/>
            <p:cNvSpPr txBox="1"/>
            <p:nvPr/>
          </p:nvSpPr>
          <p:spPr>
            <a:xfrm>
              <a:off x="2743200" y="4251959"/>
              <a:ext cx="14630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a:t>
              </a:r>
            </a:p>
          </p:txBody>
        </p:sp>
        <p:cxnSp>
          <p:nvCxnSpPr>
            <p:cNvPr id="13" name="trip arrow"/>
            <p:cNvCxnSpPr/>
            <p:nvPr/>
          </p:nvCxnSpPr>
          <p:spPr>
            <a:xfrm>
              <a:off x="4526280" y="3017520"/>
              <a:ext cx="1600200" cy="0"/>
            </a:xfrm>
            <a:prstGeom prst="line">
              <a:avLst/>
            </a:prstGeom>
            <a:ln w="57150">
              <a:solidFill>
                <a:srgbClr val="F28C28"/>
              </a:solidFill>
              <a:tailEnd type="triangle" w="med" len="med"/>
            </a:ln>
          </p:spPr>
        </p:cxnSp>
        <p:sp>
          <p:nvSpPr>
            <p:cNvPr id="14" name="trip label"/>
            <p:cNvSpPr txBox="1"/>
            <p:nvPr/>
          </p:nvSpPr>
          <p:spPr>
            <a:xfrm>
              <a:off x="4389120" y="2514600"/>
              <a:ext cx="1874519" cy="411480"/>
            </a:xfrm>
            <a:prstGeom prst="rect">
              <a:avLst/>
            </a:prstGeom>
            <a:noFill/>
          </p:spPr>
          <p:txBody>
            <a:bodyPr wrap="square" anchor="ctr" lIns="18288" tIns="9144" rIns="18288" bIns="9144">
              <a:noAutofit/>
            </a:bodyPr>
            <a:lstStyle/>
            <a:p>
              <a:pPr algn="ctr"/>
              <a:r>
                <a:rPr sz="1800" b="1" i="0" lang="en-GB">
                  <a:solidFill>
                    <a:srgbClr val="F28C28"/>
                  </a:solidFill>
                  <a:latin typeface="Arial"/>
                </a:rPr>
                <a:t>One long trip</a:t>
              </a:r>
            </a:p>
          </p:txBody>
        </p:sp>
        <p:sp>
          <p:nvSpPr>
            <p:cNvPr id="15" name="coal tank after"/>
            <p:cNvSpPr/>
            <p:nvPr/>
          </p:nvSpPr>
          <p:spPr>
            <a:xfrm>
              <a:off x="6400800" y="1828800"/>
              <a:ext cx="1463040" cy="2377440"/>
            </a:xfrm>
            <a:prstGeom prst="roundRect">
              <a:avLst>
                <a:gd name="adj" fmla="val 6250"/>
              </a:avLst>
            </a:prstGeom>
            <a:solidFill>
              <a:srgbClr val="2B2F36"/>
            </a:solidFill>
            <a:ln w="28575">
              <a:solidFill>
                <a:srgbClr val="9AA0A6"/>
              </a:solidFill>
            </a:ln>
          </p:spPr>
          <p:txBody>
            <a:bodyPr rtlCol="0" anchor="ctr"/>
            <a:lstStyle/>
            <a:p>
              <a:pPr algn="ctr"/>
            </a:p>
          </p:txBody>
        </p:sp>
        <p:sp>
          <p:nvSpPr>
            <p:cNvPr id="16" name="coal tank after fill"/>
            <p:cNvSpPr/>
            <p:nvPr/>
          </p:nvSpPr>
          <p:spPr>
            <a:xfrm>
              <a:off x="6455664" y="3130905"/>
              <a:ext cx="1353312" cy="1020470"/>
            </a:xfrm>
            <a:prstGeom prst="rect">
              <a:avLst/>
            </a:prstGeom>
            <a:solidFill>
              <a:srgbClr val="1B1D21"/>
            </a:solidFill>
            <a:ln w="15875">
              <a:solidFill>
                <a:srgbClr val="8A9099"/>
              </a:solidFill>
            </a:ln>
          </p:spPr>
          <p:txBody>
            <a:bodyPr rtlCol="0" anchor="ctr"/>
            <a:lstStyle/>
            <a:p>
              <a:pPr algn="ctr"/>
            </a:p>
          </p:txBody>
        </p:sp>
        <p:sp>
          <p:nvSpPr>
            <p:cNvPr id="17" name="water tank after"/>
            <p:cNvSpPr/>
            <p:nvPr/>
          </p:nvSpPr>
          <p:spPr>
            <a:xfrm>
              <a:off x="8321040" y="1828800"/>
              <a:ext cx="1463040" cy="2377440"/>
            </a:xfrm>
            <a:prstGeom prst="roundRect">
              <a:avLst>
                <a:gd name="adj" fmla="val 6250"/>
              </a:avLst>
            </a:prstGeom>
            <a:solidFill>
              <a:srgbClr val="2B2F36"/>
            </a:solidFill>
            <a:ln w="28575">
              <a:solidFill>
                <a:srgbClr val="9AA0A6"/>
              </a:solidFill>
            </a:ln>
          </p:spPr>
          <p:txBody>
            <a:bodyPr rtlCol="0" anchor="ctr"/>
            <a:lstStyle/>
            <a:p>
              <a:pPr algn="ctr"/>
            </a:p>
          </p:txBody>
        </p:sp>
        <p:sp>
          <p:nvSpPr>
            <p:cNvPr id="18" name="water tank after fill"/>
            <p:cNvSpPr/>
            <p:nvPr/>
          </p:nvSpPr>
          <p:spPr>
            <a:xfrm>
              <a:off x="8375904" y="3811219"/>
              <a:ext cx="1353312" cy="340156"/>
            </a:xfrm>
            <a:prstGeom prst="rect">
              <a:avLst/>
            </a:prstGeom>
            <a:solidFill>
              <a:srgbClr val="4DA3FF"/>
            </a:solidFill>
            <a:ln>
              <a:noFill/>
            </a:ln>
          </p:spPr>
          <p:txBody>
            <a:bodyPr rtlCol="0" anchor="ctr"/>
            <a:lstStyle/>
            <a:p>
              <a:pPr algn="ctr"/>
            </a:p>
          </p:txBody>
        </p:sp>
        <p:sp>
          <p:nvSpPr>
            <p:cNvPr id="19" name="tank label"/>
            <p:cNvSpPr txBox="1"/>
            <p:nvPr/>
          </p:nvSpPr>
          <p:spPr>
            <a:xfrm>
              <a:off x="6400800" y="4251959"/>
              <a:ext cx="14630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Coal</a:t>
              </a:r>
            </a:p>
          </p:txBody>
        </p:sp>
        <p:sp>
          <p:nvSpPr>
            <p:cNvPr id="20" name="tank label"/>
            <p:cNvSpPr txBox="1"/>
            <p:nvPr/>
          </p:nvSpPr>
          <p:spPr>
            <a:xfrm>
              <a:off x="8321040" y="4251959"/>
              <a:ext cx="14630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a:t>
              </a:r>
            </a:p>
          </p:txBody>
        </p:sp>
        <p:sp>
          <p:nvSpPr>
            <p:cNvPr id="21" name="empty tag"/>
            <p:cNvSpPr/>
            <p:nvPr/>
          </p:nvSpPr>
          <p:spPr>
            <a:xfrm>
              <a:off x="8458200" y="2103120"/>
              <a:ext cx="1188720" cy="365760"/>
            </a:xfrm>
            <a:prstGeom prst="roundRect">
              <a:avLst>
                <a:gd name="adj" fmla="val 25000"/>
              </a:avLst>
            </a:prstGeom>
            <a:solidFill>
              <a:srgbClr val="E5484D"/>
            </a:solidFill>
            <a:ln>
              <a:noFill/>
            </a:ln>
          </p:spPr>
          <p:txBody>
            <a:bodyPr rtlCol="0" anchor="ctr" wrap="square" lIns="54864" tIns="27432" rIns="54864" bIns="27432">
              <a:noAutofit/>
            </a:bodyPr>
            <a:lstStyle/>
            <a:p>
              <a:pPr algn="ctr"/>
              <a:r>
                <a:rPr sz="1400" b="1" i="0" lang="en-GB">
                  <a:solidFill>
                    <a:srgbClr val="101418"/>
                  </a:solidFill>
                  <a:latin typeface="Arial"/>
                </a:rPr>
                <a:t>Empty first</a:t>
              </a:r>
            </a:p>
          </p:txBody>
        </p:sp>
        <p:cxnSp>
          <p:nvCxnSpPr>
            <p:cNvPr id="22" name="tag pointer"/>
            <p:cNvCxnSpPr/>
            <p:nvPr/>
          </p:nvCxnSpPr>
          <p:spPr>
            <a:xfrm>
              <a:off x="9052560" y="2487168"/>
              <a:ext cx="0" cy="1124712"/>
            </a:xfrm>
            <a:prstGeom prst="line">
              <a:avLst/>
            </a:prstGeom>
            <a:ln w="28575">
              <a:solidFill>
                <a:srgbClr val="E5484D"/>
              </a:solidFill>
              <a:tailEnd type="triangle" w="med" len="med"/>
            </a:ln>
          </p:spPr>
        </p:cxnSp>
        <p:sp>
          <p:nvSpPr>
            <p:cNvPr id="23" name="chimney"/>
            <p:cNvSpPr/>
            <p:nvPr/>
          </p:nvSpPr>
          <p:spPr>
            <a:xfrm>
              <a:off x="10561320" y="3246120"/>
              <a:ext cx="457200" cy="960120"/>
            </a:xfrm>
            <a:prstGeom prst="rect">
              <a:avLst/>
            </a:prstGeom>
            <a:solidFill>
              <a:srgbClr val="9AA0A6"/>
            </a:solidFill>
            <a:ln>
              <a:noFill/>
            </a:ln>
          </p:spPr>
          <p:txBody>
            <a:bodyPr rtlCol="0" anchor="ctr"/>
            <a:lstStyle/>
            <a:p>
              <a:pPr algn="ctr"/>
            </a:p>
          </p:txBody>
        </p:sp>
        <p:sp>
          <p:nvSpPr>
            <p:cNvPr id="24" name="chimney lip"/>
            <p:cNvSpPr/>
            <p:nvPr/>
          </p:nvSpPr>
          <p:spPr>
            <a:xfrm>
              <a:off x="10424160" y="3154680"/>
              <a:ext cx="731520" cy="128016"/>
            </a:xfrm>
            <a:prstGeom prst="rect">
              <a:avLst/>
            </a:prstGeom>
            <a:solidFill>
              <a:srgbClr val="9AA0A6"/>
            </a:solidFill>
            <a:ln>
              <a:noFill/>
            </a:ln>
          </p:spPr>
          <p:txBody>
            <a:bodyPr rtlCol="0" anchor="ctr"/>
            <a:lstStyle/>
            <a:p>
              <a:pPr algn="ctr"/>
            </a:p>
          </p:txBody>
        </p:sp>
        <p:sp>
          <p:nvSpPr>
            <p:cNvPr id="25" name="steam"/>
            <p:cNvSpPr/>
            <p:nvPr/>
          </p:nvSpPr>
          <p:spPr>
            <a:xfrm>
              <a:off x="10561320" y="2743200"/>
              <a:ext cx="457200" cy="256032"/>
            </a:xfrm>
            <a:prstGeom prst="ellipse">
              <a:avLst/>
            </a:prstGeom>
            <a:solidFill>
              <a:srgbClr val="F2F2F2">
                <a:alpha val="85000"/>
              </a:srgbClr>
            </a:solidFill>
            <a:ln>
              <a:noFill/>
            </a:ln>
          </p:spPr>
          <p:txBody>
            <a:bodyPr rtlCol="0" anchor="ctr"/>
            <a:lstStyle/>
            <a:p>
              <a:pPr algn="ctr"/>
            </a:p>
          </p:txBody>
        </p:sp>
        <p:sp>
          <p:nvSpPr>
            <p:cNvPr id="26" name="steam"/>
            <p:cNvSpPr/>
            <p:nvPr/>
          </p:nvSpPr>
          <p:spPr>
            <a:xfrm>
              <a:off x="10652760" y="2331720"/>
              <a:ext cx="640080" cy="329184"/>
            </a:xfrm>
            <a:prstGeom prst="ellipse">
              <a:avLst/>
            </a:prstGeom>
            <a:solidFill>
              <a:srgbClr val="F2F2F2">
                <a:alpha val="85000"/>
              </a:srgbClr>
            </a:solidFill>
            <a:ln>
              <a:noFill/>
            </a:ln>
          </p:spPr>
          <p:txBody>
            <a:bodyPr rtlCol="0" anchor="ctr"/>
            <a:lstStyle/>
            <a:p>
              <a:pPr algn="ctr"/>
            </a:p>
          </p:txBody>
        </p:sp>
        <p:sp>
          <p:nvSpPr>
            <p:cNvPr id="27" name="steam"/>
            <p:cNvSpPr/>
            <p:nvPr/>
          </p:nvSpPr>
          <p:spPr>
            <a:xfrm>
              <a:off x="10744200" y="1828800"/>
              <a:ext cx="822960" cy="420624"/>
            </a:xfrm>
            <a:prstGeom prst="ellipse">
              <a:avLst/>
            </a:prstGeom>
            <a:solidFill>
              <a:srgbClr val="F2F2F2">
                <a:alpha val="85000"/>
              </a:srgbClr>
            </a:solidFill>
            <a:ln>
              <a:noFill/>
            </a:ln>
          </p:spPr>
          <p:txBody>
            <a:bodyPr rtlCol="0" anchor="ctr"/>
            <a:lstStyle/>
            <a:p>
              <a:pPr algn="ctr"/>
            </a:p>
          </p:txBody>
        </p:sp>
        <p:sp>
          <p:nvSpPr>
            <p:cNvPr id="28" name="steam label"/>
            <p:cNvSpPr txBox="1"/>
            <p:nvPr/>
          </p:nvSpPr>
          <p:spPr>
            <a:xfrm>
              <a:off x="9966960" y="4279392"/>
              <a:ext cx="1691640" cy="1005840"/>
            </a:xfrm>
            <a:prstGeom prst="rect">
              <a:avLst/>
            </a:prstGeom>
            <a:noFill/>
          </p:spPr>
          <p:txBody>
            <a:bodyPr wrap="square" anchor="t" lIns="18288" tIns="9144" rIns="18288" bIns="9144">
              <a:noAutofit/>
            </a:bodyPr>
            <a:lstStyle/>
            <a:p>
              <a:pPr algn="ctr"/>
              <a:r>
                <a:rPr sz="1400" b="0" i="0" lang="en-GB">
                  <a:solidFill>
                    <a:srgbClr val="F2F2F2"/>
                  </a:solidFill>
                  <a:latin typeface="Arial"/>
                </a:rPr>
                <a:t>Steam leaves the chimney. It is not used again.</a:t>
              </a:r>
            </a:p>
          </p:txBody>
        </p:sp>
        <p:sp>
          <p:nvSpPr>
            <p:cNvPr id="29" name="note"/>
            <p:cNvSpPr/>
            <p:nvPr/>
          </p:nvSpPr>
          <p:spPr>
            <a:xfrm>
              <a:off x="1371600" y="4983480"/>
              <a:ext cx="7132320" cy="502920"/>
            </a:xfrm>
            <a:prstGeom prst="roundRect">
              <a:avLst>
                <a:gd name="adj" fmla="val 18181"/>
              </a:avLst>
            </a:prstGeom>
            <a:solidFill>
              <a:srgbClr val="2B2F36"/>
            </a:solidFill>
            <a:ln w="19050">
              <a:solidFill>
                <a:srgbClr val="F28C28"/>
              </a:solidFill>
            </a:ln>
          </p:spPr>
          <p:txBody>
            <a:bodyPr rtlCol="0" anchor="ctr" wrap="square" lIns="54864" tIns="27432" rIns="54864" bIns="27432">
              <a:noAutofit/>
            </a:bodyPr>
            <a:lstStyle/>
            <a:p>
              <a:pPr algn="ctr"/>
              <a:r>
                <a:rPr sz="1800" b="0" i="0" lang="en-GB">
                  <a:solidFill>
                    <a:srgbClr val="F2F2F2"/>
                  </a:solidFill>
                  <a:latin typeface="Arial"/>
                </a:rPr>
                <a:t>In the mod, water is usually the tighter limit.</a:t>
              </a:r>
            </a:p>
          </p:txBody>
        </p:sp>
      </p:grpSp>
      <p:sp>
        <p:nvSpPr>
          <p:cNvPr id="3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1"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2"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Steam is used once and lost. So water runs out first. Coal lasts longer.</a:t>
            </a:r>
          </a:p>
        </p:txBody>
      </p:sp>
      <p:sp>
        <p:nvSpPr>
          <p:cNvPr id="33"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nodeType="withEffect">
                                  <p:stCondLst>
                                    <p:cond delay="90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Tender or tank?</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pic>
        <p:nvPicPr>
          <p:cNvPr id="4" name="P04_tender_engine_73082" descr="BR Standard Class 5 No. 73082 'Camelot', a tender engine, seen from the side."/>
          <p:cNvPicPr>
            <a:picLocks noChangeAspect="1"/>
          </p:cNvPicPr>
          <p:nvPr/>
        </p:nvPicPr>
        <p:blipFill>
          <a:blip r:embed="rId2"/>
          <a:srcRect l="505" r="505"/>
          <a:stretch>
            <a:fillRect/>
          </a:stretch>
        </p:blipFill>
        <p:spPr>
          <a:xfrm>
            <a:off x="548640" y="1325880"/>
            <a:ext cx="5303520" cy="3566160"/>
          </a:xfrm>
          <a:prstGeom prst="roundRect">
            <a:avLst>
              <a:gd name="adj" fmla="val 2051"/>
            </a:avLst>
          </a:prstGeom>
        </p:spPr>
      </p:pic>
      <p:pic>
        <p:nvPicPr>
          <p:cNvPr id="5" name="P05_tank_engine_80151" descr="BR Standard Class 4 tank engine No. 80151 from the side, showing side tanks and rear bunker."/>
          <p:cNvPicPr>
            <a:picLocks noChangeAspect="1"/>
          </p:cNvPicPr>
          <p:nvPr/>
        </p:nvPicPr>
        <p:blipFill>
          <a:blip r:embed="rId3"/>
          <a:srcRect l="505" r="505"/>
          <a:stretch>
            <a:fillRect/>
          </a:stretch>
        </p:blipFill>
        <p:spPr>
          <a:xfrm>
            <a:off x="6336792" y="1325880"/>
            <a:ext cx="5303520" cy="3566160"/>
          </a:xfrm>
          <a:prstGeom prst="roundRect">
            <a:avLst>
              <a:gd name="adj" fmla="val 2051"/>
            </a:avLst>
          </a:prstGeom>
        </p:spPr>
      </p:pic>
      <p:grpSp>
        <p:nvGrpSpPr>
          <p:cNvPr id="6" name="Photo labels" descr="Labels pointing at the tender behind the cab, and at the side tanks and bunker."/>
          <p:cNvGrpSpPr/>
          <p:nvPr/>
        </p:nvGrpSpPr>
        <p:grpSpPr>
          <a:xfrm>
            <a:off x="731520" y="1463039"/>
            <a:ext cx="9418320" cy="3291841"/>
            <a:chOff x="731520" y="1463039"/>
            <a:chExt cx="9418320" cy="3291841"/>
          </a:xfrm>
        </p:grpSpPr>
        <p:sp>
          <p:nvSpPr>
            <p:cNvPr id="7" name="card name"/>
            <p:cNvSpPr/>
            <p:nvPr/>
          </p:nvSpPr>
          <p:spPr>
            <a:xfrm>
              <a:off x="731520" y="1463039"/>
              <a:ext cx="2194560" cy="411480"/>
            </a:xfrm>
            <a:prstGeom prst="roundRect">
              <a:avLst>
                <a:gd name="adj" fmla="val 17777"/>
              </a:avLst>
            </a:prstGeom>
            <a:solidFill>
              <a:srgbClr val="2B2F36"/>
            </a:solidFill>
            <a:ln w="25400">
              <a:solidFill>
                <a:srgbClr val="F28C28"/>
              </a:solidFill>
            </a:ln>
          </p:spPr>
          <p:txBody>
            <a:bodyPr rtlCol="0" anchor="ctr" wrap="square" lIns="54864" tIns="27432" rIns="54864" bIns="27432">
              <a:noAutofit/>
            </a:bodyPr>
            <a:lstStyle/>
            <a:p>
              <a:pPr algn="ctr"/>
              <a:r>
                <a:rPr sz="1800" b="1" i="0" lang="en-GB">
                  <a:solidFill>
                    <a:srgbClr val="F2F2F2"/>
                  </a:solidFill>
                  <a:latin typeface="Arial"/>
                </a:rPr>
                <a:t>Tender engine</a:t>
              </a:r>
            </a:p>
          </p:txBody>
        </p:sp>
        <p:sp>
          <p:nvSpPr>
            <p:cNvPr id="8" name="card name"/>
            <p:cNvSpPr/>
            <p:nvPr/>
          </p:nvSpPr>
          <p:spPr>
            <a:xfrm>
              <a:off x="6519672" y="1463039"/>
              <a:ext cx="2011680" cy="411480"/>
            </a:xfrm>
            <a:prstGeom prst="roundRect">
              <a:avLst>
                <a:gd name="adj" fmla="val 17777"/>
              </a:avLst>
            </a:prstGeom>
            <a:solidFill>
              <a:srgbClr val="2B2F36"/>
            </a:solidFill>
            <a:ln w="25400">
              <a:solidFill>
                <a:srgbClr val="F28C28"/>
              </a:solidFill>
            </a:ln>
          </p:spPr>
          <p:txBody>
            <a:bodyPr rtlCol="0" anchor="ctr" wrap="square" lIns="54864" tIns="27432" rIns="54864" bIns="27432">
              <a:noAutofit/>
            </a:bodyPr>
            <a:lstStyle/>
            <a:p>
              <a:pPr algn="ctr"/>
              <a:r>
                <a:rPr sz="1800" b="1" i="0" lang="en-GB">
                  <a:solidFill>
                    <a:srgbClr val="F2F2F2"/>
                  </a:solidFill>
                  <a:latin typeface="Arial"/>
                </a:rPr>
                <a:t>Tank engine</a:t>
              </a:r>
            </a:p>
          </p:txBody>
        </p:sp>
        <p:sp>
          <p:nvSpPr>
            <p:cNvPr id="9" name="callout"/>
            <p:cNvSpPr/>
            <p:nvPr/>
          </p:nvSpPr>
          <p:spPr>
            <a:xfrm>
              <a:off x="777240" y="4069080"/>
              <a:ext cx="2834640" cy="685800"/>
            </a:xfrm>
            <a:prstGeom prst="roundRect">
              <a:avLst>
                <a:gd name="adj" fmla="val 10666"/>
              </a:avLst>
            </a:prstGeom>
            <a:solidFill>
              <a:srgbClr val="2B2F36"/>
            </a:solidFill>
            <a:ln w="25400">
              <a:solidFill>
                <a:srgbClr val="F28C28"/>
              </a:solidFill>
            </a:ln>
          </p:spPr>
          <p:txBody>
            <a:bodyPr rtlCol="0" anchor="ctr" wrap="square" lIns="54864" tIns="27432" rIns="54864" bIns="27432">
              <a:noAutofit/>
            </a:bodyPr>
            <a:lstStyle/>
            <a:p>
              <a:pPr algn="ctr"/>
              <a:r>
                <a:rPr sz="1600" b="0" i="0" lang="en-GB">
                  <a:solidFill>
                    <a:srgbClr val="F2F2F2"/>
                  </a:solidFill>
                  <a:latin typeface="Arial"/>
                </a:rPr>
                <a:t>Tender: coal and water behind the cab</a:t>
              </a:r>
            </a:p>
          </p:txBody>
        </p:sp>
        <p:cxnSp>
          <p:nvCxnSpPr>
            <p:cNvPr id="10" name="leader"/>
            <p:cNvCxnSpPr/>
            <p:nvPr/>
          </p:nvCxnSpPr>
          <p:spPr>
            <a:xfrm flipH="1" flipV="1">
              <a:off x="1417320" y="3246120"/>
              <a:ext cx="320040" cy="822960"/>
            </a:xfrm>
            <a:prstGeom prst="line">
              <a:avLst/>
            </a:prstGeom>
            <a:ln w="28575">
              <a:solidFill>
                <a:srgbClr val="F28C28"/>
              </a:solidFill>
            </a:ln>
          </p:spPr>
        </p:cxnSp>
        <p:sp>
          <p:nvSpPr>
            <p:cNvPr id="11" name="leader dot"/>
            <p:cNvSpPr/>
            <p:nvPr/>
          </p:nvSpPr>
          <p:spPr>
            <a:xfrm>
              <a:off x="1344168" y="3172968"/>
              <a:ext cx="146304" cy="146304"/>
            </a:xfrm>
            <a:prstGeom prst="ellipse">
              <a:avLst/>
            </a:prstGeom>
            <a:solidFill>
              <a:srgbClr val="F28C28"/>
            </a:solidFill>
            <a:ln>
              <a:noFill/>
            </a:ln>
          </p:spPr>
          <p:txBody>
            <a:bodyPr rtlCol="0" anchor="ctr"/>
            <a:lstStyle/>
            <a:p>
              <a:pPr algn="ctr"/>
            </a:p>
          </p:txBody>
        </p:sp>
        <p:sp>
          <p:nvSpPr>
            <p:cNvPr id="12" name="callout"/>
            <p:cNvSpPr/>
            <p:nvPr/>
          </p:nvSpPr>
          <p:spPr>
            <a:xfrm>
              <a:off x="6492240" y="4069080"/>
              <a:ext cx="3657600" cy="685800"/>
            </a:xfrm>
            <a:prstGeom prst="roundRect">
              <a:avLst>
                <a:gd name="adj" fmla="val 10666"/>
              </a:avLst>
            </a:prstGeom>
            <a:solidFill>
              <a:srgbClr val="2B2F36"/>
            </a:solidFill>
            <a:ln w="25400">
              <a:solidFill>
                <a:srgbClr val="F28C28"/>
              </a:solidFill>
            </a:ln>
          </p:spPr>
          <p:txBody>
            <a:bodyPr rtlCol="0" anchor="ctr" wrap="square" lIns="54864" tIns="27432" rIns="54864" bIns="27432">
              <a:noAutofit/>
            </a:bodyPr>
            <a:lstStyle/>
            <a:p>
              <a:pPr algn="ctr"/>
              <a:r>
                <a:rPr sz="1600" b="0" i="0" lang="en-GB">
                  <a:solidFill>
                    <a:srgbClr val="F2F2F2"/>
                  </a:solidFill>
                  <a:latin typeface="Arial"/>
                </a:rPr>
                <a:t>Side tanks: water. Bunker: coal.</a:t>
              </a:r>
            </a:p>
          </p:txBody>
        </p:sp>
        <p:cxnSp>
          <p:nvCxnSpPr>
            <p:cNvPr id="13" name="leader"/>
            <p:cNvCxnSpPr/>
            <p:nvPr/>
          </p:nvCxnSpPr>
          <p:spPr>
            <a:xfrm flipV="1">
              <a:off x="7680960" y="3200400"/>
              <a:ext cx="822960" cy="868680"/>
            </a:xfrm>
            <a:prstGeom prst="line">
              <a:avLst/>
            </a:prstGeom>
            <a:ln w="28575">
              <a:solidFill>
                <a:srgbClr val="F28C28"/>
              </a:solidFill>
            </a:ln>
          </p:spPr>
        </p:cxnSp>
        <p:sp>
          <p:nvSpPr>
            <p:cNvPr id="14" name="leader dot"/>
            <p:cNvSpPr/>
            <p:nvPr/>
          </p:nvSpPr>
          <p:spPr>
            <a:xfrm>
              <a:off x="8430768" y="3127248"/>
              <a:ext cx="146304" cy="146304"/>
            </a:xfrm>
            <a:prstGeom prst="ellipse">
              <a:avLst/>
            </a:prstGeom>
            <a:solidFill>
              <a:srgbClr val="F28C28"/>
            </a:solidFill>
            <a:ln>
              <a:noFill/>
            </a:ln>
          </p:spPr>
          <p:txBody>
            <a:bodyPr rtlCol="0" anchor="ctr"/>
            <a:lstStyle/>
            <a:p>
              <a:pPr algn="ctr"/>
            </a:p>
          </p:txBody>
        </p:sp>
        <p:cxnSp>
          <p:nvCxnSpPr>
            <p:cNvPr id="15" name="leader"/>
            <p:cNvCxnSpPr/>
            <p:nvPr/>
          </p:nvCxnSpPr>
          <p:spPr>
            <a:xfrm flipV="1">
              <a:off x="9509760" y="3200400"/>
              <a:ext cx="502920" cy="868680"/>
            </a:xfrm>
            <a:prstGeom prst="line">
              <a:avLst/>
            </a:prstGeom>
            <a:ln w="28575">
              <a:solidFill>
                <a:srgbClr val="F28C28"/>
              </a:solidFill>
            </a:ln>
          </p:spPr>
        </p:cxnSp>
        <p:sp>
          <p:nvSpPr>
            <p:cNvPr id="16" name="leader dot"/>
            <p:cNvSpPr/>
            <p:nvPr/>
          </p:nvSpPr>
          <p:spPr>
            <a:xfrm>
              <a:off x="9939528" y="3127248"/>
              <a:ext cx="146304" cy="146304"/>
            </a:xfrm>
            <a:prstGeom prst="ellipse">
              <a:avLst/>
            </a:prstGeom>
            <a:solidFill>
              <a:srgbClr val="F28C28"/>
            </a:solidFill>
            <a:ln>
              <a:noFill/>
            </a:ln>
          </p:spPr>
          <p:txBody>
            <a:bodyPr rtlCol="0" anchor="ctr"/>
            <a:lstStyle/>
            <a:p>
              <a:pPr algn="ctr"/>
            </a:p>
          </p:txBody>
        </p:sp>
      </p:grpSp>
      <p:sp>
        <p:nvSpPr>
          <p:cNvPr id="17" name="CREDIT"/>
          <p:cNvSpPr txBox="1"/>
          <p:nvPr/>
        </p:nvSpPr>
        <p:spPr>
          <a:xfrm>
            <a:off x="548640" y="4937759"/>
            <a:ext cx="5303520" cy="219456"/>
          </a:xfrm>
          <a:prstGeom prst="rect">
            <a:avLst/>
          </a:prstGeom>
          <a:noFill/>
        </p:spPr>
        <p:txBody>
          <a:bodyPr wrap="square" anchor="t" lIns="0" tIns="0" rIns="0" bIns="0">
            <a:noAutofit/>
          </a:bodyPr>
          <a:lstStyle/>
          <a:p>
            <a:pPr algn="l"/>
            <a:r>
              <a:rPr sz="1000" b="0" i="0" lang="en-GB">
                <a:solidFill>
                  <a:srgbClr val="A9B0B8"/>
                </a:solidFill>
                <a:latin typeface="Arial"/>
              </a:rPr>
              <a:t>www.mgaylard.co.uk, CC BY 2.0. BR Standard Class 5 No. 73082.</a:t>
            </a:r>
          </a:p>
        </p:txBody>
      </p:sp>
      <p:sp>
        <p:nvSpPr>
          <p:cNvPr id="18" name="CREDIT"/>
          <p:cNvSpPr txBox="1"/>
          <p:nvPr/>
        </p:nvSpPr>
        <p:spPr>
          <a:xfrm>
            <a:off x="6336792" y="4937759"/>
            <a:ext cx="5303520" cy="219456"/>
          </a:xfrm>
          <a:prstGeom prst="rect">
            <a:avLst/>
          </a:prstGeom>
          <a:noFill/>
        </p:spPr>
        <p:txBody>
          <a:bodyPr wrap="square" anchor="t" lIns="0" tIns="0" rIns="0" bIns="0">
            <a:noAutofit/>
          </a:bodyPr>
          <a:lstStyle/>
          <a:p>
            <a:pPr algn="l"/>
            <a:r>
              <a:rPr sz="1000" b="0" i="0" lang="en-GB">
                <a:solidFill>
                  <a:srgbClr val="A9B0B8"/>
                </a:solidFill>
                <a:latin typeface="Arial"/>
              </a:rPr>
              <a:t>www.mgaylard.co.uk, CC BY 2.0. BR Standard Class 4 No. 80151.</a:t>
            </a:r>
          </a:p>
        </p:txBody>
      </p:sp>
      <p:sp>
        <p:nvSpPr>
          <p:cNvPr id="1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1"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tender engine pulls a coal and water wagon. A tank engine carries both itself.</a:t>
            </a:r>
          </a:p>
        </p:txBody>
      </p:sp>
      <p:sp>
        <p:nvSpPr>
          <p:cNvPr id="2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1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5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Taking on water</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pic>
        <p:nvPicPr>
          <p:cNvPr id="4" name="P06_water_crane_didcot" descr="A water crane at Didcot Railway Centre."/>
          <p:cNvPicPr>
            <a:picLocks noChangeAspect="1"/>
          </p:cNvPicPr>
          <p:nvPr/>
        </p:nvPicPr>
        <p:blipFill>
          <a:blip r:embed="rId2"/>
          <a:srcRect b="34037"/>
          <a:stretch>
            <a:fillRect/>
          </a:stretch>
        </p:blipFill>
        <p:spPr>
          <a:xfrm>
            <a:off x="548640" y="1325880"/>
            <a:ext cx="3383280" cy="4023360"/>
          </a:xfrm>
          <a:prstGeom prst="roundRect">
            <a:avLst>
              <a:gd name="adj" fmla="val 2162"/>
            </a:avLst>
          </a:prstGeom>
        </p:spPr>
      </p:pic>
      <p:sp>
        <p:nvSpPr>
          <p:cNvPr id="5" name="CREDIT"/>
          <p:cNvSpPr txBox="1"/>
          <p:nvPr/>
        </p:nvSpPr>
        <p:spPr>
          <a:xfrm>
            <a:off x="548640" y="5394960"/>
            <a:ext cx="3383280" cy="219456"/>
          </a:xfrm>
          <a:prstGeom prst="rect">
            <a:avLst/>
          </a:prstGeom>
          <a:noFill/>
        </p:spPr>
        <p:txBody>
          <a:bodyPr wrap="square" anchor="t" lIns="0" tIns="0" rIns="0" bIns="0">
            <a:noAutofit/>
          </a:bodyPr>
          <a:lstStyle/>
          <a:p>
            <a:pPr algn="l"/>
            <a:r>
              <a:rPr sz="1000" b="0" i="0" lang="en-GB">
                <a:solidFill>
                  <a:srgbClr val="A9B0B8"/>
                </a:solidFill>
                <a:latin typeface="Arial"/>
              </a:rPr>
              <a:t>Barry Skeates, CC BY 2.0. A water crane, Didcot.</a:t>
            </a:r>
          </a:p>
        </p:txBody>
      </p:sp>
      <p:grpSp>
        <p:nvGrpSpPr>
          <p:cNvPr id="6" name="Water tower and crane" descr="A water tank on legs feeds a pipe down to a crane. The crane arm swings over the tender hatch and water flows down by gravity."/>
          <p:cNvGrpSpPr/>
          <p:nvPr/>
        </p:nvGrpSpPr>
        <p:grpSpPr>
          <a:xfrm>
            <a:off x="4480560" y="1325880"/>
            <a:ext cx="5303520" cy="3447288"/>
            <a:chOff x="4480560" y="1325880"/>
            <a:chExt cx="5303520" cy="3447288"/>
          </a:xfrm>
        </p:grpSpPr>
        <p:sp>
          <p:nvSpPr>
            <p:cNvPr id="7" name="tank"/>
            <p:cNvSpPr/>
            <p:nvPr/>
          </p:nvSpPr>
          <p:spPr>
            <a:xfrm>
              <a:off x="4480560" y="1554480"/>
              <a:ext cx="1737360" cy="1097280"/>
            </a:xfrm>
            <a:prstGeom prst="roundRect">
              <a:avLst>
                <a:gd name="adj" fmla="val 10000"/>
              </a:avLst>
            </a:prstGeom>
            <a:solidFill>
              <a:srgbClr val="4DA3FF"/>
            </a:solidFill>
            <a:ln w="25400">
              <a:solidFill>
                <a:srgbClr val="FFFFFF"/>
              </a:solidFill>
            </a:ln>
          </p:spPr>
          <p:txBody>
            <a:bodyPr rtlCol="0" anchor="ctr" wrap="square" lIns="54864" tIns="27432" rIns="54864" bIns="27432">
              <a:noAutofit/>
            </a:bodyPr>
            <a:lstStyle/>
            <a:p>
              <a:pPr algn="ctr"/>
              <a:r>
                <a:rPr sz="1400" b="1" i="0" lang="en-GB">
                  <a:solidFill>
                    <a:srgbClr val="101418"/>
                  </a:solidFill>
                  <a:latin typeface="Arial"/>
                </a:rPr>
                <a:t>Water tank</a:t>
              </a:r>
            </a:p>
          </p:txBody>
        </p:sp>
        <p:sp>
          <p:nvSpPr>
            <p:cNvPr id="8" name="leg"/>
            <p:cNvSpPr/>
            <p:nvPr/>
          </p:nvSpPr>
          <p:spPr>
            <a:xfrm>
              <a:off x="4572000" y="2651760"/>
              <a:ext cx="91440" cy="1463040"/>
            </a:xfrm>
            <a:prstGeom prst="rect">
              <a:avLst/>
            </a:prstGeom>
            <a:solidFill>
              <a:srgbClr val="9AA0A6"/>
            </a:solidFill>
            <a:ln>
              <a:noFill/>
            </a:ln>
          </p:spPr>
          <p:txBody>
            <a:bodyPr rtlCol="0" anchor="ctr"/>
            <a:lstStyle/>
            <a:p>
              <a:pPr algn="ctr"/>
            </a:p>
          </p:txBody>
        </p:sp>
        <p:sp>
          <p:nvSpPr>
            <p:cNvPr id="9" name="leg"/>
            <p:cNvSpPr/>
            <p:nvPr/>
          </p:nvSpPr>
          <p:spPr>
            <a:xfrm>
              <a:off x="4937760" y="2651760"/>
              <a:ext cx="91440" cy="1463040"/>
            </a:xfrm>
            <a:prstGeom prst="rect">
              <a:avLst/>
            </a:prstGeom>
            <a:solidFill>
              <a:srgbClr val="9AA0A6"/>
            </a:solidFill>
            <a:ln>
              <a:noFill/>
            </a:ln>
          </p:spPr>
          <p:txBody>
            <a:bodyPr rtlCol="0" anchor="ctr"/>
            <a:lstStyle/>
            <a:p>
              <a:pPr algn="ctr"/>
            </a:p>
          </p:txBody>
        </p:sp>
        <p:sp>
          <p:nvSpPr>
            <p:cNvPr id="10" name="leg"/>
            <p:cNvSpPr/>
            <p:nvPr/>
          </p:nvSpPr>
          <p:spPr>
            <a:xfrm>
              <a:off x="5669280" y="2651760"/>
              <a:ext cx="91440" cy="1463040"/>
            </a:xfrm>
            <a:prstGeom prst="rect">
              <a:avLst/>
            </a:prstGeom>
            <a:solidFill>
              <a:srgbClr val="9AA0A6"/>
            </a:solidFill>
            <a:ln>
              <a:noFill/>
            </a:ln>
          </p:spPr>
          <p:txBody>
            <a:bodyPr rtlCol="0" anchor="ctr"/>
            <a:lstStyle/>
            <a:p>
              <a:pPr algn="ctr"/>
            </a:p>
          </p:txBody>
        </p:sp>
        <p:sp>
          <p:nvSpPr>
            <p:cNvPr id="11" name="leg"/>
            <p:cNvSpPr/>
            <p:nvPr/>
          </p:nvSpPr>
          <p:spPr>
            <a:xfrm>
              <a:off x="6035040" y="2651760"/>
              <a:ext cx="91440" cy="1463040"/>
            </a:xfrm>
            <a:prstGeom prst="rect">
              <a:avLst/>
            </a:prstGeom>
            <a:solidFill>
              <a:srgbClr val="9AA0A6"/>
            </a:solidFill>
            <a:ln>
              <a:noFill/>
            </a:ln>
          </p:spPr>
          <p:txBody>
            <a:bodyPr rtlCol="0" anchor="ctr"/>
            <a:lstStyle/>
            <a:p>
              <a:pPr algn="ctr"/>
            </a:p>
          </p:txBody>
        </p:sp>
        <p:cxnSp>
          <p:nvCxnSpPr>
            <p:cNvPr id="12" name="brace"/>
            <p:cNvCxnSpPr/>
            <p:nvPr/>
          </p:nvCxnSpPr>
          <p:spPr>
            <a:xfrm>
              <a:off x="4617720" y="2743200"/>
              <a:ext cx="1463040" cy="1280160"/>
            </a:xfrm>
            <a:prstGeom prst="line">
              <a:avLst/>
            </a:prstGeom>
            <a:ln w="19050">
              <a:solidFill>
                <a:srgbClr val="9AA0A6"/>
              </a:solidFill>
            </a:ln>
          </p:spPr>
        </p:cxnSp>
        <p:cxnSp>
          <p:nvCxnSpPr>
            <p:cNvPr id="13" name="brace"/>
            <p:cNvCxnSpPr/>
            <p:nvPr/>
          </p:nvCxnSpPr>
          <p:spPr>
            <a:xfrm flipH="1">
              <a:off x="4617720" y="2743200"/>
              <a:ext cx="1463040" cy="1280160"/>
            </a:xfrm>
            <a:prstGeom prst="line">
              <a:avLst/>
            </a:prstGeom>
            <a:ln w="19050">
              <a:solidFill>
                <a:srgbClr val="9AA0A6"/>
              </a:solidFill>
            </a:ln>
          </p:spPr>
        </p:cxnSp>
        <p:sp>
          <p:nvSpPr>
            <p:cNvPr id="14" name="pipe"/>
            <p:cNvSpPr/>
            <p:nvPr/>
          </p:nvSpPr>
          <p:spPr>
            <a:xfrm>
              <a:off x="6217920" y="2359152"/>
              <a:ext cx="822960" cy="109728"/>
            </a:xfrm>
            <a:prstGeom prst="rect">
              <a:avLst/>
            </a:prstGeom>
            <a:solidFill>
              <a:srgbClr val="4DA3FF"/>
            </a:solidFill>
            <a:ln>
              <a:noFill/>
            </a:ln>
          </p:spPr>
          <p:txBody>
            <a:bodyPr rtlCol="0" anchor="ctr"/>
            <a:lstStyle/>
            <a:p>
              <a:pPr algn="ctr"/>
            </a:p>
          </p:txBody>
        </p:sp>
        <p:sp>
          <p:nvSpPr>
            <p:cNvPr id="15" name="crane column"/>
            <p:cNvSpPr/>
            <p:nvPr/>
          </p:nvSpPr>
          <p:spPr>
            <a:xfrm>
              <a:off x="6903720" y="2359152"/>
              <a:ext cx="137160" cy="2331720"/>
            </a:xfrm>
            <a:prstGeom prst="rect">
              <a:avLst/>
            </a:prstGeom>
            <a:solidFill>
              <a:srgbClr val="4DA3FF"/>
            </a:solidFill>
            <a:ln>
              <a:noFill/>
            </a:ln>
          </p:spPr>
          <p:txBody>
            <a:bodyPr rtlCol="0" anchor="ctr"/>
            <a:lstStyle/>
            <a:p>
              <a:pPr algn="ctr"/>
            </a:p>
          </p:txBody>
        </p:sp>
        <p:sp>
          <p:nvSpPr>
            <p:cNvPr id="16" name="swing arm"/>
            <p:cNvSpPr/>
            <p:nvPr/>
          </p:nvSpPr>
          <p:spPr>
            <a:xfrm>
              <a:off x="6903720" y="2743200"/>
              <a:ext cx="1463040" cy="128016"/>
            </a:xfrm>
            <a:prstGeom prst="rect">
              <a:avLst/>
            </a:prstGeom>
            <a:solidFill>
              <a:srgbClr val="4DA3FF"/>
            </a:solidFill>
            <a:ln>
              <a:noFill/>
            </a:ln>
          </p:spPr>
          <p:txBody>
            <a:bodyPr rtlCol="0" anchor="ctr"/>
            <a:lstStyle/>
            <a:p>
              <a:pPr algn="ctr"/>
            </a:p>
          </p:txBody>
        </p:sp>
        <p:sp>
          <p:nvSpPr>
            <p:cNvPr id="17" name="spout"/>
            <p:cNvSpPr/>
            <p:nvPr/>
          </p:nvSpPr>
          <p:spPr>
            <a:xfrm>
              <a:off x="8275320" y="2743200"/>
              <a:ext cx="109728" cy="566928"/>
            </a:xfrm>
            <a:prstGeom prst="rect">
              <a:avLst/>
            </a:prstGeom>
            <a:solidFill>
              <a:srgbClr val="4DA3FF"/>
            </a:solidFill>
            <a:ln>
              <a:noFill/>
            </a:ln>
          </p:spPr>
          <p:txBody>
            <a:bodyPr rtlCol="0" anchor="ctr"/>
            <a:lstStyle/>
            <a:p>
              <a:pPr algn="ctr"/>
            </a:p>
          </p:txBody>
        </p:sp>
        <p:sp>
          <p:nvSpPr>
            <p:cNvPr id="18" name="tender"/>
            <p:cNvSpPr/>
            <p:nvPr/>
          </p:nvSpPr>
          <p:spPr>
            <a:xfrm>
              <a:off x="7269480" y="3611880"/>
              <a:ext cx="2194560" cy="731520"/>
            </a:xfrm>
            <a:prstGeom prst="roundRect">
              <a:avLst>
                <a:gd name="adj" fmla="val 5000"/>
              </a:avLst>
            </a:prstGeom>
            <a:solidFill>
              <a:srgbClr val="9AA0A6"/>
            </a:solidFill>
            <a:ln>
              <a:noFill/>
            </a:ln>
          </p:spPr>
          <p:txBody>
            <a:bodyPr rtlCol="0" anchor="ctr"/>
            <a:lstStyle/>
            <a:p>
              <a:pPr algn="ctr"/>
            </a:p>
          </p:txBody>
        </p:sp>
        <p:sp>
          <p:nvSpPr>
            <p:cNvPr id="19" name="tender label"/>
            <p:cNvSpPr txBox="1"/>
            <p:nvPr/>
          </p:nvSpPr>
          <p:spPr>
            <a:xfrm>
              <a:off x="7269480" y="3977639"/>
              <a:ext cx="914400" cy="320040"/>
            </a:xfrm>
            <a:prstGeom prst="rect">
              <a:avLst/>
            </a:prstGeom>
            <a:noFill/>
          </p:spPr>
          <p:txBody>
            <a:bodyPr wrap="square" anchor="ctr" lIns="18288" tIns="9144" rIns="18288" bIns="9144">
              <a:noAutofit/>
            </a:bodyPr>
            <a:lstStyle/>
            <a:p>
              <a:pPr algn="ctr"/>
              <a:r>
                <a:rPr sz="1400" b="1" i="0" lang="en-GB">
                  <a:solidFill>
                    <a:srgbClr val="101418"/>
                  </a:solidFill>
                  <a:latin typeface="Arial"/>
                </a:rPr>
                <a:t>Tender</a:t>
              </a:r>
            </a:p>
          </p:txBody>
        </p:sp>
        <p:sp>
          <p:nvSpPr>
            <p:cNvPr id="20" name="hatch"/>
            <p:cNvSpPr/>
            <p:nvPr/>
          </p:nvSpPr>
          <p:spPr>
            <a:xfrm>
              <a:off x="8129016" y="3456432"/>
              <a:ext cx="320040" cy="320040"/>
            </a:xfrm>
            <a:prstGeom prst="ellipse">
              <a:avLst/>
            </a:prstGeom>
            <a:solidFill>
              <a:srgbClr val="1B1D21"/>
            </a:solidFill>
            <a:ln w="25400">
              <a:solidFill>
                <a:srgbClr val="F2F2F2"/>
              </a:solidFill>
            </a:ln>
          </p:spPr>
          <p:txBody>
            <a:bodyPr rtlCol="0" anchor="ctr"/>
            <a:lstStyle/>
            <a:p>
              <a:pPr algn="ctr"/>
            </a:p>
          </p:txBody>
        </p:sp>
        <p:sp>
          <p:nvSpPr>
            <p:cNvPr id="21" name="rail"/>
            <p:cNvSpPr/>
            <p:nvPr/>
          </p:nvSpPr>
          <p:spPr>
            <a:xfrm>
              <a:off x="7040880" y="4709160"/>
              <a:ext cx="2743200" cy="64008"/>
            </a:xfrm>
            <a:prstGeom prst="rect">
              <a:avLst/>
            </a:prstGeom>
            <a:solidFill>
              <a:srgbClr val="9AA0A6"/>
            </a:solidFill>
            <a:ln>
              <a:noFill/>
            </a:ln>
          </p:spPr>
          <p:txBody>
            <a:bodyPr rtlCol="0" anchor="ctr"/>
            <a:lstStyle/>
            <a:p>
              <a:pPr algn="ctr"/>
            </a:p>
          </p:txBody>
        </p:sp>
        <p:sp>
          <p:nvSpPr>
            <p:cNvPr id="22" name="wheel"/>
            <p:cNvSpPr/>
            <p:nvPr/>
          </p:nvSpPr>
          <p:spPr>
            <a:xfrm>
              <a:off x="7589520" y="4343400"/>
              <a:ext cx="365760" cy="365760"/>
            </a:xfrm>
            <a:prstGeom prst="ellipse">
              <a:avLst/>
            </a:prstGeom>
            <a:solidFill>
              <a:srgbClr val="1B1D21"/>
            </a:solidFill>
            <a:ln w="25400">
              <a:solidFill>
                <a:srgbClr val="9AA0A6"/>
              </a:solidFill>
            </a:ln>
          </p:spPr>
          <p:txBody>
            <a:bodyPr rtlCol="0" anchor="ctr"/>
            <a:lstStyle/>
            <a:p>
              <a:pPr algn="ctr"/>
            </a:p>
          </p:txBody>
        </p:sp>
        <p:sp>
          <p:nvSpPr>
            <p:cNvPr id="23" name="wheel"/>
            <p:cNvSpPr/>
            <p:nvPr/>
          </p:nvSpPr>
          <p:spPr>
            <a:xfrm>
              <a:off x="8778240" y="4343400"/>
              <a:ext cx="365760" cy="365760"/>
            </a:xfrm>
            <a:prstGeom prst="ellipse">
              <a:avLst/>
            </a:prstGeom>
            <a:solidFill>
              <a:srgbClr val="1B1D21"/>
            </a:solidFill>
            <a:ln w="25400">
              <a:solidFill>
                <a:srgbClr val="9AA0A6"/>
              </a:solidFill>
            </a:ln>
          </p:spPr>
          <p:txBody>
            <a:bodyPr rtlCol="0" anchor="ctr"/>
            <a:lstStyle/>
            <a:p>
              <a:pPr algn="ctr"/>
            </a:p>
          </p:txBody>
        </p:sp>
        <p:cxnSp>
          <p:nvCxnSpPr>
            <p:cNvPr id="24" name="gravity arrow"/>
            <p:cNvCxnSpPr/>
            <p:nvPr/>
          </p:nvCxnSpPr>
          <p:spPr>
            <a:xfrm>
              <a:off x="6629400" y="2926080"/>
              <a:ext cx="0" cy="685800"/>
            </a:xfrm>
            <a:prstGeom prst="line">
              <a:avLst/>
            </a:prstGeom>
            <a:ln w="28575">
              <a:solidFill>
                <a:srgbClr val="F2F2F2"/>
              </a:solidFill>
              <a:tailEnd type="triangle" w="med" len="med"/>
            </a:ln>
          </p:spPr>
        </p:cxnSp>
        <p:cxnSp>
          <p:nvCxnSpPr>
            <p:cNvPr id="25" name="gravity arrow"/>
            <p:cNvCxnSpPr/>
            <p:nvPr/>
          </p:nvCxnSpPr>
          <p:spPr>
            <a:xfrm>
              <a:off x="6766560" y="2926080"/>
              <a:ext cx="0" cy="685800"/>
            </a:xfrm>
            <a:prstGeom prst="line">
              <a:avLst/>
            </a:prstGeom>
            <a:ln w="28575">
              <a:solidFill>
                <a:srgbClr val="F2F2F2"/>
              </a:solidFill>
              <a:tailEnd type="triangle" w="med" len="med"/>
            </a:ln>
          </p:spPr>
        </p:cxnSp>
        <p:sp>
          <p:nvSpPr>
            <p:cNvPr id="26" name="gravity label"/>
            <p:cNvSpPr txBox="1"/>
            <p:nvPr/>
          </p:nvSpPr>
          <p:spPr>
            <a:xfrm>
              <a:off x="5852160" y="3703320"/>
              <a:ext cx="1280160" cy="320040"/>
            </a:xfrm>
            <a:prstGeom prst="rect">
              <a:avLst/>
            </a:prstGeom>
            <a:noFill/>
          </p:spPr>
          <p:txBody>
            <a:bodyPr wrap="square" anchor="ctr" lIns="18288" tIns="9144" rIns="18288" bIns="9144">
              <a:noAutofit/>
            </a:bodyPr>
            <a:lstStyle/>
            <a:p>
              <a:pPr algn="ctr"/>
              <a:r>
                <a:rPr sz="1400" b="1" i="0" lang="en-GB">
                  <a:solidFill>
                    <a:srgbClr val="F2F2F2"/>
                  </a:solidFill>
                  <a:latin typeface="Arial"/>
                </a:rPr>
                <a:t>Gravity</a:t>
              </a:r>
            </a:p>
          </p:txBody>
        </p:sp>
        <p:sp>
          <p:nvSpPr>
            <p:cNvPr id="27" name="swing arrow"/>
            <p:cNvSpPr/>
            <p:nvPr/>
          </p:nvSpPr>
          <p:spPr>
            <a:xfrm>
              <a:off x="6858000" y="1783080"/>
              <a:ext cx="1554480" cy="411480"/>
            </a:xfrm>
            <a:custGeom>
              <a:avLst/>
              <a:gdLst/>
              <a:ahLst/>
              <a:cxnLst/>
              <a:rect l="l" t="t" r="r" b="b"/>
              <a:pathLst>
                <a:path w="1554480" h="411480">
                  <a:moveTo>
                    <a:pt x="0" y="411480"/>
                  </a:moveTo>
                  <a:lnTo>
                    <a:pt x="55517" y="354796"/>
                  </a:lnTo>
                  <a:lnTo>
                    <a:pt x="111034" y="302311"/>
                  </a:lnTo>
                  <a:lnTo>
                    <a:pt x="166551" y="254025"/>
                  </a:lnTo>
                  <a:lnTo>
                    <a:pt x="222068" y="209938"/>
                  </a:lnTo>
                  <a:lnTo>
                    <a:pt x="277585" y="170050"/>
                  </a:lnTo>
                  <a:lnTo>
                    <a:pt x="333102" y="134360"/>
                  </a:lnTo>
                  <a:lnTo>
                    <a:pt x="388620" y="102870"/>
                  </a:lnTo>
                  <a:lnTo>
                    <a:pt x="444137" y="75577"/>
                  </a:lnTo>
                  <a:lnTo>
                    <a:pt x="499654" y="52484"/>
                  </a:lnTo>
                  <a:lnTo>
                    <a:pt x="555171" y="33590"/>
                  </a:lnTo>
                  <a:lnTo>
                    <a:pt x="610688" y="18894"/>
                  </a:lnTo>
                  <a:lnTo>
                    <a:pt x="666205" y="8397"/>
                  </a:lnTo>
                  <a:lnTo>
                    <a:pt x="721722" y="2099"/>
                  </a:lnTo>
                  <a:lnTo>
                    <a:pt x="777240" y="0"/>
                  </a:lnTo>
                  <a:lnTo>
                    <a:pt x="832757" y="2099"/>
                  </a:lnTo>
                  <a:lnTo>
                    <a:pt x="888274" y="8397"/>
                  </a:lnTo>
                  <a:lnTo>
                    <a:pt x="943791" y="18894"/>
                  </a:lnTo>
                  <a:lnTo>
                    <a:pt x="999308" y="33590"/>
                  </a:lnTo>
                  <a:lnTo>
                    <a:pt x="1054825" y="52484"/>
                  </a:lnTo>
                  <a:lnTo>
                    <a:pt x="1110342" y="75577"/>
                  </a:lnTo>
                  <a:lnTo>
                    <a:pt x="1165859" y="102870"/>
                  </a:lnTo>
                  <a:lnTo>
                    <a:pt x="1221377" y="134360"/>
                  </a:lnTo>
                  <a:lnTo>
                    <a:pt x="1276894" y="170050"/>
                  </a:lnTo>
                  <a:lnTo>
                    <a:pt x="1332411" y="209938"/>
                  </a:lnTo>
                  <a:lnTo>
                    <a:pt x="1387928" y="254025"/>
                  </a:lnTo>
                  <a:lnTo>
                    <a:pt x="1443445" y="302311"/>
                  </a:lnTo>
                  <a:lnTo>
                    <a:pt x="1498962" y="354796"/>
                  </a:lnTo>
                  <a:lnTo>
                    <a:pt x="1554480" y="411480"/>
                  </a:lnTo>
                </a:path>
              </a:pathLst>
            </a:custGeom>
            <a:noFill/>
            <a:ln w="31750">
              <a:solidFill>
                <a:srgbClr val="F28C28"/>
              </a:solidFill>
              <a:tailEnd type="triangle" w="med" len="med"/>
            </a:ln>
          </p:spPr>
          <p:txBody>
            <a:bodyPr rtlCol="0" anchor="ctr"/>
            <a:lstStyle/>
            <a:p>
              <a:pPr algn="ctr"/>
            </a:p>
          </p:txBody>
        </p:sp>
        <p:sp>
          <p:nvSpPr>
            <p:cNvPr id="28" name="swing label"/>
            <p:cNvSpPr txBox="1"/>
            <p:nvPr/>
          </p:nvSpPr>
          <p:spPr>
            <a:xfrm>
              <a:off x="6583680" y="1325880"/>
              <a:ext cx="3017520" cy="365760"/>
            </a:xfrm>
            <a:prstGeom prst="rect">
              <a:avLst/>
            </a:prstGeom>
            <a:noFill/>
          </p:spPr>
          <p:txBody>
            <a:bodyPr wrap="square" anchor="ctr" lIns="18288" tIns="9144" rIns="18288" bIns="9144">
              <a:noAutofit/>
            </a:bodyPr>
            <a:lstStyle/>
            <a:p>
              <a:pPr algn="ctr"/>
              <a:r>
                <a:rPr sz="1400" b="1" i="0" lang="en-GB">
                  <a:solidFill>
                    <a:srgbClr val="F28C28"/>
                  </a:solidFill>
                  <a:latin typeface="Arial"/>
                </a:rPr>
                <a:t>Arm swings over the hatch</a:t>
              </a:r>
            </a:p>
          </p:txBody>
        </p:sp>
      </p:grpSp>
      <p:pic>
        <p:nvPicPr>
          <p:cNvPr id="29" name="P07_water_tower_signal" descr="A water tower with a signal beside it."/>
          <p:cNvPicPr>
            <a:picLocks noChangeAspect="1"/>
          </p:cNvPicPr>
          <p:nvPr/>
        </p:nvPicPr>
        <p:blipFill>
          <a:blip r:embed="rId3"/>
          <a:srcRect t="17258" b="35040"/>
          <a:stretch>
            <a:fillRect/>
          </a:stretch>
        </p:blipFill>
        <p:spPr>
          <a:xfrm>
            <a:off x="9601200" y="3566160"/>
            <a:ext cx="2039112" cy="1463040"/>
          </a:xfrm>
          <a:prstGeom prst="roundRect">
            <a:avLst>
              <a:gd name="adj" fmla="val 5000"/>
            </a:avLst>
          </a:prstGeom>
        </p:spPr>
      </p:pic>
      <p:sp>
        <p:nvSpPr>
          <p:cNvPr id="30" name="CREDIT"/>
          <p:cNvSpPr txBox="1"/>
          <p:nvPr/>
        </p:nvSpPr>
        <p:spPr>
          <a:xfrm>
            <a:off x="9601200" y="5056632"/>
            <a:ext cx="2039112" cy="219456"/>
          </a:xfrm>
          <a:prstGeom prst="rect">
            <a:avLst/>
          </a:prstGeom>
          <a:noFill/>
        </p:spPr>
        <p:txBody>
          <a:bodyPr wrap="square" anchor="t" lIns="0" tIns="0" rIns="0" bIns="0">
            <a:noAutofit/>
          </a:bodyPr>
          <a:lstStyle/>
          <a:p>
            <a:pPr algn="l"/>
            <a:r>
              <a:rPr sz="1000" b="0" i="0" lang="en-GB">
                <a:solidFill>
                  <a:srgbClr val="A9B0B8"/>
                </a:solidFill>
                <a:latin typeface="Arial"/>
              </a:rPr>
              <a:t>David Merrett, CC BY 2.0</a:t>
            </a:r>
          </a:p>
        </p:txBody>
      </p:sp>
      <p:sp>
        <p:nvSpPr>
          <p:cNvPr id="3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2"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3"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water crane swings over the engine. Water flows down from a tank above.</a:t>
            </a:r>
          </a:p>
        </p:txBody>
      </p:sp>
      <p:sp>
        <p:nvSpPr>
          <p:cNvPr id="34"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12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150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Taking on coal</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pic>
        <p:nvPicPr>
          <p:cNvPr id="4" name="P08_coaling_stage_didcot" descr="A raised coaling stage at the Great Western Society site, Didcot."/>
          <p:cNvPicPr>
            <a:picLocks noChangeAspect="1"/>
          </p:cNvPicPr>
          <p:nvPr/>
        </p:nvPicPr>
        <p:blipFill>
          <a:blip r:embed="rId2"/>
          <a:srcRect l="8636" r="12955"/>
          <a:stretch>
            <a:fillRect/>
          </a:stretch>
        </p:blipFill>
        <p:spPr>
          <a:xfrm>
            <a:off x="548640" y="1325880"/>
            <a:ext cx="4206240" cy="4023360"/>
          </a:xfrm>
          <a:prstGeom prst="roundRect">
            <a:avLst>
              <a:gd name="adj" fmla="val 1818"/>
            </a:avLst>
          </a:prstGeom>
        </p:spPr>
      </p:pic>
      <p:sp>
        <p:nvSpPr>
          <p:cNvPr id="5" name="CREDIT"/>
          <p:cNvSpPr txBox="1"/>
          <p:nvPr/>
        </p:nvSpPr>
        <p:spPr>
          <a:xfrm>
            <a:off x="548640" y="5394960"/>
            <a:ext cx="4206240" cy="219456"/>
          </a:xfrm>
          <a:prstGeom prst="rect">
            <a:avLst/>
          </a:prstGeom>
          <a:noFill/>
        </p:spPr>
        <p:txBody>
          <a:bodyPr wrap="square" anchor="t" lIns="0" tIns="0" rIns="0" bIns="0">
            <a:noAutofit/>
          </a:bodyPr>
          <a:lstStyle/>
          <a:p>
            <a:pPr algn="l"/>
            <a:r>
              <a:rPr sz="1000" b="0" i="0" lang="en-GB">
                <a:solidFill>
                  <a:srgbClr val="A9B0B8"/>
                </a:solidFill>
                <a:latin typeface="Arial"/>
              </a:rPr>
              <a:t>Gillett's Crossing, CC BY 2.0. A coaling stage, Didcot.</a:t>
            </a:r>
          </a:p>
        </p:txBody>
      </p:sp>
      <p:grpSp>
        <p:nvGrpSpPr>
          <p:cNvPr id="6" name="Coal stage and coaling tower" descr="Two ways to fill a tender with coal. A coal stage is a raised platform with a chute. A coaling tower has a hopper above the tender. Gravity does the work."/>
          <p:cNvGrpSpPr/>
          <p:nvPr/>
        </p:nvGrpSpPr>
        <p:grpSpPr>
          <a:xfrm>
            <a:off x="5029200" y="1280160"/>
            <a:ext cx="6583680" cy="4297680"/>
            <a:chOff x="5029200" y="1280160"/>
            <a:chExt cx="6583680" cy="4297680"/>
          </a:xfrm>
        </p:grpSpPr>
        <p:sp>
          <p:nvSpPr>
            <p:cNvPr id="7" name="diagram title"/>
            <p:cNvSpPr txBox="1"/>
            <p:nvPr/>
          </p:nvSpPr>
          <p:spPr>
            <a:xfrm>
              <a:off x="5029200" y="1280160"/>
              <a:ext cx="2743200" cy="320040"/>
            </a:xfrm>
            <a:prstGeom prst="rect">
              <a:avLst/>
            </a:prstGeom>
            <a:noFill/>
          </p:spPr>
          <p:txBody>
            <a:bodyPr wrap="square" anchor="ctr" lIns="18288" tIns="9144" rIns="18288" bIns="9144">
              <a:noAutofit/>
            </a:bodyPr>
            <a:lstStyle/>
            <a:p>
              <a:pPr algn="l"/>
              <a:r>
                <a:rPr sz="1800" b="1" i="0" lang="en-GB">
                  <a:solidFill>
                    <a:srgbClr val="F28C28"/>
                  </a:solidFill>
                  <a:latin typeface="Arial"/>
                </a:rPr>
                <a:t>Coal stage</a:t>
              </a:r>
            </a:p>
          </p:txBody>
        </p:sp>
        <p:sp>
          <p:nvSpPr>
            <p:cNvPr id="8" name="rail"/>
            <p:cNvSpPr/>
            <p:nvPr/>
          </p:nvSpPr>
          <p:spPr>
            <a:xfrm>
              <a:off x="5029200" y="2971800"/>
              <a:ext cx="6583680" cy="64008"/>
            </a:xfrm>
            <a:prstGeom prst="rect">
              <a:avLst/>
            </a:prstGeom>
            <a:solidFill>
              <a:srgbClr val="9AA0A6"/>
            </a:solidFill>
            <a:ln>
              <a:noFill/>
            </a:ln>
          </p:spPr>
          <p:txBody>
            <a:bodyPr rtlCol="0" anchor="ctr"/>
            <a:lstStyle/>
            <a:p>
              <a:pPr algn="ctr"/>
            </a:p>
          </p:txBody>
        </p:sp>
        <p:sp>
          <p:nvSpPr>
            <p:cNvPr id="9" name="coal heap"/>
            <p:cNvSpPr/>
            <p:nvPr/>
          </p:nvSpPr>
          <p:spPr>
            <a:xfrm>
              <a:off x="5486400" y="1645920"/>
              <a:ext cx="1920240" cy="365760"/>
            </a:xfrm>
            <a:custGeom>
              <a:avLst/>
              <a:gdLst/>
              <a:ahLst/>
              <a:cxnLst/>
              <a:rect l="l" t="t" r="r" b="b"/>
              <a:pathLst>
                <a:path w="1920240" h="365760">
                  <a:moveTo>
                    <a:pt x="0" y="365760"/>
                  </a:moveTo>
                  <a:lnTo>
                    <a:pt x="457200" y="137160"/>
                  </a:lnTo>
                  <a:lnTo>
                    <a:pt x="822960" y="0"/>
                  </a:lnTo>
                  <a:lnTo>
                    <a:pt x="1188720" y="91440"/>
                  </a:lnTo>
                  <a:lnTo>
                    <a:pt x="1554480" y="45720"/>
                  </a:lnTo>
                  <a:lnTo>
                    <a:pt x="1920240" y="365760"/>
                  </a:lnTo>
                  <a:close/>
                </a:path>
              </a:pathLst>
            </a:custGeom>
            <a:solidFill>
              <a:srgbClr val="1B1D21"/>
            </a:solidFill>
            <a:ln w="25400">
              <a:solidFill>
                <a:srgbClr val="B5BBC2"/>
              </a:solidFill>
            </a:ln>
          </p:spPr>
          <p:txBody>
            <a:bodyPr rtlCol="0" anchor="ctr"/>
            <a:lstStyle/>
            <a:p>
              <a:pPr algn="ctr"/>
            </a:p>
          </p:txBody>
        </p:sp>
        <p:sp>
          <p:nvSpPr>
            <p:cNvPr id="10" name="platform"/>
            <p:cNvSpPr/>
            <p:nvPr/>
          </p:nvSpPr>
          <p:spPr>
            <a:xfrm>
              <a:off x="5120640" y="2011680"/>
              <a:ext cx="2926080" cy="128016"/>
            </a:xfrm>
            <a:prstGeom prst="rect">
              <a:avLst/>
            </a:prstGeom>
            <a:solidFill>
              <a:srgbClr val="9AA0A6"/>
            </a:solidFill>
            <a:ln>
              <a:noFill/>
            </a:ln>
          </p:spPr>
          <p:txBody>
            <a:bodyPr rtlCol="0" anchor="ctr"/>
            <a:lstStyle/>
            <a:p>
              <a:pPr algn="ctr"/>
            </a:p>
          </p:txBody>
        </p:sp>
        <p:sp>
          <p:nvSpPr>
            <p:cNvPr id="11" name="post"/>
            <p:cNvSpPr/>
            <p:nvPr/>
          </p:nvSpPr>
          <p:spPr>
            <a:xfrm>
              <a:off x="5212080" y="2139696"/>
              <a:ext cx="91440" cy="832104"/>
            </a:xfrm>
            <a:prstGeom prst="rect">
              <a:avLst/>
            </a:prstGeom>
            <a:solidFill>
              <a:srgbClr val="9AA0A6"/>
            </a:solidFill>
            <a:ln>
              <a:noFill/>
            </a:ln>
          </p:spPr>
          <p:txBody>
            <a:bodyPr rtlCol="0" anchor="ctr"/>
            <a:lstStyle/>
            <a:p>
              <a:pPr algn="ctr"/>
            </a:p>
          </p:txBody>
        </p:sp>
        <p:sp>
          <p:nvSpPr>
            <p:cNvPr id="12" name="post"/>
            <p:cNvSpPr/>
            <p:nvPr/>
          </p:nvSpPr>
          <p:spPr>
            <a:xfrm>
              <a:off x="6126480" y="2139696"/>
              <a:ext cx="91440" cy="832104"/>
            </a:xfrm>
            <a:prstGeom prst="rect">
              <a:avLst/>
            </a:prstGeom>
            <a:solidFill>
              <a:srgbClr val="9AA0A6"/>
            </a:solidFill>
            <a:ln>
              <a:noFill/>
            </a:ln>
          </p:spPr>
          <p:txBody>
            <a:bodyPr rtlCol="0" anchor="ctr"/>
            <a:lstStyle/>
            <a:p>
              <a:pPr algn="ctr"/>
            </a:p>
          </p:txBody>
        </p:sp>
        <p:sp>
          <p:nvSpPr>
            <p:cNvPr id="13" name="post"/>
            <p:cNvSpPr/>
            <p:nvPr/>
          </p:nvSpPr>
          <p:spPr>
            <a:xfrm>
              <a:off x="7040880" y="2139696"/>
              <a:ext cx="91440" cy="832104"/>
            </a:xfrm>
            <a:prstGeom prst="rect">
              <a:avLst/>
            </a:prstGeom>
            <a:solidFill>
              <a:srgbClr val="9AA0A6"/>
            </a:solidFill>
            <a:ln>
              <a:noFill/>
            </a:ln>
          </p:spPr>
          <p:txBody>
            <a:bodyPr rtlCol="0" anchor="ctr"/>
            <a:lstStyle/>
            <a:p>
              <a:pPr algn="ctr"/>
            </a:p>
          </p:txBody>
        </p:sp>
        <p:sp>
          <p:nvSpPr>
            <p:cNvPr id="14" name="post"/>
            <p:cNvSpPr/>
            <p:nvPr/>
          </p:nvSpPr>
          <p:spPr>
            <a:xfrm>
              <a:off x="7863840" y="2139696"/>
              <a:ext cx="91440" cy="832104"/>
            </a:xfrm>
            <a:prstGeom prst="rect">
              <a:avLst/>
            </a:prstGeom>
            <a:solidFill>
              <a:srgbClr val="9AA0A6"/>
            </a:solidFill>
            <a:ln>
              <a:noFill/>
            </a:ln>
          </p:spPr>
          <p:txBody>
            <a:bodyPr rtlCol="0" anchor="ctr"/>
            <a:lstStyle/>
            <a:p>
              <a:pPr algn="ctr"/>
            </a:p>
          </p:txBody>
        </p:sp>
        <p:sp>
          <p:nvSpPr>
            <p:cNvPr id="15" name="chute"/>
            <p:cNvSpPr/>
            <p:nvPr/>
          </p:nvSpPr>
          <p:spPr>
            <a:xfrm>
              <a:off x="8046720" y="2011680"/>
              <a:ext cx="1280160" cy="493776"/>
            </a:xfrm>
            <a:custGeom>
              <a:avLst/>
              <a:gdLst/>
              <a:ahLst/>
              <a:cxnLst/>
              <a:rect l="l" t="t" r="r" b="b"/>
              <a:pathLst>
                <a:path w="1280160" h="493776">
                  <a:moveTo>
                    <a:pt x="0" y="0"/>
                  </a:moveTo>
                  <a:lnTo>
                    <a:pt x="1280160" y="365760"/>
                  </a:lnTo>
                  <a:lnTo>
                    <a:pt x="1280160" y="493776"/>
                  </a:lnTo>
                  <a:lnTo>
                    <a:pt x="0" y="128016"/>
                  </a:lnTo>
                  <a:close/>
                </a:path>
              </a:pathLst>
            </a:custGeom>
            <a:solidFill>
              <a:srgbClr val="6C7480"/>
            </a:solidFill>
            <a:ln w="19050">
              <a:solidFill>
                <a:srgbClr val="9AA0A6"/>
              </a:solidFill>
            </a:ln>
          </p:spPr>
          <p:txBody>
            <a:bodyPr rtlCol="0" anchor="ctr"/>
            <a:lstStyle/>
            <a:p>
              <a:pPr algn="ctr"/>
            </a:p>
          </p:txBody>
        </p:sp>
        <p:sp>
          <p:nvSpPr>
            <p:cNvPr id="16" name="tender"/>
            <p:cNvSpPr/>
            <p:nvPr/>
          </p:nvSpPr>
          <p:spPr>
            <a:xfrm>
              <a:off x="8412480" y="2560320"/>
              <a:ext cx="2011680" cy="411480"/>
            </a:xfrm>
            <a:prstGeom prst="roundRect">
              <a:avLst>
                <a:gd name="adj" fmla="val 8888"/>
              </a:avLst>
            </a:prstGeom>
            <a:solidFill>
              <a:srgbClr val="9AA0A6"/>
            </a:solidFill>
            <a:ln>
              <a:noFill/>
            </a:ln>
          </p:spPr>
          <p:txBody>
            <a:bodyPr rtlCol="0" anchor="ctr"/>
            <a:lstStyle/>
            <a:p>
              <a:pPr algn="ctr"/>
            </a:p>
          </p:txBody>
        </p:sp>
        <p:sp>
          <p:nvSpPr>
            <p:cNvPr id="17" name="coal in tender"/>
            <p:cNvSpPr/>
            <p:nvPr/>
          </p:nvSpPr>
          <p:spPr>
            <a:xfrm>
              <a:off x="8503920" y="2514600"/>
              <a:ext cx="1828800" cy="73152"/>
            </a:xfrm>
            <a:prstGeom prst="rect">
              <a:avLst/>
            </a:prstGeom>
            <a:solidFill>
              <a:srgbClr val="1B1D21"/>
            </a:solidFill>
            <a:ln w="12700">
              <a:solidFill>
                <a:srgbClr val="6B7078"/>
              </a:solidFill>
            </a:ln>
          </p:spPr>
          <p:txBody>
            <a:bodyPr rtlCol="0" anchor="ctr"/>
            <a:lstStyle/>
            <a:p>
              <a:pPr algn="ctr"/>
            </a:p>
          </p:txBody>
        </p:sp>
        <p:sp>
          <p:nvSpPr>
            <p:cNvPr id="18" name="wheel"/>
            <p:cNvSpPr/>
            <p:nvPr/>
          </p:nvSpPr>
          <p:spPr>
            <a:xfrm>
              <a:off x="8631936" y="2834640"/>
              <a:ext cx="292608" cy="292608"/>
            </a:xfrm>
            <a:prstGeom prst="ellipse">
              <a:avLst/>
            </a:prstGeom>
            <a:solidFill>
              <a:srgbClr val="1B1D21"/>
            </a:solidFill>
            <a:ln w="19050">
              <a:solidFill>
                <a:srgbClr val="9AA0A6"/>
              </a:solidFill>
            </a:ln>
          </p:spPr>
          <p:txBody>
            <a:bodyPr rtlCol="0" anchor="ctr"/>
            <a:lstStyle/>
            <a:p>
              <a:pPr algn="ctr"/>
            </a:p>
          </p:txBody>
        </p:sp>
        <p:sp>
          <p:nvSpPr>
            <p:cNvPr id="19" name="wheel"/>
            <p:cNvSpPr/>
            <p:nvPr/>
          </p:nvSpPr>
          <p:spPr>
            <a:xfrm>
              <a:off x="9912096" y="2834640"/>
              <a:ext cx="292608" cy="292608"/>
            </a:xfrm>
            <a:prstGeom prst="ellipse">
              <a:avLst/>
            </a:prstGeom>
            <a:solidFill>
              <a:srgbClr val="1B1D21"/>
            </a:solidFill>
            <a:ln w="19050">
              <a:solidFill>
                <a:srgbClr val="9AA0A6"/>
              </a:solidFill>
            </a:ln>
          </p:spPr>
          <p:txBody>
            <a:bodyPr rtlCol="0" anchor="ctr"/>
            <a:lstStyle/>
            <a:p>
              <a:pPr algn="ctr"/>
            </a:p>
          </p:txBody>
        </p:sp>
        <p:cxnSp>
          <p:nvCxnSpPr>
            <p:cNvPr id="20" name="gravity arrow"/>
            <p:cNvCxnSpPr/>
            <p:nvPr/>
          </p:nvCxnSpPr>
          <p:spPr>
            <a:xfrm>
              <a:off x="8366760" y="1828800"/>
              <a:ext cx="685800" cy="201168"/>
            </a:xfrm>
            <a:prstGeom prst="line">
              <a:avLst/>
            </a:prstGeom>
            <a:ln w="28575">
              <a:solidFill>
                <a:srgbClr val="F2F2F2"/>
              </a:solidFill>
              <a:tailEnd type="triangle" w="med" len="med"/>
            </a:ln>
          </p:spPr>
        </p:cxnSp>
        <p:sp>
          <p:nvSpPr>
            <p:cNvPr id="21" name="gravity label"/>
            <p:cNvSpPr txBox="1"/>
            <p:nvPr/>
          </p:nvSpPr>
          <p:spPr>
            <a:xfrm>
              <a:off x="7863840" y="1371600"/>
              <a:ext cx="1463040" cy="365760"/>
            </a:xfrm>
            <a:prstGeom prst="rect">
              <a:avLst/>
            </a:prstGeom>
            <a:noFill/>
          </p:spPr>
          <p:txBody>
            <a:bodyPr wrap="square" anchor="ctr" lIns="18288" tIns="9144" rIns="18288" bIns="9144">
              <a:noAutofit/>
            </a:bodyPr>
            <a:lstStyle/>
            <a:p>
              <a:pPr algn="ctr"/>
              <a:r>
                <a:rPr sz="1400" b="1" i="0" lang="en-GB">
                  <a:solidFill>
                    <a:srgbClr val="F2F2F2"/>
                  </a:solidFill>
                  <a:latin typeface="Arial"/>
                </a:rPr>
                <a:t>Gravity</a:t>
              </a:r>
            </a:p>
          </p:txBody>
        </p:sp>
        <p:sp>
          <p:nvSpPr>
            <p:cNvPr id="22" name="diagram title"/>
            <p:cNvSpPr txBox="1"/>
            <p:nvPr/>
          </p:nvSpPr>
          <p:spPr>
            <a:xfrm>
              <a:off x="5029200" y="3200400"/>
              <a:ext cx="2743200" cy="320040"/>
            </a:xfrm>
            <a:prstGeom prst="rect">
              <a:avLst/>
            </a:prstGeom>
            <a:noFill/>
          </p:spPr>
          <p:txBody>
            <a:bodyPr wrap="square" anchor="ctr" lIns="18288" tIns="9144" rIns="18288" bIns="9144">
              <a:noAutofit/>
            </a:bodyPr>
            <a:lstStyle/>
            <a:p>
              <a:pPr algn="l"/>
              <a:r>
                <a:rPr sz="1800" b="1" i="0" lang="en-GB">
                  <a:solidFill>
                    <a:srgbClr val="F28C28"/>
                  </a:solidFill>
                  <a:latin typeface="Arial"/>
                </a:rPr>
                <a:t>Coaling tower</a:t>
              </a:r>
            </a:p>
          </p:txBody>
        </p:sp>
        <p:sp>
          <p:nvSpPr>
            <p:cNvPr id="23" name="rail"/>
            <p:cNvSpPr/>
            <p:nvPr/>
          </p:nvSpPr>
          <p:spPr>
            <a:xfrm>
              <a:off x="5029200" y="5468112"/>
              <a:ext cx="3840480" cy="64008"/>
            </a:xfrm>
            <a:prstGeom prst="rect">
              <a:avLst/>
            </a:prstGeom>
            <a:solidFill>
              <a:srgbClr val="9AA0A6"/>
            </a:solidFill>
            <a:ln>
              <a:noFill/>
            </a:ln>
          </p:spPr>
          <p:txBody>
            <a:bodyPr rtlCol="0" anchor="ctr"/>
            <a:lstStyle/>
            <a:p>
              <a:pPr algn="ctr"/>
            </a:p>
          </p:txBody>
        </p:sp>
        <p:sp>
          <p:nvSpPr>
            <p:cNvPr id="24" name="tower"/>
            <p:cNvSpPr/>
            <p:nvPr/>
          </p:nvSpPr>
          <p:spPr>
            <a:xfrm>
              <a:off x="5806440" y="3566160"/>
              <a:ext cx="914400" cy="1188720"/>
            </a:xfrm>
            <a:prstGeom prst="rect">
              <a:avLst/>
            </a:prstGeom>
            <a:solidFill>
              <a:srgbClr val="9AA0A6"/>
            </a:solidFill>
            <a:ln>
              <a:noFill/>
            </a:ln>
          </p:spPr>
          <p:txBody>
            <a:bodyPr rtlCol="0" anchor="ctr"/>
            <a:lstStyle/>
            <a:p>
              <a:pPr algn="ctr"/>
            </a:p>
          </p:txBody>
        </p:sp>
        <p:sp>
          <p:nvSpPr>
            <p:cNvPr id="25" name="tower cap"/>
            <p:cNvSpPr/>
            <p:nvPr/>
          </p:nvSpPr>
          <p:spPr>
            <a:xfrm>
              <a:off x="5897880" y="3474720"/>
              <a:ext cx="731520" cy="109728"/>
            </a:xfrm>
            <a:prstGeom prst="rect">
              <a:avLst/>
            </a:prstGeom>
            <a:solidFill>
              <a:srgbClr val="6B7078"/>
            </a:solidFill>
            <a:ln>
              <a:noFill/>
            </a:ln>
          </p:spPr>
          <p:txBody>
            <a:bodyPr rtlCol="0" anchor="ctr"/>
            <a:lstStyle/>
            <a:p>
              <a:pPr algn="ctr"/>
            </a:p>
          </p:txBody>
        </p:sp>
        <p:sp>
          <p:nvSpPr>
            <p:cNvPr id="26" name="tower window"/>
            <p:cNvSpPr/>
            <p:nvPr/>
          </p:nvSpPr>
          <p:spPr>
            <a:xfrm>
              <a:off x="5989320" y="3749039"/>
              <a:ext cx="228600" cy="274320"/>
            </a:xfrm>
            <a:prstGeom prst="rect">
              <a:avLst/>
            </a:prstGeom>
            <a:solidFill>
              <a:srgbClr val="1B1D21"/>
            </a:solidFill>
            <a:ln w="12700">
              <a:solidFill>
                <a:srgbClr val="6B7078"/>
              </a:solidFill>
            </a:ln>
          </p:spPr>
          <p:txBody>
            <a:bodyPr rtlCol="0" anchor="ctr"/>
            <a:lstStyle/>
            <a:p>
              <a:pPr algn="ctr"/>
            </a:p>
          </p:txBody>
        </p:sp>
        <p:sp>
          <p:nvSpPr>
            <p:cNvPr id="27" name="hopper"/>
            <p:cNvSpPr/>
            <p:nvPr/>
          </p:nvSpPr>
          <p:spPr>
            <a:xfrm>
              <a:off x="5806440" y="4754880"/>
              <a:ext cx="914400" cy="320040"/>
            </a:xfrm>
            <a:custGeom>
              <a:avLst/>
              <a:gdLst/>
              <a:ahLst/>
              <a:cxnLst/>
              <a:rect l="l" t="t" r="r" b="b"/>
              <a:pathLst>
                <a:path w="914400" h="320040">
                  <a:moveTo>
                    <a:pt x="0" y="0"/>
                  </a:moveTo>
                  <a:lnTo>
                    <a:pt x="914400" y="0"/>
                  </a:lnTo>
                  <a:lnTo>
                    <a:pt x="594360" y="320040"/>
                  </a:lnTo>
                  <a:lnTo>
                    <a:pt x="320040" y="320040"/>
                  </a:lnTo>
                  <a:close/>
                </a:path>
              </a:pathLst>
            </a:custGeom>
            <a:solidFill>
              <a:srgbClr val="6B7078"/>
            </a:solidFill>
            <a:ln w="19050">
              <a:solidFill>
                <a:srgbClr val="9AA0A6"/>
              </a:solidFill>
            </a:ln>
          </p:spPr>
          <p:txBody>
            <a:bodyPr rtlCol="0" anchor="ctr"/>
            <a:lstStyle/>
            <a:p>
              <a:pPr algn="ctr"/>
            </a:p>
          </p:txBody>
        </p:sp>
        <p:sp>
          <p:nvSpPr>
            <p:cNvPr id="28" name="tender"/>
            <p:cNvSpPr/>
            <p:nvPr/>
          </p:nvSpPr>
          <p:spPr>
            <a:xfrm>
              <a:off x="5257800" y="5120640"/>
              <a:ext cx="2011680" cy="347472"/>
            </a:xfrm>
            <a:prstGeom prst="roundRect">
              <a:avLst>
                <a:gd name="adj" fmla="val 10526"/>
              </a:avLst>
            </a:prstGeom>
            <a:solidFill>
              <a:srgbClr val="9AA0A6"/>
            </a:solidFill>
            <a:ln>
              <a:noFill/>
            </a:ln>
          </p:spPr>
          <p:txBody>
            <a:bodyPr rtlCol="0" anchor="ctr"/>
            <a:lstStyle/>
            <a:p>
              <a:pPr algn="ctr"/>
            </a:p>
          </p:txBody>
        </p:sp>
        <p:sp>
          <p:nvSpPr>
            <p:cNvPr id="29" name="coal in tender"/>
            <p:cNvSpPr/>
            <p:nvPr/>
          </p:nvSpPr>
          <p:spPr>
            <a:xfrm>
              <a:off x="5349240" y="5074920"/>
              <a:ext cx="1828800" cy="64008"/>
            </a:xfrm>
            <a:prstGeom prst="rect">
              <a:avLst/>
            </a:prstGeom>
            <a:solidFill>
              <a:srgbClr val="1B1D21"/>
            </a:solidFill>
            <a:ln w="12700">
              <a:solidFill>
                <a:srgbClr val="6B7078"/>
              </a:solidFill>
            </a:ln>
          </p:spPr>
          <p:txBody>
            <a:bodyPr rtlCol="0" anchor="ctr"/>
            <a:lstStyle/>
            <a:p>
              <a:pPr algn="ctr"/>
            </a:p>
          </p:txBody>
        </p:sp>
        <p:sp>
          <p:nvSpPr>
            <p:cNvPr id="30" name="wheel"/>
            <p:cNvSpPr/>
            <p:nvPr/>
          </p:nvSpPr>
          <p:spPr>
            <a:xfrm>
              <a:off x="5449824" y="5321808"/>
              <a:ext cx="256032" cy="256032"/>
            </a:xfrm>
            <a:prstGeom prst="ellipse">
              <a:avLst/>
            </a:prstGeom>
            <a:solidFill>
              <a:srgbClr val="1B1D21"/>
            </a:solidFill>
            <a:ln w="19050">
              <a:solidFill>
                <a:srgbClr val="9AA0A6"/>
              </a:solidFill>
            </a:ln>
          </p:spPr>
          <p:txBody>
            <a:bodyPr rtlCol="0" anchor="ctr"/>
            <a:lstStyle/>
            <a:p>
              <a:pPr algn="ctr"/>
            </a:p>
          </p:txBody>
        </p:sp>
        <p:sp>
          <p:nvSpPr>
            <p:cNvPr id="31" name="wheel"/>
            <p:cNvSpPr/>
            <p:nvPr/>
          </p:nvSpPr>
          <p:spPr>
            <a:xfrm>
              <a:off x="6775704" y="5321808"/>
              <a:ext cx="256032" cy="256032"/>
            </a:xfrm>
            <a:prstGeom prst="ellipse">
              <a:avLst/>
            </a:prstGeom>
            <a:solidFill>
              <a:srgbClr val="1B1D21"/>
            </a:solidFill>
            <a:ln w="19050">
              <a:solidFill>
                <a:srgbClr val="9AA0A6"/>
              </a:solidFill>
            </a:ln>
          </p:spPr>
          <p:txBody>
            <a:bodyPr rtlCol="0" anchor="ctr"/>
            <a:lstStyle/>
            <a:p>
              <a:pPr algn="ctr"/>
            </a:p>
          </p:txBody>
        </p:sp>
      </p:grpSp>
      <p:pic>
        <p:nvPicPr>
          <p:cNvPr id="32" name="P09_coaling_tower_carnforth" descr="A tall coaling tower and a water tower at Carnforth."/>
          <p:cNvPicPr>
            <a:picLocks noChangeAspect="1"/>
          </p:cNvPicPr>
          <p:nvPr/>
        </p:nvPicPr>
        <p:blipFill>
          <a:blip r:embed="rId3"/>
          <a:srcRect t="143" b="143"/>
          <a:stretch>
            <a:fillRect/>
          </a:stretch>
        </p:blipFill>
        <p:spPr>
          <a:xfrm>
            <a:off x="9418320" y="4343400"/>
            <a:ext cx="2221992" cy="841248"/>
          </a:xfrm>
          <a:prstGeom prst="roundRect">
            <a:avLst>
              <a:gd name="adj" fmla="val 8695"/>
            </a:avLst>
          </a:prstGeom>
        </p:spPr>
      </p:pic>
      <p:sp>
        <p:nvSpPr>
          <p:cNvPr id="33" name="CREDIT"/>
          <p:cNvSpPr txBox="1"/>
          <p:nvPr/>
        </p:nvSpPr>
        <p:spPr>
          <a:xfrm>
            <a:off x="9418320" y="5212080"/>
            <a:ext cx="2221992" cy="219456"/>
          </a:xfrm>
          <a:prstGeom prst="rect">
            <a:avLst/>
          </a:prstGeom>
          <a:noFill/>
        </p:spPr>
        <p:txBody>
          <a:bodyPr wrap="square" anchor="t" lIns="0" tIns="0" rIns="0" bIns="0">
            <a:noAutofit/>
          </a:bodyPr>
          <a:lstStyle/>
          <a:p>
            <a:pPr algn="l"/>
            <a:r>
              <a:rPr sz="1000" b="0" i="0" lang="en-GB">
                <a:solidFill>
                  <a:srgbClr val="A9B0B8"/>
                </a:solidFill>
                <a:latin typeface="Arial"/>
              </a:rPr>
              <a:t>kitmasterbloke, CC BY 4.0</a:t>
            </a:r>
          </a:p>
        </p:txBody>
      </p:sp>
      <p:sp>
        <p:nvSpPr>
          <p:cNvPr id="3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5"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6"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Coal starts higher than the tender. A ramp or tower lets gravity fill it.</a:t>
            </a:r>
          </a:p>
        </p:txBody>
      </p:sp>
      <p:sp>
        <p:nvSpPr>
          <p:cNvPr id="37"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12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15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How far can an engine go?</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Gauges and range card" descr="A coal gauge and a water gauge for one engine feed a card called Range left, shown as a dial with no number."/>
          <p:cNvGrpSpPr/>
          <p:nvPr/>
        </p:nvGrpSpPr>
        <p:grpSpPr>
          <a:xfrm>
            <a:off x="1097280" y="1554480"/>
            <a:ext cx="10332720" cy="3566160"/>
            <a:chOff x="1097280" y="1554480"/>
            <a:chExt cx="10332720" cy="3566160"/>
          </a:xfrm>
        </p:grpSpPr>
        <p:sp>
          <p:nvSpPr>
            <p:cNvPr id="5" name="coal gauge"/>
            <p:cNvSpPr/>
            <p:nvPr/>
          </p:nvSpPr>
          <p:spPr>
            <a:xfrm>
              <a:off x="1097280" y="1554480"/>
              <a:ext cx="1371600" cy="2834640"/>
            </a:xfrm>
            <a:prstGeom prst="roundRect">
              <a:avLst>
                <a:gd name="adj" fmla="val 6666"/>
              </a:avLst>
            </a:prstGeom>
            <a:solidFill>
              <a:srgbClr val="2B2F36"/>
            </a:solidFill>
            <a:ln w="28575">
              <a:solidFill>
                <a:srgbClr val="9AA0A6"/>
              </a:solidFill>
            </a:ln>
          </p:spPr>
          <p:txBody>
            <a:bodyPr rtlCol="0" anchor="ctr"/>
            <a:lstStyle/>
            <a:p>
              <a:pPr algn="ctr"/>
            </a:p>
          </p:txBody>
        </p:sp>
        <p:sp>
          <p:nvSpPr>
            <p:cNvPr id="6" name="coal gauge fill"/>
            <p:cNvSpPr/>
            <p:nvPr/>
          </p:nvSpPr>
          <p:spPr>
            <a:xfrm>
              <a:off x="1152144" y="2699308"/>
              <a:ext cx="1261872" cy="1634947"/>
            </a:xfrm>
            <a:prstGeom prst="rect">
              <a:avLst/>
            </a:prstGeom>
            <a:solidFill>
              <a:srgbClr val="1B1D21"/>
            </a:solidFill>
            <a:ln w="15875">
              <a:solidFill>
                <a:srgbClr val="8A9099"/>
              </a:solidFill>
            </a:ln>
          </p:spPr>
          <p:txBody>
            <a:bodyPr rtlCol="0" anchor="ctr"/>
            <a:lstStyle/>
            <a:p>
              <a:pPr algn="ctr"/>
            </a:p>
          </p:txBody>
        </p:sp>
        <p:sp>
          <p:nvSpPr>
            <p:cNvPr id="7" name="water gauge"/>
            <p:cNvSpPr/>
            <p:nvPr/>
          </p:nvSpPr>
          <p:spPr>
            <a:xfrm>
              <a:off x="3108960" y="1554480"/>
              <a:ext cx="1371600" cy="2834640"/>
            </a:xfrm>
            <a:prstGeom prst="roundRect">
              <a:avLst>
                <a:gd name="adj" fmla="val 6666"/>
              </a:avLst>
            </a:prstGeom>
            <a:solidFill>
              <a:srgbClr val="2B2F36"/>
            </a:solidFill>
            <a:ln w="28575">
              <a:solidFill>
                <a:srgbClr val="9AA0A6"/>
              </a:solidFill>
            </a:ln>
          </p:spPr>
          <p:txBody>
            <a:bodyPr rtlCol="0" anchor="ctr"/>
            <a:lstStyle/>
            <a:p>
              <a:pPr algn="ctr"/>
            </a:p>
          </p:txBody>
        </p:sp>
        <p:sp>
          <p:nvSpPr>
            <p:cNvPr id="8" name="water gauge fill"/>
            <p:cNvSpPr/>
            <p:nvPr/>
          </p:nvSpPr>
          <p:spPr>
            <a:xfrm>
              <a:off x="3163824" y="3244291"/>
              <a:ext cx="1261872" cy="1089964"/>
            </a:xfrm>
            <a:prstGeom prst="rect">
              <a:avLst/>
            </a:prstGeom>
            <a:solidFill>
              <a:srgbClr val="4DA3FF"/>
            </a:solidFill>
            <a:ln>
              <a:noFill/>
            </a:ln>
          </p:spPr>
          <p:txBody>
            <a:bodyPr rtlCol="0" anchor="ctr"/>
            <a:lstStyle/>
            <a:p>
              <a:pPr algn="ctr"/>
            </a:p>
          </p:txBody>
        </p:sp>
        <p:sp>
          <p:nvSpPr>
            <p:cNvPr id="9" name="gauge label"/>
            <p:cNvSpPr txBox="1"/>
            <p:nvPr/>
          </p:nvSpPr>
          <p:spPr>
            <a:xfrm>
              <a:off x="1097280" y="4462272"/>
              <a:ext cx="13716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Coal</a:t>
              </a:r>
            </a:p>
          </p:txBody>
        </p:sp>
        <p:sp>
          <p:nvSpPr>
            <p:cNvPr id="10" name="gauge label"/>
            <p:cNvSpPr txBox="1"/>
            <p:nvPr/>
          </p:nvSpPr>
          <p:spPr>
            <a:xfrm>
              <a:off x="3108960" y="4462272"/>
              <a:ext cx="13716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a:t>
              </a:r>
            </a:p>
          </p:txBody>
        </p:sp>
        <p:cxnSp>
          <p:nvCxnSpPr>
            <p:cNvPr id="11" name="flow arrow"/>
            <p:cNvCxnSpPr/>
            <p:nvPr/>
          </p:nvCxnSpPr>
          <p:spPr>
            <a:xfrm>
              <a:off x="4800600" y="2971800"/>
              <a:ext cx="1188720" cy="0"/>
            </a:xfrm>
            <a:prstGeom prst="line">
              <a:avLst/>
            </a:prstGeom>
            <a:ln w="57150">
              <a:solidFill>
                <a:srgbClr val="F28C28"/>
              </a:solidFill>
              <a:tailEnd type="triangle" w="med" len="med"/>
            </a:ln>
          </p:spPr>
        </p:cxnSp>
        <p:sp>
          <p:nvSpPr>
            <p:cNvPr id="12" name="card"/>
            <p:cNvSpPr/>
            <p:nvPr/>
          </p:nvSpPr>
          <p:spPr>
            <a:xfrm>
              <a:off x="6217920" y="1554480"/>
              <a:ext cx="5212080" cy="3566160"/>
            </a:xfrm>
            <a:prstGeom prst="roundRect">
              <a:avLst>
                <a:gd name="adj" fmla="val 2564"/>
              </a:avLst>
            </a:prstGeom>
            <a:solidFill>
              <a:srgbClr val="2B2F36"/>
            </a:solidFill>
            <a:ln w="25400">
              <a:solidFill>
                <a:srgbClr val="F28C28"/>
              </a:solidFill>
            </a:ln>
          </p:spPr>
          <p:txBody>
            <a:bodyPr rtlCol="0" anchor="ctr"/>
            <a:lstStyle/>
            <a:p>
              <a:pPr algn="ctr"/>
            </a:p>
          </p:txBody>
        </p:sp>
        <p:sp>
          <p:nvSpPr>
            <p:cNvPr id="13" name="card title"/>
            <p:cNvSpPr txBox="1"/>
            <p:nvPr/>
          </p:nvSpPr>
          <p:spPr>
            <a:xfrm>
              <a:off x="6492240" y="1691640"/>
              <a:ext cx="4663440" cy="502920"/>
            </a:xfrm>
            <a:prstGeom prst="rect">
              <a:avLst/>
            </a:prstGeom>
            <a:noFill/>
          </p:spPr>
          <p:txBody>
            <a:bodyPr wrap="square" anchor="ctr" lIns="18288" tIns="9144" rIns="18288" bIns="9144">
              <a:noAutofit/>
            </a:bodyPr>
            <a:lstStyle/>
            <a:p>
              <a:pPr algn="l"/>
              <a:r>
                <a:rPr sz="2400" b="1" i="0" lang="en-GB">
                  <a:solidFill>
                    <a:srgbClr val="F2F2F2"/>
                  </a:solidFill>
                  <a:latin typeface="Arial"/>
                </a:rPr>
                <a:t>Range left</a:t>
              </a:r>
            </a:p>
          </p:txBody>
        </p:sp>
        <p:sp>
          <p:nvSpPr>
            <p:cNvPr id="14" name="dial ring"/>
            <p:cNvSpPr/>
            <p:nvPr/>
          </p:nvSpPr>
          <p:spPr>
            <a:xfrm>
              <a:off x="7406640" y="2377440"/>
              <a:ext cx="2834640" cy="1417320"/>
            </a:xfrm>
            <a:custGeom>
              <a:avLst/>
              <a:gdLst/>
              <a:ahLst/>
              <a:cxnLst/>
              <a:rect l="l" t="t" r="r" b="b"/>
              <a:pathLst>
                <a:path w="2834640" h="1417320">
                  <a:moveTo>
                    <a:pt x="2834640" y="1417320"/>
                  </a:moveTo>
                  <a:lnTo>
                    <a:pt x="2822514" y="1232322"/>
                  </a:lnTo>
                  <a:lnTo>
                    <a:pt x="2786345" y="1050490"/>
                  </a:lnTo>
                  <a:lnTo>
                    <a:pt x="2726752" y="874935"/>
                  </a:lnTo>
                  <a:lnTo>
                    <a:pt x="2644755" y="708660"/>
                  </a:lnTo>
                  <a:lnTo>
                    <a:pt x="2541755" y="554510"/>
                  </a:lnTo>
                  <a:lnTo>
                    <a:pt x="2419516" y="415123"/>
                  </a:lnTo>
                  <a:lnTo>
                    <a:pt x="2280129" y="292884"/>
                  </a:lnTo>
                  <a:lnTo>
                    <a:pt x="2125980" y="189884"/>
                  </a:lnTo>
                  <a:lnTo>
                    <a:pt x="1959704" y="107887"/>
                  </a:lnTo>
                  <a:lnTo>
                    <a:pt x="1784149" y="48294"/>
                  </a:lnTo>
                  <a:lnTo>
                    <a:pt x="1602317" y="12125"/>
                  </a:lnTo>
                  <a:lnTo>
                    <a:pt x="1417320" y="0"/>
                  </a:lnTo>
                  <a:lnTo>
                    <a:pt x="1232322" y="12125"/>
                  </a:lnTo>
                  <a:lnTo>
                    <a:pt x="1050490" y="48294"/>
                  </a:lnTo>
                  <a:lnTo>
                    <a:pt x="874935" y="107887"/>
                  </a:lnTo>
                  <a:lnTo>
                    <a:pt x="708660" y="189884"/>
                  </a:lnTo>
                  <a:lnTo>
                    <a:pt x="554510" y="292884"/>
                  </a:lnTo>
                  <a:lnTo>
                    <a:pt x="415123" y="415123"/>
                  </a:lnTo>
                  <a:lnTo>
                    <a:pt x="292884" y="554510"/>
                  </a:lnTo>
                  <a:lnTo>
                    <a:pt x="189884" y="708660"/>
                  </a:lnTo>
                  <a:lnTo>
                    <a:pt x="107887" y="874935"/>
                  </a:lnTo>
                  <a:lnTo>
                    <a:pt x="48294" y="1050490"/>
                  </a:lnTo>
                  <a:lnTo>
                    <a:pt x="12125" y="1232322"/>
                  </a:lnTo>
                  <a:lnTo>
                    <a:pt x="0" y="1417320"/>
                  </a:lnTo>
                  <a:lnTo>
                    <a:pt x="320040" y="1417320"/>
                  </a:lnTo>
                  <a:lnTo>
                    <a:pt x="329427" y="1274096"/>
                  </a:lnTo>
                  <a:lnTo>
                    <a:pt x="357428" y="1133323"/>
                  </a:lnTo>
                  <a:lnTo>
                    <a:pt x="403565" y="997409"/>
                  </a:lnTo>
                  <a:lnTo>
                    <a:pt x="467047" y="868680"/>
                  </a:lnTo>
                  <a:lnTo>
                    <a:pt x="546789" y="749338"/>
                  </a:lnTo>
                  <a:lnTo>
                    <a:pt x="641425" y="641425"/>
                  </a:lnTo>
                  <a:lnTo>
                    <a:pt x="749338" y="546789"/>
                  </a:lnTo>
                  <a:lnTo>
                    <a:pt x="868680" y="467047"/>
                  </a:lnTo>
                  <a:lnTo>
                    <a:pt x="997409" y="403565"/>
                  </a:lnTo>
                  <a:lnTo>
                    <a:pt x="1133323" y="357428"/>
                  </a:lnTo>
                  <a:lnTo>
                    <a:pt x="1274096" y="329427"/>
                  </a:lnTo>
                  <a:lnTo>
                    <a:pt x="1417320" y="320040"/>
                  </a:lnTo>
                  <a:lnTo>
                    <a:pt x="1560543" y="329427"/>
                  </a:lnTo>
                  <a:lnTo>
                    <a:pt x="1701316" y="357428"/>
                  </a:lnTo>
                  <a:lnTo>
                    <a:pt x="1837230" y="403565"/>
                  </a:lnTo>
                  <a:lnTo>
                    <a:pt x="1965960" y="467047"/>
                  </a:lnTo>
                  <a:lnTo>
                    <a:pt x="2085301" y="546789"/>
                  </a:lnTo>
                  <a:lnTo>
                    <a:pt x="2193214" y="641425"/>
                  </a:lnTo>
                  <a:lnTo>
                    <a:pt x="2287850" y="749338"/>
                  </a:lnTo>
                  <a:lnTo>
                    <a:pt x="2367592" y="868680"/>
                  </a:lnTo>
                  <a:lnTo>
                    <a:pt x="2431074" y="997409"/>
                  </a:lnTo>
                  <a:lnTo>
                    <a:pt x="2477211" y="1133323"/>
                  </a:lnTo>
                  <a:lnTo>
                    <a:pt x="2505212" y="1274096"/>
                  </a:lnTo>
                  <a:lnTo>
                    <a:pt x="2514600" y="1417320"/>
                  </a:lnTo>
                  <a:close/>
                </a:path>
              </a:pathLst>
            </a:custGeom>
            <a:solidFill>
              <a:srgbClr val="9AA0A6"/>
            </a:solidFill>
            <a:ln>
              <a:noFill/>
            </a:ln>
          </p:spPr>
          <p:txBody>
            <a:bodyPr rtlCol="0" anchor="ctr"/>
            <a:lstStyle/>
            <a:p>
              <a:pPr algn="ctr"/>
            </a:p>
          </p:txBody>
        </p:sp>
        <p:cxnSp>
          <p:nvCxnSpPr>
            <p:cNvPr id="15" name="tick"/>
            <p:cNvCxnSpPr/>
            <p:nvPr/>
          </p:nvCxnSpPr>
          <p:spPr>
            <a:xfrm flipH="1">
              <a:off x="7744968" y="3794760"/>
              <a:ext cx="146304" cy="0"/>
            </a:xfrm>
            <a:prstGeom prst="line">
              <a:avLst/>
            </a:prstGeom>
            <a:ln w="31750">
              <a:solidFill>
                <a:srgbClr val="F2F2F2"/>
              </a:solidFill>
            </a:ln>
          </p:spPr>
        </p:cxnSp>
        <p:cxnSp>
          <p:nvCxnSpPr>
            <p:cNvPr id="16" name="tick"/>
            <p:cNvCxnSpPr/>
            <p:nvPr/>
          </p:nvCxnSpPr>
          <p:spPr>
            <a:xfrm flipH="1" flipV="1">
              <a:off x="8060997" y="3031797"/>
              <a:ext cx="103452" cy="103452"/>
            </a:xfrm>
            <a:prstGeom prst="line">
              <a:avLst/>
            </a:prstGeom>
            <a:ln w="31750">
              <a:solidFill>
                <a:srgbClr val="F2F2F2"/>
              </a:solidFill>
            </a:ln>
          </p:spPr>
        </p:cxnSp>
        <p:cxnSp>
          <p:nvCxnSpPr>
            <p:cNvPr id="17" name="tick"/>
            <p:cNvCxnSpPr/>
            <p:nvPr/>
          </p:nvCxnSpPr>
          <p:spPr>
            <a:xfrm flipV="1">
              <a:off x="8823960" y="2715768"/>
              <a:ext cx="0" cy="146304"/>
            </a:xfrm>
            <a:prstGeom prst="line">
              <a:avLst/>
            </a:prstGeom>
            <a:ln w="31750">
              <a:solidFill>
                <a:srgbClr val="F2F2F2"/>
              </a:solidFill>
            </a:ln>
          </p:spPr>
        </p:cxnSp>
        <p:cxnSp>
          <p:nvCxnSpPr>
            <p:cNvPr id="18" name="tick"/>
            <p:cNvCxnSpPr/>
            <p:nvPr/>
          </p:nvCxnSpPr>
          <p:spPr>
            <a:xfrm flipV="1">
              <a:off x="9483470" y="3031797"/>
              <a:ext cx="103452" cy="103452"/>
            </a:xfrm>
            <a:prstGeom prst="line">
              <a:avLst/>
            </a:prstGeom>
            <a:ln w="31750">
              <a:solidFill>
                <a:srgbClr val="F2F2F2"/>
              </a:solidFill>
            </a:ln>
          </p:spPr>
        </p:cxnSp>
        <p:cxnSp>
          <p:nvCxnSpPr>
            <p:cNvPr id="19" name="tick"/>
            <p:cNvCxnSpPr/>
            <p:nvPr/>
          </p:nvCxnSpPr>
          <p:spPr>
            <a:xfrm>
              <a:off x="9756648" y="3794760"/>
              <a:ext cx="146304" cy="0"/>
            </a:xfrm>
            <a:prstGeom prst="line">
              <a:avLst/>
            </a:prstGeom>
            <a:ln w="31750">
              <a:solidFill>
                <a:srgbClr val="F2F2F2"/>
              </a:solidFill>
            </a:ln>
          </p:spPr>
        </p:cxnSp>
        <p:cxnSp>
          <p:nvCxnSpPr>
            <p:cNvPr id="20" name="needle"/>
            <p:cNvCxnSpPr/>
            <p:nvPr/>
          </p:nvCxnSpPr>
          <p:spPr>
            <a:xfrm flipV="1">
              <a:off x="8823960" y="3002866"/>
              <a:ext cx="457200" cy="791894"/>
            </a:xfrm>
            <a:prstGeom prst="line">
              <a:avLst/>
            </a:prstGeom>
            <a:ln w="63500">
              <a:solidFill>
                <a:srgbClr val="F28C28"/>
              </a:solidFill>
            </a:ln>
          </p:spPr>
        </p:cxnSp>
        <p:sp>
          <p:nvSpPr>
            <p:cNvPr id="21" name="hub"/>
            <p:cNvSpPr/>
            <p:nvPr/>
          </p:nvSpPr>
          <p:spPr>
            <a:xfrm>
              <a:off x="8695944" y="3666744"/>
              <a:ext cx="256032" cy="256032"/>
            </a:xfrm>
            <a:prstGeom prst="ellipse">
              <a:avLst/>
            </a:prstGeom>
            <a:solidFill>
              <a:srgbClr val="F28C28"/>
            </a:solidFill>
            <a:ln>
              <a:noFill/>
            </a:ln>
          </p:spPr>
          <p:txBody>
            <a:bodyPr rtlCol="0" anchor="ctr"/>
            <a:lstStyle/>
            <a:p>
              <a:pPr algn="ctr"/>
            </a:p>
          </p:txBody>
        </p:sp>
        <p:sp>
          <p:nvSpPr>
            <p:cNvPr id="22" name="ICHIP"/>
            <p:cNvSpPr/>
            <p:nvPr/>
          </p:nvSpPr>
          <p:spPr>
            <a:xfrm>
              <a:off x="6720840" y="4434840"/>
              <a:ext cx="420624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Range estimate: Agreed direction</a:t>
              </a:r>
            </a:p>
          </p:txBody>
        </p:sp>
      </p:grpSp>
      <p:sp>
        <p:nvSpPr>
          <p:cNvPr id="2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5"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Range comes from real tank sizes and real use, not a distance countdown.</a:t>
            </a:r>
          </a:p>
        </p:txBody>
      </p:sp>
      <p:sp>
        <p:nvSpPr>
          <p:cNvPr id="2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6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90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What makes an engine burn more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Hill profile and fuel use" descr="A hill with an engine climbing, running flat and rolling downhill. Under each, a bar shows fuel use: high while climbing, medium when steady, low when coasting."/>
          <p:cNvGrpSpPr/>
          <p:nvPr/>
        </p:nvGrpSpPr>
        <p:grpSpPr>
          <a:xfrm>
            <a:off x="640080" y="1484376"/>
            <a:ext cx="10881360" cy="3910584"/>
            <a:chOff x="640080" y="1484376"/>
            <a:chExt cx="10881360" cy="3910584"/>
          </a:xfrm>
        </p:grpSpPr>
        <p:sp>
          <p:nvSpPr>
            <p:cNvPr id="5" name="hill ground"/>
            <p:cNvSpPr/>
            <p:nvPr/>
          </p:nvSpPr>
          <p:spPr>
            <a:xfrm>
              <a:off x="640080" y="2148840"/>
              <a:ext cx="10881360" cy="1691640"/>
            </a:xfrm>
            <a:custGeom>
              <a:avLst/>
              <a:gdLst/>
              <a:ahLst/>
              <a:cxnLst/>
              <a:rect l="l" t="t" r="r" b="b"/>
              <a:pathLst>
                <a:path w="10881360" h="1691640">
                  <a:moveTo>
                    <a:pt x="0" y="1280160"/>
                  </a:moveTo>
                  <a:lnTo>
                    <a:pt x="1188720" y="1280160"/>
                  </a:lnTo>
                  <a:lnTo>
                    <a:pt x="3931920" y="0"/>
                  </a:lnTo>
                  <a:lnTo>
                    <a:pt x="6857999" y="0"/>
                  </a:lnTo>
                  <a:lnTo>
                    <a:pt x="9601200" y="1280160"/>
                  </a:lnTo>
                  <a:lnTo>
                    <a:pt x="10881360" y="1280160"/>
                  </a:lnTo>
                  <a:lnTo>
                    <a:pt x="10881360" y="1691640"/>
                  </a:lnTo>
                  <a:lnTo>
                    <a:pt x="0" y="1691640"/>
                  </a:lnTo>
                  <a:close/>
                </a:path>
              </a:pathLst>
            </a:custGeom>
            <a:solidFill>
              <a:srgbClr val="2B2F36"/>
            </a:solidFill>
            <a:ln>
              <a:noFill/>
            </a:ln>
          </p:spPr>
          <p:txBody>
            <a:bodyPr rtlCol="0" anchor="ctr"/>
            <a:lstStyle/>
            <a:p>
              <a:pPr algn="ctr"/>
            </a:p>
          </p:txBody>
        </p:sp>
        <p:sp>
          <p:nvSpPr>
            <p:cNvPr id="6" name="hill line"/>
            <p:cNvSpPr/>
            <p:nvPr/>
          </p:nvSpPr>
          <p:spPr>
            <a:xfrm>
              <a:off x="640080" y="2148840"/>
              <a:ext cx="10881360" cy="1280160"/>
            </a:xfrm>
            <a:custGeom>
              <a:avLst/>
              <a:gdLst/>
              <a:ahLst/>
              <a:cxnLst/>
              <a:rect l="l" t="t" r="r" b="b"/>
              <a:pathLst>
                <a:path w="10881360" h="1280160">
                  <a:moveTo>
                    <a:pt x="0" y="1280160"/>
                  </a:moveTo>
                  <a:lnTo>
                    <a:pt x="1188720" y="1280160"/>
                  </a:lnTo>
                  <a:lnTo>
                    <a:pt x="3931920" y="0"/>
                  </a:lnTo>
                  <a:lnTo>
                    <a:pt x="6857999" y="0"/>
                  </a:lnTo>
                  <a:lnTo>
                    <a:pt x="9601200" y="1280160"/>
                  </a:lnTo>
                  <a:lnTo>
                    <a:pt x="10881360" y="1280160"/>
                  </a:lnTo>
                </a:path>
              </a:pathLst>
            </a:custGeom>
            <a:noFill/>
            <a:ln w="38100">
              <a:solidFill>
                <a:srgbClr val="9AA0A6"/>
              </a:solidFill>
            </a:ln>
          </p:spPr>
          <p:txBody>
            <a:bodyPr rtlCol="0" anchor="ctr"/>
            <a:lstStyle/>
            <a:p>
              <a:pPr algn="ctr"/>
            </a:p>
          </p:txBody>
        </p:sp>
        <p:grpSp>
          <p:nvGrpSpPr>
            <p:cNvPr id="7" name="engine icon" descr="Small drawing of a steam engine with its tender."/>
            <p:cNvGrpSpPr/>
            <p:nvPr/>
          </p:nvGrpSpPr>
          <p:grpSpPr>
            <a:xfrm rot="20098986">
              <a:off x="2185423" y="2156911"/>
              <a:ext cx="1737360" cy="637032"/>
              <a:chOff x="2185423" y="2156911"/>
              <a:chExt cx="1737360" cy="637032"/>
            </a:xfrm>
          </p:grpSpPr>
          <p:sp>
            <p:nvSpPr>
              <p:cNvPr id="8" name="tender body"/>
              <p:cNvSpPr/>
              <p:nvPr/>
            </p:nvSpPr>
            <p:spPr>
              <a:xfrm>
                <a:off x="2185423" y="2345125"/>
                <a:ext cx="550163" cy="275081"/>
              </a:xfrm>
              <a:prstGeom prst="roundRect">
                <a:avLst>
                  <a:gd name="adj" fmla="val 2631"/>
                </a:avLst>
              </a:prstGeom>
              <a:solidFill>
                <a:srgbClr val="6C7480"/>
              </a:solidFill>
              <a:ln>
                <a:noFill/>
              </a:ln>
            </p:spPr>
            <p:txBody>
              <a:bodyPr rtlCol="0" anchor="ctr"/>
              <a:lstStyle/>
              <a:p>
                <a:pPr algn="ctr"/>
              </a:p>
            </p:txBody>
          </p:sp>
          <p:sp>
            <p:nvSpPr>
              <p:cNvPr id="9" name="tender coal"/>
              <p:cNvSpPr/>
              <p:nvPr/>
            </p:nvSpPr>
            <p:spPr>
              <a:xfrm>
                <a:off x="2228857" y="2294452"/>
                <a:ext cx="463296" cy="65150"/>
              </a:xfrm>
              <a:prstGeom prst="rect">
                <a:avLst/>
              </a:prstGeom>
              <a:solidFill>
                <a:srgbClr val="1B1D21"/>
              </a:solidFill>
              <a:ln w="12700">
                <a:solidFill>
                  <a:srgbClr val="9AA0A6"/>
                </a:solidFill>
              </a:ln>
            </p:spPr>
            <p:txBody>
              <a:bodyPr rtlCol="0" anchor="ctr"/>
              <a:lstStyle/>
              <a:p>
                <a:pPr algn="ctr"/>
              </a:p>
            </p:txBody>
          </p:sp>
          <p:sp>
            <p:nvSpPr>
              <p:cNvPr id="10" name="tender frame"/>
              <p:cNvSpPr/>
              <p:nvPr/>
            </p:nvSpPr>
            <p:spPr>
              <a:xfrm>
                <a:off x="2185423" y="2620207"/>
                <a:ext cx="550163" cy="43433"/>
              </a:xfrm>
              <a:prstGeom prst="rect">
                <a:avLst/>
              </a:prstGeom>
              <a:solidFill>
                <a:srgbClr val="3A3F47"/>
              </a:solidFill>
              <a:ln w="9525">
                <a:solidFill>
                  <a:srgbClr val="9AA0A6"/>
                </a:solidFill>
              </a:ln>
            </p:spPr>
            <p:txBody>
              <a:bodyPr rtlCol="0" anchor="ctr"/>
              <a:lstStyle/>
              <a:p>
                <a:pPr algn="ctr"/>
              </a:p>
            </p:txBody>
          </p:sp>
          <p:sp>
            <p:nvSpPr>
              <p:cNvPr id="11" name="coupling"/>
              <p:cNvSpPr/>
              <p:nvPr/>
            </p:nvSpPr>
            <p:spPr>
              <a:xfrm>
                <a:off x="2735587" y="2533339"/>
                <a:ext cx="57912" cy="28956"/>
              </a:xfrm>
              <a:prstGeom prst="rect">
                <a:avLst/>
              </a:prstGeom>
              <a:solidFill>
                <a:srgbClr val="9AA0A6"/>
              </a:solidFill>
              <a:ln>
                <a:noFill/>
              </a:ln>
            </p:spPr>
            <p:txBody>
              <a:bodyPr rtlCol="0" anchor="ctr"/>
              <a:lstStyle/>
              <a:p>
                <a:pPr algn="ctr"/>
              </a:p>
            </p:txBody>
          </p:sp>
          <p:sp>
            <p:nvSpPr>
              <p:cNvPr id="12" name="wheel"/>
              <p:cNvSpPr/>
              <p:nvPr/>
            </p:nvSpPr>
            <p:spPr>
              <a:xfrm>
                <a:off x="2207140" y="2576773"/>
                <a:ext cx="217170" cy="217170"/>
              </a:xfrm>
              <a:prstGeom prst="ellipse">
                <a:avLst/>
              </a:prstGeom>
              <a:solidFill>
                <a:srgbClr val="1B1D21"/>
              </a:solidFill>
              <a:ln w="19050">
                <a:solidFill>
                  <a:srgbClr val="9AA0A6"/>
                </a:solidFill>
              </a:ln>
            </p:spPr>
            <p:txBody>
              <a:bodyPr rtlCol="0" anchor="ctr"/>
              <a:lstStyle/>
              <a:p>
                <a:pPr algn="ctr"/>
              </a:p>
            </p:txBody>
          </p:sp>
          <p:sp>
            <p:nvSpPr>
              <p:cNvPr id="13" name="hub"/>
              <p:cNvSpPr/>
              <p:nvPr/>
            </p:nvSpPr>
            <p:spPr>
              <a:xfrm>
                <a:off x="2289665" y="2659298"/>
                <a:ext cx="52120" cy="52120"/>
              </a:xfrm>
              <a:prstGeom prst="ellipse">
                <a:avLst/>
              </a:prstGeom>
              <a:solidFill>
                <a:srgbClr val="9AA0A6"/>
              </a:solidFill>
              <a:ln>
                <a:noFill/>
              </a:ln>
            </p:spPr>
            <p:txBody>
              <a:bodyPr rtlCol="0" anchor="ctr"/>
              <a:lstStyle/>
              <a:p>
                <a:pPr algn="ctr"/>
              </a:p>
            </p:txBody>
          </p:sp>
          <p:sp>
            <p:nvSpPr>
              <p:cNvPr id="14" name="wheel"/>
              <p:cNvSpPr/>
              <p:nvPr/>
            </p:nvSpPr>
            <p:spPr>
              <a:xfrm>
                <a:off x="2496700" y="2576773"/>
                <a:ext cx="217170" cy="217170"/>
              </a:xfrm>
              <a:prstGeom prst="ellipse">
                <a:avLst/>
              </a:prstGeom>
              <a:solidFill>
                <a:srgbClr val="1B1D21"/>
              </a:solidFill>
              <a:ln w="19050">
                <a:solidFill>
                  <a:srgbClr val="9AA0A6"/>
                </a:solidFill>
              </a:ln>
            </p:spPr>
            <p:txBody>
              <a:bodyPr rtlCol="0" anchor="ctr"/>
              <a:lstStyle/>
              <a:p>
                <a:pPr algn="ctr"/>
              </a:p>
            </p:txBody>
          </p:sp>
          <p:sp>
            <p:nvSpPr>
              <p:cNvPr id="15" name="hub"/>
              <p:cNvSpPr/>
              <p:nvPr/>
            </p:nvSpPr>
            <p:spPr>
              <a:xfrm>
                <a:off x="2579225" y="2659298"/>
                <a:ext cx="52120" cy="52120"/>
              </a:xfrm>
              <a:prstGeom prst="ellipse">
                <a:avLst/>
              </a:prstGeom>
              <a:solidFill>
                <a:srgbClr val="9AA0A6"/>
              </a:solidFill>
              <a:ln>
                <a:noFill/>
              </a:ln>
            </p:spPr>
            <p:txBody>
              <a:bodyPr rtlCol="0" anchor="ctr"/>
              <a:lstStyle/>
              <a:p>
                <a:pPr algn="ctr"/>
              </a:p>
            </p:txBody>
          </p:sp>
          <p:sp>
            <p:nvSpPr>
              <p:cNvPr id="16" name="cab"/>
              <p:cNvSpPr/>
              <p:nvPr/>
            </p:nvSpPr>
            <p:spPr>
              <a:xfrm>
                <a:off x="2764543" y="2214823"/>
                <a:ext cx="289560" cy="405384"/>
              </a:xfrm>
              <a:prstGeom prst="roundRect">
                <a:avLst>
                  <a:gd name="adj" fmla="val 2500"/>
                </a:avLst>
              </a:prstGeom>
              <a:solidFill>
                <a:srgbClr val="F28C28"/>
              </a:solidFill>
              <a:ln>
                <a:noFill/>
              </a:ln>
            </p:spPr>
            <p:txBody>
              <a:bodyPr rtlCol="0" anchor="ctr"/>
              <a:lstStyle/>
              <a:p>
                <a:pPr algn="ctr"/>
              </a:p>
            </p:txBody>
          </p:sp>
          <p:sp>
            <p:nvSpPr>
              <p:cNvPr id="17" name="cab roof"/>
              <p:cNvSpPr/>
              <p:nvPr/>
            </p:nvSpPr>
            <p:spPr>
              <a:xfrm>
                <a:off x="2750065" y="2193106"/>
                <a:ext cx="318516" cy="31851"/>
              </a:xfrm>
              <a:prstGeom prst="rect">
                <a:avLst/>
              </a:prstGeom>
              <a:solidFill>
                <a:srgbClr val="3A3F47"/>
              </a:solidFill>
              <a:ln w="9525">
                <a:solidFill>
                  <a:srgbClr val="9AA0A6"/>
                </a:solidFill>
              </a:ln>
            </p:spPr>
            <p:txBody>
              <a:bodyPr rtlCol="0" anchor="ctr"/>
              <a:lstStyle/>
              <a:p>
                <a:pPr algn="ctr"/>
              </a:p>
            </p:txBody>
          </p:sp>
          <p:sp>
            <p:nvSpPr>
              <p:cNvPr id="18" name="cab window"/>
              <p:cNvSpPr/>
              <p:nvPr/>
            </p:nvSpPr>
            <p:spPr>
              <a:xfrm>
                <a:off x="2822455" y="2294452"/>
                <a:ext cx="173735" cy="130301"/>
              </a:xfrm>
              <a:prstGeom prst="rect">
                <a:avLst/>
              </a:prstGeom>
              <a:solidFill>
                <a:srgbClr val="1B1D21"/>
              </a:solidFill>
              <a:ln>
                <a:noFill/>
              </a:ln>
            </p:spPr>
            <p:txBody>
              <a:bodyPr rtlCol="0" anchor="ctr"/>
              <a:lstStyle/>
              <a:p>
                <a:pPr algn="ctr"/>
              </a:p>
            </p:txBody>
          </p:sp>
          <p:sp>
            <p:nvSpPr>
              <p:cNvPr id="19" name="boiler"/>
              <p:cNvSpPr/>
              <p:nvPr/>
            </p:nvSpPr>
            <p:spPr>
              <a:xfrm>
                <a:off x="3054103" y="2301691"/>
                <a:ext cx="868680" cy="318516"/>
              </a:xfrm>
              <a:prstGeom prst="roundRect">
                <a:avLst>
                  <a:gd name="adj" fmla="val 27272"/>
                </a:avLst>
              </a:prstGeom>
              <a:solidFill>
                <a:srgbClr val="F28C28"/>
              </a:solidFill>
              <a:ln>
                <a:noFill/>
              </a:ln>
            </p:spPr>
            <p:txBody>
              <a:bodyPr rtlCol="0" anchor="ctr"/>
              <a:lstStyle/>
              <a:p>
                <a:pPr algn="ctr"/>
              </a:p>
            </p:txBody>
          </p:sp>
          <p:sp>
            <p:nvSpPr>
              <p:cNvPr id="20" name="chimney"/>
              <p:cNvSpPr/>
              <p:nvPr/>
            </p:nvSpPr>
            <p:spPr>
              <a:xfrm>
                <a:off x="3734569" y="2171389"/>
                <a:ext cx="101346" cy="137540"/>
              </a:xfrm>
              <a:prstGeom prst="rect">
                <a:avLst/>
              </a:prstGeom>
              <a:solidFill>
                <a:srgbClr val="3A3F47"/>
              </a:solidFill>
              <a:ln w="9525">
                <a:solidFill>
                  <a:srgbClr val="9AA0A6"/>
                </a:solidFill>
              </a:ln>
            </p:spPr>
            <p:txBody>
              <a:bodyPr rtlCol="0" anchor="ctr"/>
              <a:lstStyle/>
              <a:p>
                <a:pPr algn="ctr"/>
              </a:p>
            </p:txBody>
          </p:sp>
          <p:sp>
            <p:nvSpPr>
              <p:cNvPr id="21" name="chimney lip"/>
              <p:cNvSpPr/>
              <p:nvPr/>
            </p:nvSpPr>
            <p:spPr>
              <a:xfrm>
                <a:off x="3712852" y="2156911"/>
                <a:ext cx="144780" cy="28956"/>
              </a:xfrm>
              <a:prstGeom prst="rect">
                <a:avLst/>
              </a:prstGeom>
              <a:solidFill>
                <a:srgbClr val="3A3F47"/>
              </a:solidFill>
              <a:ln w="9525">
                <a:solidFill>
                  <a:srgbClr val="9AA0A6"/>
                </a:solidFill>
              </a:ln>
            </p:spPr>
            <p:txBody>
              <a:bodyPr rtlCol="0" anchor="ctr"/>
              <a:lstStyle/>
              <a:p>
                <a:pPr algn="ctr"/>
              </a:p>
            </p:txBody>
          </p:sp>
          <p:sp>
            <p:nvSpPr>
              <p:cNvPr id="22" name="dome"/>
              <p:cNvSpPr/>
              <p:nvPr/>
            </p:nvSpPr>
            <p:spPr>
              <a:xfrm>
                <a:off x="3300229" y="2236540"/>
                <a:ext cx="144780" cy="72390"/>
              </a:xfrm>
              <a:prstGeom prst="roundRect">
                <a:avLst>
                  <a:gd name="adj" fmla="val 40000"/>
                </a:avLst>
              </a:prstGeom>
              <a:solidFill>
                <a:srgbClr val="F28C28"/>
              </a:solidFill>
              <a:ln>
                <a:noFill/>
              </a:ln>
            </p:spPr>
            <p:txBody>
              <a:bodyPr rtlCol="0" anchor="ctr"/>
              <a:lstStyle/>
              <a:p>
                <a:pPr algn="ctr"/>
              </a:p>
            </p:txBody>
          </p:sp>
          <p:sp>
            <p:nvSpPr>
              <p:cNvPr id="23" name="frame"/>
              <p:cNvSpPr/>
              <p:nvPr/>
            </p:nvSpPr>
            <p:spPr>
              <a:xfrm>
                <a:off x="2764543" y="2620207"/>
                <a:ext cx="1158240" cy="43433"/>
              </a:xfrm>
              <a:prstGeom prst="rect">
                <a:avLst/>
              </a:prstGeom>
              <a:solidFill>
                <a:srgbClr val="3A3F47"/>
              </a:solidFill>
              <a:ln w="9525">
                <a:solidFill>
                  <a:srgbClr val="9AA0A6"/>
                </a:solidFill>
              </a:ln>
            </p:spPr>
            <p:txBody>
              <a:bodyPr rtlCol="0" anchor="ctr"/>
              <a:lstStyle/>
              <a:p>
                <a:pPr algn="ctr"/>
              </a:p>
            </p:txBody>
          </p:sp>
          <p:sp>
            <p:nvSpPr>
              <p:cNvPr id="24" name="wheel"/>
              <p:cNvSpPr/>
              <p:nvPr/>
            </p:nvSpPr>
            <p:spPr>
              <a:xfrm>
                <a:off x="2974474" y="2576773"/>
                <a:ext cx="217170" cy="217170"/>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3056999" y="2659298"/>
                <a:ext cx="52120" cy="52120"/>
              </a:xfrm>
              <a:prstGeom prst="ellipse">
                <a:avLst/>
              </a:prstGeom>
              <a:solidFill>
                <a:srgbClr val="9AA0A6"/>
              </a:solidFill>
              <a:ln>
                <a:noFill/>
              </a:ln>
            </p:spPr>
            <p:txBody>
              <a:bodyPr rtlCol="0" anchor="ctr"/>
              <a:lstStyle/>
              <a:p>
                <a:pPr algn="ctr"/>
              </a:p>
            </p:txBody>
          </p:sp>
          <p:sp>
            <p:nvSpPr>
              <p:cNvPr id="26" name="wheel"/>
              <p:cNvSpPr/>
              <p:nvPr/>
            </p:nvSpPr>
            <p:spPr>
              <a:xfrm>
                <a:off x="3264034" y="2576773"/>
                <a:ext cx="217170" cy="217170"/>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3346559" y="2659298"/>
                <a:ext cx="52120" cy="52120"/>
              </a:xfrm>
              <a:prstGeom prst="ellipse">
                <a:avLst/>
              </a:prstGeom>
              <a:solidFill>
                <a:srgbClr val="9AA0A6"/>
              </a:solidFill>
              <a:ln>
                <a:noFill/>
              </a:ln>
            </p:spPr>
            <p:txBody>
              <a:bodyPr rtlCol="0" anchor="ctr"/>
              <a:lstStyle/>
              <a:p>
                <a:pPr algn="ctr"/>
              </a:p>
            </p:txBody>
          </p:sp>
          <p:sp>
            <p:nvSpPr>
              <p:cNvPr id="28" name="wheel"/>
              <p:cNvSpPr/>
              <p:nvPr/>
            </p:nvSpPr>
            <p:spPr>
              <a:xfrm>
                <a:off x="3553594" y="2576773"/>
                <a:ext cx="217170" cy="217170"/>
              </a:xfrm>
              <a:prstGeom prst="ellipse">
                <a:avLst/>
              </a:prstGeom>
              <a:solidFill>
                <a:srgbClr val="1B1D21"/>
              </a:solidFill>
              <a:ln w="19050">
                <a:solidFill>
                  <a:srgbClr val="9AA0A6"/>
                </a:solidFill>
              </a:ln>
            </p:spPr>
            <p:txBody>
              <a:bodyPr rtlCol="0" anchor="ctr"/>
              <a:lstStyle/>
              <a:p>
                <a:pPr algn="ctr"/>
              </a:p>
            </p:txBody>
          </p:sp>
          <p:sp>
            <p:nvSpPr>
              <p:cNvPr id="29" name="hub"/>
              <p:cNvSpPr/>
              <p:nvPr/>
            </p:nvSpPr>
            <p:spPr>
              <a:xfrm>
                <a:off x="3636119" y="2659298"/>
                <a:ext cx="52120" cy="52120"/>
              </a:xfrm>
              <a:prstGeom prst="ellipse">
                <a:avLst/>
              </a:prstGeom>
              <a:solidFill>
                <a:srgbClr val="9AA0A6"/>
              </a:solidFill>
              <a:ln>
                <a:noFill/>
              </a:ln>
            </p:spPr>
            <p:txBody>
              <a:bodyPr rtlCol="0" anchor="ctr"/>
              <a:lstStyle/>
              <a:p>
                <a:pPr algn="ctr"/>
              </a:p>
            </p:txBody>
          </p:sp>
        </p:grpSp>
        <p:grpSp>
          <p:nvGrpSpPr>
            <p:cNvPr id="30" name="engine icon" descr="Small drawing of a steam engine with its tender."/>
            <p:cNvGrpSpPr/>
            <p:nvPr/>
          </p:nvGrpSpPr>
          <p:grpSpPr>
            <a:xfrm>
              <a:off x="5166359" y="1484376"/>
              <a:ext cx="1737361" cy="637032"/>
              <a:chOff x="5166359" y="1484376"/>
              <a:chExt cx="1737361" cy="637032"/>
            </a:xfrm>
          </p:grpSpPr>
          <p:sp>
            <p:nvSpPr>
              <p:cNvPr id="31" name="tender body"/>
              <p:cNvSpPr/>
              <p:nvPr/>
            </p:nvSpPr>
            <p:spPr>
              <a:xfrm>
                <a:off x="5166359" y="1672590"/>
                <a:ext cx="550163" cy="275081"/>
              </a:xfrm>
              <a:prstGeom prst="roundRect">
                <a:avLst>
                  <a:gd name="adj" fmla="val 2631"/>
                </a:avLst>
              </a:prstGeom>
              <a:solidFill>
                <a:srgbClr val="6C7480"/>
              </a:solidFill>
              <a:ln>
                <a:noFill/>
              </a:ln>
            </p:spPr>
            <p:txBody>
              <a:bodyPr rtlCol="0" anchor="ctr"/>
              <a:lstStyle/>
              <a:p>
                <a:pPr algn="ctr"/>
              </a:p>
            </p:txBody>
          </p:sp>
          <p:sp>
            <p:nvSpPr>
              <p:cNvPr id="32" name="tender coal"/>
              <p:cNvSpPr/>
              <p:nvPr/>
            </p:nvSpPr>
            <p:spPr>
              <a:xfrm>
                <a:off x="5209794" y="1621917"/>
                <a:ext cx="463296" cy="65150"/>
              </a:xfrm>
              <a:prstGeom prst="rect">
                <a:avLst/>
              </a:prstGeom>
              <a:solidFill>
                <a:srgbClr val="1B1D21"/>
              </a:solidFill>
              <a:ln w="12700">
                <a:solidFill>
                  <a:srgbClr val="9AA0A6"/>
                </a:solidFill>
              </a:ln>
            </p:spPr>
            <p:txBody>
              <a:bodyPr rtlCol="0" anchor="ctr"/>
              <a:lstStyle/>
              <a:p>
                <a:pPr algn="ctr"/>
              </a:p>
            </p:txBody>
          </p:sp>
          <p:sp>
            <p:nvSpPr>
              <p:cNvPr id="33" name="tender frame"/>
              <p:cNvSpPr/>
              <p:nvPr/>
            </p:nvSpPr>
            <p:spPr>
              <a:xfrm>
                <a:off x="5166359" y="1947672"/>
                <a:ext cx="550163" cy="43433"/>
              </a:xfrm>
              <a:prstGeom prst="rect">
                <a:avLst/>
              </a:prstGeom>
              <a:solidFill>
                <a:srgbClr val="3A3F47"/>
              </a:solidFill>
              <a:ln w="9525">
                <a:solidFill>
                  <a:srgbClr val="9AA0A6"/>
                </a:solidFill>
              </a:ln>
            </p:spPr>
            <p:txBody>
              <a:bodyPr rtlCol="0" anchor="ctr"/>
              <a:lstStyle/>
              <a:p>
                <a:pPr algn="ctr"/>
              </a:p>
            </p:txBody>
          </p:sp>
          <p:sp>
            <p:nvSpPr>
              <p:cNvPr id="34" name="coupling"/>
              <p:cNvSpPr/>
              <p:nvPr/>
            </p:nvSpPr>
            <p:spPr>
              <a:xfrm>
                <a:off x="5716523" y="1860804"/>
                <a:ext cx="57912" cy="28956"/>
              </a:xfrm>
              <a:prstGeom prst="rect">
                <a:avLst/>
              </a:prstGeom>
              <a:solidFill>
                <a:srgbClr val="9AA0A6"/>
              </a:solidFill>
              <a:ln>
                <a:noFill/>
              </a:ln>
            </p:spPr>
            <p:txBody>
              <a:bodyPr rtlCol="0" anchor="ctr"/>
              <a:lstStyle/>
              <a:p>
                <a:pPr algn="ctr"/>
              </a:p>
            </p:txBody>
          </p:sp>
          <p:sp>
            <p:nvSpPr>
              <p:cNvPr id="35" name="wheel"/>
              <p:cNvSpPr/>
              <p:nvPr/>
            </p:nvSpPr>
            <p:spPr>
              <a:xfrm>
                <a:off x="5188076" y="1904238"/>
                <a:ext cx="217170" cy="217170"/>
              </a:xfrm>
              <a:prstGeom prst="ellipse">
                <a:avLst/>
              </a:prstGeom>
              <a:solidFill>
                <a:srgbClr val="1B1D21"/>
              </a:solidFill>
              <a:ln w="19050">
                <a:solidFill>
                  <a:srgbClr val="9AA0A6"/>
                </a:solidFill>
              </a:ln>
            </p:spPr>
            <p:txBody>
              <a:bodyPr rtlCol="0" anchor="ctr"/>
              <a:lstStyle/>
              <a:p>
                <a:pPr algn="ctr"/>
              </a:p>
            </p:txBody>
          </p:sp>
          <p:sp>
            <p:nvSpPr>
              <p:cNvPr id="36" name="hub"/>
              <p:cNvSpPr/>
              <p:nvPr/>
            </p:nvSpPr>
            <p:spPr>
              <a:xfrm>
                <a:off x="5270601" y="1986762"/>
                <a:ext cx="52120" cy="52120"/>
              </a:xfrm>
              <a:prstGeom prst="ellipse">
                <a:avLst/>
              </a:prstGeom>
              <a:solidFill>
                <a:srgbClr val="9AA0A6"/>
              </a:solidFill>
              <a:ln>
                <a:noFill/>
              </a:ln>
            </p:spPr>
            <p:txBody>
              <a:bodyPr rtlCol="0" anchor="ctr"/>
              <a:lstStyle/>
              <a:p>
                <a:pPr algn="ctr"/>
              </a:p>
            </p:txBody>
          </p:sp>
          <p:sp>
            <p:nvSpPr>
              <p:cNvPr id="37" name="wheel"/>
              <p:cNvSpPr/>
              <p:nvPr/>
            </p:nvSpPr>
            <p:spPr>
              <a:xfrm>
                <a:off x="5477636" y="1904238"/>
                <a:ext cx="217170" cy="217170"/>
              </a:xfrm>
              <a:prstGeom prst="ellipse">
                <a:avLst/>
              </a:prstGeom>
              <a:solidFill>
                <a:srgbClr val="1B1D21"/>
              </a:solidFill>
              <a:ln w="19050">
                <a:solidFill>
                  <a:srgbClr val="9AA0A6"/>
                </a:solidFill>
              </a:ln>
            </p:spPr>
            <p:txBody>
              <a:bodyPr rtlCol="0" anchor="ctr"/>
              <a:lstStyle/>
              <a:p>
                <a:pPr algn="ctr"/>
              </a:p>
            </p:txBody>
          </p:sp>
          <p:sp>
            <p:nvSpPr>
              <p:cNvPr id="38" name="hub"/>
              <p:cNvSpPr/>
              <p:nvPr/>
            </p:nvSpPr>
            <p:spPr>
              <a:xfrm>
                <a:off x="5560161" y="1986762"/>
                <a:ext cx="52120" cy="52120"/>
              </a:xfrm>
              <a:prstGeom prst="ellipse">
                <a:avLst/>
              </a:prstGeom>
              <a:solidFill>
                <a:srgbClr val="9AA0A6"/>
              </a:solidFill>
              <a:ln>
                <a:noFill/>
              </a:ln>
            </p:spPr>
            <p:txBody>
              <a:bodyPr rtlCol="0" anchor="ctr"/>
              <a:lstStyle/>
              <a:p>
                <a:pPr algn="ctr"/>
              </a:p>
            </p:txBody>
          </p:sp>
          <p:sp>
            <p:nvSpPr>
              <p:cNvPr id="39" name="cab"/>
              <p:cNvSpPr/>
              <p:nvPr/>
            </p:nvSpPr>
            <p:spPr>
              <a:xfrm>
                <a:off x="5745480" y="1542287"/>
                <a:ext cx="289560" cy="405384"/>
              </a:xfrm>
              <a:prstGeom prst="roundRect">
                <a:avLst>
                  <a:gd name="adj" fmla="val 2500"/>
                </a:avLst>
              </a:prstGeom>
              <a:solidFill>
                <a:srgbClr val="F28C28"/>
              </a:solidFill>
              <a:ln>
                <a:noFill/>
              </a:ln>
            </p:spPr>
            <p:txBody>
              <a:bodyPr rtlCol="0" anchor="ctr"/>
              <a:lstStyle/>
              <a:p>
                <a:pPr algn="ctr"/>
              </a:p>
            </p:txBody>
          </p:sp>
          <p:sp>
            <p:nvSpPr>
              <p:cNvPr id="40" name="cab roof"/>
              <p:cNvSpPr/>
              <p:nvPr/>
            </p:nvSpPr>
            <p:spPr>
              <a:xfrm>
                <a:off x="5731001" y="1520571"/>
                <a:ext cx="318516" cy="31851"/>
              </a:xfrm>
              <a:prstGeom prst="rect">
                <a:avLst/>
              </a:prstGeom>
              <a:solidFill>
                <a:srgbClr val="3A3F47"/>
              </a:solidFill>
              <a:ln w="9525">
                <a:solidFill>
                  <a:srgbClr val="9AA0A6"/>
                </a:solidFill>
              </a:ln>
            </p:spPr>
            <p:txBody>
              <a:bodyPr rtlCol="0" anchor="ctr"/>
              <a:lstStyle/>
              <a:p>
                <a:pPr algn="ctr"/>
              </a:p>
            </p:txBody>
          </p:sp>
          <p:sp>
            <p:nvSpPr>
              <p:cNvPr id="41" name="cab window"/>
              <p:cNvSpPr/>
              <p:nvPr/>
            </p:nvSpPr>
            <p:spPr>
              <a:xfrm>
                <a:off x="5803391" y="1621917"/>
                <a:ext cx="173735" cy="130301"/>
              </a:xfrm>
              <a:prstGeom prst="rect">
                <a:avLst/>
              </a:prstGeom>
              <a:solidFill>
                <a:srgbClr val="1B1D21"/>
              </a:solidFill>
              <a:ln>
                <a:noFill/>
              </a:ln>
            </p:spPr>
            <p:txBody>
              <a:bodyPr rtlCol="0" anchor="ctr"/>
              <a:lstStyle/>
              <a:p>
                <a:pPr algn="ctr"/>
              </a:p>
            </p:txBody>
          </p:sp>
          <p:sp>
            <p:nvSpPr>
              <p:cNvPr id="42" name="boiler"/>
              <p:cNvSpPr/>
              <p:nvPr/>
            </p:nvSpPr>
            <p:spPr>
              <a:xfrm>
                <a:off x="6035040" y="1629156"/>
                <a:ext cx="868680" cy="318516"/>
              </a:xfrm>
              <a:prstGeom prst="roundRect">
                <a:avLst>
                  <a:gd name="adj" fmla="val 27272"/>
                </a:avLst>
              </a:prstGeom>
              <a:solidFill>
                <a:srgbClr val="F28C28"/>
              </a:solidFill>
              <a:ln>
                <a:noFill/>
              </a:ln>
            </p:spPr>
            <p:txBody>
              <a:bodyPr rtlCol="0" anchor="ctr"/>
              <a:lstStyle/>
              <a:p>
                <a:pPr algn="ctr"/>
              </a:p>
            </p:txBody>
          </p:sp>
          <p:sp>
            <p:nvSpPr>
              <p:cNvPr id="43" name="chimney"/>
              <p:cNvSpPr/>
              <p:nvPr/>
            </p:nvSpPr>
            <p:spPr>
              <a:xfrm>
                <a:off x="6715506" y="1498854"/>
                <a:ext cx="101346" cy="137540"/>
              </a:xfrm>
              <a:prstGeom prst="rect">
                <a:avLst/>
              </a:prstGeom>
              <a:solidFill>
                <a:srgbClr val="3A3F47"/>
              </a:solidFill>
              <a:ln w="9525">
                <a:solidFill>
                  <a:srgbClr val="9AA0A6"/>
                </a:solidFill>
              </a:ln>
            </p:spPr>
            <p:txBody>
              <a:bodyPr rtlCol="0" anchor="ctr"/>
              <a:lstStyle/>
              <a:p>
                <a:pPr algn="ctr"/>
              </a:p>
            </p:txBody>
          </p:sp>
          <p:sp>
            <p:nvSpPr>
              <p:cNvPr id="44" name="chimney lip"/>
              <p:cNvSpPr/>
              <p:nvPr/>
            </p:nvSpPr>
            <p:spPr>
              <a:xfrm>
                <a:off x="6693789" y="1484376"/>
                <a:ext cx="144780" cy="28956"/>
              </a:xfrm>
              <a:prstGeom prst="rect">
                <a:avLst/>
              </a:prstGeom>
              <a:solidFill>
                <a:srgbClr val="3A3F47"/>
              </a:solidFill>
              <a:ln w="9525">
                <a:solidFill>
                  <a:srgbClr val="9AA0A6"/>
                </a:solidFill>
              </a:ln>
            </p:spPr>
            <p:txBody>
              <a:bodyPr rtlCol="0" anchor="ctr"/>
              <a:lstStyle/>
              <a:p>
                <a:pPr algn="ctr"/>
              </a:p>
            </p:txBody>
          </p:sp>
          <p:sp>
            <p:nvSpPr>
              <p:cNvPr id="45" name="dome"/>
              <p:cNvSpPr/>
              <p:nvPr/>
            </p:nvSpPr>
            <p:spPr>
              <a:xfrm>
                <a:off x="6281166" y="1564005"/>
                <a:ext cx="144780" cy="72390"/>
              </a:xfrm>
              <a:prstGeom prst="roundRect">
                <a:avLst>
                  <a:gd name="adj" fmla="val 40000"/>
                </a:avLst>
              </a:prstGeom>
              <a:solidFill>
                <a:srgbClr val="F28C28"/>
              </a:solidFill>
              <a:ln>
                <a:noFill/>
              </a:ln>
            </p:spPr>
            <p:txBody>
              <a:bodyPr rtlCol="0" anchor="ctr"/>
              <a:lstStyle/>
              <a:p>
                <a:pPr algn="ctr"/>
              </a:p>
            </p:txBody>
          </p:sp>
          <p:sp>
            <p:nvSpPr>
              <p:cNvPr id="46" name="frame"/>
              <p:cNvSpPr/>
              <p:nvPr/>
            </p:nvSpPr>
            <p:spPr>
              <a:xfrm>
                <a:off x="5745480" y="1947672"/>
                <a:ext cx="1158240" cy="43433"/>
              </a:xfrm>
              <a:prstGeom prst="rect">
                <a:avLst/>
              </a:prstGeom>
              <a:solidFill>
                <a:srgbClr val="3A3F47"/>
              </a:solidFill>
              <a:ln w="9525">
                <a:solidFill>
                  <a:srgbClr val="9AA0A6"/>
                </a:solidFill>
              </a:ln>
            </p:spPr>
            <p:txBody>
              <a:bodyPr rtlCol="0" anchor="ctr"/>
              <a:lstStyle/>
              <a:p>
                <a:pPr algn="ctr"/>
              </a:p>
            </p:txBody>
          </p:sp>
          <p:sp>
            <p:nvSpPr>
              <p:cNvPr id="47" name="wheel"/>
              <p:cNvSpPr/>
              <p:nvPr/>
            </p:nvSpPr>
            <p:spPr>
              <a:xfrm>
                <a:off x="5955410" y="1904238"/>
                <a:ext cx="217170" cy="217170"/>
              </a:xfrm>
              <a:prstGeom prst="ellipse">
                <a:avLst/>
              </a:prstGeom>
              <a:solidFill>
                <a:srgbClr val="1B1D21"/>
              </a:solidFill>
              <a:ln w="19050">
                <a:solidFill>
                  <a:srgbClr val="9AA0A6"/>
                </a:solidFill>
              </a:ln>
            </p:spPr>
            <p:txBody>
              <a:bodyPr rtlCol="0" anchor="ctr"/>
              <a:lstStyle/>
              <a:p>
                <a:pPr algn="ctr"/>
              </a:p>
            </p:txBody>
          </p:sp>
          <p:sp>
            <p:nvSpPr>
              <p:cNvPr id="48" name="hub"/>
              <p:cNvSpPr/>
              <p:nvPr/>
            </p:nvSpPr>
            <p:spPr>
              <a:xfrm>
                <a:off x="6037935" y="1986762"/>
                <a:ext cx="52120" cy="52120"/>
              </a:xfrm>
              <a:prstGeom prst="ellipse">
                <a:avLst/>
              </a:prstGeom>
              <a:solidFill>
                <a:srgbClr val="9AA0A6"/>
              </a:solidFill>
              <a:ln>
                <a:noFill/>
              </a:ln>
            </p:spPr>
            <p:txBody>
              <a:bodyPr rtlCol="0" anchor="ctr"/>
              <a:lstStyle/>
              <a:p>
                <a:pPr algn="ctr"/>
              </a:p>
            </p:txBody>
          </p:sp>
          <p:sp>
            <p:nvSpPr>
              <p:cNvPr id="49" name="wheel"/>
              <p:cNvSpPr/>
              <p:nvPr/>
            </p:nvSpPr>
            <p:spPr>
              <a:xfrm>
                <a:off x="6244970" y="1904238"/>
                <a:ext cx="217170" cy="217170"/>
              </a:xfrm>
              <a:prstGeom prst="ellipse">
                <a:avLst/>
              </a:prstGeom>
              <a:solidFill>
                <a:srgbClr val="1B1D21"/>
              </a:solidFill>
              <a:ln w="19050">
                <a:solidFill>
                  <a:srgbClr val="9AA0A6"/>
                </a:solidFill>
              </a:ln>
            </p:spPr>
            <p:txBody>
              <a:bodyPr rtlCol="0" anchor="ctr"/>
              <a:lstStyle/>
              <a:p>
                <a:pPr algn="ctr"/>
              </a:p>
            </p:txBody>
          </p:sp>
          <p:sp>
            <p:nvSpPr>
              <p:cNvPr id="50" name="hub"/>
              <p:cNvSpPr/>
              <p:nvPr/>
            </p:nvSpPr>
            <p:spPr>
              <a:xfrm>
                <a:off x="6327495" y="1986762"/>
                <a:ext cx="52120" cy="52120"/>
              </a:xfrm>
              <a:prstGeom prst="ellipse">
                <a:avLst/>
              </a:prstGeom>
              <a:solidFill>
                <a:srgbClr val="9AA0A6"/>
              </a:solidFill>
              <a:ln>
                <a:noFill/>
              </a:ln>
            </p:spPr>
            <p:txBody>
              <a:bodyPr rtlCol="0" anchor="ctr"/>
              <a:lstStyle/>
              <a:p>
                <a:pPr algn="ctr"/>
              </a:p>
            </p:txBody>
          </p:sp>
          <p:sp>
            <p:nvSpPr>
              <p:cNvPr id="51" name="wheel"/>
              <p:cNvSpPr/>
              <p:nvPr/>
            </p:nvSpPr>
            <p:spPr>
              <a:xfrm>
                <a:off x="6534530" y="1904238"/>
                <a:ext cx="217170" cy="217170"/>
              </a:xfrm>
              <a:prstGeom prst="ellipse">
                <a:avLst/>
              </a:prstGeom>
              <a:solidFill>
                <a:srgbClr val="1B1D21"/>
              </a:solidFill>
              <a:ln w="19050">
                <a:solidFill>
                  <a:srgbClr val="9AA0A6"/>
                </a:solidFill>
              </a:ln>
            </p:spPr>
            <p:txBody>
              <a:bodyPr rtlCol="0" anchor="ctr"/>
              <a:lstStyle/>
              <a:p>
                <a:pPr algn="ctr"/>
              </a:p>
            </p:txBody>
          </p:sp>
          <p:sp>
            <p:nvSpPr>
              <p:cNvPr id="52" name="hub"/>
              <p:cNvSpPr/>
              <p:nvPr/>
            </p:nvSpPr>
            <p:spPr>
              <a:xfrm>
                <a:off x="6617055" y="1986762"/>
                <a:ext cx="52120" cy="52120"/>
              </a:xfrm>
              <a:prstGeom prst="ellipse">
                <a:avLst/>
              </a:prstGeom>
              <a:solidFill>
                <a:srgbClr val="9AA0A6"/>
              </a:solidFill>
              <a:ln>
                <a:noFill/>
              </a:ln>
            </p:spPr>
            <p:txBody>
              <a:bodyPr rtlCol="0" anchor="ctr"/>
              <a:lstStyle/>
              <a:p>
                <a:pPr algn="ctr"/>
              </a:p>
            </p:txBody>
          </p:sp>
        </p:grpSp>
        <p:grpSp>
          <p:nvGrpSpPr>
            <p:cNvPr id="53" name="engine icon" descr="Small drawing of a steam engine with its tender."/>
            <p:cNvGrpSpPr/>
            <p:nvPr/>
          </p:nvGrpSpPr>
          <p:grpSpPr>
            <a:xfrm rot="1501014">
              <a:off x="8147296" y="2156911"/>
              <a:ext cx="1737360" cy="637032"/>
              <a:chOff x="8147296" y="2156911"/>
              <a:chExt cx="1737360" cy="637032"/>
            </a:xfrm>
          </p:grpSpPr>
          <p:sp>
            <p:nvSpPr>
              <p:cNvPr id="54" name="tender body"/>
              <p:cNvSpPr/>
              <p:nvPr/>
            </p:nvSpPr>
            <p:spPr>
              <a:xfrm>
                <a:off x="8147296" y="2345125"/>
                <a:ext cx="550163" cy="275081"/>
              </a:xfrm>
              <a:prstGeom prst="roundRect">
                <a:avLst>
                  <a:gd name="adj" fmla="val 2631"/>
                </a:avLst>
              </a:prstGeom>
              <a:solidFill>
                <a:srgbClr val="6C7480"/>
              </a:solidFill>
              <a:ln>
                <a:noFill/>
              </a:ln>
            </p:spPr>
            <p:txBody>
              <a:bodyPr rtlCol="0" anchor="ctr"/>
              <a:lstStyle/>
              <a:p>
                <a:pPr algn="ctr"/>
              </a:p>
            </p:txBody>
          </p:sp>
          <p:sp>
            <p:nvSpPr>
              <p:cNvPr id="55" name="tender coal"/>
              <p:cNvSpPr/>
              <p:nvPr/>
            </p:nvSpPr>
            <p:spPr>
              <a:xfrm>
                <a:off x="8190730" y="2294452"/>
                <a:ext cx="463296" cy="65150"/>
              </a:xfrm>
              <a:prstGeom prst="rect">
                <a:avLst/>
              </a:prstGeom>
              <a:solidFill>
                <a:srgbClr val="1B1D21"/>
              </a:solidFill>
              <a:ln w="12700">
                <a:solidFill>
                  <a:srgbClr val="9AA0A6"/>
                </a:solidFill>
              </a:ln>
            </p:spPr>
            <p:txBody>
              <a:bodyPr rtlCol="0" anchor="ctr"/>
              <a:lstStyle/>
              <a:p>
                <a:pPr algn="ctr"/>
              </a:p>
            </p:txBody>
          </p:sp>
          <p:sp>
            <p:nvSpPr>
              <p:cNvPr id="56" name="tender frame"/>
              <p:cNvSpPr/>
              <p:nvPr/>
            </p:nvSpPr>
            <p:spPr>
              <a:xfrm>
                <a:off x="8147296" y="2620207"/>
                <a:ext cx="550163" cy="43433"/>
              </a:xfrm>
              <a:prstGeom prst="rect">
                <a:avLst/>
              </a:prstGeom>
              <a:solidFill>
                <a:srgbClr val="3A3F47"/>
              </a:solidFill>
              <a:ln w="9525">
                <a:solidFill>
                  <a:srgbClr val="9AA0A6"/>
                </a:solidFill>
              </a:ln>
            </p:spPr>
            <p:txBody>
              <a:bodyPr rtlCol="0" anchor="ctr"/>
              <a:lstStyle/>
              <a:p>
                <a:pPr algn="ctr"/>
              </a:p>
            </p:txBody>
          </p:sp>
          <p:sp>
            <p:nvSpPr>
              <p:cNvPr id="57" name="coupling"/>
              <p:cNvSpPr/>
              <p:nvPr/>
            </p:nvSpPr>
            <p:spPr>
              <a:xfrm>
                <a:off x="8697460" y="2533339"/>
                <a:ext cx="57912" cy="28956"/>
              </a:xfrm>
              <a:prstGeom prst="rect">
                <a:avLst/>
              </a:prstGeom>
              <a:solidFill>
                <a:srgbClr val="9AA0A6"/>
              </a:solidFill>
              <a:ln>
                <a:noFill/>
              </a:ln>
            </p:spPr>
            <p:txBody>
              <a:bodyPr rtlCol="0" anchor="ctr"/>
              <a:lstStyle/>
              <a:p>
                <a:pPr algn="ctr"/>
              </a:p>
            </p:txBody>
          </p:sp>
          <p:sp>
            <p:nvSpPr>
              <p:cNvPr id="58" name="wheel"/>
              <p:cNvSpPr/>
              <p:nvPr/>
            </p:nvSpPr>
            <p:spPr>
              <a:xfrm>
                <a:off x="8169013" y="2576773"/>
                <a:ext cx="217170" cy="217170"/>
              </a:xfrm>
              <a:prstGeom prst="ellipse">
                <a:avLst/>
              </a:prstGeom>
              <a:solidFill>
                <a:srgbClr val="1B1D21"/>
              </a:solidFill>
              <a:ln w="19050">
                <a:solidFill>
                  <a:srgbClr val="9AA0A6"/>
                </a:solidFill>
              </a:ln>
            </p:spPr>
            <p:txBody>
              <a:bodyPr rtlCol="0" anchor="ctr"/>
              <a:lstStyle/>
              <a:p>
                <a:pPr algn="ctr"/>
              </a:p>
            </p:txBody>
          </p:sp>
          <p:sp>
            <p:nvSpPr>
              <p:cNvPr id="59" name="hub"/>
              <p:cNvSpPr/>
              <p:nvPr/>
            </p:nvSpPr>
            <p:spPr>
              <a:xfrm>
                <a:off x="8251537" y="2659298"/>
                <a:ext cx="52120" cy="52120"/>
              </a:xfrm>
              <a:prstGeom prst="ellipse">
                <a:avLst/>
              </a:prstGeom>
              <a:solidFill>
                <a:srgbClr val="9AA0A6"/>
              </a:solidFill>
              <a:ln>
                <a:noFill/>
              </a:ln>
            </p:spPr>
            <p:txBody>
              <a:bodyPr rtlCol="0" anchor="ctr"/>
              <a:lstStyle/>
              <a:p>
                <a:pPr algn="ctr"/>
              </a:p>
            </p:txBody>
          </p:sp>
          <p:sp>
            <p:nvSpPr>
              <p:cNvPr id="60" name="wheel"/>
              <p:cNvSpPr/>
              <p:nvPr/>
            </p:nvSpPr>
            <p:spPr>
              <a:xfrm>
                <a:off x="8458573" y="2576773"/>
                <a:ext cx="217170" cy="217170"/>
              </a:xfrm>
              <a:prstGeom prst="ellipse">
                <a:avLst/>
              </a:prstGeom>
              <a:solidFill>
                <a:srgbClr val="1B1D21"/>
              </a:solidFill>
              <a:ln w="19050">
                <a:solidFill>
                  <a:srgbClr val="9AA0A6"/>
                </a:solidFill>
              </a:ln>
            </p:spPr>
            <p:txBody>
              <a:bodyPr rtlCol="0" anchor="ctr"/>
              <a:lstStyle/>
              <a:p>
                <a:pPr algn="ctr"/>
              </a:p>
            </p:txBody>
          </p:sp>
          <p:sp>
            <p:nvSpPr>
              <p:cNvPr id="61" name="hub"/>
              <p:cNvSpPr/>
              <p:nvPr/>
            </p:nvSpPr>
            <p:spPr>
              <a:xfrm>
                <a:off x="8541097" y="2659298"/>
                <a:ext cx="52120" cy="52120"/>
              </a:xfrm>
              <a:prstGeom prst="ellipse">
                <a:avLst/>
              </a:prstGeom>
              <a:solidFill>
                <a:srgbClr val="9AA0A6"/>
              </a:solidFill>
              <a:ln>
                <a:noFill/>
              </a:ln>
            </p:spPr>
            <p:txBody>
              <a:bodyPr rtlCol="0" anchor="ctr"/>
              <a:lstStyle/>
              <a:p>
                <a:pPr algn="ctr"/>
              </a:p>
            </p:txBody>
          </p:sp>
          <p:sp>
            <p:nvSpPr>
              <p:cNvPr id="62" name="cab"/>
              <p:cNvSpPr/>
              <p:nvPr/>
            </p:nvSpPr>
            <p:spPr>
              <a:xfrm>
                <a:off x="8726416" y="2214823"/>
                <a:ext cx="289560" cy="405384"/>
              </a:xfrm>
              <a:prstGeom prst="roundRect">
                <a:avLst>
                  <a:gd name="adj" fmla="val 2500"/>
                </a:avLst>
              </a:prstGeom>
              <a:solidFill>
                <a:srgbClr val="F28C28"/>
              </a:solidFill>
              <a:ln>
                <a:noFill/>
              </a:ln>
            </p:spPr>
            <p:txBody>
              <a:bodyPr rtlCol="0" anchor="ctr"/>
              <a:lstStyle/>
              <a:p>
                <a:pPr algn="ctr"/>
              </a:p>
            </p:txBody>
          </p:sp>
          <p:sp>
            <p:nvSpPr>
              <p:cNvPr id="63" name="cab roof"/>
              <p:cNvSpPr/>
              <p:nvPr/>
            </p:nvSpPr>
            <p:spPr>
              <a:xfrm>
                <a:off x="8711938" y="2193106"/>
                <a:ext cx="318516" cy="31851"/>
              </a:xfrm>
              <a:prstGeom prst="rect">
                <a:avLst/>
              </a:prstGeom>
              <a:solidFill>
                <a:srgbClr val="3A3F47"/>
              </a:solidFill>
              <a:ln w="9525">
                <a:solidFill>
                  <a:srgbClr val="9AA0A6"/>
                </a:solidFill>
              </a:ln>
            </p:spPr>
            <p:txBody>
              <a:bodyPr rtlCol="0" anchor="ctr"/>
              <a:lstStyle/>
              <a:p>
                <a:pPr algn="ctr"/>
              </a:p>
            </p:txBody>
          </p:sp>
          <p:sp>
            <p:nvSpPr>
              <p:cNvPr id="64" name="cab window"/>
              <p:cNvSpPr/>
              <p:nvPr/>
            </p:nvSpPr>
            <p:spPr>
              <a:xfrm>
                <a:off x="8784328" y="2294452"/>
                <a:ext cx="173735" cy="130301"/>
              </a:xfrm>
              <a:prstGeom prst="rect">
                <a:avLst/>
              </a:prstGeom>
              <a:solidFill>
                <a:srgbClr val="1B1D21"/>
              </a:solidFill>
              <a:ln>
                <a:noFill/>
              </a:ln>
            </p:spPr>
            <p:txBody>
              <a:bodyPr rtlCol="0" anchor="ctr"/>
              <a:lstStyle/>
              <a:p>
                <a:pPr algn="ctr"/>
              </a:p>
            </p:txBody>
          </p:sp>
          <p:sp>
            <p:nvSpPr>
              <p:cNvPr id="65" name="boiler"/>
              <p:cNvSpPr/>
              <p:nvPr/>
            </p:nvSpPr>
            <p:spPr>
              <a:xfrm>
                <a:off x="9015976" y="2301691"/>
                <a:ext cx="868680" cy="318516"/>
              </a:xfrm>
              <a:prstGeom prst="roundRect">
                <a:avLst>
                  <a:gd name="adj" fmla="val 27272"/>
                </a:avLst>
              </a:prstGeom>
              <a:solidFill>
                <a:srgbClr val="F28C28"/>
              </a:solidFill>
              <a:ln>
                <a:noFill/>
              </a:ln>
            </p:spPr>
            <p:txBody>
              <a:bodyPr rtlCol="0" anchor="ctr"/>
              <a:lstStyle/>
              <a:p>
                <a:pPr algn="ctr"/>
              </a:p>
            </p:txBody>
          </p:sp>
          <p:sp>
            <p:nvSpPr>
              <p:cNvPr id="66" name="chimney"/>
              <p:cNvSpPr/>
              <p:nvPr/>
            </p:nvSpPr>
            <p:spPr>
              <a:xfrm>
                <a:off x="9696442" y="2171389"/>
                <a:ext cx="101346" cy="137540"/>
              </a:xfrm>
              <a:prstGeom prst="rect">
                <a:avLst/>
              </a:prstGeom>
              <a:solidFill>
                <a:srgbClr val="3A3F47"/>
              </a:solidFill>
              <a:ln w="9525">
                <a:solidFill>
                  <a:srgbClr val="9AA0A6"/>
                </a:solidFill>
              </a:ln>
            </p:spPr>
            <p:txBody>
              <a:bodyPr rtlCol="0" anchor="ctr"/>
              <a:lstStyle/>
              <a:p>
                <a:pPr algn="ctr"/>
              </a:p>
            </p:txBody>
          </p:sp>
          <p:sp>
            <p:nvSpPr>
              <p:cNvPr id="67" name="chimney lip"/>
              <p:cNvSpPr/>
              <p:nvPr/>
            </p:nvSpPr>
            <p:spPr>
              <a:xfrm>
                <a:off x="9674725" y="2156911"/>
                <a:ext cx="144780" cy="28956"/>
              </a:xfrm>
              <a:prstGeom prst="rect">
                <a:avLst/>
              </a:prstGeom>
              <a:solidFill>
                <a:srgbClr val="3A3F47"/>
              </a:solidFill>
              <a:ln w="9525">
                <a:solidFill>
                  <a:srgbClr val="9AA0A6"/>
                </a:solidFill>
              </a:ln>
            </p:spPr>
            <p:txBody>
              <a:bodyPr rtlCol="0" anchor="ctr"/>
              <a:lstStyle/>
              <a:p>
                <a:pPr algn="ctr"/>
              </a:p>
            </p:txBody>
          </p:sp>
          <p:sp>
            <p:nvSpPr>
              <p:cNvPr id="68" name="dome"/>
              <p:cNvSpPr/>
              <p:nvPr/>
            </p:nvSpPr>
            <p:spPr>
              <a:xfrm>
                <a:off x="9262102" y="2236540"/>
                <a:ext cx="144780" cy="72390"/>
              </a:xfrm>
              <a:prstGeom prst="roundRect">
                <a:avLst>
                  <a:gd name="adj" fmla="val 40000"/>
                </a:avLst>
              </a:prstGeom>
              <a:solidFill>
                <a:srgbClr val="F28C28"/>
              </a:solidFill>
              <a:ln>
                <a:noFill/>
              </a:ln>
            </p:spPr>
            <p:txBody>
              <a:bodyPr rtlCol="0" anchor="ctr"/>
              <a:lstStyle/>
              <a:p>
                <a:pPr algn="ctr"/>
              </a:p>
            </p:txBody>
          </p:sp>
          <p:sp>
            <p:nvSpPr>
              <p:cNvPr id="69" name="frame"/>
              <p:cNvSpPr/>
              <p:nvPr/>
            </p:nvSpPr>
            <p:spPr>
              <a:xfrm>
                <a:off x="8726416" y="2620207"/>
                <a:ext cx="1158240" cy="43433"/>
              </a:xfrm>
              <a:prstGeom prst="rect">
                <a:avLst/>
              </a:prstGeom>
              <a:solidFill>
                <a:srgbClr val="3A3F47"/>
              </a:solidFill>
              <a:ln w="9525">
                <a:solidFill>
                  <a:srgbClr val="9AA0A6"/>
                </a:solidFill>
              </a:ln>
            </p:spPr>
            <p:txBody>
              <a:bodyPr rtlCol="0" anchor="ctr"/>
              <a:lstStyle/>
              <a:p>
                <a:pPr algn="ctr"/>
              </a:p>
            </p:txBody>
          </p:sp>
          <p:sp>
            <p:nvSpPr>
              <p:cNvPr id="70" name="wheel"/>
              <p:cNvSpPr/>
              <p:nvPr/>
            </p:nvSpPr>
            <p:spPr>
              <a:xfrm>
                <a:off x="8936347" y="2576773"/>
                <a:ext cx="217170" cy="217170"/>
              </a:xfrm>
              <a:prstGeom prst="ellipse">
                <a:avLst/>
              </a:prstGeom>
              <a:solidFill>
                <a:srgbClr val="1B1D21"/>
              </a:solidFill>
              <a:ln w="19050">
                <a:solidFill>
                  <a:srgbClr val="9AA0A6"/>
                </a:solidFill>
              </a:ln>
            </p:spPr>
            <p:txBody>
              <a:bodyPr rtlCol="0" anchor="ctr"/>
              <a:lstStyle/>
              <a:p>
                <a:pPr algn="ctr"/>
              </a:p>
            </p:txBody>
          </p:sp>
          <p:sp>
            <p:nvSpPr>
              <p:cNvPr id="71" name="hub"/>
              <p:cNvSpPr/>
              <p:nvPr/>
            </p:nvSpPr>
            <p:spPr>
              <a:xfrm>
                <a:off x="9018871" y="2659298"/>
                <a:ext cx="52120" cy="52120"/>
              </a:xfrm>
              <a:prstGeom prst="ellipse">
                <a:avLst/>
              </a:prstGeom>
              <a:solidFill>
                <a:srgbClr val="9AA0A6"/>
              </a:solidFill>
              <a:ln>
                <a:noFill/>
              </a:ln>
            </p:spPr>
            <p:txBody>
              <a:bodyPr rtlCol="0" anchor="ctr"/>
              <a:lstStyle/>
              <a:p>
                <a:pPr algn="ctr"/>
              </a:p>
            </p:txBody>
          </p:sp>
          <p:sp>
            <p:nvSpPr>
              <p:cNvPr id="72" name="wheel"/>
              <p:cNvSpPr/>
              <p:nvPr/>
            </p:nvSpPr>
            <p:spPr>
              <a:xfrm>
                <a:off x="9225907" y="2576773"/>
                <a:ext cx="217170" cy="217170"/>
              </a:xfrm>
              <a:prstGeom prst="ellipse">
                <a:avLst/>
              </a:prstGeom>
              <a:solidFill>
                <a:srgbClr val="1B1D21"/>
              </a:solidFill>
              <a:ln w="19050">
                <a:solidFill>
                  <a:srgbClr val="9AA0A6"/>
                </a:solidFill>
              </a:ln>
            </p:spPr>
            <p:txBody>
              <a:bodyPr rtlCol="0" anchor="ctr"/>
              <a:lstStyle/>
              <a:p>
                <a:pPr algn="ctr"/>
              </a:p>
            </p:txBody>
          </p:sp>
          <p:sp>
            <p:nvSpPr>
              <p:cNvPr id="73" name="hub"/>
              <p:cNvSpPr/>
              <p:nvPr/>
            </p:nvSpPr>
            <p:spPr>
              <a:xfrm>
                <a:off x="9308431" y="2659298"/>
                <a:ext cx="52120" cy="52120"/>
              </a:xfrm>
              <a:prstGeom prst="ellipse">
                <a:avLst/>
              </a:prstGeom>
              <a:solidFill>
                <a:srgbClr val="9AA0A6"/>
              </a:solidFill>
              <a:ln>
                <a:noFill/>
              </a:ln>
            </p:spPr>
            <p:txBody>
              <a:bodyPr rtlCol="0" anchor="ctr"/>
              <a:lstStyle/>
              <a:p>
                <a:pPr algn="ctr"/>
              </a:p>
            </p:txBody>
          </p:sp>
          <p:sp>
            <p:nvSpPr>
              <p:cNvPr id="74" name="wheel"/>
              <p:cNvSpPr/>
              <p:nvPr/>
            </p:nvSpPr>
            <p:spPr>
              <a:xfrm>
                <a:off x="9515467" y="2576773"/>
                <a:ext cx="217170" cy="217170"/>
              </a:xfrm>
              <a:prstGeom prst="ellipse">
                <a:avLst/>
              </a:prstGeom>
              <a:solidFill>
                <a:srgbClr val="1B1D21"/>
              </a:solidFill>
              <a:ln w="19050">
                <a:solidFill>
                  <a:srgbClr val="9AA0A6"/>
                </a:solidFill>
              </a:ln>
            </p:spPr>
            <p:txBody>
              <a:bodyPr rtlCol="0" anchor="ctr"/>
              <a:lstStyle/>
              <a:p>
                <a:pPr algn="ctr"/>
              </a:p>
            </p:txBody>
          </p:sp>
          <p:sp>
            <p:nvSpPr>
              <p:cNvPr id="75" name="hub"/>
              <p:cNvSpPr/>
              <p:nvPr/>
            </p:nvSpPr>
            <p:spPr>
              <a:xfrm>
                <a:off x="9597991" y="2659298"/>
                <a:ext cx="52120" cy="52120"/>
              </a:xfrm>
              <a:prstGeom prst="ellipse">
                <a:avLst/>
              </a:prstGeom>
              <a:solidFill>
                <a:srgbClr val="9AA0A6"/>
              </a:solidFill>
              <a:ln>
                <a:noFill/>
              </a:ln>
            </p:spPr>
            <p:txBody>
              <a:bodyPr rtlCol="0" anchor="ctr"/>
              <a:lstStyle/>
              <a:p>
                <a:pPr algn="ctr"/>
              </a:p>
            </p:txBody>
          </p:sp>
        </p:grpSp>
        <p:sp>
          <p:nvSpPr>
            <p:cNvPr id="76" name="fuel label"/>
            <p:cNvSpPr txBox="1"/>
            <p:nvPr/>
          </p:nvSpPr>
          <p:spPr>
            <a:xfrm>
              <a:off x="1828800" y="4023360"/>
              <a:ext cx="2743200" cy="384048"/>
            </a:xfrm>
            <a:prstGeom prst="rect">
              <a:avLst/>
            </a:prstGeom>
            <a:noFill/>
          </p:spPr>
          <p:txBody>
            <a:bodyPr wrap="square" anchor="ctr" lIns="18288" tIns="9144" rIns="18288" bIns="9144">
              <a:noAutofit/>
            </a:bodyPr>
            <a:lstStyle/>
            <a:p>
              <a:pPr algn="ctr"/>
              <a:r>
                <a:rPr sz="1800" b="1" i="0" lang="en-GB">
                  <a:solidFill>
                    <a:srgbClr val="F2F2F2"/>
                  </a:solidFill>
                  <a:latin typeface="Arial"/>
                </a:rPr>
                <a:t>Climbing: high</a:t>
              </a:r>
            </a:p>
          </p:txBody>
        </p:sp>
        <p:sp>
          <p:nvSpPr>
            <p:cNvPr id="77" name="fuel track"/>
            <p:cNvSpPr/>
            <p:nvPr/>
          </p:nvSpPr>
          <p:spPr>
            <a:xfrm>
              <a:off x="2011680" y="4498848"/>
              <a:ext cx="2377440" cy="274320"/>
            </a:xfrm>
            <a:prstGeom prst="roundRect">
              <a:avLst>
                <a:gd name="adj" fmla="val 16666"/>
              </a:avLst>
            </a:prstGeom>
            <a:solidFill>
              <a:srgbClr val="343A43"/>
            </a:solidFill>
            <a:ln w="12700">
              <a:solidFill>
                <a:srgbClr val="4A515B"/>
              </a:solidFill>
            </a:ln>
          </p:spPr>
          <p:txBody>
            <a:bodyPr rtlCol="0" anchor="ctr"/>
            <a:lstStyle/>
            <a:p>
              <a:pPr algn="ctr"/>
            </a:p>
          </p:txBody>
        </p:sp>
        <p:sp>
          <p:nvSpPr>
            <p:cNvPr id="78" name="fuel fill"/>
            <p:cNvSpPr/>
            <p:nvPr/>
          </p:nvSpPr>
          <p:spPr>
            <a:xfrm>
              <a:off x="2011680" y="4498848"/>
              <a:ext cx="2139696" cy="274320"/>
            </a:xfrm>
            <a:prstGeom prst="roundRect">
              <a:avLst>
                <a:gd name="adj" fmla="val 16666"/>
              </a:avLst>
            </a:prstGeom>
            <a:solidFill>
              <a:srgbClr val="F28C28"/>
            </a:solidFill>
            <a:ln>
              <a:noFill/>
            </a:ln>
          </p:spPr>
          <p:txBody>
            <a:bodyPr rtlCol="0" anchor="ctr"/>
            <a:lstStyle/>
            <a:p>
              <a:pPr algn="ctr"/>
            </a:p>
          </p:txBody>
        </p:sp>
        <p:sp>
          <p:nvSpPr>
            <p:cNvPr id="79" name="fuel label"/>
            <p:cNvSpPr txBox="1"/>
            <p:nvPr/>
          </p:nvSpPr>
          <p:spPr>
            <a:xfrm>
              <a:off x="4663440" y="4023360"/>
              <a:ext cx="2743200" cy="384048"/>
            </a:xfrm>
            <a:prstGeom prst="rect">
              <a:avLst/>
            </a:prstGeom>
            <a:noFill/>
          </p:spPr>
          <p:txBody>
            <a:bodyPr wrap="square" anchor="ctr" lIns="18288" tIns="9144" rIns="18288" bIns="9144">
              <a:noAutofit/>
            </a:bodyPr>
            <a:lstStyle/>
            <a:p>
              <a:pPr algn="ctr"/>
              <a:r>
                <a:rPr sz="1800" b="1" i="0" lang="en-GB">
                  <a:solidFill>
                    <a:srgbClr val="F2F2F2"/>
                  </a:solidFill>
                  <a:latin typeface="Arial"/>
                </a:rPr>
                <a:t>Steady: medium</a:t>
              </a:r>
            </a:p>
          </p:txBody>
        </p:sp>
        <p:sp>
          <p:nvSpPr>
            <p:cNvPr id="80" name="fuel track"/>
            <p:cNvSpPr/>
            <p:nvPr/>
          </p:nvSpPr>
          <p:spPr>
            <a:xfrm>
              <a:off x="4846320" y="4498848"/>
              <a:ext cx="2377440" cy="274320"/>
            </a:xfrm>
            <a:prstGeom prst="roundRect">
              <a:avLst>
                <a:gd name="adj" fmla="val 16666"/>
              </a:avLst>
            </a:prstGeom>
            <a:solidFill>
              <a:srgbClr val="343A43"/>
            </a:solidFill>
            <a:ln w="12700">
              <a:solidFill>
                <a:srgbClr val="4A515B"/>
              </a:solidFill>
            </a:ln>
          </p:spPr>
          <p:txBody>
            <a:bodyPr rtlCol="0" anchor="ctr"/>
            <a:lstStyle/>
            <a:p>
              <a:pPr algn="ctr"/>
            </a:p>
          </p:txBody>
        </p:sp>
        <p:sp>
          <p:nvSpPr>
            <p:cNvPr id="81" name="fuel fill"/>
            <p:cNvSpPr/>
            <p:nvPr/>
          </p:nvSpPr>
          <p:spPr>
            <a:xfrm>
              <a:off x="4846320" y="4498848"/>
              <a:ext cx="1307592" cy="274320"/>
            </a:xfrm>
            <a:prstGeom prst="roundRect">
              <a:avLst>
                <a:gd name="adj" fmla="val 16666"/>
              </a:avLst>
            </a:prstGeom>
            <a:solidFill>
              <a:srgbClr val="F28C28"/>
            </a:solidFill>
            <a:ln>
              <a:noFill/>
            </a:ln>
          </p:spPr>
          <p:txBody>
            <a:bodyPr rtlCol="0" anchor="ctr"/>
            <a:lstStyle/>
            <a:p>
              <a:pPr algn="ctr"/>
            </a:p>
          </p:txBody>
        </p:sp>
        <p:sp>
          <p:nvSpPr>
            <p:cNvPr id="82" name="fuel label"/>
            <p:cNvSpPr txBox="1"/>
            <p:nvPr/>
          </p:nvSpPr>
          <p:spPr>
            <a:xfrm>
              <a:off x="7498079" y="4023360"/>
              <a:ext cx="2743200" cy="384048"/>
            </a:xfrm>
            <a:prstGeom prst="rect">
              <a:avLst/>
            </a:prstGeom>
            <a:noFill/>
          </p:spPr>
          <p:txBody>
            <a:bodyPr wrap="square" anchor="ctr" lIns="18288" tIns="9144" rIns="18288" bIns="9144">
              <a:noAutofit/>
            </a:bodyPr>
            <a:lstStyle/>
            <a:p>
              <a:pPr algn="ctr"/>
              <a:r>
                <a:rPr sz="1800" b="1" i="0" lang="en-GB">
                  <a:solidFill>
                    <a:srgbClr val="F2F2F2"/>
                  </a:solidFill>
                  <a:latin typeface="Arial"/>
                </a:rPr>
                <a:t>Coasting: low</a:t>
              </a:r>
            </a:p>
          </p:txBody>
        </p:sp>
        <p:sp>
          <p:nvSpPr>
            <p:cNvPr id="83" name="fuel track"/>
            <p:cNvSpPr/>
            <p:nvPr/>
          </p:nvSpPr>
          <p:spPr>
            <a:xfrm>
              <a:off x="7680959" y="4498848"/>
              <a:ext cx="2377440" cy="274320"/>
            </a:xfrm>
            <a:prstGeom prst="roundRect">
              <a:avLst>
                <a:gd name="adj" fmla="val 16666"/>
              </a:avLst>
            </a:prstGeom>
            <a:solidFill>
              <a:srgbClr val="343A43"/>
            </a:solidFill>
            <a:ln w="12700">
              <a:solidFill>
                <a:srgbClr val="4A515B"/>
              </a:solidFill>
            </a:ln>
          </p:spPr>
          <p:txBody>
            <a:bodyPr rtlCol="0" anchor="ctr"/>
            <a:lstStyle/>
            <a:p>
              <a:pPr algn="ctr"/>
            </a:p>
          </p:txBody>
        </p:sp>
        <p:sp>
          <p:nvSpPr>
            <p:cNvPr id="84" name="fuel fill"/>
            <p:cNvSpPr/>
            <p:nvPr/>
          </p:nvSpPr>
          <p:spPr>
            <a:xfrm>
              <a:off x="7680959" y="4498848"/>
              <a:ext cx="523036" cy="274320"/>
            </a:xfrm>
            <a:prstGeom prst="roundRect">
              <a:avLst>
                <a:gd name="adj" fmla="val 16666"/>
              </a:avLst>
            </a:prstGeom>
            <a:solidFill>
              <a:srgbClr val="F28C28"/>
            </a:solidFill>
            <a:ln>
              <a:noFill/>
            </a:ln>
          </p:spPr>
          <p:txBody>
            <a:bodyPr rtlCol="0" anchor="ctr"/>
            <a:lstStyle/>
            <a:p>
              <a:pPr algn="ctr"/>
            </a:p>
          </p:txBody>
        </p:sp>
        <p:sp>
          <p:nvSpPr>
            <p:cNvPr id="85" name="note"/>
            <p:cNvSpPr txBox="1"/>
            <p:nvPr/>
          </p:nvSpPr>
          <p:spPr>
            <a:xfrm>
              <a:off x="640080" y="5074920"/>
              <a:ext cx="4572000" cy="320040"/>
            </a:xfrm>
            <a:prstGeom prst="rect">
              <a:avLst/>
            </a:prstGeom>
            <a:noFill/>
          </p:spPr>
          <p:txBody>
            <a:bodyPr wrap="square" anchor="ctr" lIns="18288" tIns="9144" rIns="18288" bIns="9144">
              <a:noAutofit/>
            </a:bodyPr>
            <a:lstStyle/>
            <a:p>
              <a:pPr algn="l"/>
              <a:r>
                <a:rPr sz="1400" b="0" i="0" lang="en-GB">
                  <a:solidFill>
                    <a:srgbClr val="A9B0B8"/>
                  </a:solidFill>
                  <a:latin typeface="Arial"/>
                </a:rPr>
                <a:t>Shape only. Not measured.</a:t>
              </a:r>
            </a:p>
          </p:txBody>
        </p:sp>
      </p:grpSp>
      <p:sp>
        <p:nvSpPr>
          <p:cNvPr id="8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7"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8"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Heavy loads, acceleration and hills use more. Coasting uses less.</a:t>
            </a:r>
          </a:p>
        </p:txBody>
      </p:sp>
      <p:sp>
        <p:nvSpPr>
          <p:cNvPr id="8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500"/>
                                        <p:tgtEl>
                                          <p:spTgt spid="86"/>
                                        </p:tgtEl>
                                      </p:cBhvr>
                                    </p:animEffect>
                                  </p:childTnLst>
                                </p:cTn>
                              </p:par>
                              <p:par>
                                <p:cTn id="11" presetID="10" presetClass="entr" presetSubtype="0" fill="hold" nodeType="withEffect">
                                  <p:stCondLst>
                                    <p:cond delay="60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00"/>
                                        <p:tgtEl>
                                          <p:spTgt spid="87"/>
                                        </p:tgtEl>
                                      </p:cBhvr>
                                    </p:animEffect>
                                  </p:childTnLst>
                                </p:cTn>
                              </p:par>
                              <p:par>
                                <p:cTn id="14" presetID="10" presetClass="entr" presetSubtype="0" fill="hold" nodeType="withEffect">
                                  <p:stCondLst>
                                    <p:cond delay="900"/>
                                  </p:stCondLst>
                                  <p:childTnLst>
                                    <p:set>
                                      <p:cBhvr>
                                        <p:cTn id="15" dur="1" fill="hold">
                                          <p:stCondLst>
                                            <p:cond delay="0"/>
                                          </p:stCondLst>
                                        </p:cTn>
                                        <p:tgtEl>
                                          <p:spTgt spid="88"/>
                                        </p:tgtEl>
                                        <p:attrNameLst>
                                          <p:attrName>style.visibility</p:attrName>
                                        </p:attrNameLst>
                                      </p:cBhvr>
                                      <p:to>
                                        <p:strVal val="visible"/>
                                      </p:to>
                                    </p:set>
                                    <p:animEffect transition="in" filter="fade">
                                      <p:cBhvr>
                                        <p:cTn id="1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Test targets for range</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graphicFrame>
        <p:nvGraphicFramePr>
          <p:cNvPr id="4" name="TABLE" descr="Table of provisional range targets per tank for Small, Medium and Large engines. Small: water 2 to 3 kilometres, coal 4 to 5. Medium: water 4 to 5, coal about 7. Large: water 6 to 7, coal about 10."/>
          <p:cNvGraphicFramePr>
            <a:graphicFrameLocks noGrp="1"/>
          </p:cNvGraphicFramePr>
          <p:nvPr/>
        </p:nvGraphicFramePr>
        <p:xfrm>
          <a:off x="2167128" y="1691640"/>
          <a:ext cx="7863840" cy="3017520"/>
        </p:xfrm>
        <a:graphic>
          <a:graphicData uri="http://schemas.openxmlformats.org/drawingml/2006/table">
            <a:tbl>
              <a:tblPr firstRow="1" bandRow="0">
                <a:tableStyleId>{5C22544A-7EE6-4342-B048-85BDC9FD1C3A}</a:tableStyleId>
              </a:tblPr>
              <a:tblGrid>
                <a:gridCol w="2377440"/>
                <a:gridCol w="2743200"/>
                <a:gridCol w="2743200"/>
              </a:tblGrid>
              <a:tr h="594360">
                <a:tc gridSpan="3">
                  <a:txBody>
                    <a:bodyPr wrap="square"/>
                    <a:lstStyle/>
                    <a:p>
                      <a:pPr algn="l"/>
                      <a:r>
                        <a:rPr sz="2000" b="1" i="0" lang="en-GB">
                          <a:solidFill>
                            <a:srgbClr val="F2F2F2"/>
                          </a:solidFill>
                          <a:latin typeface="Arial"/>
                        </a:rPr>
                        <a:t>Route-dependent targets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hMerge="1">
                  <a:txBody>
                    <a:bodyPr/>
                    <a:lstStyle/>
                    <a:p/>
                  </a:txBody>
                  <a:tcPr/>
                </a:tc>
                <a:tc hMerge="1">
                  <a:txBody>
                    <a:bodyPr/>
                    <a:lstStyle/>
                    <a:p/>
                  </a:txBody>
                  <a:tcPr/>
                </a:tc>
              </a:tr>
              <a:tr h="502920">
                <a:tc>
                  <a:txBody>
                    <a:bodyPr wrap="square"/>
                    <a:lstStyle/>
                    <a:p>
                      <a:pPr algn="l"/>
                      <a:r>
                        <a:rPr sz="1800" b="0" i="0" lang="en-GB">
                          <a:solidFill>
                            <a:srgbClr val="F2F2F2"/>
                          </a:solidFill>
                          <a:latin typeface="Arial"/>
                        </a:rPr>
                        <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1" i="0" lang="en-GB">
                          <a:solidFill>
                            <a:srgbClr val="4DA3FF"/>
                          </a:solidFill>
                          <a:latin typeface="Arial"/>
                        </a:rPr>
                        <a:t>Water</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1" i="0" lang="en-GB">
                          <a:solidFill>
                            <a:srgbClr val="F2F2F2"/>
                          </a:solidFill>
                          <a:latin typeface="Arial"/>
                        </a:rPr>
                        <a:t>Coal</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640080">
                <a:tc>
                  <a:txBody>
                    <a:bodyPr wrap="square"/>
                    <a:lstStyle/>
                    <a:p>
                      <a:pPr algn="l"/>
                      <a:r>
                        <a:rPr sz="2000" b="1" i="0" lang="en-GB">
                          <a:solidFill>
                            <a:srgbClr val="F28C28"/>
                          </a:solidFill>
                          <a:latin typeface="Arial"/>
                        </a:rPr>
                        <a:t>Small</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2–3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4–5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640080">
                <a:tc>
                  <a:txBody>
                    <a:bodyPr wrap="square"/>
                    <a:lstStyle/>
                    <a:p>
                      <a:pPr algn="l"/>
                      <a:r>
                        <a:rPr sz="2000" b="1" i="0" lang="en-GB">
                          <a:solidFill>
                            <a:srgbClr val="F28C28"/>
                          </a:solidFill>
                          <a:latin typeface="Arial"/>
                        </a:rPr>
                        <a:t>Medium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4–5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about 7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640080">
                <a:tc>
                  <a:txBody>
                    <a:bodyPr wrap="square"/>
                    <a:lstStyle/>
                    <a:p>
                      <a:pPr algn="l"/>
                      <a:r>
                        <a:rPr sz="2000" b="1" i="0" lang="en-GB">
                          <a:solidFill>
                            <a:srgbClr val="F28C28"/>
                          </a:solidFill>
                          <a:latin typeface="Arial"/>
                        </a:rPr>
                        <a:t>Large</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6–7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ctr"/>
                      <a:r>
                        <a:rPr sz="2000" b="0" i="0" lang="en-GB">
                          <a:solidFill>
                            <a:srgbClr val="F2F2F2"/>
                          </a:solidFill>
                          <a:latin typeface="Arial"/>
                        </a:rPr>
                        <a:t>about 10 km</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bl>
          </a:graphicData>
        </a:graphic>
      </p:graphicFrame>
      <p:sp>
        <p:nvSpPr>
          <p:cNvPr id="5" name="ICHIP"/>
          <p:cNvSpPr/>
          <p:nvPr/>
        </p:nvSpPr>
        <p:spPr>
          <a:xfrm>
            <a:off x="8430767" y="1847088"/>
            <a:ext cx="1463040" cy="292608"/>
          </a:xfrm>
          <a:prstGeom prst="roundRect">
            <a:avLst>
              <a:gd name="adj" fmla="val 375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sp>
        <p:nvSpPr>
          <p:cNvPr id="6" name="footer"/>
          <p:cNvSpPr txBox="1"/>
          <p:nvPr/>
        </p:nvSpPr>
        <p:spPr>
          <a:xfrm>
            <a:off x="2167128" y="4754880"/>
            <a:ext cx="7863840" cy="411480"/>
          </a:xfrm>
          <a:prstGeom prst="rect">
            <a:avLst/>
          </a:prstGeom>
          <a:noFill/>
        </p:spPr>
        <p:txBody>
          <a:bodyPr wrap="square" anchor="ctr" lIns="18288" tIns="9144" rIns="18288" bIns="9144">
            <a:noAutofit/>
          </a:bodyPr>
          <a:lstStyle/>
          <a:p>
            <a:pPr algn="ctr"/>
            <a:r>
              <a:rPr sz="1800" b="0" i="0" lang="en-GB">
                <a:solidFill>
                  <a:srgbClr val="A9B0B8"/>
                </a:solidFill>
                <a:latin typeface="Arial"/>
              </a:rPr>
              <a:t>Not guaranteed distances or tank sizes.</a:t>
            </a:r>
          </a:p>
        </p:txBody>
      </p:sp>
      <p:sp>
        <p:nvSpPr>
          <p:cNvPr id="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9"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Test targets for range per tank. They depend on the route and may change.</a:t>
            </a:r>
          </a:p>
        </p:txBody>
      </p:sp>
      <p:sp>
        <p:nvSpPr>
          <p:cNvPr id="10"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1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1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better fuel</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fuels and a water question" descr="Coal and Compacted Coal side by side, each with a bar for burn time. The Compacted Coal bar is longer. A water drop with a question mark shows that water saving is not established."/>
          <p:cNvGrpSpPr/>
          <p:nvPr/>
        </p:nvGrpSpPr>
        <p:grpSpPr>
          <a:xfrm>
            <a:off x="548640" y="1417320"/>
            <a:ext cx="11091672" cy="3657600"/>
            <a:chOff x="548640" y="1417320"/>
            <a:chExt cx="11091672" cy="3657600"/>
          </a:xfrm>
        </p:grpSpPr>
        <p:sp>
          <p:nvSpPr>
            <p:cNvPr id="5" name="fuel card"/>
            <p:cNvSpPr/>
            <p:nvPr/>
          </p:nvSpPr>
          <p:spPr>
            <a:xfrm>
              <a:off x="548640" y="1417320"/>
              <a:ext cx="3383280" cy="3200400"/>
            </a:xfrm>
            <a:prstGeom prst="roundRect">
              <a:avLst>
                <a:gd name="adj" fmla="val 2857"/>
              </a:avLst>
            </a:prstGeom>
            <a:solidFill>
              <a:srgbClr val="2B2F36"/>
            </a:solidFill>
            <a:ln>
              <a:noFill/>
            </a:ln>
          </p:spPr>
          <p:txBody>
            <a:bodyPr rtlCol="0" anchor="ctr"/>
            <a:lstStyle/>
            <a:p>
              <a:pPr algn="ctr"/>
            </a:p>
          </p:txBody>
        </p:sp>
        <p:sp>
          <p:nvSpPr>
            <p:cNvPr id="6" name="coal lump"/>
            <p:cNvSpPr/>
            <p:nvPr/>
          </p:nvSpPr>
          <p:spPr>
            <a:xfrm>
              <a:off x="1371600" y="1645920"/>
              <a:ext cx="1737360" cy="1234440"/>
            </a:xfrm>
            <a:custGeom>
              <a:avLst/>
              <a:gdLst/>
              <a:ahLst/>
              <a:cxnLst/>
              <a:rect l="l" t="t" r="r" b="b"/>
              <a:pathLst>
                <a:path w="1737360" h="1234440">
                  <a:moveTo>
                    <a:pt x="137160" y="1143000"/>
                  </a:moveTo>
                  <a:lnTo>
                    <a:pt x="0" y="594360"/>
                  </a:lnTo>
                  <a:lnTo>
                    <a:pt x="365760" y="137160"/>
                  </a:lnTo>
                  <a:lnTo>
                    <a:pt x="868680" y="0"/>
                  </a:lnTo>
                  <a:lnTo>
                    <a:pt x="1417320" y="182880"/>
                  </a:lnTo>
                  <a:lnTo>
                    <a:pt x="1737360" y="640080"/>
                  </a:lnTo>
                  <a:lnTo>
                    <a:pt x="1554480" y="1143000"/>
                  </a:lnTo>
                  <a:lnTo>
                    <a:pt x="914400" y="1234440"/>
                  </a:lnTo>
                  <a:close/>
                </a:path>
              </a:pathLst>
            </a:custGeom>
            <a:solidFill>
              <a:srgbClr val="101215"/>
            </a:solidFill>
            <a:ln w="25400">
              <a:solidFill>
                <a:srgbClr val="B5BBC2"/>
              </a:solidFill>
            </a:ln>
          </p:spPr>
          <p:txBody>
            <a:bodyPr rtlCol="0" anchor="ctr"/>
            <a:lstStyle/>
            <a:p>
              <a:pPr algn="ctr"/>
            </a:p>
          </p:txBody>
        </p:sp>
        <p:cxnSp>
          <p:nvCxnSpPr>
            <p:cNvPr id="7" name="facet"/>
            <p:cNvCxnSpPr/>
            <p:nvPr/>
          </p:nvCxnSpPr>
          <p:spPr>
            <a:xfrm>
              <a:off x="1737360" y="1783080"/>
              <a:ext cx="502920" cy="548640"/>
            </a:xfrm>
            <a:prstGeom prst="line">
              <a:avLst/>
            </a:prstGeom>
            <a:ln w="19050">
              <a:solidFill>
                <a:srgbClr val="5A616B"/>
              </a:solidFill>
            </a:ln>
          </p:spPr>
        </p:cxnSp>
        <p:cxnSp>
          <p:nvCxnSpPr>
            <p:cNvPr id="8" name="facet"/>
            <p:cNvCxnSpPr/>
            <p:nvPr/>
          </p:nvCxnSpPr>
          <p:spPr>
            <a:xfrm flipV="1">
              <a:off x="2240280" y="2286000"/>
              <a:ext cx="868680" cy="45720"/>
            </a:xfrm>
            <a:prstGeom prst="line">
              <a:avLst/>
            </a:prstGeom>
            <a:ln w="19050">
              <a:solidFill>
                <a:srgbClr val="5A616B"/>
              </a:solidFill>
            </a:ln>
          </p:spPr>
        </p:cxnSp>
        <p:cxnSp>
          <p:nvCxnSpPr>
            <p:cNvPr id="9" name="facet"/>
            <p:cNvCxnSpPr/>
            <p:nvPr/>
          </p:nvCxnSpPr>
          <p:spPr>
            <a:xfrm>
              <a:off x="2240280" y="2331720"/>
              <a:ext cx="45720" cy="548640"/>
            </a:xfrm>
            <a:prstGeom prst="line">
              <a:avLst/>
            </a:prstGeom>
            <a:ln w="19050">
              <a:solidFill>
                <a:srgbClr val="5A616B"/>
              </a:solidFill>
            </a:ln>
          </p:spPr>
        </p:cxnSp>
        <p:sp>
          <p:nvSpPr>
            <p:cNvPr id="10" name="fuel name"/>
            <p:cNvSpPr txBox="1"/>
            <p:nvPr/>
          </p:nvSpPr>
          <p:spPr>
            <a:xfrm>
              <a:off x="731520" y="3017520"/>
              <a:ext cx="3017520" cy="411480"/>
            </a:xfrm>
            <a:prstGeom prst="rect">
              <a:avLst/>
            </a:prstGeom>
            <a:noFill/>
          </p:spPr>
          <p:txBody>
            <a:bodyPr wrap="square" anchor="ctr" lIns="18288" tIns="9144" rIns="18288" bIns="9144">
              <a:noAutofit/>
            </a:bodyPr>
            <a:lstStyle/>
            <a:p>
              <a:pPr algn="ctr"/>
              <a:r>
                <a:rPr sz="2000" b="1" i="0" lang="en-GB">
                  <a:solidFill>
                    <a:srgbClr val="F2F2F2"/>
                  </a:solidFill>
                  <a:latin typeface="Arial"/>
                </a:rPr>
                <a:t>Coal</a:t>
              </a:r>
            </a:p>
          </p:txBody>
        </p:sp>
        <p:sp>
          <p:nvSpPr>
            <p:cNvPr id="11" name="bar caption"/>
            <p:cNvSpPr txBox="1"/>
            <p:nvPr/>
          </p:nvSpPr>
          <p:spPr>
            <a:xfrm>
              <a:off x="777240" y="3520440"/>
              <a:ext cx="292608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Burn time</a:t>
              </a:r>
            </a:p>
          </p:txBody>
        </p:sp>
        <p:sp>
          <p:nvSpPr>
            <p:cNvPr id="12" name="burn track"/>
            <p:cNvSpPr/>
            <p:nvPr/>
          </p:nvSpPr>
          <p:spPr>
            <a:xfrm>
              <a:off x="777240" y="3840480"/>
              <a:ext cx="2926080" cy="310896"/>
            </a:xfrm>
            <a:prstGeom prst="roundRect">
              <a:avLst>
                <a:gd name="adj" fmla="val 17647"/>
              </a:avLst>
            </a:prstGeom>
            <a:solidFill>
              <a:srgbClr val="343A43"/>
            </a:solidFill>
            <a:ln w="12700">
              <a:solidFill>
                <a:srgbClr val="4A515B"/>
              </a:solidFill>
            </a:ln>
          </p:spPr>
          <p:txBody>
            <a:bodyPr rtlCol="0" anchor="ctr"/>
            <a:lstStyle/>
            <a:p>
              <a:pPr algn="ctr"/>
            </a:p>
          </p:txBody>
        </p:sp>
        <p:sp>
          <p:nvSpPr>
            <p:cNvPr id="13" name="burn fill"/>
            <p:cNvSpPr/>
            <p:nvPr/>
          </p:nvSpPr>
          <p:spPr>
            <a:xfrm>
              <a:off x="777240" y="3840480"/>
              <a:ext cx="1609344" cy="310896"/>
            </a:xfrm>
            <a:prstGeom prst="roundRect">
              <a:avLst>
                <a:gd name="adj" fmla="val 17647"/>
              </a:avLst>
            </a:prstGeom>
            <a:solidFill>
              <a:srgbClr val="F28C28"/>
            </a:solidFill>
            <a:ln>
              <a:noFill/>
            </a:ln>
          </p:spPr>
          <p:txBody>
            <a:bodyPr rtlCol="0" anchor="ctr"/>
            <a:lstStyle/>
            <a:p>
              <a:pPr algn="ctr"/>
            </a:p>
          </p:txBody>
        </p:sp>
        <p:sp>
          <p:nvSpPr>
            <p:cNvPr id="14" name="fuel card"/>
            <p:cNvSpPr/>
            <p:nvPr/>
          </p:nvSpPr>
          <p:spPr>
            <a:xfrm>
              <a:off x="4114800" y="1417320"/>
              <a:ext cx="3383280" cy="3200400"/>
            </a:xfrm>
            <a:prstGeom prst="roundRect">
              <a:avLst>
                <a:gd name="adj" fmla="val 2857"/>
              </a:avLst>
            </a:prstGeom>
            <a:solidFill>
              <a:srgbClr val="2B2F36"/>
            </a:solidFill>
            <a:ln>
              <a:noFill/>
            </a:ln>
          </p:spPr>
          <p:txBody>
            <a:bodyPr rtlCol="0" anchor="ctr"/>
            <a:lstStyle/>
            <a:p>
              <a:pPr algn="ctr"/>
            </a:p>
          </p:txBody>
        </p:sp>
        <p:sp>
          <p:nvSpPr>
            <p:cNvPr id="15" name="compacted block"/>
            <p:cNvSpPr/>
            <p:nvPr/>
          </p:nvSpPr>
          <p:spPr>
            <a:xfrm>
              <a:off x="4892040" y="1783080"/>
              <a:ext cx="1828800" cy="1005840"/>
            </a:xfrm>
            <a:prstGeom prst="roundRect">
              <a:avLst>
                <a:gd name="adj" fmla="val 10909"/>
              </a:avLst>
            </a:prstGeom>
            <a:solidFill>
              <a:srgbClr val="101215"/>
            </a:solidFill>
            <a:ln w="25400">
              <a:solidFill>
                <a:srgbClr val="B5BBC2"/>
              </a:solidFill>
            </a:ln>
          </p:spPr>
          <p:txBody>
            <a:bodyPr rtlCol="0" anchor="ctr"/>
            <a:lstStyle/>
            <a:p>
              <a:pPr algn="ctr"/>
            </a:p>
          </p:txBody>
        </p:sp>
        <p:cxnSp>
          <p:nvCxnSpPr>
            <p:cNvPr id="16" name="groove"/>
            <p:cNvCxnSpPr/>
            <p:nvPr/>
          </p:nvCxnSpPr>
          <p:spPr>
            <a:xfrm>
              <a:off x="5501944" y="1828800"/>
              <a:ext cx="0" cy="914400"/>
            </a:xfrm>
            <a:prstGeom prst="line">
              <a:avLst/>
            </a:prstGeom>
            <a:ln w="25400">
              <a:solidFill>
                <a:srgbClr val="5A616B"/>
              </a:solidFill>
            </a:ln>
          </p:spPr>
        </p:cxnSp>
        <p:cxnSp>
          <p:nvCxnSpPr>
            <p:cNvPr id="17" name="groove"/>
            <p:cNvCxnSpPr/>
            <p:nvPr/>
          </p:nvCxnSpPr>
          <p:spPr>
            <a:xfrm>
              <a:off x="6111849" y="1828800"/>
              <a:ext cx="0" cy="914400"/>
            </a:xfrm>
            <a:prstGeom prst="line">
              <a:avLst/>
            </a:prstGeom>
            <a:ln w="25400">
              <a:solidFill>
                <a:srgbClr val="5A616B"/>
              </a:solidFill>
            </a:ln>
          </p:spPr>
        </p:cxnSp>
        <p:sp>
          <p:nvSpPr>
            <p:cNvPr id="18" name="fuel name"/>
            <p:cNvSpPr txBox="1"/>
            <p:nvPr/>
          </p:nvSpPr>
          <p:spPr>
            <a:xfrm>
              <a:off x="4297680" y="3017520"/>
              <a:ext cx="3017520" cy="411480"/>
            </a:xfrm>
            <a:prstGeom prst="rect">
              <a:avLst/>
            </a:prstGeom>
            <a:noFill/>
          </p:spPr>
          <p:txBody>
            <a:bodyPr wrap="square" anchor="ctr" lIns="18288" tIns="9144" rIns="18288" bIns="9144">
              <a:noAutofit/>
            </a:bodyPr>
            <a:lstStyle/>
            <a:p>
              <a:pPr algn="ctr"/>
              <a:r>
                <a:rPr sz="2000" b="1" i="0" lang="en-GB">
                  <a:solidFill>
                    <a:srgbClr val="F2F2F2"/>
                  </a:solidFill>
                  <a:latin typeface="Arial"/>
                </a:rPr>
                <a:t>Compacted Coal</a:t>
              </a:r>
            </a:p>
          </p:txBody>
        </p:sp>
        <p:sp>
          <p:nvSpPr>
            <p:cNvPr id="19" name="bar caption"/>
            <p:cNvSpPr txBox="1"/>
            <p:nvPr/>
          </p:nvSpPr>
          <p:spPr>
            <a:xfrm>
              <a:off x="4343400" y="3520440"/>
              <a:ext cx="292608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Burn time</a:t>
              </a:r>
            </a:p>
          </p:txBody>
        </p:sp>
        <p:sp>
          <p:nvSpPr>
            <p:cNvPr id="20" name="burn track"/>
            <p:cNvSpPr/>
            <p:nvPr/>
          </p:nvSpPr>
          <p:spPr>
            <a:xfrm>
              <a:off x="4343400" y="3840480"/>
              <a:ext cx="2926080" cy="310896"/>
            </a:xfrm>
            <a:prstGeom prst="roundRect">
              <a:avLst>
                <a:gd name="adj" fmla="val 17647"/>
              </a:avLst>
            </a:prstGeom>
            <a:solidFill>
              <a:srgbClr val="343A43"/>
            </a:solidFill>
            <a:ln w="12700">
              <a:solidFill>
                <a:srgbClr val="4A515B"/>
              </a:solidFill>
            </a:ln>
          </p:spPr>
          <p:txBody>
            <a:bodyPr rtlCol="0" anchor="ctr"/>
            <a:lstStyle/>
            <a:p>
              <a:pPr algn="ctr"/>
            </a:p>
          </p:txBody>
        </p:sp>
        <p:sp>
          <p:nvSpPr>
            <p:cNvPr id="21" name="burn fill"/>
            <p:cNvSpPr/>
            <p:nvPr/>
          </p:nvSpPr>
          <p:spPr>
            <a:xfrm>
              <a:off x="4343400" y="3840480"/>
              <a:ext cx="2691993" cy="310896"/>
            </a:xfrm>
            <a:prstGeom prst="roundRect">
              <a:avLst>
                <a:gd name="adj" fmla="val 17647"/>
              </a:avLst>
            </a:prstGeom>
            <a:solidFill>
              <a:srgbClr val="F28C28"/>
            </a:solidFill>
            <a:ln>
              <a:noFill/>
            </a:ln>
          </p:spPr>
          <p:txBody>
            <a:bodyPr rtlCol="0" anchor="ctr"/>
            <a:lstStyle/>
            <a:p>
              <a:pPr algn="ctr"/>
            </a:p>
          </p:txBody>
        </p:sp>
        <p:sp>
          <p:nvSpPr>
            <p:cNvPr id="22" name="scale note"/>
            <p:cNvSpPr txBox="1"/>
            <p:nvPr/>
          </p:nvSpPr>
          <p:spPr>
            <a:xfrm>
              <a:off x="548640" y="4754880"/>
              <a:ext cx="6949440" cy="320040"/>
            </a:xfrm>
            <a:prstGeom prst="rect">
              <a:avLst/>
            </a:prstGeom>
            <a:noFill/>
          </p:spPr>
          <p:txBody>
            <a:bodyPr wrap="square" anchor="ctr" lIns="18288" tIns="9144" rIns="18288" bIns="9144">
              <a:noAutofit/>
            </a:bodyPr>
            <a:lstStyle/>
            <a:p>
              <a:pPr algn="ctr"/>
              <a:r>
                <a:rPr sz="1400" b="0" i="0" lang="en-GB">
                  <a:solidFill>
                    <a:srgbClr val="A9B0B8"/>
                  </a:solidFill>
                  <a:latin typeface="Arial"/>
                </a:rPr>
                <a:t>Not to scale</a:t>
              </a:r>
            </a:p>
          </p:txBody>
        </p:sp>
        <p:sp>
          <p:nvSpPr>
            <p:cNvPr id="23" name="water card"/>
            <p:cNvSpPr/>
            <p:nvPr/>
          </p:nvSpPr>
          <p:spPr>
            <a:xfrm>
              <a:off x="7863840" y="1417320"/>
              <a:ext cx="3776472" cy="3200400"/>
            </a:xfrm>
            <a:prstGeom prst="roundRect">
              <a:avLst>
                <a:gd name="adj" fmla="val 2857"/>
              </a:avLst>
            </a:prstGeom>
            <a:solidFill>
              <a:srgbClr val="2B2F36"/>
            </a:solidFill>
            <a:ln w="19050">
              <a:solidFill>
                <a:srgbClr val="4A515B"/>
              </a:solidFill>
            </a:ln>
          </p:spPr>
          <p:txBody>
            <a:bodyPr rtlCol="0" anchor="ctr"/>
            <a:lstStyle/>
            <a:p>
              <a:pPr algn="ctr"/>
            </a:p>
          </p:txBody>
        </p:sp>
        <p:sp>
          <p:nvSpPr>
            <p:cNvPr id="24" name="water drop"/>
            <p:cNvSpPr/>
            <p:nvPr/>
          </p:nvSpPr>
          <p:spPr>
            <a:xfrm>
              <a:off x="9130331" y="1645920"/>
              <a:ext cx="1243489" cy="1803196"/>
            </a:xfrm>
            <a:custGeom>
              <a:avLst/>
              <a:gdLst/>
              <a:ahLst/>
              <a:cxnLst/>
              <a:rect l="l" t="t" r="r" b="b"/>
              <a:pathLst>
                <a:path w="1243489" h="1803196">
                  <a:moveTo>
                    <a:pt x="621745" y="0"/>
                  </a:moveTo>
                  <a:lnTo>
                    <a:pt x="1150448" y="854145"/>
                  </a:lnTo>
                  <a:lnTo>
                    <a:pt x="1191359" y="932075"/>
                  </a:lnTo>
                  <a:lnTo>
                    <a:pt x="1220857" y="1015001"/>
                  </a:lnTo>
                  <a:lnTo>
                    <a:pt x="1238350" y="1101261"/>
                  </a:lnTo>
                  <a:lnTo>
                    <a:pt x="1243489" y="1189127"/>
                  </a:lnTo>
                  <a:lnTo>
                    <a:pt x="1236169" y="1276838"/>
                  </a:lnTo>
                  <a:lnTo>
                    <a:pt x="1216539" y="1362637"/>
                  </a:lnTo>
                  <a:lnTo>
                    <a:pt x="1184990" y="1444804"/>
                  </a:lnTo>
                  <a:lnTo>
                    <a:pt x="1142156" y="1521694"/>
                  </a:lnTo>
                  <a:lnTo>
                    <a:pt x="1088894" y="1591766"/>
                  </a:lnTo>
                  <a:lnTo>
                    <a:pt x="1026272" y="1653615"/>
                  </a:lnTo>
                  <a:lnTo>
                    <a:pt x="955545" y="1706002"/>
                  </a:lnTo>
                  <a:lnTo>
                    <a:pt x="878129" y="1747878"/>
                  </a:lnTo>
                  <a:lnTo>
                    <a:pt x="795576" y="1778403"/>
                  </a:lnTo>
                  <a:lnTo>
                    <a:pt x="709540" y="1796967"/>
                  </a:lnTo>
                  <a:lnTo>
                    <a:pt x="621745" y="1803196"/>
                  </a:lnTo>
                  <a:lnTo>
                    <a:pt x="533949" y="1796967"/>
                  </a:lnTo>
                  <a:lnTo>
                    <a:pt x="447913" y="1778403"/>
                  </a:lnTo>
                  <a:lnTo>
                    <a:pt x="365360" y="1747878"/>
                  </a:lnTo>
                  <a:lnTo>
                    <a:pt x="287944" y="1706002"/>
                  </a:lnTo>
                  <a:lnTo>
                    <a:pt x="217217" y="1653615"/>
                  </a:lnTo>
                  <a:lnTo>
                    <a:pt x="154595" y="1591766"/>
                  </a:lnTo>
                  <a:lnTo>
                    <a:pt x="101333" y="1521694"/>
                  </a:lnTo>
                  <a:lnTo>
                    <a:pt x="58499" y="1444804"/>
                  </a:lnTo>
                  <a:lnTo>
                    <a:pt x="26950" y="1362637"/>
                  </a:lnTo>
                  <a:lnTo>
                    <a:pt x="7320" y="1276838"/>
                  </a:lnTo>
                  <a:lnTo>
                    <a:pt x="0" y="1189127"/>
                  </a:lnTo>
                  <a:lnTo>
                    <a:pt x="5139" y="1101261"/>
                  </a:lnTo>
                  <a:lnTo>
                    <a:pt x="22632" y="1015001"/>
                  </a:lnTo>
                  <a:lnTo>
                    <a:pt x="52130" y="932075"/>
                  </a:lnTo>
                  <a:lnTo>
                    <a:pt x="93041" y="854145"/>
                  </a:lnTo>
                  <a:close/>
                </a:path>
              </a:pathLst>
            </a:custGeom>
            <a:solidFill>
              <a:srgbClr val="4DA3FF"/>
            </a:solidFill>
            <a:ln>
              <a:noFill/>
            </a:ln>
          </p:spPr>
          <p:txBody>
            <a:bodyPr rtlCol="0" anchor="ctr"/>
            <a:lstStyle/>
            <a:p>
              <a:pPr algn="ctr"/>
            </a:p>
          </p:txBody>
        </p:sp>
        <p:sp>
          <p:nvSpPr>
            <p:cNvPr id="25" name="question mark"/>
            <p:cNvSpPr txBox="1"/>
            <p:nvPr/>
          </p:nvSpPr>
          <p:spPr>
            <a:xfrm>
              <a:off x="9203436" y="2331720"/>
              <a:ext cx="1097280" cy="914400"/>
            </a:xfrm>
            <a:prstGeom prst="rect">
              <a:avLst/>
            </a:prstGeom>
            <a:noFill/>
          </p:spPr>
          <p:txBody>
            <a:bodyPr wrap="square" anchor="ctr" lIns="18288" tIns="9144" rIns="18288" bIns="9144">
              <a:noAutofit/>
            </a:bodyPr>
            <a:lstStyle/>
            <a:p>
              <a:pPr algn="ctr"/>
              <a:r>
                <a:rPr sz="5400" b="1" i="0" lang="en-GB">
                  <a:solidFill>
                    <a:srgbClr val="101418"/>
                  </a:solidFill>
                  <a:latin typeface="Arial"/>
                </a:rPr>
                <a:t>?</a:t>
              </a:r>
            </a:p>
          </p:txBody>
        </p:sp>
        <p:sp>
          <p:nvSpPr>
            <p:cNvPr id="26" name="ICHIP TEXT"/>
            <p:cNvSpPr/>
            <p:nvPr/>
          </p:nvSpPr>
          <p:spPr>
            <a:xfrm>
              <a:off x="8092440" y="3886200"/>
              <a:ext cx="3319272" cy="457200"/>
            </a:xfrm>
            <a:prstGeom prst="roundRect">
              <a:avLst>
                <a:gd name="adj" fmla="val 24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Water saving: not established</a:t>
              </a:r>
            </a:p>
          </p:txBody>
        </p:sp>
      </p:grpSp>
      <p:sp>
        <p:nvSpPr>
          <p:cNvPr id="2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8"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9"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Compacted Coal burns more efficiently. Water saving is not assumed.</a:t>
            </a:r>
          </a:p>
        </p:txBody>
      </p:sp>
      <p:sp>
        <p:nvSpPr>
          <p:cNvPr id="30"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60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9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steam station</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Steam station plan" descr="Top-down plan of a steam station. A coal conveyor feeds a coal stage and a pipe feeds a water tower. A locomotive stands on the track beside a platform and a signal box. A dashed line marks a large footprint with an exact size that is undecided."/>
          <p:cNvGrpSpPr/>
          <p:nvPr/>
        </p:nvGrpSpPr>
        <p:grpSpPr>
          <a:xfrm>
            <a:off x="685800" y="1783080"/>
            <a:ext cx="10927080" cy="3703320"/>
            <a:chOff x="685800" y="1783080"/>
            <a:chExt cx="10927080" cy="3703320"/>
          </a:xfrm>
        </p:grpSpPr>
        <p:sp>
          <p:nvSpPr>
            <p:cNvPr id="5" name="footprint"/>
            <p:cNvSpPr/>
            <p:nvPr/>
          </p:nvSpPr>
          <p:spPr>
            <a:xfrm>
              <a:off x="685800" y="1783080"/>
              <a:ext cx="8732520" cy="3611880"/>
            </a:xfrm>
            <a:prstGeom prst="roundRect">
              <a:avLst>
                <a:gd name="adj" fmla="val 3797"/>
              </a:avLst>
            </a:prstGeom>
            <a:noFill/>
            <a:ln w="25400">
              <a:solidFill>
                <a:srgbClr val="F28C28"/>
              </a:solidFill>
              <a:prstDash val="dash"/>
            </a:ln>
          </p:spPr>
          <p:txBody>
            <a:bodyPr rtlCol="0" anchor="ctr"/>
            <a:lstStyle/>
            <a:p>
              <a:pPr algn="ctr"/>
            </a:p>
          </p:txBody>
        </p:sp>
        <p:sp>
          <p:nvSpPr>
            <p:cNvPr id="6" name="footprint label"/>
            <p:cNvSpPr txBox="1"/>
            <p:nvPr/>
          </p:nvSpPr>
          <p:spPr>
            <a:xfrm>
              <a:off x="4206240" y="4864608"/>
              <a:ext cx="5120640" cy="457200"/>
            </a:xfrm>
            <a:prstGeom prst="rect">
              <a:avLst/>
            </a:prstGeom>
            <a:noFill/>
          </p:spPr>
          <p:txBody>
            <a:bodyPr wrap="square" anchor="ctr" lIns="18288" tIns="9144" rIns="18288" bIns="9144">
              <a:noAutofit/>
            </a:bodyPr>
            <a:lstStyle/>
            <a:p>
              <a:pPr algn="r"/>
              <a:r>
                <a:rPr sz="1400" b="1" i="0" lang="en-GB">
                  <a:solidFill>
                    <a:srgbClr val="F28C28"/>
                  </a:solidFill>
                  <a:latin typeface="Arial"/>
                </a:rPr>
                <a:t>Large footprint. Exact size undecided.</a:t>
              </a:r>
            </a:p>
          </p:txBody>
        </p:sp>
        <p:sp>
          <p:nvSpPr>
            <p:cNvPr id="7" name="rail"/>
            <p:cNvSpPr/>
            <p:nvPr/>
          </p:nvSpPr>
          <p:spPr>
            <a:xfrm>
              <a:off x="822960" y="3520440"/>
              <a:ext cx="10607040" cy="64008"/>
            </a:xfrm>
            <a:prstGeom prst="rect">
              <a:avLst/>
            </a:prstGeom>
            <a:solidFill>
              <a:srgbClr val="9AA0A6"/>
            </a:solidFill>
            <a:ln>
              <a:noFill/>
            </a:ln>
          </p:spPr>
          <p:txBody>
            <a:bodyPr rtlCol="0" anchor="ctr"/>
            <a:lstStyle/>
            <a:p>
              <a:pPr algn="ctr"/>
            </a:p>
          </p:txBody>
        </p:sp>
        <p:sp>
          <p:nvSpPr>
            <p:cNvPr id="8" name="rail"/>
            <p:cNvSpPr/>
            <p:nvPr/>
          </p:nvSpPr>
          <p:spPr>
            <a:xfrm>
              <a:off x="822960" y="3749039"/>
              <a:ext cx="10607040" cy="64008"/>
            </a:xfrm>
            <a:prstGeom prst="rect">
              <a:avLst/>
            </a:prstGeom>
            <a:solidFill>
              <a:srgbClr val="9AA0A6"/>
            </a:solidFill>
            <a:ln>
              <a:noFill/>
            </a:ln>
          </p:spPr>
          <p:txBody>
            <a:bodyPr rtlCol="0" anchor="ctr"/>
            <a:lstStyle/>
            <a:p>
              <a:pPr algn="ctr"/>
            </a:p>
          </p:txBody>
        </p:sp>
        <p:sp>
          <p:nvSpPr>
            <p:cNvPr id="9" name="sleeper"/>
            <p:cNvSpPr/>
            <p:nvPr/>
          </p:nvSpPr>
          <p:spPr>
            <a:xfrm>
              <a:off x="914400" y="3474720"/>
              <a:ext cx="91440" cy="384048"/>
            </a:xfrm>
            <a:prstGeom prst="rect">
              <a:avLst/>
            </a:prstGeom>
            <a:solidFill>
              <a:srgbClr val="6B5B4B"/>
            </a:solidFill>
            <a:ln>
              <a:noFill/>
            </a:ln>
          </p:spPr>
          <p:txBody>
            <a:bodyPr rtlCol="0" anchor="ctr"/>
            <a:lstStyle/>
            <a:p>
              <a:pPr algn="ctr"/>
            </a:p>
          </p:txBody>
        </p:sp>
        <p:sp>
          <p:nvSpPr>
            <p:cNvPr id="10" name="sleeper"/>
            <p:cNvSpPr/>
            <p:nvPr/>
          </p:nvSpPr>
          <p:spPr>
            <a:xfrm>
              <a:off x="1271016" y="3474720"/>
              <a:ext cx="91440" cy="384048"/>
            </a:xfrm>
            <a:prstGeom prst="rect">
              <a:avLst/>
            </a:prstGeom>
            <a:solidFill>
              <a:srgbClr val="6B5B4B"/>
            </a:solidFill>
            <a:ln>
              <a:noFill/>
            </a:ln>
          </p:spPr>
          <p:txBody>
            <a:bodyPr rtlCol="0" anchor="ctr"/>
            <a:lstStyle/>
            <a:p>
              <a:pPr algn="ctr"/>
            </a:p>
          </p:txBody>
        </p:sp>
        <p:sp>
          <p:nvSpPr>
            <p:cNvPr id="11" name="sleeper"/>
            <p:cNvSpPr/>
            <p:nvPr/>
          </p:nvSpPr>
          <p:spPr>
            <a:xfrm>
              <a:off x="1627632" y="3474720"/>
              <a:ext cx="91440" cy="384048"/>
            </a:xfrm>
            <a:prstGeom prst="rect">
              <a:avLst/>
            </a:prstGeom>
            <a:solidFill>
              <a:srgbClr val="6B5B4B"/>
            </a:solidFill>
            <a:ln>
              <a:noFill/>
            </a:ln>
          </p:spPr>
          <p:txBody>
            <a:bodyPr rtlCol="0" anchor="ctr"/>
            <a:lstStyle/>
            <a:p>
              <a:pPr algn="ctr"/>
            </a:p>
          </p:txBody>
        </p:sp>
        <p:sp>
          <p:nvSpPr>
            <p:cNvPr id="12" name="sleeper"/>
            <p:cNvSpPr/>
            <p:nvPr/>
          </p:nvSpPr>
          <p:spPr>
            <a:xfrm>
              <a:off x="1984248" y="3474720"/>
              <a:ext cx="91440" cy="384048"/>
            </a:xfrm>
            <a:prstGeom prst="rect">
              <a:avLst/>
            </a:prstGeom>
            <a:solidFill>
              <a:srgbClr val="6B5B4B"/>
            </a:solidFill>
            <a:ln>
              <a:noFill/>
            </a:ln>
          </p:spPr>
          <p:txBody>
            <a:bodyPr rtlCol="0" anchor="ctr"/>
            <a:lstStyle/>
            <a:p>
              <a:pPr algn="ctr"/>
            </a:p>
          </p:txBody>
        </p:sp>
        <p:sp>
          <p:nvSpPr>
            <p:cNvPr id="13" name="sleeper"/>
            <p:cNvSpPr/>
            <p:nvPr/>
          </p:nvSpPr>
          <p:spPr>
            <a:xfrm>
              <a:off x="2340864" y="3474720"/>
              <a:ext cx="91440" cy="384048"/>
            </a:xfrm>
            <a:prstGeom prst="rect">
              <a:avLst/>
            </a:prstGeom>
            <a:solidFill>
              <a:srgbClr val="6B5B4B"/>
            </a:solidFill>
            <a:ln>
              <a:noFill/>
            </a:ln>
          </p:spPr>
          <p:txBody>
            <a:bodyPr rtlCol="0" anchor="ctr"/>
            <a:lstStyle/>
            <a:p>
              <a:pPr algn="ctr"/>
            </a:p>
          </p:txBody>
        </p:sp>
        <p:sp>
          <p:nvSpPr>
            <p:cNvPr id="14" name="sleeper"/>
            <p:cNvSpPr/>
            <p:nvPr/>
          </p:nvSpPr>
          <p:spPr>
            <a:xfrm>
              <a:off x="2697480" y="3474720"/>
              <a:ext cx="91440" cy="384048"/>
            </a:xfrm>
            <a:prstGeom prst="rect">
              <a:avLst/>
            </a:prstGeom>
            <a:solidFill>
              <a:srgbClr val="6B5B4B"/>
            </a:solidFill>
            <a:ln>
              <a:noFill/>
            </a:ln>
          </p:spPr>
          <p:txBody>
            <a:bodyPr rtlCol="0" anchor="ctr"/>
            <a:lstStyle/>
            <a:p>
              <a:pPr algn="ctr"/>
            </a:p>
          </p:txBody>
        </p:sp>
        <p:sp>
          <p:nvSpPr>
            <p:cNvPr id="15" name="sleeper"/>
            <p:cNvSpPr/>
            <p:nvPr/>
          </p:nvSpPr>
          <p:spPr>
            <a:xfrm>
              <a:off x="3054096" y="3474720"/>
              <a:ext cx="91440" cy="384048"/>
            </a:xfrm>
            <a:prstGeom prst="rect">
              <a:avLst/>
            </a:prstGeom>
            <a:solidFill>
              <a:srgbClr val="6B5B4B"/>
            </a:solidFill>
            <a:ln>
              <a:noFill/>
            </a:ln>
          </p:spPr>
          <p:txBody>
            <a:bodyPr rtlCol="0" anchor="ctr"/>
            <a:lstStyle/>
            <a:p>
              <a:pPr algn="ctr"/>
            </a:p>
          </p:txBody>
        </p:sp>
        <p:sp>
          <p:nvSpPr>
            <p:cNvPr id="16" name="sleeper"/>
            <p:cNvSpPr/>
            <p:nvPr/>
          </p:nvSpPr>
          <p:spPr>
            <a:xfrm>
              <a:off x="3410712" y="3474720"/>
              <a:ext cx="91440" cy="384048"/>
            </a:xfrm>
            <a:prstGeom prst="rect">
              <a:avLst/>
            </a:prstGeom>
            <a:solidFill>
              <a:srgbClr val="6B5B4B"/>
            </a:solidFill>
            <a:ln>
              <a:noFill/>
            </a:ln>
          </p:spPr>
          <p:txBody>
            <a:bodyPr rtlCol="0" anchor="ctr"/>
            <a:lstStyle/>
            <a:p>
              <a:pPr algn="ctr"/>
            </a:p>
          </p:txBody>
        </p:sp>
        <p:sp>
          <p:nvSpPr>
            <p:cNvPr id="17" name="sleeper"/>
            <p:cNvSpPr/>
            <p:nvPr/>
          </p:nvSpPr>
          <p:spPr>
            <a:xfrm>
              <a:off x="3767328" y="3474720"/>
              <a:ext cx="91440" cy="384048"/>
            </a:xfrm>
            <a:prstGeom prst="rect">
              <a:avLst/>
            </a:prstGeom>
            <a:solidFill>
              <a:srgbClr val="6B5B4B"/>
            </a:solidFill>
            <a:ln>
              <a:noFill/>
            </a:ln>
          </p:spPr>
          <p:txBody>
            <a:bodyPr rtlCol="0" anchor="ctr"/>
            <a:lstStyle/>
            <a:p>
              <a:pPr algn="ctr"/>
            </a:p>
          </p:txBody>
        </p:sp>
        <p:sp>
          <p:nvSpPr>
            <p:cNvPr id="18" name="sleeper"/>
            <p:cNvSpPr/>
            <p:nvPr/>
          </p:nvSpPr>
          <p:spPr>
            <a:xfrm>
              <a:off x="4123944" y="3474720"/>
              <a:ext cx="91440" cy="384048"/>
            </a:xfrm>
            <a:prstGeom prst="rect">
              <a:avLst/>
            </a:prstGeom>
            <a:solidFill>
              <a:srgbClr val="6B5B4B"/>
            </a:solidFill>
            <a:ln>
              <a:noFill/>
            </a:ln>
          </p:spPr>
          <p:txBody>
            <a:bodyPr rtlCol="0" anchor="ctr"/>
            <a:lstStyle/>
            <a:p>
              <a:pPr algn="ctr"/>
            </a:p>
          </p:txBody>
        </p:sp>
        <p:sp>
          <p:nvSpPr>
            <p:cNvPr id="19" name="sleeper"/>
            <p:cNvSpPr/>
            <p:nvPr/>
          </p:nvSpPr>
          <p:spPr>
            <a:xfrm>
              <a:off x="4480560" y="3474720"/>
              <a:ext cx="91440" cy="384048"/>
            </a:xfrm>
            <a:prstGeom prst="rect">
              <a:avLst/>
            </a:prstGeom>
            <a:solidFill>
              <a:srgbClr val="6B5B4B"/>
            </a:solidFill>
            <a:ln>
              <a:noFill/>
            </a:ln>
          </p:spPr>
          <p:txBody>
            <a:bodyPr rtlCol="0" anchor="ctr"/>
            <a:lstStyle/>
            <a:p>
              <a:pPr algn="ctr"/>
            </a:p>
          </p:txBody>
        </p:sp>
        <p:sp>
          <p:nvSpPr>
            <p:cNvPr id="20" name="sleeper"/>
            <p:cNvSpPr/>
            <p:nvPr/>
          </p:nvSpPr>
          <p:spPr>
            <a:xfrm>
              <a:off x="4837176" y="3474720"/>
              <a:ext cx="91440" cy="384048"/>
            </a:xfrm>
            <a:prstGeom prst="rect">
              <a:avLst/>
            </a:prstGeom>
            <a:solidFill>
              <a:srgbClr val="6B5B4B"/>
            </a:solidFill>
            <a:ln>
              <a:noFill/>
            </a:ln>
          </p:spPr>
          <p:txBody>
            <a:bodyPr rtlCol="0" anchor="ctr"/>
            <a:lstStyle/>
            <a:p>
              <a:pPr algn="ctr"/>
            </a:p>
          </p:txBody>
        </p:sp>
        <p:sp>
          <p:nvSpPr>
            <p:cNvPr id="21" name="sleeper"/>
            <p:cNvSpPr/>
            <p:nvPr/>
          </p:nvSpPr>
          <p:spPr>
            <a:xfrm>
              <a:off x="5193792" y="3474720"/>
              <a:ext cx="91440" cy="384048"/>
            </a:xfrm>
            <a:prstGeom prst="rect">
              <a:avLst/>
            </a:prstGeom>
            <a:solidFill>
              <a:srgbClr val="6B5B4B"/>
            </a:solidFill>
            <a:ln>
              <a:noFill/>
            </a:ln>
          </p:spPr>
          <p:txBody>
            <a:bodyPr rtlCol="0" anchor="ctr"/>
            <a:lstStyle/>
            <a:p>
              <a:pPr algn="ctr"/>
            </a:p>
          </p:txBody>
        </p:sp>
        <p:sp>
          <p:nvSpPr>
            <p:cNvPr id="22" name="sleeper"/>
            <p:cNvSpPr/>
            <p:nvPr/>
          </p:nvSpPr>
          <p:spPr>
            <a:xfrm>
              <a:off x="5550408" y="3474720"/>
              <a:ext cx="91440" cy="384048"/>
            </a:xfrm>
            <a:prstGeom prst="rect">
              <a:avLst/>
            </a:prstGeom>
            <a:solidFill>
              <a:srgbClr val="6B5B4B"/>
            </a:solidFill>
            <a:ln>
              <a:noFill/>
            </a:ln>
          </p:spPr>
          <p:txBody>
            <a:bodyPr rtlCol="0" anchor="ctr"/>
            <a:lstStyle/>
            <a:p>
              <a:pPr algn="ctr"/>
            </a:p>
          </p:txBody>
        </p:sp>
        <p:sp>
          <p:nvSpPr>
            <p:cNvPr id="23" name="sleeper"/>
            <p:cNvSpPr/>
            <p:nvPr/>
          </p:nvSpPr>
          <p:spPr>
            <a:xfrm>
              <a:off x="5907024" y="3474720"/>
              <a:ext cx="91440" cy="384048"/>
            </a:xfrm>
            <a:prstGeom prst="rect">
              <a:avLst/>
            </a:prstGeom>
            <a:solidFill>
              <a:srgbClr val="6B5B4B"/>
            </a:solidFill>
            <a:ln>
              <a:noFill/>
            </a:ln>
          </p:spPr>
          <p:txBody>
            <a:bodyPr rtlCol="0" anchor="ctr"/>
            <a:lstStyle/>
            <a:p>
              <a:pPr algn="ctr"/>
            </a:p>
          </p:txBody>
        </p:sp>
        <p:sp>
          <p:nvSpPr>
            <p:cNvPr id="24" name="sleeper"/>
            <p:cNvSpPr/>
            <p:nvPr/>
          </p:nvSpPr>
          <p:spPr>
            <a:xfrm>
              <a:off x="6263640" y="3474720"/>
              <a:ext cx="91440" cy="384048"/>
            </a:xfrm>
            <a:prstGeom prst="rect">
              <a:avLst/>
            </a:prstGeom>
            <a:solidFill>
              <a:srgbClr val="6B5B4B"/>
            </a:solidFill>
            <a:ln>
              <a:noFill/>
            </a:ln>
          </p:spPr>
          <p:txBody>
            <a:bodyPr rtlCol="0" anchor="ctr"/>
            <a:lstStyle/>
            <a:p>
              <a:pPr algn="ctr"/>
            </a:p>
          </p:txBody>
        </p:sp>
        <p:sp>
          <p:nvSpPr>
            <p:cNvPr id="25" name="sleeper"/>
            <p:cNvSpPr/>
            <p:nvPr/>
          </p:nvSpPr>
          <p:spPr>
            <a:xfrm>
              <a:off x="6620256" y="3474720"/>
              <a:ext cx="91440" cy="384048"/>
            </a:xfrm>
            <a:prstGeom prst="rect">
              <a:avLst/>
            </a:prstGeom>
            <a:solidFill>
              <a:srgbClr val="6B5B4B"/>
            </a:solidFill>
            <a:ln>
              <a:noFill/>
            </a:ln>
          </p:spPr>
          <p:txBody>
            <a:bodyPr rtlCol="0" anchor="ctr"/>
            <a:lstStyle/>
            <a:p>
              <a:pPr algn="ctr"/>
            </a:p>
          </p:txBody>
        </p:sp>
        <p:sp>
          <p:nvSpPr>
            <p:cNvPr id="26" name="sleeper"/>
            <p:cNvSpPr/>
            <p:nvPr/>
          </p:nvSpPr>
          <p:spPr>
            <a:xfrm>
              <a:off x="6976872" y="3474720"/>
              <a:ext cx="91440" cy="384048"/>
            </a:xfrm>
            <a:prstGeom prst="rect">
              <a:avLst/>
            </a:prstGeom>
            <a:solidFill>
              <a:srgbClr val="6B5B4B"/>
            </a:solidFill>
            <a:ln>
              <a:noFill/>
            </a:ln>
          </p:spPr>
          <p:txBody>
            <a:bodyPr rtlCol="0" anchor="ctr"/>
            <a:lstStyle/>
            <a:p>
              <a:pPr algn="ctr"/>
            </a:p>
          </p:txBody>
        </p:sp>
        <p:sp>
          <p:nvSpPr>
            <p:cNvPr id="27" name="sleeper"/>
            <p:cNvSpPr/>
            <p:nvPr/>
          </p:nvSpPr>
          <p:spPr>
            <a:xfrm>
              <a:off x="7333488" y="3474720"/>
              <a:ext cx="91440" cy="384048"/>
            </a:xfrm>
            <a:prstGeom prst="rect">
              <a:avLst/>
            </a:prstGeom>
            <a:solidFill>
              <a:srgbClr val="6B5B4B"/>
            </a:solidFill>
            <a:ln>
              <a:noFill/>
            </a:ln>
          </p:spPr>
          <p:txBody>
            <a:bodyPr rtlCol="0" anchor="ctr"/>
            <a:lstStyle/>
            <a:p>
              <a:pPr algn="ctr"/>
            </a:p>
          </p:txBody>
        </p:sp>
        <p:sp>
          <p:nvSpPr>
            <p:cNvPr id="28" name="sleeper"/>
            <p:cNvSpPr/>
            <p:nvPr/>
          </p:nvSpPr>
          <p:spPr>
            <a:xfrm>
              <a:off x="7690104" y="3474720"/>
              <a:ext cx="91440" cy="384048"/>
            </a:xfrm>
            <a:prstGeom prst="rect">
              <a:avLst/>
            </a:prstGeom>
            <a:solidFill>
              <a:srgbClr val="6B5B4B"/>
            </a:solidFill>
            <a:ln>
              <a:noFill/>
            </a:ln>
          </p:spPr>
          <p:txBody>
            <a:bodyPr rtlCol="0" anchor="ctr"/>
            <a:lstStyle/>
            <a:p>
              <a:pPr algn="ctr"/>
            </a:p>
          </p:txBody>
        </p:sp>
        <p:sp>
          <p:nvSpPr>
            <p:cNvPr id="29" name="sleeper"/>
            <p:cNvSpPr/>
            <p:nvPr/>
          </p:nvSpPr>
          <p:spPr>
            <a:xfrm>
              <a:off x="8046720" y="3474720"/>
              <a:ext cx="91440" cy="384048"/>
            </a:xfrm>
            <a:prstGeom prst="rect">
              <a:avLst/>
            </a:prstGeom>
            <a:solidFill>
              <a:srgbClr val="6B5B4B"/>
            </a:solidFill>
            <a:ln>
              <a:noFill/>
            </a:ln>
          </p:spPr>
          <p:txBody>
            <a:bodyPr rtlCol="0" anchor="ctr"/>
            <a:lstStyle/>
            <a:p>
              <a:pPr algn="ctr"/>
            </a:p>
          </p:txBody>
        </p:sp>
        <p:sp>
          <p:nvSpPr>
            <p:cNvPr id="30" name="sleeper"/>
            <p:cNvSpPr/>
            <p:nvPr/>
          </p:nvSpPr>
          <p:spPr>
            <a:xfrm>
              <a:off x="8403336" y="3474720"/>
              <a:ext cx="91440" cy="384048"/>
            </a:xfrm>
            <a:prstGeom prst="rect">
              <a:avLst/>
            </a:prstGeom>
            <a:solidFill>
              <a:srgbClr val="6B5B4B"/>
            </a:solidFill>
            <a:ln>
              <a:noFill/>
            </a:ln>
          </p:spPr>
          <p:txBody>
            <a:bodyPr rtlCol="0" anchor="ctr"/>
            <a:lstStyle/>
            <a:p>
              <a:pPr algn="ctr"/>
            </a:p>
          </p:txBody>
        </p:sp>
        <p:sp>
          <p:nvSpPr>
            <p:cNvPr id="31" name="sleeper"/>
            <p:cNvSpPr/>
            <p:nvPr/>
          </p:nvSpPr>
          <p:spPr>
            <a:xfrm>
              <a:off x="8759952" y="3474720"/>
              <a:ext cx="91440" cy="384048"/>
            </a:xfrm>
            <a:prstGeom prst="rect">
              <a:avLst/>
            </a:prstGeom>
            <a:solidFill>
              <a:srgbClr val="6B5B4B"/>
            </a:solidFill>
            <a:ln>
              <a:noFill/>
            </a:ln>
          </p:spPr>
          <p:txBody>
            <a:bodyPr rtlCol="0" anchor="ctr"/>
            <a:lstStyle/>
            <a:p>
              <a:pPr algn="ctr"/>
            </a:p>
          </p:txBody>
        </p:sp>
        <p:sp>
          <p:nvSpPr>
            <p:cNvPr id="32" name="sleeper"/>
            <p:cNvSpPr/>
            <p:nvPr/>
          </p:nvSpPr>
          <p:spPr>
            <a:xfrm>
              <a:off x="9116568" y="3474720"/>
              <a:ext cx="91440" cy="384048"/>
            </a:xfrm>
            <a:prstGeom prst="rect">
              <a:avLst/>
            </a:prstGeom>
            <a:solidFill>
              <a:srgbClr val="6B5B4B"/>
            </a:solidFill>
            <a:ln>
              <a:noFill/>
            </a:ln>
          </p:spPr>
          <p:txBody>
            <a:bodyPr rtlCol="0" anchor="ctr"/>
            <a:lstStyle/>
            <a:p>
              <a:pPr algn="ctr"/>
            </a:p>
          </p:txBody>
        </p:sp>
        <p:sp>
          <p:nvSpPr>
            <p:cNvPr id="33" name="sleeper"/>
            <p:cNvSpPr/>
            <p:nvPr/>
          </p:nvSpPr>
          <p:spPr>
            <a:xfrm>
              <a:off x="9473184" y="3474720"/>
              <a:ext cx="91440" cy="384048"/>
            </a:xfrm>
            <a:prstGeom prst="rect">
              <a:avLst/>
            </a:prstGeom>
            <a:solidFill>
              <a:srgbClr val="6B5B4B"/>
            </a:solidFill>
            <a:ln>
              <a:noFill/>
            </a:ln>
          </p:spPr>
          <p:txBody>
            <a:bodyPr rtlCol="0" anchor="ctr"/>
            <a:lstStyle/>
            <a:p>
              <a:pPr algn="ctr"/>
            </a:p>
          </p:txBody>
        </p:sp>
        <p:sp>
          <p:nvSpPr>
            <p:cNvPr id="34" name="sleeper"/>
            <p:cNvSpPr/>
            <p:nvPr/>
          </p:nvSpPr>
          <p:spPr>
            <a:xfrm>
              <a:off x="9829800" y="3474720"/>
              <a:ext cx="91440" cy="384048"/>
            </a:xfrm>
            <a:prstGeom prst="rect">
              <a:avLst/>
            </a:prstGeom>
            <a:solidFill>
              <a:srgbClr val="6B5B4B"/>
            </a:solidFill>
            <a:ln>
              <a:noFill/>
            </a:ln>
          </p:spPr>
          <p:txBody>
            <a:bodyPr rtlCol="0" anchor="ctr"/>
            <a:lstStyle/>
            <a:p>
              <a:pPr algn="ctr"/>
            </a:p>
          </p:txBody>
        </p:sp>
        <p:sp>
          <p:nvSpPr>
            <p:cNvPr id="35" name="sleeper"/>
            <p:cNvSpPr/>
            <p:nvPr/>
          </p:nvSpPr>
          <p:spPr>
            <a:xfrm>
              <a:off x="10186416" y="3474720"/>
              <a:ext cx="91440" cy="384048"/>
            </a:xfrm>
            <a:prstGeom prst="rect">
              <a:avLst/>
            </a:prstGeom>
            <a:solidFill>
              <a:srgbClr val="6B5B4B"/>
            </a:solidFill>
            <a:ln>
              <a:noFill/>
            </a:ln>
          </p:spPr>
          <p:txBody>
            <a:bodyPr rtlCol="0" anchor="ctr"/>
            <a:lstStyle/>
            <a:p>
              <a:pPr algn="ctr"/>
            </a:p>
          </p:txBody>
        </p:sp>
        <p:sp>
          <p:nvSpPr>
            <p:cNvPr id="36" name="sleeper"/>
            <p:cNvSpPr/>
            <p:nvPr/>
          </p:nvSpPr>
          <p:spPr>
            <a:xfrm>
              <a:off x="10543032" y="3474720"/>
              <a:ext cx="91440" cy="384048"/>
            </a:xfrm>
            <a:prstGeom prst="rect">
              <a:avLst/>
            </a:prstGeom>
            <a:solidFill>
              <a:srgbClr val="6B5B4B"/>
            </a:solidFill>
            <a:ln>
              <a:noFill/>
            </a:ln>
          </p:spPr>
          <p:txBody>
            <a:bodyPr rtlCol="0" anchor="ctr"/>
            <a:lstStyle/>
            <a:p>
              <a:pPr algn="ctr"/>
            </a:p>
          </p:txBody>
        </p:sp>
        <p:sp>
          <p:nvSpPr>
            <p:cNvPr id="37" name="sleeper"/>
            <p:cNvSpPr/>
            <p:nvPr/>
          </p:nvSpPr>
          <p:spPr>
            <a:xfrm>
              <a:off x="10899648" y="3474720"/>
              <a:ext cx="91440" cy="384048"/>
            </a:xfrm>
            <a:prstGeom prst="rect">
              <a:avLst/>
            </a:prstGeom>
            <a:solidFill>
              <a:srgbClr val="6B5B4B"/>
            </a:solidFill>
            <a:ln>
              <a:noFill/>
            </a:ln>
          </p:spPr>
          <p:txBody>
            <a:bodyPr rtlCol="0" anchor="ctr"/>
            <a:lstStyle/>
            <a:p>
              <a:pPr algn="ctr"/>
            </a:p>
          </p:txBody>
        </p:sp>
        <p:sp>
          <p:nvSpPr>
            <p:cNvPr id="38" name="sleeper"/>
            <p:cNvSpPr/>
            <p:nvPr/>
          </p:nvSpPr>
          <p:spPr>
            <a:xfrm>
              <a:off x="11256264" y="3474720"/>
              <a:ext cx="91440" cy="384048"/>
            </a:xfrm>
            <a:prstGeom prst="rect">
              <a:avLst/>
            </a:prstGeom>
            <a:solidFill>
              <a:srgbClr val="6B5B4B"/>
            </a:solidFill>
            <a:ln>
              <a:noFill/>
            </a:ln>
          </p:spPr>
          <p:txBody>
            <a:bodyPr rtlCol="0" anchor="ctr"/>
            <a:lstStyle/>
            <a:p>
              <a:pPr algn="ctr"/>
            </a:p>
          </p:txBody>
        </p:sp>
        <p:sp>
          <p:nvSpPr>
            <p:cNvPr id="39" name="platform"/>
            <p:cNvSpPr/>
            <p:nvPr/>
          </p:nvSpPr>
          <p:spPr>
            <a:xfrm>
              <a:off x="4114800" y="3977639"/>
              <a:ext cx="3291840" cy="457200"/>
            </a:xfrm>
            <a:prstGeom prst="rect">
              <a:avLst/>
            </a:prstGeom>
            <a:solidFill>
              <a:srgbClr val="343A43"/>
            </a:solidFill>
            <a:ln w="19050">
              <a:solidFill>
                <a:srgbClr val="9AA0A6"/>
              </a:solidFill>
            </a:ln>
          </p:spPr>
          <p:txBody>
            <a:bodyPr rtlCol="0" anchor="ctr" wrap="square" lIns="54864" tIns="27432" rIns="54864" bIns="27432">
              <a:noAutofit/>
            </a:bodyPr>
            <a:lstStyle/>
            <a:p>
              <a:pPr algn="ctr"/>
              <a:r>
                <a:rPr sz="1400" b="0" i="0" lang="en-GB">
                  <a:solidFill>
                    <a:srgbClr val="F2F2F2"/>
                  </a:solidFill>
                  <a:latin typeface="Arial"/>
                </a:rPr>
                <a:t>Platform and cargo loading</a:t>
              </a:r>
            </a:p>
          </p:txBody>
        </p:sp>
        <p:sp>
          <p:nvSpPr>
            <p:cNvPr id="40" name="signal box"/>
            <p:cNvSpPr/>
            <p:nvPr/>
          </p:nvSpPr>
          <p:spPr>
            <a:xfrm>
              <a:off x="2011680" y="4160520"/>
              <a:ext cx="1371600" cy="1005840"/>
            </a:xfrm>
            <a:prstGeom prst="rect">
              <a:avLst/>
            </a:prstGeom>
            <a:solidFill>
              <a:srgbClr val="343A43"/>
            </a:solidFill>
            <a:ln w="19050">
              <a:solidFill>
                <a:srgbClr val="9AA0A6"/>
              </a:solidFill>
            </a:ln>
          </p:spPr>
          <p:txBody>
            <a:bodyPr rtlCol="0" anchor="ctr" wrap="square" lIns="54864" tIns="27432" rIns="54864" bIns="27432">
              <a:noAutofit/>
            </a:bodyPr>
            <a:lstStyle/>
            <a:p>
              <a:pPr algn="ctr"/>
              <a:r>
                <a:rPr sz="1400" b="0" i="0" lang="en-GB">
                  <a:solidFill>
                    <a:srgbClr val="F2F2F2"/>
                  </a:solidFill>
                  <a:latin typeface="Arial"/>
                </a:rPr>
                <a:t>Signal box</a:t>
              </a:r>
            </a:p>
          </p:txBody>
        </p:sp>
        <p:cxnSp>
          <p:nvCxnSpPr>
            <p:cNvPr id="41" name="roof line"/>
            <p:cNvCxnSpPr/>
            <p:nvPr/>
          </p:nvCxnSpPr>
          <p:spPr>
            <a:xfrm flipV="1">
              <a:off x="2011680" y="4160520"/>
              <a:ext cx="1371600" cy="228600"/>
            </a:xfrm>
            <a:prstGeom prst="line">
              <a:avLst/>
            </a:prstGeom>
            <a:ln w="19050">
              <a:solidFill>
                <a:srgbClr val="9AA0A6"/>
              </a:solidFill>
            </a:ln>
          </p:spPr>
        </p:cxnSp>
        <p:sp>
          <p:nvSpPr>
            <p:cNvPr id="42" name="coal stage"/>
            <p:cNvSpPr/>
            <p:nvPr/>
          </p:nvSpPr>
          <p:spPr>
            <a:xfrm>
              <a:off x="5120640" y="2148840"/>
              <a:ext cx="1645920" cy="822960"/>
            </a:xfrm>
            <a:prstGeom prst="rect">
              <a:avLst/>
            </a:prstGeom>
            <a:solidFill>
              <a:srgbClr val="343A43"/>
            </a:solidFill>
            <a:ln w="19050">
              <a:solidFill>
                <a:srgbClr val="9AA0A6"/>
              </a:solidFill>
            </a:ln>
          </p:spPr>
          <p:txBody>
            <a:bodyPr rtlCol="0" anchor="ctr" wrap="square" lIns="54864" tIns="27432" rIns="54864" bIns="27432">
              <a:noAutofit/>
            </a:bodyPr>
            <a:lstStyle/>
            <a:p>
              <a:pPr algn="ctr"/>
              <a:r>
                <a:rPr sz="1400" b="0" i="0" lang="en-GB">
                  <a:solidFill>
                    <a:srgbClr val="F2F2F2"/>
                  </a:solidFill>
                  <a:latin typeface="Arial"/>
                </a:rPr>
                <a:t>Coal stage</a:t>
              </a:r>
            </a:p>
          </p:txBody>
        </p:sp>
        <p:cxnSp>
          <p:nvCxnSpPr>
            <p:cNvPr id="43" name="conveyor"/>
            <p:cNvCxnSpPr/>
            <p:nvPr/>
          </p:nvCxnSpPr>
          <p:spPr>
            <a:xfrm>
              <a:off x="914400" y="2560320"/>
              <a:ext cx="4206240" cy="0"/>
            </a:xfrm>
            <a:prstGeom prst="line">
              <a:avLst/>
            </a:prstGeom>
            <a:ln w="38100">
              <a:solidFill>
                <a:srgbClr val="9AA0A6"/>
              </a:solidFill>
              <a:prstDash val="dash"/>
              <a:tailEnd type="triangle" w="med" len="med"/>
            </a:ln>
          </p:spPr>
        </p:cxnSp>
        <p:sp>
          <p:nvSpPr>
            <p:cNvPr id="44" name="conveyor label"/>
            <p:cNvSpPr txBox="1"/>
            <p:nvPr/>
          </p:nvSpPr>
          <p:spPr>
            <a:xfrm>
              <a:off x="914400" y="2176272"/>
              <a:ext cx="3108960" cy="320040"/>
            </a:xfrm>
            <a:prstGeom prst="rect">
              <a:avLst/>
            </a:prstGeom>
            <a:noFill/>
          </p:spPr>
          <p:txBody>
            <a:bodyPr wrap="square" anchor="ctr" lIns="18288" tIns="9144" rIns="18288" bIns="9144">
              <a:noAutofit/>
            </a:bodyPr>
            <a:lstStyle/>
            <a:p>
              <a:pPr algn="l"/>
              <a:r>
                <a:rPr sz="1400" b="1" i="0" lang="en-GB">
                  <a:solidFill>
                    <a:srgbClr val="F2F2F2"/>
                  </a:solidFill>
                  <a:latin typeface="Arial"/>
                </a:rPr>
                <a:t>Conveyor: coal in</a:t>
              </a:r>
            </a:p>
          </p:txBody>
        </p:sp>
        <p:cxnSp>
          <p:nvCxnSpPr>
            <p:cNvPr id="45" name="chute"/>
            <p:cNvCxnSpPr/>
            <p:nvPr/>
          </p:nvCxnSpPr>
          <p:spPr>
            <a:xfrm>
              <a:off x="5943600" y="2971800"/>
              <a:ext cx="0" cy="521208"/>
            </a:xfrm>
            <a:prstGeom prst="line">
              <a:avLst/>
            </a:prstGeom>
            <a:ln w="38100">
              <a:solidFill>
                <a:srgbClr val="9AA0A6"/>
              </a:solidFill>
            </a:ln>
          </p:spPr>
        </p:cxnSp>
        <p:sp>
          <p:nvSpPr>
            <p:cNvPr id="46" name="water tower"/>
            <p:cNvSpPr/>
            <p:nvPr/>
          </p:nvSpPr>
          <p:spPr>
            <a:xfrm>
              <a:off x="7863840" y="2103120"/>
              <a:ext cx="914400" cy="914400"/>
            </a:xfrm>
            <a:prstGeom prst="ellipse">
              <a:avLst/>
            </a:prstGeom>
            <a:solidFill>
              <a:srgbClr val="4DA3FF"/>
            </a:solidFill>
            <a:ln w="19050">
              <a:solidFill>
                <a:srgbClr val="F2F2F2"/>
              </a:solidFill>
            </a:ln>
          </p:spPr>
          <p:txBody>
            <a:bodyPr rtlCol="0" anchor="ctr" wrap="square" lIns="0" tIns="0" rIns="0" bIns="0">
              <a:noAutofit/>
            </a:bodyPr>
            <a:lstStyle/>
            <a:p>
              <a:pPr algn="ctr"/>
              <a:r>
                <a:rPr sz="1400" b="1" i="0" lang="en-GB">
                  <a:solidFill>
                    <a:srgbClr val="101418"/>
                  </a:solidFill>
                  <a:latin typeface="Arial"/>
                </a:rPr>
                <a:t>Water tower</a:t>
              </a:r>
            </a:p>
          </p:txBody>
        </p:sp>
        <p:cxnSp>
          <p:nvCxnSpPr>
            <p:cNvPr id="47" name="crane"/>
            <p:cNvCxnSpPr/>
            <p:nvPr/>
          </p:nvCxnSpPr>
          <p:spPr>
            <a:xfrm flipH="1">
              <a:off x="7040880" y="3017520"/>
              <a:ext cx="1280160" cy="475488"/>
            </a:xfrm>
            <a:prstGeom prst="line">
              <a:avLst/>
            </a:prstGeom>
            <a:ln w="38100">
              <a:solidFill>
                <a:srgbClr val="4DA3FF"/>
              </a:solidFill>
            </a:ln>
          </p:spPr>
        </p:cxnSp>
        <p:cxnSp>
          <p:nvCxnSpPr>
            <p:cNvPr id="48" name="water pipe"/>
            <p:cNvCxnSpPr/>
            <p:nvPr/>
          </p:nvCxnSpPr>
          <p:spPr>
            <a:xfrm flipH="1">
              <a:off x="8778240" y="2880360"/>
              <a:ext cx="2651760" cy="0"/>
            </a:xfrm>
            <a:prstGeom prst="line">
              <a:avLst/>
            </a:prstGeom>
            <a:ln w="63500">
              <a:solidFill>
                <a:srgbClr val="4DA3FF"/>
              </a:solidFill>
            </a:ln>
          </p:spPr>
        </p:cxnSp>
        <p:sp>
          <p:nvSpPr>
            <p:cNvPr id="49" name="pipe label"/>
            <p:cNvSpPr txBox="1"/>
            <p:nvPr/>
          </p:nvSpPr>
          <p:spPr>
            <a:xfrm>
              <a:off x="9509760" y="2926080"/>
              <a:ext cx="1920240" cy="320040"/>
            </a:xfrm>
            <a:prstGeom prst="rect">
              <a:avLst/>
            </a:prstGeom>
            <a:noFill/>
          </p:spPr>
          <p:txBody>
            <a:bodyPr wrap="square" anchor="ctr" lIns="18288" tIns="9144" rIns="18288" bIns="9144">
              <a:noAutofit/>
            </a:bodyPr>
            <a:lstStyle/>
            <a:p>
              <a:pPr algn="r"/>
              <a:r>
                <a:rPr sz="1400" b="1" i="0" lang="en-GB">
                  <a:solidFill>
                    <a:srgbClr val="F2F2F2"/>
                  </a:solidFill>
                  <a:latin typeface="Arial"/>
                </a:rPr>
                <a:t>Pipe: water in</a:t>
              </a:r>
            </a:p>
          </p:txBody>
        </p:sp>
        <p:sp>
          <p:nvSpPr>
            <p:cNvPr id="50" name="locomotive"/>
            <p:cNvSpPr/>
            <p:nvPr/>
          </p:nvSpPr>
          <p:spPr>
            <a:xfrm>
              <a:off x="5394960" y="3511296"/>
              <a:ext cx="2194560" cy="320040"/>
            </a:xfrm>
            <a:prstGeom prst="roundRect">
              <a:avLst>
                <a:gd name="adj" fmla="val 28571"/>
              </a:avLst>
            </a:prstGeom>
            <a:solidFill>
              <a:srgbClr val="F28C28"/>
            </a:solidFill>
            <a:ln>
              <a:noFill/>
            </a:ln>
          </p:spPr>
          <p:txBody>
            <a:bodyPr rtlCol="0" anchor="ctr"/>
            <a:lstStyle/>
            <a:p>
              <a:pPr algn="ctr"/>
            </a:p>
          </p:txBody>
        </p:sp>
        <p:sp>
          <p:nvSpPr>
            <p:cNvPr id="51" name="coal bunker mark"/>
            <p:cNvSpPr/>
            <p:nvPr/>
          </p:nvSpPr>
          <p:spPr>
            <a:xfrm>
              <a:off x="5852160" y="3566160"/>
              <a:ext cx="201168" cy="201168"/>
            </a:xfrm>
            <a:prstGeom prst="ellipse">
              <a:avLst/>
            </a:prstGeom>
            <a:solidFill>
              <a:srgbClr val="1B1D21"/>
            </a:solidFill>
            <a:ln w="19050">
              <a:solidFill>
                <a:srgbClr val="F2F2F2"/>
              </a:solidFill>
            </a:ln>
          </p:spPr>
          <p:txBody>
            <a:bodyPr rtlCol="0" anchor="ctr"/>
            <a:lstStyle/>
            <a:p>
              <a:pPr algn="ctr"/>
            </a:p>
          </p:txBody>
        </p:sp>
        <p:sp>
          <p:nvSpPr>
            <p:cNvPr id="52" name="water hatch mark"/>
            <p:cNvSpPr/>
            <p:nvPr/>
          </p:nvSpPr>
          <p:spPr>
            <a:xfrm>
              <a:off x="6949440" y="3566160"/>
              <a:ext cx="201168" cy="201168"/>
            </a:xfrm>
            <a:prstGeom prst="ellipse">
              <a:avLst/>
            </a:prstGeom>
            <a:solidFill>
              <a:srgbClr val="4DA3FF"/>
            </a:solidFill>
            <a:ln w="19050">
              <a:solidFill>
                <a:srgbClr val="F2F2F2"/>
              </a:solidFill>
            </a:ln>
          </p:spPr>
          <p:txBody>
            <a:bodyPr rtlCol="0" anchor="ctr"/>
            <a:lstStyle/>
            <a:p>
              <a:pPr algn="ctr"/>
            </a:p>
          </p:txBody>
        </p:sp>
        <p:sp>
          <p:nvSpPr>
            <p:cNvPr id="53" name="vanilla station"/>
            <p:cNvSpPr/>
            <p:nvPr/>
          </p:nvSpPr>
          <p:spPr>
            <a:xfrm>
              <a:off x="9646920" y="4617720"/>
              <a:ext cx="1965960" cy="868680"/>
            </a:xfrm>
            <a:prstGeom prst="rect">
              <a:avLst/>
            </a:prstGeom>
            <a:solidFill>
              <a:srgbClr val="343A43"/>
            </a:solidFill>
            <a:ln w="19050">
              <a:solidFill>
                <a:srgbClr val="9AA0A6"/>
              </a:solidFill>
            </a:ln>
          </p:spPr>
          <p:txBody>
            <a:bodyPr rtlCol="0" anchor="ctr" wrap="square" lIns="54864" tIns="27432" rIns="54864" bIns="27432">
              <a:noAutofit/>
            </a:bodyPr>
            <a:lstStyle/>
            <a:p>
              <a:pPr algn="ctr"/>
              <a:r>
                <a:rPr sz="1400" b="0" i="0" lang="en-GB">
                  <a:solidFill>
                    <a:srgbClr val="F2F2F2"/>
                  </a:solidFill>
                  <a:latin typeface="Arial"/>
                </a:rPr>
                <a:t>Vanilla station (for comparison)</a:t>
              </a:r>
            </a:p>
          </p:txBody>
        </p:sp>
      </p:grpSp>
      <p:pic>
        <p:nvPicPr>
          <p:cNvPr id="54" name="P17_coal_stage_water_tank_didcot" descr="A coal stage and a water tank at Didcot Railway Centre."/>
          <p:cNvPicPr>
            <a:picLocks noChangeAspect="1"/>
          </p:cNvPicPr>
          <p:nvPr/>
        </p:nvPicPr>
        <p:blipFill>
          <a:blip r:embed="rId2"/>
          <a:srcRect l="222" r="222"/>
          <a:stretch>
            <a:fillRect/>
          </a:stretch>
        </p:blipFill>
        <p:spPr>
          <a:xfrm>
            <a:off x="9646920" y="1325880"/>
            <a:ext cx="1993392" cy="1124712"/>
          </a:xfrm>
          <a:prstGeom prst="roundRect">
            <a:avLst>
              <a:gd name="adj" fmla="val 6504"/>
            </a:avLst>
          </a:prstGeom>
        </p:spPr>
      </p:pic>
      <p:sp>
        <p:nvSpPr>
          <p:cNvPr id="55" name="CREDIT"/>
          <p:cNvSpPr txBox="1"/>
          <p:nvPr/>
        </p:nvSpPr>
        <p:spPr>
          <a:xfrm>
            <a:off x="9646920" y="2468880"/>
            <a:ext cx="1993392" cy="219456"/>
          </a:xfrm>
          <a:prstGeom prst="rect">
            <a:avLst/>
          </a:prstGeom>
          <a:noFill/>
        </p:spPr>
        <p:txBody>
          <a:bodyPr wrap="square" anchor="t" lIns="0" tIns="0" rIns="0" bIns="0">
            <a:noAutofit/>
          </a:bodyPr>
          <a:lstStyle/>
          <a:p>
            <a:pPr algn="l"/>
            <a:r>
              <a:rPr sz="1000" b="0" i="0" lang="en-GB">
                <a:solidFill>
                  <a:srgbClr val="A9B0B8"/>
                </a:solidFill>
                <a:latin typeface="Arial"/>
              </a:rPr>
              <a:t>Rosser1954, CC BY-SA 4.0</a:t>
            </a:r>
          </a:p>
        </p:txBody>
      </p:sp>
      <p:sp>
        <p:nvSpPr>
          <p:cNvPr id="5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57"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58"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steam station is big. It has a water tower, coal loading, a signal box and a platform.</a:t>
            </a:r>
          </a:p>
        </p:txBody>
      </p:sp>
      <p:sp>
        <p:nvSpPr>
          <p:cNvPr id="5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nodeType="withEffect">
                                  <p:stCondLst>
                                    <p:cond delay="60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10" presetClass="entr" presetSubtype="0" fill="hold" nodeType="withEffect">
                                  <p:stCondLst>
                                    <p:cond delay="90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500"/>
                                        <p:tgtEl>
                                          <p:spTgt spid="57"/>
                                        </p:tgtEl>
                                      </p:cBhvr>
                                    </p:animEffect>
                                  </p:childTnLst>
                                </p:cTn>
                              </p:par>
                              <p:par>
                                <p:cTn id="17" presetID="10" presetClass="entr" presetSubtype="0" fill="hold" nodeType="withEffect">
                                  <p:stCondLst>
                                    <p:cond delay="12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Big on purpose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station footprints" descr="A large dashed footprint for a steam station holds four blocks: water, coal, signal box and platform. Beside it a much smaller solid rectangle shows a vanilla station."/>
          <p:cNvGrpSpPr/>
          <p:nvPr/>
        </p:nvGrpSpPr>
        <p:grpSpPr>
          <a:xfrm>
            <a:off x="731520" y="1463040"/>
            <a:ext cx="10515600" cy="4114800"/>
            <a:chOff x="731520" y="1463040"/>
            <a:chExt cx="10515600" cy="4114800"/>
          </a:xfrm>
        </p:grpSpPr>
        <p:sp>
          <p:nvSpPr>
            <p:cNvPr id="5" name="steam footprint"/>
            <p:cNvSpPr/>
            <p:nvPr/>
          </p:nvSpPr>
          <p:spPr>
            <a:xfrm>
              <a:off x="731520" y="1463040"/>
              <a:ext cx="7589520" cy="3657600"/>
            </a:xfrm>
            <a:prstGeom prst="roundRect">
              <a:avLst>
                <a:gd name="adj" fmla="val 3750"/>
              </a:avLst>
            </a:prstGeom>
            <a:noFill/>
            <a:ln w="31750">
              <a:solidFill>
                <a:srgbClr val="F28C28"/>
              </a:solidFill>
              <a:prstDash val="dash"/>
            </a:ln>
          </p:spPr>
          <p:txBody>
            <a:bodyPr rtlCol="0" anchor="ctr"/>
            <a:lstStyle/>
            <a:p>
              <a:pPr algn="ctr"/>
            </a:p>
          </p:txBody>
        </p:sp>
        <p:sp>
          <p:nvSpPr>
            <p:cNvPr id="6" name="footprint title"/>
            <p:cNvSpPr txBox="1"/>
            <p:nvPr/>
          </p:nvSpPr>
          <p:spPr>
            <a:xfrm>
              <a:off x="914400" y="1536192"/>
              <a:ext cx="3657600" cy="411480"/>
            </a:xfrm>
            <a:prstGeom prst="rect">
              <a:avLst/>
            </a:prstGeom>
            <a:noFill/>
          </p:spPr>
          <p:txBody>
            <a:bodyPr wrap="square" anchor="ctr" lIns="18288" tIns="9144" rIns="18288" bIns="9144">
              <a:noAutofit/>
            </a:bodyPr>
            <a:lstStyle/>
            <a:p>
              <a:pPr algn="l"/>
              <a:r>
                <a:rPr sz="1800" b="1" i="0" lang="en-GB">
                  <a:solidFill>
                    <a:srgbClr val="F28C28"/>
                  </a:solidFill>
                  <a:latin typeface="Arial"/>
                </a:rPr>
                <a:t>Steam station</a:t>
              </a:r>
            </a:p>
          </p:txBody>
        </p:sp>
        <p:sp>
          <p:nvSpPr>
            <p:cNvPr id="7" name="block"/>
            <p:cNvSpPr/>
            <p:nvPr/>
          </p:nvSpPr>
          <p:spPr>
            <a:xfrm>
              <a:off x="1051560" y="2103120"/>
              <a:ext cx="3383280" cy="1234440"/>
            </a:xfrm>
            <a:prstGeom prst="roundRect">
              <a:avLst>
                <a:gd name="adj" fmla="val 5925"/>
              </a:avLst>
            </a:prstGeom>
            <a:solidFill>
              <a:srgbClr val="4DA3FF"/>
            </a:solidFill>
            <a:ln w="19050">
              <a:solidFill>
                <a:srgbClr val="F2F2F2"/>
              </a:solidFill>
            </a:ln>
          </p:spPr>
          <p:txBody>
            <a:bodyPr rtlCol="0" anchor="ctr" wrap="square" lIns="54864" tIns="27432" rIns="54864" bIns="27432">
              <a:noAutofit/>
            </a:bodyPr>
            <a:lstStyle/>
            <a:p>
              <a:pPr algn="ctr"/>
              <a:r>
                <a:rPr sz="1800" b="1" i="0" lang="en-GB">
                  <a:solidFill>
                    <a:srgbClr val="101418"/>
                  </a:solidFill>
                  <a:latin typeface="Arial"/>
                </a:rPr>
                <a:t>Water</a:t>
              </a:r>
            </a:p>
          </p:txBody>
        </p:sp>
        <p:sp>
          <p:nvSpPr>
            <p:cNvPr id="8" name="block"/>
            <p:cNvSpPr/>
            <p:nvPr/>
          </p:nvSpPr>
          <p:spPr>
            <a:xfrm>
              <a:off x="4709160" y="2103120"/>
              <a:ext cx="3383280" cy="1234440"/>
            </a:xfrm>
            <a:prstGeom prst="roundRect">
              <a:avLst>
                <a:gd name="adj" fmla="val 5925"/>
              </a:avLst>
            </a:prstGeom>
            <a:solidFill>
              <a:srgbClr val="1B1D21"/>
            </a:solidFill>
            <a:ln w="19050">
              <a:solidFill>
                <a:srgbClr val="9AA0A6"/>
              </a:solidFill>
            </a:ln>
          </p:spPr>
          <p:txBody>
            <a:bodyPr rtlCol="0" anchor="ctr" wrap="square" lIns="54864" tIns="27432" rIns="54864" bIns="27432">
              <a:noAutofit/>
            </a:bodyPr>
            <a:lstStyle/>
            <a:p>
              <a:pPr algn="ctr"/>
              <a:r>
                <a:rPr sz="1800" b="1" i="0" lang="en-GB">
                  <a:solidFill>
                    <a:srgbClr val="F2F2F2"/>
                  </a:solidFill>
                  <a:latin typeface="Arial"/>
                </a:rPr>
                <a:t>Coal</a:t>
              </a:r>
            </a:p>
          </p:txBody>
        </p:sp>
        <p:sp>
          <p:nvSpPr>
            <p:cNvPr id="9" name="block"/>
            <p:cNvSpPr/>
            <p:nvPr/>
          </p:nvSpPr>
          <p:spPr>
            <a:xfrm>
              <a:off x="1051560" y="3566160"/>
              <a:ext cx="3383280" cy="1234440"/>
            </a:xfrm>
            <a:prstGeom prst="roundRect">
              <a:avLst>
                <a:gd name="adj" fmla="val 5925"/>
              </a:avLst>
            </a:prstGeom>
            <a:solidFill>
              <a:srgbClr val="343A43"/>
            </a:solidFill>
            <a:ln w="19050">
              <a:solidFill>
                <a:srgbClr val="9AA0A6"/>
              </a:solidFill>
            </a:ln>
          </p:spPr>
          <p:txBody>
            <a:bodyPr rtlCol="0" anchor="ctr" wrap="square" lIns="54864" tIns="27432" rIns="54864" bIns="27432">
              <a:noAutofit/>
            </a:bodyPr>
            <a:lstStyle/>
            <a:p>
              <a:pPr algn="ctr"/>
              <a:r>
                <a:rPr sz="1800" b="1" i="0" lang="en-GB">
                  <a:solidFill>
                    <a:srgbClr val="F2F2F2"/>
                  </a:solidFill>
                  <a:latin typeface="Arial"/>
                </a:rPr>
                <a:t>Signal box</a:t>
              </a:r>
            </a:p>
          </p:txBody>
        </p:sp>
        <p:sp>
          <p:nvSpPr>
            <p:cNvPr id="10" name="block"/>
            <p:cNvSpPr/>
            <p:nvPr/>
          </p:nvSpPr>
          <p:spPr>
            <a:xfrm>
              <a:off x="4709160" y="3566160"/>
              <a:ext cx="3383280" cy="1234440"/>
            </a:xfrm>
            <a:prstGeom prst="roundRect">
              <a:avLst>
                <a:gd name="adj" fmla="val 5925"/>
              </a:avLst>
            </a:prstGeom>
            <a:solidFill>
              <a:srgbClr val="343A43"/>
            </a:solidFill>
            <a:ln w="19050">
              <a:solidFill>
                <a:srgbClr val="9AA0A6"/>
              </a:solidFill>
            </a:ln>
          </p:spPr>
          <p:txBody>
            <a:bodyPr rtlCol="0" anchor="ctr" wrap="square" lIns="54864" tIns="27432" rIns="54864" bIns="27432">
              <a:noAutofit/>
            </a:bodyPr>
            <a:lstStyle/>
            <a:p>
              <a:pPr algn="ctr"/>
              <a:r>
                <a:rPr sz="1800" b="1" i="0" lang="en-GB">
                  <a:solidFill>
                    <a:srgbClr val="F2F2F2"/>
                  </a:solidFill>
                  <a:latin typeface="Arial"/>
                </a:rPr>
                <a:t>Platform</a:t>
              </a:r>
            </a:p>
          </p:txBody>
        </p:sp>
        <p:sp>
          <p:nvSpPr>
            <p:cNvPr id="11" name="vanilla footprint"/>
            <p:cNvSpPr/>
            <p:nvPr/>
          </p:nvSpPr>
          <p:spPr>
            <a:xfrm>
              <a:off x="9144000" y="3840480"/>
              <a:ext cx="2103120" cy="1280160"/>
            </a:xfrm>
            <a:prstGeom prst="rect">
              <a:avLst/>
            </a:prstGeom>
            <a:solidFill>
              <a:srgbClr val="343A43"/>
            </a:solidFill>
            <a:ln w="25400">
              <a:solidFill>
                <a:srgbClr val="9AA0A6"/>
              </a:solidFill>
            </a:ln>
          </p:spPr>
          <p:txBody>
            <a:bodyPr rtlCol="0" anchor="ctr" wrap="square" lIns="54864" tIns="27432" rIns="54864" bIns="27432">
              <a:noAutofit/>
            </a:bodyPr>
            <a:lstStyle/>
            <a:p>
              <a:pPr algn="ctr"/>
              <a:r>
                <a:rPr sz="1600" b="1" i="0" lang="en-GB">
                  <a:solidFill>
                    <a:srgbClr val="F2F2F2"/>
                  </a:solidFill>
                  <a:latin typeface="Arial"/>
                </a:rPr>
                <a:t>Vanilla station</a:t>
              </a:r>
            </a:p>
          </p:txBody>
        </p:sp>
        <p:sp>
          <p:nvSpPr>
            <p:cNvPr id="12" name="size note"/>
            <p:cNvSpPr txBox="1"/>
            <p:nvPr/>
          </p:nvSpPr>
          <p:spPr>
            <a:xfrm>
              <a:off x="731520" y="5212080"/>
              <a:ext cx="7589520" cy="365760"/>
            </a:xfrm>
            <a:prstGeom prst="rect">
              <a:avLst/>
            </a:prstGeom>
            <a:noFill/>
          </p:spPr>
          <p:txBody>
            <a:bodyPr wrap="square" anchor="ctr" lIns="18288" tIns="9144" rIns="18288" bIns="9144">
              <a:noAutofit/>
            </a:bodyPr>
            <a:lstStyle/>
            <a:p>
              <a:pPr algn="ctr"/>
              <a:r>
                <a:rPr sz="1800" b="0" i="0" lang="en-GB">
                  <a:solidFill>
                    <a:srgbClr val="A9B0B8"/>
                  </a:solidFill>
                  <a:latin typeface="Arial"/>
                </a:rPr>
                <a:t>Exact sizes: undecided (OQ09)</a:t>
              </a:r>
            </a:p>
          </p:txBody>
        </p:sp>
      </p:grpSp>
      <p:sp>
        <p:nvSpPr>
          <p:cNvPr id="1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5"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Steam technology is cheap in materials but costs land and buildings. That is the price.</a:t>
            </a:r>
          </a:p>
        </p:txBody>
      </p:sp>
      <p:sp>
        <p:nvSpPr>
          <p:cNvPr id="1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6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9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Servicing takes time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Servicing steps" descr="Nine steps in two rows: approach slowly, settle in, long steam hiss, coal chutes, water arm swings, find the hatches, tanks fill, machinery folds away, depart. Below, a long bar for empty tanks and a short bar for a small top-up."/>
          <p:cNvGrpSpPr/>
          <p:nvPr/>
        </p:nvGrpSpPr>
        <p:grpSpPr>
          <a:xfrm>
            <a:off x="548640" y="1325880"/>
            <a:ext cx="11109960" cy="4389120"/>
            <a:chOff x="548640" y="1325880"/>
            <a:chExt cx="11109960" cy="4389120"/>
          </a:xfrm>
        </p:grpSpPr>
        <p:sp>
          <p:nvSpPr>
            <p:cNvPr id="5" name="step card"/>
            <p:cNvSpPr/>
            <p:nvPr/>
          </p:nvSpPr>
          <p:spPr>
            <a:xfrm>
              <a:off x="548640" y="132588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cxnSp>
          <p:nvCxnSpPr>
            <p:cNvPr id="6" name="icon approach"/>
            <p:cNvCxnSpPr/>
            <p:nvPr/>
          </p:nvCxnSpPr>
          <p:spPr>
            <a:xfrm>
              <a:off x="1371600" y="1783080"/>
              <a:ext cx="640080" cy="0"/>
            </a:xfrm>
            <a:prstGeom prst="line">
              <a:avLst/>
            </a:prstGeom>
            <a:ln w="50800">
              <a:solidFill>
                <a:srgbClr val="F28C28"/>
              </a:solidFill>
              <a:tailEnd type="triangle" w="med" len="med"/>
            </a:ln>
          </p:spPr>
        </p:cxnSp>
        <p:sp>
          <p:nvSpPr>
            <p:cNvPr id="7" name="badge"/>
            <p:cNvSpPr/>
            <p:nvPr/>
          </p:nvSpPr>
          <p:spPr>
            <a:xfrm>
              <a:off x="658368" y="1435608"/>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1</a:t>
              </a:r>
            </a:p>
          </p:txBody>
        </p:sp>
        <p:sp>
          <p:nvSpPr>
            <p:cNvPr id="8" name="step label"/>
            <p:cNvSpPr txBox="1"/>
            <p:nvPr/>
          </p:nvSpPr>
          <p:spPr>
            <a:xfrm>
              <a:off x="621792" y="2103120"/>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Approach slowly</a:t>
              </a:r>
            </a:p>
          </p:txBody>
        </p:sp>
        <p:sp>
          <p:nvSpPr>
            <p:cNvPr id="9" name="step card"/>
            <p:cNvSpPr/>
            <p:nvPr/>
          </p:nvSpPr>
          <p:spPr>
            <a:xfrm>
              <a:off x="2816352" y="132588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cxnSp>
          <p:nvCxnSpPr>
            <p:cNvPr id="10" name="icon dock"/>
            <p:cNvCxnSpPr/>
            <p:nvPr/>
          </p:nvCxnSpPr>
          <p:spPr>
            <a:xfrm>
              <a:off x="3639312" y="1581912"/>
              <a:ext cx="0" cy="402336"/>
            </a:xfrm>
            <a:prstGeom prst="line">
              <a:avLst/>
            </a:prstGeom>
            <a:ln w="38100">
              <a:solidFill>
                <a:srgbClr val="9AA0A6"/>
              </a:solidFill>
            </a:ln>
          </p:spPr>
        </p:cxnSp>
        <p:cxnSp>
          <p:nvCxnSpPr>
            <p:cNvPr id="11" name="icon dock"/>
            <p:cNvCxnSpPr/>
            <p:nvPr/>
          </p:nvCxnSpPr>
          <p:spPr>
            <a:xfrm>
              <a:off x="3639312" y="1984248"/>
              <a:ext cx="640080" cy="0"/>
            </a:xfrm>
            <a:prstGeom prst="line">
              <a:avLst/>
            </a:prstGeom>
            <a:ln w="38100">
              <a:solidFill>
                <a:srgbClr val="9AA0A6"/>
              </a:solidFill>
            </a:ln>
          </p:spPr>
        </p:cxnSp>
        <p:cxnSp>
          <p:nvCxnSpPr>
            <p:cNvPr id="12" name="icon dock"/>
            <p:cNvCxnSpPr/>
            <p:nvPr/>
          </p:nvCxnSpPr>
          <p:spPr>
            <a:xfrm flipV="1">
              <a:off x="4279392" y="1581912"/>
              <a:ext cx="0" cy="402336"/>
            </a:xfrm>
            <a:prstGeom prst="line">
              <a:avLst/>
            </a:prstGeom>
            <a:ln w="38100">
              <a:solidFill>
                <a:srgbClr val="9AA0A6"/>
              </a:solidFill>
            </a:ln>
          </p:spPr>
        </p:cxnSp>
        <p:sp>
          <p:nvSpPr>
            <p:cNvPr id="13" name="icon engine"/>
            <p:cNvSpPr/>
            <p:nvPr/>
          </p:nvSpPr>
          <p:spPr>
            <a:xfrm>
              <a:off x="3776472" y="1737360"/>
              <a:ext cx="365760" cy="201168"/>
            </a:xfrm>
            <a:prstGeom prst="roundRect">
              <a:avLst>
                <a:gd name="adj" fmla="val 22727"/>
              </a:avLst>
            </a:prstGeom>
            <a:solidFill>
              <a:srgbClr val="F28C28"/>
            </a:solidFill>
            <a:ln>
              <a:noFill/>
            </a:ln>
          </p:spPr>
          <p:txBody>
            <a:bodyPr rtlCol="0" anchor="ctr"/>
            <a:lstStyle/>
            <a:p>
              <a:pPr algn="ctr"/>
            </a:p>
          </p:txBody>
        </p:sp>
        <p:sp>
          <p:nvSpPr>
            <p:cNvPr id="14" name="badge"/>
            <p:cNvSpPr/>
            <p:nvPr/>
          </p:nvSpPr>
          <p:spPr>
            <a:xfrm>
              <a:off x="2926079" y="1435608"/>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2</a:t>
              </a:r>
            </a:p>
          </p:txBody>
        </p:sp>
        <p:sp>
          <p:nvSpPr>
            <p:cNvPr id="15" name="step label"/>
            <p:cNvSpPr txBox="1"/>
            <p:nvPr/>
          </p:nvSpPr>
          <p:spPr>
            <a:xfrm>
              <a:off x="2889504" y="2103120"/>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Settle in</a:t>
              </a:r>
            </a:p>
          </p:txBody>
        </p:sp>
        <p:sp>
          <p:nvSpPr>
            <p:cNvPr id="16" name="step card"/>
            <p:cNvSpPr/>
            <p:nvPr/>
          </p:nvSpPr>
          <p:spPr>
            <a:xfrm>
              <a:off x="5084064" y="132588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17" name="icon steam"/>
            <p:cNvSpPr/>
            <p:nvPr/>
          </p:nvSpPr>
          <p:spPr>
            <a:xfrm>
              <a:off x="5907024" y="1810511"/>
              <a:ext cx="237744" cy="164592"/>
            </a:xfrm>
            <a:prstGeom prst="ellipse">
              <a:avLst/>
            </a:prstGeom>
            <a:solidFill>
              <a:srgbClr val="F2F2F2">
                <a:alpha val="85000"/>
              </a:srgbClr>
            </a:solidFill>
            <a:ln>
              <a:noFill/>
            </a:ln>
          </p:spPr>
          <p:txBody>
            <a:bodyPr rtlCol="0" anchor="ctr"/>
            <a:lstStyle/>
            <a:p>
              <a:pPr algn="ctr"/>
            </a:p>
          </p:txBody>
        </p:sp>
        <p:sp>
          <p:nvSpPr>
            <p:cNvPr id="18" name="icon steam"/>
            <p:cNvSpPr/>
            <p:nvPr/>
          </p:nvSpPr>
          <p:spPr>
            <a:xfrm>
              <a:off x="6071616" y="1682495"/>
              <a:ext cx="310896" cy="164592"/>
            </a:xfrm>
            <a:prstGeom prst="ellipse">
              <a:avLst/>
            </a:prstGeom>
            <a:solidFill>
              <a:srgbClr val="F2F2F2">
                <a:alpha val="85000"/>
              </a:srgbClr>
            </a:solidFill>
            <a:ln>
              <a:noFill/>
            </a:ln>
          </p:spPr>
          <p:txBody>
            <a:bodyPr rtlCol="0" anchor="ctr"/>
            <a:lstStyle/>
            <a:p>
              <a:pPr algn="ctr"/>
            </a:p>
          </p:txBody>
        </p:sp>
        <p:sp>
          <p:nvSpPr>
            <p:cNvPr id="19" name="icon steam"/>
            <p:cNvSpPr/>
            <p:nvPr/>
          </p:nvSpPr>
          <p:spPr>
            <a:xfrm>
              <a:off x="6236207" y="1554480"/>
              <a:ext cx="384048" cy="164592"/>
            </a:xfrm>
            <a:prstGeom prst="ellipse">
              <a:avLst/>
            </a:prstGeom>
            <a:solidFill>
              <a:srgbClr val="F2F2F2">
                <a:alpha val="85000"/>
              </a:srgbClr>
            </a:solidFill>
            <a:ln>
              <a:noFill/>
            </a:ln>
          </p:spPr>
          <p:txBody>
            <a:bodyPr rtlCol="0" anchor="ctr"/>
            <a:lstStyle/>
            <a:p>
              <a:pPr algn="ctr"/>
            </a:p>
          </p:txBody>
        </p:sp>
        <p:sp>
          <p:nvSpPr>
            <p:cNvPr id="20" name="badge"/>
            <p:cNvSpPr/>
            <p:nvPr/>
          </p:nvSpPr>
          <p:spPr>
            <a:xfrm>
              <a:off x="5193792" y="1435608"/>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3</a:t>
              </a:r>
            </a:p>
          </p:txBody>
        </p:sp>
        <p:sp>
          <p:nvSpPr>
            <p:cNvPr id="21" name="step label"/>
            <p:cNvSpPr txBox="1"/>
            <p:nvPr/>
          </p:nvSpPr>
          <p:spPr>
            <a:xfrm>
              <a:off x="5157216" y="2103120"/>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Long steam hiss</a:t>
              </a:r>
            </a:p>
          </p:txBody>
        </p:sp>
        <p:sp>
          <p:nvSpPr>
            <p:cNvPr id="22" name="step card"/>
            <p:cNvSpPr/>
            <p:nvPr/>
          </p:nvSpPr>
          <p:spPr>
            <a:xfrm>
              <a:off x="7351775" y="132588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23" name="icon chute"/>
            <p:cNvSpPr/>
            <p:nvPr/>
          </p:nvSpPr>
          <p:spPr>
            <a:xfrm>
              <a:off x="8174736" y="1554480"/>
              <a:ext cx="411479" cy="411480"/>
            </a:xfrm>
            <a:custGeom>
              <a:avLst/>
              <a:gdLst/>
              <a:ahLst/>
              <a:cxnLst/>
              <a:rect l="l" t="t" r="r" b="b"/>
              <a:pathLst>
                <a:path w="411479" h="411480">
                  <a:moveTo>
                    <a:pt x="0" y="0"/>
                  </a:moveTo>
                  <a:lnTo>
                    <a:pt x="411479" y="320039"/>
                  </a:lnTo>
                  <a:lnTo>
                    <a:pt x="411479" y="411480"/>
                  </a:lnTo>
                  <a:lnTo>
                    <a:pt x="0" y="91440"/>
                  </a:lnTo>
                  <a:close/>
                </a:path>
              </a:pathLst>
            </a:custGeom>
            <a:solidFill>
              <a:srgbClr val="9AA0A6"/>
            </a:solidFill>
            <a:ln>
              <a:noFill/>
            </a:ln>
          </p:spPr>
          <p:txBody>
            <a:bodyPr rtlCol="0" anchor="ctr"/>
            <a:lstStyle/>
            <a:p>
              <a:pPr algn="ctr"/>
            </a:p>
          </p:txBody>
        </p:sp>
        <p:sp>
          <p:nvSpPr>
            <p:cNvPr id="24" name="icon coal"/>
            <p:cNvSpPr/>
            <p:nvPr/>
          </p:nvSpPr>
          <p:spPr>
            <a:xfrm>
              <a:off x="8540496" y="1892807"/>
              <a:ext cx="301752" cy="146305"/>
            </a:xfrm>
            <a:custGeom>
              <a:avLst/>
              <a:gdLst/>
              <a:ahLst/>
              <a:cxnLst/>
              <a:rect l="l" t="t" r="r" b="b"/>
              <a:pathLst>
                <a:path w="301752" h="146305">
                  <a:moveTo>
                    <a:pt x="0" y="146305"/>
                  </a:moveTo>
                  <a:lnTo>
                    <a:pt x="91440" y="0"/>
                  </a:lnTo>
                  <a:lnTo>
                    <a:pt x="228600" y="18288"/>
                  </a:lnTo>
                  <a:lnTo>
                    <a:pt x="301752" y="146305"/>
                  </a:lnTo>
                  <a:close/>
                </a:path>
              </a:pathLst>
            </a:custGeom>
            <a:solidFill>
              <a:srgbClr val="1B1D21"/>
            </a:solidFill>
            <a:ln w="19050">
              <a:solidFill>
                <a:srgbClr val="B5BBC2"/>
              </a:solidFill>
            </a:ln>
          </p:spPr>
          <p:txBody>
            <a:bodyPr rtlCol="0" anchor="ctr"/>
            <a:lstStyle/>
            <a:p>
              <a:pPr algn="ctr"/>
            </a:p>
          </p:txBody>
        </p:sp>
        <p:sp>
          <p:nvSpPr>
            <p:cNvPr id="25" name="badge"/>
            <p:cNvSpPr/>
            <p:nvPr/>
          </p:nvSpPr>
          <p:spPr>
            <a:xfrm>
              <a:off x="7461504" y="1435608"/>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4</a:t>
              </a:r>
            </a:p>
          </p:txBody>
        </p:sp>
        <p:sp>
          <p:nvSpPr>
            <p:cNvPr id="26" name="step label"/>
            <p:cNvSpPr txBox="1"/>
            <p:nvPr/>
          </p:nvSpPr>
          <p:spPr>
            <a:xfrm>
              <a:off x="7424927" y="2103120"/>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Coal chutes</a:t>
              </a:r>
            </a:p>
          </p:txBody>
        </p:sp>
        <p:sp>
          <p:nvSpPr>
            <p:cNvPr id="27" name="step card"/>
            <p:cNvSpPr/>
            <p:nvPr/>
          </p:nvSpPr>
          <p:spPr>
            <a:xfrm>
              <a:off x="9619488" y="132588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28" name="icon crane"/>
            <p:cNvSpPr/>
            <p:nvPr/>
          </p:nvSpPr>
          <p:spPr>
            <a:xfrm>
              <a:off x="10442448" y="1668780"/>
              <a:ext cx="640080" cy="297180"/>
            </a:xfrm>
            <a:custGeom>
              <a:avLst/>
              <a:gdLst/>
              <a:ahLst/>
              <a:cxnLst/>
              <a:rect l="l" t="t" r="r" b="b"/>
              <a:pathLst>
                <a:path w="640080" h="297180">
                  <a:moveTo>
                    <a:pt x="0" y="297180"/>
                  </a:moveTo>
                  <a:lnTo>
                    <a:pt x="22860" y="256241"/>
                  </a:lnTo>
                  <a:lnTo>
                    <a:pt x="45719" y="218336"/>
                  </a:lnTo>
                  <a:lnTo>
                    <a:pt x="68580" y="183463"/>
                  </a:lnTo>
                  <a:lnTo>
                    <a:pt x="91440" y="151622"/>
                  </a:lnTo>
                  <a:lnTo>
                    <a:pt x="114299" y="122814"/>
                  </a:lnTo>
                  <a:lnTo>
                    <a:pt x="137160" y="97038"/>
                  </a:lnTo>
                  <a:lnTo>
                    <a:pt x="160020" y="74294"/>
                  </a:lnTo>
                  <a:lnTo>
                    <a:pt x="182880" y="54584"/>
                  </a:lnTo>
                  <a:lnTo>
                    <a:pt x="205740" y="37905"/>
                  </a:lnTo>
                  <a:lnTo>
                    <a:pt x="228599" y="24259"/>
                  </a:lnTo>
                  <a:lnTo>
                    <a:pt x="251460" y="13646"/>
                  </a:lnTo>
                  <a:lnTo>
                    <a:pt x="274319" y="6064"/>
                  </a:lnTo>
                  <a:lnTo>
                    <a:pt x="297180" y="1516"/>
                  </a:lnTo>
                  <a:lnTo>
                    <a:pt x="320040" y="0"/>
                  </a:lnTo>
                  <a:lnTo>
                    <a:pt x="342900" y="1516"/>
                  </a:lnTo>
                  <a:lnTo>
                    <a:pt x="365760" y="6064"/>
                  </a:lnTo>
                  <a:lnTo>
                    <a:pt x="388619" y="13646"/>
                  </a:lnTo>
                  <a:lnTo>
                    <a:pt x="411480" y="24259"/>
                  </a:lnTo>
                  <a:lnTo>
                    <a:pt x="434340" y="37905"/>
                  </a:lnTo>
                  <a:lnTo>
                    <a:pt x="457200" y="54584"/>
                  </a:lnTo>
                  <a:lnTo>
                    <a:pt x="480060" y="74295"/>
                  </a:lnTo>
                  <a:lnTo>
                    <a:pt x="502919" y="97038"/>
                  </a:lnTo>
                  <a:lnTo>
                    <a:pt x="525779" y="122814"/>
                  </a:lnTo>
                  <a:lnTo>
                    <a:pt x="548640" y="151622"/>
                  </a:lnTo>
                  <a:lnTo>
                    <a:pt x="571500" y="183463"/>
                  </a:lnTo>
                  <a:lnTo>
                    <a:pt x="594359" y="218336"/>
                  </a:lnTo>
                  <a:lnTo>
                    <a:pt x="617219" y="256241"/>
                  </a:lnTo>
                  <a:lnTo>
                    <a:pt x="640080" y="297180"/>
                  </a:lnTo>
                </a:path>
              </a:pathLst>
            </a:custGeom>
            <a:noFill/>
            <a:ln w="44450">
              <a:solidFill>
                <a:srgbClr val="4DA3FF"/>
              </a:solidFill>
              <a:tailEnd type="triangle" w="med" len="med"/>
            </a:ln>
          </p:spPr>
          <p:txBody>
            <a:bodyPr rtlCol="0" anchor="ctr"/>
            <a:lstStyle/>
            <a:p>
              <a:pPr algn="ctr"/>
            </a:p>
          </p:txBody>
        </p:sp>
        <p:sp>
          <p:nvSpPr>
            <p:cNvPr id="29" name="badge"/>
            <p:cNvSpPr/>
            <p:nvPr/>
          </p:nvSpPr>
          <p:spPr>
            <a:xfrm>
              <a:off x="9729216" y="1435608"/>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5</a:t>
              </a:r>
            </a:p>
          </p:txBody>
        </p:sp>
        <p:sp>
          <p:nvSpPr>
            <p:cNvPr id="30" name="step label"/>
            <p:cNvSpPr txBox="1"/>
            <p:nvPr/>
          </p:nvSpPr>
          <p:spPr>
            <a:xfrm>
              <a:off x="9692640" y="2103120"/>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Water arm swings</a:t>
              </a:r>
            </a:p>
          </p:txBody>
        </p:sp>
        <p:sp>
          <p:nvSpPr>
            <p:cNvPr id="31" name="step card"/>
            <p:cNvSpPr/>
            <p:nvPr/>
          </p:nvSpPr>
          <p:spPr>
            <a:xfrm>
              <a:off x="548640" y="301752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32" name="crosshair ring"/>
            <p:cNvSpPr/>
            <p:nvPr/>
          </p:nvSpPr>
          <p:spPr>
            <a:xfrm>
              <a:off x="1399032" y="3364991"/>
              <a:ext cx="219456" cy="219456"/>
            </a:xfrm>
            <a:prstGeom prst="ellipse">
              <a:avLst/>
            </a:prstGeom>
            <a:noFill/>
            <a:ln w="76200">
              <a:solidFill>
                <a:srgbClr val="101418"/>
              </a:solidFill>
            </a:ln>
          </p:spPr>
          <p:txBody>
            <a:bodyPr rtlCol="0" anchor="ctr"/>
            <a:lstStyle/>
            <a:p>
              <a:pPr algn="ctr"/>
            </a:p>
          </p:txBody>
        </p:sp>
        <p:cxnSp>
          <p:nvCxnSpPr>
            <p:cNvPr id="33" name="crosshair"/>
            <p:cNvCxnSpPr/>
            <p:nvPr/>
          </p:nvCxnSpPr>
          <p:spPr>
            <a:xfrm>
              <a:off x="1333195" y="3474720"/>
              <a:ext cx="351129" cy="0"/>
            </a:xfrm>
            <a:prstGeom prst="line">
              <a:avLst/>
            </a:prstGeom>
            <a:ln w="60960">
              <a:solidFill>
                <a:srgbClr val="101418"/>
              </a:solidFill>
            </a:ln>
          </p:spPr>
        </p:cxnSp>
        <p:cxnSp>
          <p:nvCxnSpPr>
            <p:cNvPr id="34" name="crosshair"/>
            <p:cNvCxnSpPr/>
            <p:nvPr/>
          </p:nvCxnSpPr>
          <p:spPr>
            <a:xfrm>
              <a:off x="1508760" y="3299155"/>
              <a:ext cx="0" cy="351129"/>
            </a:xfrm>
            <a:prstGeom prst="line">
              <a:avLst/>
            </a:prstGeom>
            <a:ln w="60960">
              <a:solidFill>
                <a:srgbClr val="101418"/>
              </a:solidFill>
            </a:ln>
          </p:spPr>
        </p:cxnSp>
        <p:sp>
          <p:nvSpPr>
            <p:cNvPr id="35" name="crosshair ring"/>
            <p:cNvSpPr/>
            <p:nvPr/>
          </p:nvSpPr>
          <p:spPr>
            <a:xfrm>
              <a:off x="1399032" y="3364991"/>
              <a:ext cx="219456" cy="219456"/>
            </a:xfrm>
            <a:prstGeom prst="ellipse">
              <a:avLst/>
            </a:prstGeom>
            <a:noFill/>
            <a:ln w="31750">
              <a:solidFill>
                <a:srgbClr val="F2F2F2"/>
              </a:solidFill>
            </a:ln>
          </p:spPr>
          <p:txBody>
            <a:bodyPr rtlCol="0" anchor="ctr"/>
            <a:lstStyle/>
            <a:p>
              <a:pPr algn="ctr"/>
            </a:p>
          </p:txBody>
        </p:sp>
        <p:cxnSp>
          <p:nvCxnSpPr>
            <p:cNvPr id="36" name="crosshair"/>
            <p:cNvCxnSpPr/>
            <p:nvPr/>
          </p:nvCxnSpPr>
          <p:spPr>
            <a:xfrm>
              <a:off x="1333195" y="3474720"/>
              <a:ext cx="351129" cy="0"/>
            </a:xfrm>
            <a:prstGeom prst="line">
              <a:avLst/>
            </a:prstGeom>
            <a:ln w="25400">
              <a:solidFill>
                <a:srgbClr val="F2F2F2"/>
              </a:solidFill>
            </a:ln>
          </p:spPr>
        </p:cxnSp>
        <p:cxnSp>
          <p:nvCxnSpPr>
            <p:cNvPr id="37" name="crosshair"/>
            <p:cNvCxnSpPr/>
            <p:nvPr/>
          </p:nvCxnSpPr>
          <p:spPr>
            <a:xfrm>
              <a:off x="1508760" y="3299155"/>
              <a:ext cx="0" cy="351129"/>
            </a:xfrm>
            <a:prstGeom prst="line">
              <a:avLst/>
            </a:prstGeom>
            <a:ln w="25400">
              <a:solidFill>
                <a:srgbClr val="F2F2F2"/>
              </a:solidFill>
            </a:ln>
          </p:spPr>
        </p:cxnSp>
        <p:sp>
          <p:nvSpPr>
            <p:cNvPr id="38" name="crosshair ring"/>
            <p:cNvSpPr/>
            <p:nvPr/>
          </p:nvSpPr>
          <p:spPr>
            <a:xfrm>
              <a:off x="1783080" y="3364991"/>
              <a:ext cx="219456" cy="219456"/>
            </a:xfrm>
            <a:prstGeom prst="ellipse">
              <a:avLst/>
            </a:prstGeom>
            <a:noFill/>
            <a:ln w="76200">
              <a:solidFill>
                <a:srgbClr val="101418"/>
              </a:solidFill>
            </a:ln>
          </p:spPr>
          <p:txBody>
            <a:bodyPr rtlCol="0" anchor="ctr"/>
            <a:lstStyle/>
            <a:p>
              <a:pPr algn="ctr"/>
            </a:p>
          </p:txBody>
        </p:sp>
        <p:cxnSp>
          <p:nvCxnSpPr>
            <p:cNvPr id="39" name="crosshair"/>
            <p:cNvCxnSpPr/>
            <p:nvPr/>
          </p:nvCxnSpPr>
          <p:spPr>
            <a:xfrm>
              <a:off x="1717243" y="3474720"/>
              <a:ext cx="351129" cy="0"/>
            </a:xfrm>
            <a:prstGeom prst="line">
              <a:avLst/>
            </a:prstGeom>
            <a:ln w="60960">
              <a:solidFill>
                <a:srgbClr val="101418"/>
              </a:solidFill>
            </a:ln>
          </p:spPr>
        </p:cxnSp>
        <p:cxnSp>
          <p:nvCxnSpPr>
            <p:cNvPr id="40" name="crosshair"/>
            <p:cNvCxnSpPr/>
            <p:nvPr/>
          </p:nvCxnSpPr>
          <p:spPr>
            <a:xfrm>
              <a:off x="1892808" y="3299155"/>
              <a:ext cx="0" cy="351129"/>
            </a:xfrm>
            <a:prstGeom prst="line">
              <a:avLst/>
            </a:prstGeom>
            <a:ln w="60960">
              <a:solidFill>
                <a:srgbClr val="101418"/>
              </a:solidFill>
            </a:ln>
          </p:spPr>
        </p:cxnSp>
        <p:sp>
          <p:nvSpPr>
            <p:cNvPr id="41" name="crosshair ring"/>
            <p:cNvSpPr/>
            <p:nvPr/>
          </p:nvSpPr>
          <p:spPr>
            <a:xfrm>
              <a:off x="1783080" y="3364991"/>
              <a:ext cx="219456" cy="219456"/>
            </a:xfrm>
            <a:prstGeom prst="ellipse">
              <a:avLst/>
            </a:prstGeom>
            <a:noFill/>
            <a:ln w="31750">
              <a:solidFill>
                <a:srgbClr val="F2F2F2"/>
              </a:solidFill>
            </a:ln>
          </p:spPr>
          <p:txBody>
            <a:bodyPr rtlCol="0" anchor="ctr"/>
            <a:lstStyle/>
            <a:p>
              <a:pPr algn="ctr"/>
            </a:p>
          </p:txBody>
        </p:sp>
        <p:cxnSp>
          <p:nvCxnSpPr>
            <p:cNvPr id="42" name="crosshair"/>
            <p:cNvCxnSpPr/>
            <p:nvPr/>
          </p:nvCxnSpPr>
          <p:spPr>
            <a:xfrm>
              <a:off x="1717243" y="3474720"/>
              <a:ext cx="351129" cy="0"/>
            </a:xfrm>
            <a:prstGeom prst="line">
              <a:avLst/>
            </a:prstGeom>
            <a:ln w="25400">
              <a:solidFill>
                <a:srgbClr val="F2F2F2"/>
              </a:solidFill>
            </a:ln>
          </p:spPr>
        </p:cxnSp>
        <p:cxnSp>
          <p:nvCxnSpPr>
            <p:cNvPr id="43" name="crosshair"/>
            <p:cNvCxnSpPr/>
            <p:nvPr/>
          </p:nvCxnSpPr>
          <p:spPr>
            <a:xfrm>
              <a:off x="1892808" y="3299155"/>
              <a:ext cx="0" cy="351129"/>
            </a:xfrm>
            <a:prstGeom prst="line">
              <a:avLst/>
            </a:prstGeom>
            <a:ln w="25400">
              <a:solidFill>
                <a:srgbClr val="F2F2F2"/>
              </a:solidFill>
            </a:ln>
          </p:spPr>
        </p:cxnSp>
        <p:sp>
          <p:nvSpPr>
            <p:cNvPr id="44" name="badge"/>
            <p:cNvSpPr/>
            <p:nvPr/>
          </p:nvSpPr>
          <p:spPr>
            <a:xfrm>
              <a:off x="658368" y="3127247"/>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6</a:t>
              </a:r>
            </a:p>
          </p:txBody>
        </p:sp>
        <p:sp>
          <p:nvSpPr>
            <p:cNvPr id="45" name="step label"/>
            <p:cNvSpPr txBox="1"/>
            <p:nvPr/>
          </p:nvSpPr>
          <p:spPr>
            <a:xfrm>
              <a:off x="621792" y="3794759"/>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Find the hatches</a:t>
              </a:r>
            </a:p>
          </p:txBody>
        </p:sp>
        <p:sp>
          <p:nvSpPr>
            <p:cNvPr id="46" name="step card"/>
            <p:cNvSpPr/>
            <p:nvPr/>
          </p:nvSpPr>
          <p:spPr>
            <a:xfrm>
              <a:off x="2816352" y="301752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47" name="icon clock"/>
            <p:cNvSpPr/>
            <p:nvPr/>
          </p:nvSpPr>
          <p:spPr>
            <a:xfrm>
              <a:off x="3730752" y="3246120"/>
              <a:ext cx="457200" cy="457200"/>
            </a:xfrm>
            <a:prstGeom prst="ellipse">
              <a:avLst/>
            </a:prstGeom>
            <a:noFill/>
            <a:ln w="31750">
              <a:solidFill>
                <a:srgbClr val="F2F2F2"/>
              </a:solidFill>
            </a:ln>
          </p:spPr>
          <p:txBody>
            <a:bodyPr rtlCol="0" anchor="ctr"/>
            <a:lstStyle/>
            <a:p>
              <a:pPr algn="ctr"/>
            </a:p>
          </p:txBody>
        </p:sp>
        <p:cxnSp>
          <p:nvCxnSpPr>
            <p:cNvPr id="48" name="icon hand"/>
            <p:cNvCxnSpPr/>
            <p:nvPr/>
          </p:nvCxnSpPr>
          <p:spPr>
            <a:xfrm flipV="1">
              <a:off x="3959352" y="3328415"/>
              <a:ext cx="0" cy="146305"/>
            </a:xfrm>
            <a:prstGeom prst="line">
              <a:avLst/>
            </a:prstGeom>
            <a:ln w="31750">
              <a:solidFill>
                <a:srgbClr val="F2F2F2"/>
              </a:solidFill>
            </a:ln>
          </p:spPr>
        </p:cxnSp>
        <p:cxnSp>
          <p:nvCxnSpPr>
            <p:cNvPr id="49" name="icon hand"/>
            <p:cNvCxnSpPr/>
            <p:nvPr/>
          </p:nvCxnSpPr>
          <p:spPr>
            <a:xfrm>
              <a:off x="3959352" y="3474720"/>
              <a:ext cx="109728" cy="36576"/>
            </a:xfrm>
            <a:prstGeom prst="line">
              <a:avLst/>
            </a:prstGeom>
            <a:ln w="31750">
              <a:solidFill>
                <a:srgbClr val="F2F2F2"/>
              </a:solidFill>
            </a:ln>
          </p:spPr>
        </p:cxnSp>
        <p:sp>
          <p:nvSpPr>
            <p:cNvPr id="50" name="badge"/>
            <p:cNvSpPr/>
            <p:nvPr/>
          </p:nvSpPr>
          <p:spPr>
            <a:xfrm>
              <a:off x="2926079" y="3127247"/>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7</a:t>
              </a:r>
            </a:p>
          </p:txBody>
        </p:sp>
        <p:sp>
          <p:nvSpPr>
            <p:cNvPr id="51" name="step label"/>
            <p:cNvSpPr txBox="1"/>
            <p:nvPr/>
          </p:nvSpPr>
          <p:spPr>
            <a:xfrm>
              <a:off x="2889504" y="3794759"/>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Tanks fill</a:t>
              </a:r>
            </a:p>
          </p:txBody>
        </p:sp>
        <p:sp>
          <p:nvSpPr>
            <p:cNvPr id="52" name="step card"/>
            <p:cNvSpPr/>
            <p:nvPr/>
          </p:nvSpPr>
          <p:spPr>
            <a:xfrm>
              <a:off x="5084064" y="301752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cxnSp>
          <p:nvCxnSpPr>
            <p:cNvPr id="53" name="icon retract"/>
            <p:cNvCxnSpPr/>
            <p:nvPr/>
          </p:nvCxnSpPr>
          <p:spPr>
            <a:xfrm flipH="1">
              <a:off x="5998464" y="3474720"/>
              <a:ext cx="548639" cy="0"/>
            </a:xfrm>
            <a:prstGeom prst="line">
              <a:avLst/>
            </a:prstGeom>
            <a:ln w="50800">
              <a:solidFill>
                <a:srgbClr val="B084F5"/>
              </a:solidFill>
              <a:tailEnd type="triangle" w="med" len="med"/>
            </a:ln>
          </p:spPr>
        </p:cxnSp>
        <p:cxnSp>
          <p:nvCxnSpPr>
            <p:cNvPr id="54" name="icon stop"/>
            <p:cNvCxnSpPr/>
            <p:nvPr/>
          </p:nvCxnSpPr>
          <p:spPr>
            <a:xfrm>
              <a:off x="5952744" y="3291839"/>
              <a:ext cx="0" cy="365761"/>
            </a:xfrm>
            <a:prstGeom prst="line">
              <a:avLst/>
            </a:prstGeom>
            <a:ln w="50800">
              <a:solidFill>
                <a:srgbClr val="B084F5"/>
              </a:solidFill>
            </a:ln>
          </p:spPr>
        </p:cxnSp>
        <p:sp>
          <p:nvSpPr>
            <p:cNvPr id="55" name="badge"/>
            <p:cNvSpPr/>
            <p:nvPr/>
          </p:nvSpPr>
          <p:spPr>
            <a:xfrm>
              <a:off x="5193792" y="3127247"/>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8</a:t>
              </a:r>
            </a:p>
          </p:txBody>
        </p:sp>
        <p:sp>
          <p:nvSpPr>
            <p:cNvPr id="56" name="step label"/>
            <p:cNvSpPr txBox="1"/>
            <p:nvPr/>
          </p:nvSpPr>
          <p:spPr>
            <a:xfrm>
              <a:off x="5157216" y="3794759"/>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Machinery folds away</a:t>
              </a:r>
            </a:p>
          </p:txBody>
        </p:sp>
        <p:sp>
          <p:nvSpPr>
            <p:cNvPr id="57" name="step card"/>
            <p:cNvSpPr/>
            <p:nvPr/>
          </p:nvSpPr>
          <p:spPr>
            <a:xfrm>
              <a:off x="7351775" y="3017520"/>
              <a:ext cx="2011680"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58" name="icon engine"/>
            <p:cNvSpPr/>
            <p:nvPr/>
          </p:nvSpPr>
          <p:spPr>
            <a:xfrm>
              <a:off x="8220455" y="3383279"/>
              <a:ext cx="457200" cy="228600"/>
            </a:xfrm>
            <a:prstGeom prst="roundRect">
              <a:avLst>
                <a:gd name="adj" fmla="val 20000"/>
              </a:avLst>
            </a:prstGeom>
            <a:solidFill>
              <a:srgbClr val="F28C28"/>
            </a:solidFill>
            <a:ln>
              <a:noFill/>
            </a:ln>
          </p:spPr>
          <p:txBody>
            <a:bodyPr rtlCol="0" anchor="ctr"/>
            <a:lstStyle/>
            <a:p>
              <a:pPr algn="ctr"/>
            </a:p>
          </p:txBody>
        </p:sp>
        <p:cxnSp>
          <p:nvCxnSpPr>
            <p:cNvPr id="59" name="icon depart"/>
            <p:cNvCxnSpPr/>
            <p:nvPr/>
          </p:nvCxnSpPr>
          <p:spPr>
            <a:xfrm>
              <a:off x="8695944" y="3493008"/>
              <a:ext cx="182880" cy="0"/>
            </a:xfrm>
            <a:prstGeom prst="line">
              <a:avLst/>
            </a:prstGeom>
            <a:ln w="38100">
              <a:solidFill>
                <a:srgbClr val="F28C28"/>
              </a:solidFill>
              <a:tailEnd type="triangle" w="med" len="med"/>
            </a:ln>
          </p:spPr>
        </p:cxnSp>
        <p:sp>
          <p:nvSpPr>
            <p:cNvPr id="60" name="badge"/>
            <p:cNvSpPr/>
            <p:nvPr/>
          </p:nvSpPr>
          <p:spPr>
            <a:xfrm>
              <a:off x="7461504" y="3127247"/>
              <a:ext cx="365760" cy="36576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9</a:t>
              </a:r>
            </a:p>
          </p:txBody>
        </p:sp>
        <p:sp>
          <p:nvSpPr>
            <p:cNvPr id="61" name="step label"/>
            <p:cNvSpPr txBox="1"/>
            <p:nvPr/>
          </p:nvSpPr>
          <p:spPr>
            <a:xfrm>
              <a:off x="7424927" y="3794759"/>
              <a:ext cx="1865376" cy="548640"/>
            </a:xfrm>
            <a:prstGeom prst="rect">
              <a:avLst/>
            </a:prstGeom>
            <a:noFill/>
          </p:spPr>
          <p:txBody>
            <a:bodyPr wrap="square" anchor="ctr" lIns="18288" tIns="9144" rIns="18288" bIns="9144">
              <a:noAutofit/>
            </a:bodyPr>
            <a:lstStyle/>
            <a:p>
              <a:pPr algn="ctr"/>
              <a:r>
                <a:rPr sz="1400" b="1" i="0" lang="en-GB">
                  <a:solidFill>
                    <a:srgbClr val="F2F2F2"/>
                  </a:solidFill>
                  <a:latin typeface="Arial"/>
                </a:rPr>
                <a:t>Depart</a:t>
              </a:r>
            </a:p>
          </p:txBody>
        </p:sp>
        <p:cxnSp>
          <p:nvCxnSpPr>
            <p:cNvPr id="62" name="step arrow"/>
            <p:cNvCxnSpPr/>
            <p:nvPr/>
          </p:nvCxnSpPr>
          <p:spPr>
            <a:xfrm>
              <a:off x="2578608" y="2011680"/>
              <a:ext cx="219456" cy="0"/>
            </a:xfrm>
            <a:prstGeom prst="line">
              <a:avLst/>
            </a:prstGeom>
            <a:ln w="28575">
              <a:solidFill>
                <a:srgbClr val="F28C28"/>
              </a:solidFill>
              <a:tailEnd type="triangle" w="med" len="med"/>
            </a:ln>
          </p:spPr>
        </p:cxnSp>
        <p:cxnSp>
          <p:nvCxnSpPr>
            <p:cNvPr id="63" name="step arrow"/>
            <p:cNvCxnSpPr/>
            <p:nvPr/>
          </p:nvCxnSpPr>
          <p:spPr>
            <a:xfrm>
              <a:off x="4846320" y="2011680"/>
              <a:ext cx="219456" cy="0"/>
            </a:xfrm>
            <a:prstGeom prst="line">
              <a:avLst/>
            </a:prstGeom>
            <a:ln w="28575">
              <a:solidFill>
                <a:srgbClr val="F28C28"/>
              </a:solidFill>
              <a:tailEnd type="triangle" w="med" len="med"/>
            </a:ln>
          </p:spPr>
        </p:cxnSp>
        <p:cxnSp>
          <p:nvCxnSpPr>
            <p:cNvPr id="64" name="step arrow"/>
            <p:cNvCxnSpPr/>
            <p:nvPr/>
          </p:nvCxnSpPr>
          <p:spPr>
            <a:xfrm>
              <a:off x="7114031" y="2011680"/>
              <a:ext cx="219457" cy="0"/>
            </a:xfrm>
            <a:prstGeom prst="line">
              <a:avLst/>
            </a:prstGeom>
            <a:ln w="28575">
              <a:solidFill>
                <a:srgbClr val="F28C28"/>
              </a:solidFill>
              <a:tailEnd type="triangle" w="med" len="med"/>
            </a:ln>
          </p:spPr>
        </p:cxnSp>
        <p:cxnSp>
          <p:nvCxnSpPr>
            <p:cNvPr id="65" name="step arrow"/>
            <p:cNvCxnSpPr/>
            <p:nvPr/>
          </p:nvCxnSpPr>
          <p:spPr>
            <a:xfrm>
              <a:off x="9381743" y="2011680"/>
              <a:ext cx="219457" cy="0"/>
            </a:xfrm>
            <a:prstGeom prst="line">
              <a:avLst/>
            </a:prstGeom>
            <a:ln w="28575">
              <a:solidFill>
                <a:srgbClr val="F28C28"/>
              </a:solidFill>
              <a:tailEnd type="triangle" w="med" len="med"/>
            </a:ln>
          </p:spPr>
        </p:cxnSp>
        <p:cxnSp>
          <p:nvCxnSpPr>
            <p:cNvPr id="66" name="step arrow"/>
            <p:cNvCxnSpPr/>
            <p:nvPr/>
          </p:nvCxnSpPr>
          <p:spPr>
            <a:xfrm>
              <a:off x="2578608" y="3703320"/>
              <a:ext cx="219456" cy="0"/>
            </a:xfrm>
            <a:prstGeom prst="line">
              <a:avLst/>
            </a:prstGeom>
            <a:ln w="28575">
              <a:solidFill>
                <a:srgbClr val="F28C28"/>
              </a:solidFill>
              <a:tailEnd type="triangle" w="med" len="med"/>
            </a:ln>
          </p:spPr>
        </p:cxnSp>
        <p:cxnSp>
          <p:nvCxnSpPr>
            <p:cNvPr id="67" name="step arrow"/>
            <p:cNvCxnSpPr/>
            <p:nvPr/>
          </p:nvCxnSpPr>
          <p:spPr>
            <a:xfrm>
              <a:off x="4846320" y="3703320"/>
              <a:ext cx="219456" cy="0"/>
            </a:xfrm>
            <a:prstGeom prst="line">
              <a:avLst/>
            </a:prstGeom>
            <a:ln w="28575">
              <a:solidFill>
                <a:srgbClr val="F28C28"/>
              </a:solidFill>
              <a:tailEnd type="triangle" w="med" len="med"/>
            </a:ln>
          </p:spPr>
        </p:cxnSp>
        <p:cxnSp>
          <p:nvCxnSpPr>
            <p:cNvPr id="68" name="step arrow"/>
            <p:cNvCxnSpPr/>
            <p:nvPr/>
          </p:nvCxnSpPr>
          <p:spPr>
            <a:xfrm>
              <a:off x="7114031" y="3703320"/>
              <a:ext cx="219457" cy="0"/>
            </a:xfrm>
            <a:prstGeom prst="line">
              <a:avLst/>
            </a:prstGeom>
            <a:ln w="28575">
              <a:solidFill>
                <a:srgbClr val="F28C28"/>
              </a:solidFill>
              <a:tailEnd type="triangle" w="med" len="med"/>
            </a:ln>
          </p:spPr>
        </p:cxnSp>
        <p:sp>
          <p:nvSpPr>
            <p:cNvPr id="69" name="row link"/>
            <p:cNvSpPr/>
            <p:nvPr/>
          </p:nvSpPr>
          <p:spPr>
            <a:xfrm>
              <a:off x="1554480" y="2697480"/>
              <a:ext cx="9070848" cy="301752"/>
            </a:xfrm>
            <a:custGeom>
              <a:avLst/>
              <a:gdLst/>
              <a:ahLst/>
              <a:cxnLst/>
              <a:rect l="l" t="t" r="r" b="b"/>
              <a:pathLst>
                <a:path w="9070848" h="301752">
                  <a:moveTo>
                    <a:pt x="9070848" y="0"/>
                  </a:moveTo>
                  <a:lnTo>
                    <a:pt x="9070848" y="155448"/>
                  </a:lnTo>
                  <a:lnTo>
                    <a:pt x="0" y="155448"/>
                  </a:lnTo>
                  <a:lnTo>
                    <a:pt x="0" y="301752"/>
                  </a:lnTo>
                </a:path>
              </a:pathLst>
            </a:custGeom>
            <a:noFill/>
            <a:ln w="28575">
              <a:solidFill>
                <a:srgbClr val="F28C28"/>
              </a:solidFill>
              <a:tailEnd type="triangle" w="med" len="med"/>
            </a:ln>
          </p:spPr>
          <p:txBody>
            <a:bodyPr rtlCol="0" anchor="ctr"/>
            <a:lstStyle/>
            <a:p>
              <a:pPr algn="ctr"/>
            </a:p>
          </p:txBody>
        </p:sp>
        <p:sp>
          <p:nvSpPr>
            <p:cNvPr id="70" name="ICHIP"/>
            <p:cNvSpPr/>
            <p:nvPr/>
          </p:nvSpPr>
          <p:spPr>
            <a:xfrm>
              <a:off x="5769864" y="2862072"/>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71" name="time track"/>
            <p:cNvSpPr/>
            <p:nvPr/>
          </p:nvSpPr>
          <p:spPr>
            <a:xfrm>
              <a:off x="548640" y="4709160"/>
              <a:ext cx="8778240" cy="274320"/>
            </a:xfrm>
            <a:prstGeom prst="roundRect">
              <a:avLst>
                <a:gd name="adj" fmla="val 20000"/>
              </a:avLst>
            </a:prstGeom>
            <a:solidFill>
              <a:srgbClr val="343A43"/>
            </a:solidFill>
            <a:ln w="12700">
              <a:solidFill>
                <a:srgbClr val="4A515B"/>
              </a:solidFill>
            </a:ln>
          </p:spPr>
          <p:txBody>
            <a:bodyPr rtlCol="0" anchor="ctr"/>
            <a:lstStyle/>
            <a:p>
              <a:pPr algn="ctr"/>
            </a:p>
          </p:txBody>
        </p:sp>
        <p:sp>
          <p:nvSpPr>
            <p:cNvPr id="72" name="time fill"/>
            <p:cNvSpPr/>
            <p:nvPr/>
          </p:nvSpPr>
          <p:spPr>
            <a:xfrm>
              <a:off x="548640" y="4709160"/>
              <a:ext cx="2282342" cy="274320"/>
            </a:xfrm>
            <a:prstGeom prst="roundRect">
              <a:avLst>
                <a:gd name="adj" fmla="val 20000"/>
              </a:avLst>
            </a:prstGeom>
            <a:solidFill>
              <a:srgbClr val="F28C28"/>
            </a:solidFill>
            <a:ln>
              <a:noFill/>
            </a:ln>
          </p:spPr>
          <p:txBody>
            <a:bodyPr rtlCol="0" anchor="ctr"/>
            <a:lstStyle/>
            <a:p>
              <a:pPr algn="ctr"/>
            </a:p>
          </p:txBody>
        </p:sp>
        <p:sp>
          <p:nvSpPr>
            <p:cNvPr id="73" name="time track"/>
            <p:cNvSpPr/>
            <p:nvPr/>
          </p:nvSpPr>
          <p:spPr>
            <a:xfrm>
              <a:off x="548640" y="5093208"/>
              <a:ext cx="8778240" cy="274320"/>
            </a:xfrm>
            <a:prstGeom prst="roundRect">
              <a:avLst>
                <a:gd name="adj" fmla="val 20000"/>
              </a:avLst>
            </a:prstGeom>
            <a:solidFill>
              <a:srgbClr val="343A43"/>
            </a:solidFill>
            <a:ln w="12700">
              <a:solidFill>
                <a:srgbClr val="4A515B"/>
              </a:solidFill>
            </a:ln>
          </p:spPr>
          <p:txBody>
            <a:bodyPr rtlCol="0" anchor="ctr"/>
            <a:lstStyle/>
            <a:p>
              <a:pPr algn="ctr"/>
            </a:p>
          </p:txBody>
        </p:sp>
        <p:sp>
          <p:nvSpPr>
            <p:cNvPr id="74" name="time fill"/>
            <p:cNvSpPr/>
            <p:nvPr/>
          </p:nvSpPr>
          <p:spPr>
            <a:xfrm>
              <a:off x="548640" y="5093208"/>
              <a:ext cx="8251545" cy="274320"/>
            </a:xfrm>
            <a:prstGeom prst="roundRect">
              <a:avLst>
                <a:gd name="adj" fmla="val 20000"/>
              </a:avLst>
            </a:prstGeom>
            <a:solidFill>
              <a:srgbClr val="F28C28"/>
            </a:solidFill>
            <a:ln>
              <a:noFill/>
            </a:ln>
          </p:spPr>
          <p:txBody>
            <a:bodyPr rtlCol="0" anchor="ctr"/>
            <a:lstStyle/>
            <a:p>
              <a:pPr algn="ctr"/>
            </a:p>
          </p:txBody>
        </p:sp>
        <p:sp>
          <p:nvSpPr>
            <p:cNvPr id="75" name="bar label"/>
            <p:cNvSpPr txBox="1"/>
            <p:nvPr/>
          </p:nvSpPr>
          <p:spPr>
            <a:xfrm>
              <a:off x="9464040" y="4663440"/>
              <a:ext cx="2194560" cy="365760"/>
            </a:xfrm>
            <a:prstGeom prst="rect">
              <a:avLst/>
            </a:prstGeom>
            <a:noFill/>
          </p:spPr>
          <p:txBody>
            <a:bodyPr wrap="square" anchor="ctr" lIns="18288" tIns="9144" rIns="18288" bIns="9144">
              <a:noAutofit/>
            </a:bodyPr>
            <a:lstStyle/>
            <a:p>
              <a:pPr algn="l"/>
              <a:r>
                <a:rPr sz="1400" b="1" i="0" lang="en-GB">
                  <a:solidFill>
                    <a:srgbClr val="F2F2F2"/>
                  </a:solidFill>
                  <a:latin typeface="Arial"/>
                </a:rPr>
                <a:t>Small top-up</a:t>
              </a:r>
            </a:p>
          </p:txBody>
        </p:sp>
        <p:sp>
          <p:nvSpPr>
            <p:cNvPr id="76" name="bar label"/>
            <p:cNvSpPr txBox="1"/>
            <p:nvPr/>
          </p:nvSpPr>
          <p:spPr>
            <a:xfrm>
              <a:off x="9464040" y="5047488"/>
              <a:ext cx="2194560" cy="365760"/>
            </a:xfrm>
            <a:prstGeom prst="rect">
              <a:avLst/>
            </a:prstGeom>
            <a:noFill/>
          </p:spPr>
          <p:txBody>
            <a:bodyPr wrap="square" anchor="ctr" lIns="18288" tIns="9144" rIns="18288" bIns="9144">
              <a:noAutofit/>
            </a:bodyPr>
            <a:lstStyle/>
            <a:p>
              <a:pPr algn="l"/>
              <a:r>
                <a:rPr sz="1400" b="1" i="0" lang="en-GB">
                  <a:solidFill>
                    <a:srgbClr val="F2F2F2"/>
                  </a:solidFill>
                  <a:latin typeface="Arial"/>
                </a:rPr>
                <a:t>Empty tanks</a:t>
              </a:r>
            </a:p>
          </p:txBody>
        </p:sp>
        <p:sp>
          <p:nvSpPr>
            <p:cNvPr id="77" name="note"/>
            <p:cNvSpPr txBox="1"/>
            <p:nvPr/>
          </p:nvSpPr>
          <p:spPr>
            <a:xfrm>
              <a:off x="548640" y="5422392"/>
              <a:ext cx="8778240" cy="292608"/>
            </a:xfrm>
            <a:prstGeom prst="rect">
              <a:avLst/>
            </a:prstGeom>
            <a:noFill/>
          </p:spPr>
          <p:txBody>
            <a:bodyPr wrap="square" anchor="ctr" lIns="18288" tIns="9144" rIns="18288" bIns="9144">
              <a:noAutofit/>
            </a:bodyPr>
            <a:lstStyle/>
            <a:p>
              <a:pPr algn="l"/>
              <a:r>
                <a:rPr sz="1400" b="0" i="0" lang="en-GB">
                  <a:solidFill>
                    <a:srgbClr val="A9B0B8"/>
                  </a:solidFill>
                  <a:latin typeface="Arial"/>
                </a:rPr>
                <a:t>Rates and times: Proposed or provisional</a:t>
              </a:r>
            </a:p>
          </p:txBody>
        </p:sp>
      </p:grpSp>
      <p:sp>
        <p:nvSpPr>
          <p:cNvPr id="78"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79"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0"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 machinery finds each engine's hatches. Servicing takes visible time. Then it folds away.</a:t>
            </a:r>
          </a:p>
        </p:txBody>
      </p:sp>
      <p:sp>
        <p:nvSpPr>
          <p:cNvPr id="81"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par>
                                <p:cTn id="11" presetID="10" presetClass="entr" presetSubtype="0" fill="hold" nodeType="withEffect">
                                  <p:stCondLst>
                                    <p:cond delay="60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par>
                                <p:cTn id="14" presetID="10" presetClass="entr" presetSubtype="0" fill="hold" nodeType="withEffect">
                                  <p:stCondLst>
                                    <p:cond delay="900"/>
                                  </p:stCondLst>
                                  <p:childTnLst>
                                    <p:set>
                                      <p:cBhvr>
                                        <p:cTn id="15" dur="1" fill="hold">
                                          <p:stCondLst>
                                            <p:cond delay="0"/>
                                          </p:stCondLst>
                                        </p:cTn>
                                        <p:tgtEl>
                                          <p:spTgt spid="80"/>
                                        </p:tgtEl>
                                        <p:attrNameLst>
                                          <p:attrName>style.visibility</p:attrName>
                                        </p:attrNameLst>
                                      </p:cBhvr>
                                      <p:to>
                                        <p:strVal val="visible"/>
                                      </p:to>
                                    </p:set>
                                    <p:animEffect transition="in" filter="fade">
                                      <p:cBhvr>
                                        <p:cTn id="16"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Finding the hatches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engines and machinery arms" descr="A tender engine and a tank engine, each with its water hatch and coal point in a different place. A machinery arm reaches to a crosshair on each point."/>
          <p:cNvGrpSpPr/>
          <p:nvPr/>
        </p:nvGrpSpPr>
        <p:grpSpPr>
          <a:xfrm>
            <a:off x="518160" y="1874519"/>
            <a:ext cx="11094720" cy="3767329"/>
            <a:chOff x="518160" y="1874519"/>
            <a:chExt cx="11094720" cy="3767329"/>
          </a:xfrm>
        </p:grpSpPr>
        <p:sp>
          <p:nvSpPr>
            <p:cNvPr id="5" name="rail"/>
            <p:cNvSpPr/>
            <p:nvPr/>
          </p:nvSpPr>
          <p:spPr>
            <a:xfrm>
              <a:off x="548640" y="4434840"/>
              <a:ext cx="11064240" cy="64008"/>
            </a:xfrm>
            <a:prstGeom prst="rect">
              <a:avLst/>
            </a:prstGeom>
            <a:solidFill>
              <a:srgbClr val="9AA0A6"/>
            </a:solidFill>
            <a:ln>
              <a:noFill/>
            </a:ln>
          </p:spPr>
          <p:txBody>
            <a:bodyPr rtlCol="0" anchor="ctr"/>
            <a:lstStyle/>
            <a:p>
              <a:pPr algn="ctr"/>
            </a:p>
          </p:txBody>
        </p:sp>
        <p:sp>
          <p:nvSpPr>
            <p:cNvPr id="6" name="tender body"/>
            <p:cNvSpPr/>
            <p:nvPr/>
          </p:nvSpPr>
          <p:spPr>
            <a:xfrm>
              <a:off x="1554480" y="3253740"/>
              <a:ext cx="1447800" cy="723900"/>
            </a:xfrm>
            <a:prstGeom prst="roundRect">
              <a:avLst>
                <a:gd name="adj" fmla="val 2631"/>
              </a:avLst>
            </a:prstGeom>
            <a:solidFill>
              <a:srgbClr val="6C7480"/>
            </a:solidFill>
            <a:ln>
              <a:noFill/>
            </a:ln>
          </p:spPr>
          <p:txBody>
            <a:bodyPr rtlCol="0" anchor="ctr"/>
            <a:lstStyle/>
            <a:p>
              <a:pPr algn="ctr"/>
            </a:p>
          </p:txBody>
        </p:sp>
        <p:sp>
          <p:nvSpPr>
            <p:cNvPr id="7" name="tender coal"/>
            <p:cNvSpPr/>
            <p:nvPr/>
          </p:nvSpPr>
          <p:spPr>
            <a:xfrm>
              <a:off x="1668780" y="3120390"/>
              <a:ext cx="1219200" cy="171450"/>
            </a:xfrm>
            <a:prstGeom prst="rect">
              <a:avLst/>
            </a:prstGeom>
            <a:solidFill>
              <a:srgbClr val="1B1D21"/>
            </a:solidFill>
            <a:ln w="12700">
              <a:solidFill>
                <a:srgbClr val="9AA0A6"/>
              </a:solidFill>
            </a:ln>
          </p:spPr>
          <p:txBody>
            <a:bodyPr rtlCol="0" anchor="ctr"/>
            <a:lstStyle/>
            <a:p>
              <a:pPr algn="ctr"/>
            </a:p>
          </p:txBody>
        </p:sp>
        <p:sp>
          <p:nvSpPr>
            <p:cNvPr id="8" name="tender frame"/>
            <p:cNvSpPr/>
            <p:nvPr/>
          </p:nvSpPr>
          <p:spPr>
            <a:xfrm>
              <a:off x="1554480" y="3977639"/>
              <a:ext cx="1447800" cy="114300"/>
            </a:xfrm>
            <a:prstGeom prst="rect">
              <a:avLst/>
            </a:prstGeom>
            <a:solidFill>
              <a:srgbClr val="3A3F47"/>
            </a:solidFill>
            <a:ln w="9525">
              <a:solidFill>
                <a:srgbClr val="9AA0A6"/>
              </a:solidFill>
            </a:ln>
          </p:spPr>
          <p:txBody>
            <a:bodyPr rtlCol="0" anchor="ctr"/>
            <a:lstStyle/>
            <a:p>
              <a:pPr algn="ctr"/>
            </a:p>
          </p:txBody>
        </p:sp>
        <p:sp>
          <p:nvSpPr>
            <p:cNvPr id="9" name="coupling"/>
            <p:cNvSpPr/>
            <p:nvPr/>
          </p:nvSpPr>
          <p:spPr>
            <a:xfrm>
              <a:off x="3002280" y="3749039"/>
              <a:ext cx="152400" cy="76200"/>
            </a:xfrm>
            <a:prstGeom prst="rect">
              <a:avLst/>
            </a:prstGeom>
            <a:solidFill>
              <a:srgbClr val="9AA0A6"/>
            </a:solidFill>
            <a:ln>
              <a:noFill/>
            </a:ln>
          </p:spPr>
          <p:txBody>
            <a:bodyPr rtlCol="0" anchor="ctr"/>
            <a:lstStyle/>
            <a:p>
              <a:pPr algn="ctr"/>
            </a:p>
          </p:txBody>
        </p:sp>
        <p:sp>
          <p:nvSpPr>
            <p:cNvPr id="10" name="wheel"/>
            <p:cNvSpPr/>
            <p:nvPr/>
          </p:nvSpPr>
          <p:spPr>
            <a:xfrm>
              <a:off x="1611630" y="3863339"/>
              <a:ext cx="571500" cy="571500"/>
            </a:xfrm>
            <a:prstGeom prst="ellipse">
              <a:avLst/>
            </a:prstGeom>
            <a:solidFill>
              <a:srgbClr val="1B1D21"/>
            </a:solidFill>
            <a:ln w="19050">
              <a:solidFill>
                <a:srgbClr val="9AA0A6"/>
              </a:solidFill>
            </a:ln>
          </p:spPr>
          <p:txBody>
            <a:bodyPr rtlCol="0" anchor="ctr"/>
            <a:lstStyle/>
            <a:p>
              <a:pPr algn="ctr"/>
            </a:p>
          </p:txBody>
        </p:sp>
        <p:sp>
          <p:nvSpPr>
            <p:cNvPr id="11" name="hub"/>
            <p:cNvSpPr/>
            <p:nvPr/>
          </p:nvSpPr>
          <p:spPr>
            <a:xfrm>
              <a:off x="1828800" y="4080509"/>
              <a:ext cx="137160" cy="137160"/>
            </a:xfrm>
            <a:prstGeom prst="ellipse">
              <a:avLst/>
            </a:prstGeom>
            <a:solidFill>
              <a:srgbClr val="9AA0A6"/>
            </a:solidFill>
            <a:ln>
              <a:noFill/>
            </a:ln>
          </p:spPr>
          <p:txBody>
            <a:bodyPr rtlCol="0" anchor="ctr"/>
            <a:lstStyle/>
            <a:p>
              <a:pPr algn="ctr"/>
            </a:p>
          </p:txBody>
        </p:sp>
        <p:sp>
          <p:nvSpPr>
            <p:cNvPr id="12" name="wheel"/>
            <p:cNvSpPr/>
            <p:nvPr/>
          </p:nvSpPr>
          <p:spPr>
            <a:xfrm>
              <a:off x="2373630" y="3863339"/>
              <a:ext cx="571500" cy="571500"/>
            </a:xfrm>
            <a:prstGeom prst="ellipse">
              <a:avLst/>
            </a:prstGeom>
            <a:solidFill>
              <a:srgbClr val="1B1D21"/>
            </a:solidFill>
            <a:ln w="19050">
              <a:solidFill>
                <a:srgbClr val="9AA0A6"/>
              </a:solidFill>
            </a:ln>
          </p:spPr>
          <p:txBody>
            <a:bodyPr rtlCol="0" anchor="ctr"/>
            <a:lstStyle/>
            <a:p>
              <a:pPr algn="ctr"/>
            </a:p>
          </p:txBody>
        </p:sp>
        <p:sp>
          <p:nvSpPr>
            <p:cNvPr id="13" name="hub"/>
            <p:cNvSpPr/>
            <p:nvPr/>
          </p:nvSpPr>
          <p:spPr>
            <a:xfrm>
              <a:off x="2590799" y="4080509"/>
              <a:ext cx="137160" cy="137160"/>
            </a:xfrm>
            <a:prstGeom prst="ellipse">
              <a:avLst/>
            </a:prstGeom>
            <a:solidFill>
              <a:srgbClr val="9AA0A6"/>
            </a:solidFill>
            <a:ln>
              <a:noFill/>
            </a:ln>
          </p:spPr>
          <p:txBody>
            <a:bodyPr rtlCol="0" anchor="ctr"/>
            <a:lstStyle/>
            <a:p>
              <a:pPr algn="ctr"/>
            </a:p>
          </p:txBody>
        </p:sp>
        <p:sp>
          <p:nvSpPr>
            <p:cNvPr id="14" name="cab"/>
            <p:cNvSpPr/>
            <p:nvPr/>
          </p:nvSpPr>
          <p:spPr>
            <a:xfrm>
              <a:off x="3078480" y="2910840"/>
              <a:ext cx="762000" cy="1066800"/>
            </a:xfrm>
            <a:prstGeom prst="roundRect">
              <a:avLst>
                <a:gd name="adj" fmla="val 2500"/>
              </a:avLst>
            </a:prstGeom>
            <a:solidFill>
              <a:srgbClr val="F28C28"/>
            </a:solidFill>
            <a:ln>
              <a:noFill/>
            </a:ln>
          </p:spPr>
          <p:txBody>
            <a:bodyPr rtlCol="0" anchor="ctr"/>
            <a:lstStyle/>
            <a:p>
              <a:pPr algn="ctr"/>
            </a:p>
          </p:txBody>
        </p:sp>
        <p:sp>
          <p:nvSpPr>
            <p:cNvPr id="15" name="cab roof"/>
            <p:cNvSpPr/>
            <p:nvPr/>
          </p:nvSpPr>
          <p:spPr>
            <a:xfrm>
              <a:off x="3040380" y="2853690"/>
              <a:ext cx="838200" cy="83820"/>
            </a:xfrm>
            <a:prstGeom prst="rect">
              <a:avLst/>
            </a:prstGeom>
            <a:solidFill>
              <a:srgbClr val="3A3F47"/>
            </a:solidFill>
            <a:ln w="9525">
              <a:solidFill>
                <a:srgbClr val="9AA0A6"/>
              </a:solidFill>
            </a:ln>
          </p:spPr>
          <p:txBody>
            <a:bodyPr rtlCol="0" anchor="ctr"/>
            <a:lstStyle/>
            <a:p>
              <a:pPr algn="ctr"/>
            </a:p>
          </p:txBody>
        </p:sp>
        <p:sp>
          <p:nvSpPr>
            <p:cNvPr id="16" name="cab window"/>
            <p:cNvSpPr/>
            <p:nvPr/>
          </p:nvSpPr>
          <p:spPr>
            <a:xfrm>
              <a:off x="3230880" y="3120390"/>
              <a:ext cx="457200" cy="342900"/>
            </a:xfrm>
            <a:prstGeom prst="rect">
              <a:avLst/>
            </a:prstGeom>
            <a:solidFill>
              <a:srgbClr val="1B1D21"/>
            </a:solidFill>
            <a:ln>
              <a:noFill/>
            </a:ln>
          </p:spPr>
          <p:txBody>
            <a:bodyPr rtlCol="0" anchor="ctr"/>
            <a:lstStyle/>
            <a:p>
              <a:pPr algn="ctr"/>
            </a:p>
          </p:txBody>
        </p:sp>
        <p:sp>
          <p:nvSpPr>
            <p:cNvPr id="17" name="boiler"/>
            <p:cNvSpPr/>
            <p:nvPr/>
          </p:nvSpPr>
          <p:spPr>
            <a:xfrm>
              <a:off x="3840480" y="3139440"/>
              <a:ext cx="2286000" cy="838200"/>
            </a:xfrm>
            <a:prstGeom prst="roundRect">
              <a:avLst>
                <a:gd name="adj" fmla="val 27272"/>
              </a:avLst>
            </a:prstGeom>
            <a:solidFill>
              <a:srgbClr val="F28C28"/>
            </a:solidFill>
            <a:ln>
              <a:noFill/>
            </a:ln>
          </p:spPr>
          <p:txBody>
            <a:bodyPr rtlCol="0" anchor="ctr"/>
            <a:lstStyle/>
            <a:p>
              <a:pPr algn="ctr"/>
            </a:p>
          </p:txBody>
        </p:sp>
        <p:sp>
          <p:nvSpPr>
            <p:cNvPr id="18" name="chimney"/>
            <p:cNvSpPr/>
            <p:nvPr/>
          </p:nvSpPr>
          <p:spPr>
            <a:xfrm>
              <a:off x="5631180" y="2796540"/>
              <a:ext cx="266700" cy="361950"/>
            </a:xfrm>
            <a:prstGeom prst="rect">
              <a:avLst/>
            </a:prstGeom>
            <a:solidFill>
              <a:srgbClr val="3A3F47"/>
            </a:solidFill>
            <a:ln w="9525">
              <a:solidFill>
                <a:srgbClr val="9AA0A6"/>
              </a:solidFill>
            </a:ln>
          </p:spPr>
          <p:txBody>
            <a:bodyPr rtlCol="0" anchor="ctr"/>
            <a:lstStyle/>
            <a:p>
              <a:pPr algn="ctr"/>
            </a:p>
          </p:txBody>
        </p:sp>
        <p:sp>
          <p:nvSpPr>
            <p:cNvPr id="19" name="chimney lip"/>
            <p:cNvSpPr/>
            <p:nvPr/>
          </p:nvSpPr>
          <p:spPr>
            <a:xfrm>
              <a:off x="5574030" y="2758440"/>
              <a:ext cx="381000" cy="76200"/>
            </a:xfrm>
            <a:prstGeom prst="rect">
              <a:avLst/>
            </a:prstGeom>
            <a:solidFill>
              <a:srgbClr val="3A3F47"/>
            </a:solidFill>
            <a:ln w="9525">
              <a:solidFill>
                <a:srgbClr val="9AA0A6"/>
              </a:solidFill>
            </a:ln>
          </p:spPr>
          <p:txBody>
            <a:bodyPr rtlCol="0" anchor="ctr"/>
            <a:lstStyle/>
            <a:p>
              <a:pPr algn="ctr"/>
            </a:p>
          </p:txBody>
        </p:sp>
        <p:sp>
          <p:nvSpPr>
            <p:cNvPr id="20" name="dome"/>
            <p:cNvSpPr/>
            <p:nvPr/>
          </p:nvSpPr>
          <p:spPr>
            <a:xfrm>
              <a:off x="4488180" y="2967990"/>
              <a:ext cx="381000" cy="190500"/>
            </a:xfrm>
            <a:prstGeom prst="roundRect">
              <a:avLst>
                <a:gd name="adj" fmla="val 40000"/>
              </a:avLst>
            </a:prstGeom>
            <a:solidFill>
              <a:srgbClr val="F28C28"/>
            </a:solidFill>
            <a:ln>
              <a:noFill/>
            </a:ln>
          </p:spPr>
          <p:txBody>
            <a:bodyPr rtlCol="0" anchor="ctr"/>
            <a:lstStyle/>
            <a:p>
              <a:pPr algn="ctr"/>
            </a:p>
          </p:txBody>
        </p:sp>
        <p:sp>
          <p:nvSpPr>
            <p:cNvPr id="21" name="frame"/>
            <p:cNvSpPr/>
            <p:nvPr/>
          </p:nvSpPr>
          <p:spPr>
            <a:xfrm>
              <a:off x="3078480" y="3977639"/>
              <a:ext cx="3048000" cy="114300"/>
            </a:xfrm>
            <a:prstGeom prst="rect">
              <a:avLst/>
            </a:prstGeom>
            <a:solidFill>
              <a:srgbClr val="3A3F47"/>
            </a:solidFill>
            <a:ln w="9525">
              <a:solidFill>
                <a:srgbClr val="9AA0A6"/>
              </a:solidFill>
            </a:ln>
          </p:spPr>
          <p:txBody>
            <a:bodyPr rtlCol="0" anchor="ctr"/>
            <a:lstStyle/>
            <a:p>
              <a:pPr algn="ctr"/>
            </a:p>
          </p:txBody>
        </p:sp>
        <p:sp>
          <p:nvSpPr>
            <p:cNvPr id="22" name="wheel"/>
            <p:cNvSpPr/>
            <p:nvPr/>
          </p:nvSpPr>
          <p:spPr>
            <a:xfrm>
              <a:off x="3630930" y="3863339"/>
              <a:ext cx="571500" cy="571500"/>
            </a:xfrm>
            <a:prstGeom prst="ellipse">
              <a:avLst/>
            </a:prstGeom>
            <a:solidFill>
              <a:srgbClr val="1B1D21"/>
            </a:solidFill>
            <a:ln w="19050">
              <a:solidFill>
                <a:srgbClr val="9AA0A6"/>
              </a:solidFill>
            </a:ln>
          </p:spPr>
          <p:txBody>
            <a:bodyPr rtlCol="0" anchor="ctr"/>
            <a:lstStyle/>
            <a:p>
              <a:pPr algn="ctr"/>
            </a:p>
          </p:txBody>
        </p:sp>
        <p:sp>
          <p:nvSpPr>
            <p:cNvPr id="23" name="hub"/>
            <p:cNvSpPr/>
            <p:nvPr/>
          </p:nvSpPr>
          <p:spPr>
            <a:xfrm>
              <a:off x="3848099" y="4080509"/>
              <a:ext cx="137160" cy="137160"/>
            </a:xfrm>
            <a:prstGeom prst="ellipse">
              <a:avLst/>
            </a:prstGeom>
            <a:solidFill>
              <a:srgbClr val="9AA0A6"/>
            </a:solidFill>
            <a:ln>
              <a:noFill/>
            </a:ln>
          </p:spPr>
          <p:txBody>
            <a:bodyPr rtlCol="0" anchor="ctr"/>
            <a:lstStyle/>
            <a:p>
              <a:pPr algn="ctr"/>
            </a:p>
          </p:txBody>
        </p:sp>
        <p:sp>
          <p:nvSpPr>
            <p:cNvPr id="24" name="wheel"/>
            <p:cNvSpPr/>
            <p:nvPr/>
          </p:nvSpPr>
          <p:spPr>
            <a:xfrm>
              <a:off x="4392930" y="3863339"/>
              <a:ext cx="571500" cy="571500"/>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4610099" y="4080509"/>
              <a:ext cx="137160" cy="137160"/>
            </a:xfrm>
            <a:prstGeom prst="ellipse">
              <a:avLst/>
            </a:prstGeom>
            <a:solidFill>
              <a:srgbClr val="9AA0A6"/>
            </a:solidFill>
            <a:ln>
              <a:noFill/>
            </a:ln>
          </p:spPr>
          <p:txBody>
            <a:bodyPr rtlCol="0" anchor="ctr"/>
            <a:lstStyle/>
            <a:p>
              <a:pPr algn="ctr"/>
            </a:p>
          </p:txBody>
        </p:sp>
        <p:sp>
          <p:nvSpPr>
            <p:cNvPr id="26" name="wheel"/>
            <p:cNvSpPr/>
            <p:nvPr/>
          </p:nvSpPr>
          <p:spPr>
            <a:xfrm>
              <a:off x="5154930" y="3863339"/>
              <a:ext cx="571500" cy="571500"/>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5372100" y="4080509"/>
              <a:ext cx="137160" cy="137160"/>
            </a:xfrm>
            <a:prstGeom prst="ellipse">
              <a:avLst/>
            </a:prstGeom>
            <a:solidFill>
              <a:srgbClr val="9AA0A6"/>
            </a:solidFill>
            <a:ln>
              <a:noFill/>
            </a:ln>
          </p:spPr>
          <p:txBody>
            <a:bodyPr rtlCol="0" anchor="ctr"/>
            <a:lstStyle/>
            <a:p>
              <a:pPr algn="ctr"/>
            </a:p>
          </p:txBody>
        </p:sp>
        <p:sp>
          <p:nvSpPr>
            <p:cNvPr id="28" name="bunker"/>
            <p:cNvSpPr/>
            <p:nvPr/>
          </p:nvSpPr>
          <p:spPr>
            <a:xfrm>
              <a:off x="6858000" y="3215944"/>
              <a:ext cx="747064" cy="747064"/>
            </a:xfrm>
            <a:prstGeom prst="roundRect">
              <a:avLst>
                <a:gd name="adj" fmla="val 2631"/>
              </a:avLst>
            </a:prstGeom>
            <a:solidFill>
              <a:srgbClr val="F28C28"/>
            </a:solidFill>
            <a:ln>
              <a:noFill/>
            </a:ln>
          </p:spPr>
          <p:txBody>
            <a:bodyPr rtlCol="0" anchor="ctr"/>
            <a:lstStyle/>
            <a:p>
              <a:pPr algn="ctr"/>
            </a:p>
          </p:txBody>
        </p:sp>
        <p:sp>
          <p:nvSpPr>
            <p:cNvPr id="29" name="bunker coal"/>
            <p:cNvSpPr/>
            <p:nvPr/>
          </p:nvSpPr>
          <p:spPr>
            <a:xfrm>
              <a:off x="6936638" y="3078327"/>
              <a:ext cx="589788" cy="176936"/>
            </a:xfrm>
            <a:prstGeom prst="rect">
              <a:avLst/>
            </a:prstGeom>
            <a:solidFill>
              <a:srgbClr val="1B1D21"/>
            </a:solidFill>
            <a:ln w="12700">
              <a:solidFill>
                <a:srgbClr val="9AA0A6"/>
              </a:solidFill>
            </a:ln>
          </p:spPr>
          <p:txBody>
            <a:bodyPr rtlCol="0" anchor="ctr"/>
            <a:lstStyle/>
            <a:p>
              <a:pPr algn="ctr"/>
            </a:p>
          </p:txBody>
        </p:sp>
        <p:sp>
          <p:nvSpPr>
            <p:cNvPr id="30" name="cab"/>
            <p:cNvSpPr/>
            <p:nvPr/>
          </p:nvSpPr>
          <p:spPr>
            <a:xfrm>
              <a:off x="7565745" y="2862071"/>
              <a:ext cx="786384" cy="1100937"/>
            </a:xfrm>
            <a:prstGeom prst="roundRect">
              <a:avLst>
                <a:gd name="adj" fmla="val 2500"/>
              </a:avLst>
            </a:prstGeom>
            <a:solidFill>
              <a:srgbClr val="F28C28"/>
            </a:solidFill>
            <a:ln>
              <a:noFill/>
            </a:ln>
          </p:spPr>
          <p:txBody>
            <a:bodyPr rtlCol="0" anchor="ctr"/>
            <a:lstStyle/>
            <a:p>
              <a:pPr algn="ctr"/>
            </a:p>
          </p:txBody>
        </p:sp>
        <p:sp>
          <p:nvSpPr>
            <p:cNvPr id="31" name="cab roof"/>
            <p:cNvSpPr/>
            <p:nvPr/>
          </p:nvSpPr>
          <p:spPr>
            <a:xfrm>
              <a:off x="7526426" y="2803093"/>
              <a:ext cx="865022" cy="86502"/>
            </a:xfrm>
            <a:prstGeom prst="rect">
              <a:avLst/>
            </a:prstGeom>
            <a:solidFill>
              <a:srgbClr val="3A3F47"/>
            </a:solidFill>
            <a:ln w="9525">
              <a:solidFill>
                <a:srgbClr val="9AA0A6"/>
              </a:solidFill>
            </a:ln>
          </p:spPr>
          <p:txBody>
            <a:bodyPr rtlCol="0" anchor="ctr"/>
            <a:lstStyle/>
            <a:p>
              <a:pPr algn="ctr"/>
            </a:p>
          </p:txBody>
        </p:sp>
        <p:sp>
          <p:nvSpPr>
            <p:cNvPr id="32" name="cab window"/>
            <p:cNvSpPr/>
            <p:nvPr/>
          </p:nvSpPr>
          <p:spPr>
            <a:xfrm>
              <a:off x="7723022" y="3078327"/>
              <a:ext cx="471830" cy="353872"/>
            </a:xfrm>
            <a:prstGeom prst="rect">
              <a:avLst/>
            </a:prstGeom>
            <a:solidFill>
              <a:srgbClr val="1B1D21"/>
            </a:solidFill>
            <a:ln>
              <a:noFill/>
            </a:ln>
          </p:spPr>
          <p:txBody>
            <a:bodyPr rtlCol="0" anchor="ctr"/>
            <a:lstStyle/>
            <a:p>
              <a:pPr algn="ctr"/>
            </a:p>
          </p:txBody>
        </p:sp>
        <p:sp>
          <p:nvSpPr>
            <p:cNvPr id="33" name="boiler"/>
            <p:cNvSpPr/>
            <p:nvPr/>
          </p:nvSpPr>
          <p:spPr>
            <a:xfrm>
              <a:off x="8352129" y="3097987"/>
              <a:ext cx="2359152" cy="865022"/>
            </a:xfrm>
            <a:prstGeom prst="roundRect">
              <a:avLst>
                <a:gd name="adj" fmla="val 27272"/>
              </a:avLst>
            </a:prstGeom>
            <a:solidFill>
              <a:srgbClr val="F28C28"/>
            </a:solidFill>
            <a:ln>
              <a:noFill/>
            </a:ln>
          </p:spPr>
          <p:txBody>
            <a:bodyPr rtlCol="0" anchor="ctr"/>
            <a:lstStyle/>
            <a:p>
              <a:pPr algn="ctr"/>
            </a:p>
          </p:txBody>
        </p:sp>
        <p:sp>
          <p:nvSpPr>
            <p:cNvPr id="34" name="side tank"/>
            <p:cNvSpPr/>
            <p:nvPr/>
          </p:nvSpPr>
          <p:spPr>
            <a:xfrm>
              <a:off x="8391448" y="3373221"/>
              <a:ext cx="1808683" cy="589788"/>
            </a:xfrm>
            <a:prstGeom prst="roundRect">
              <a:avLst>
                <a:gd name="adj" fmla="val 13333"/>
              </a:avLst>
            </a:prstGeom>
            <a:solidFill>
              <a:srgbClr val="C96F1B"/>
            </a:solidFill>
            <a:ln>
              <a:noFill/>
            </a:ln>
          </p:spPr>
          <p:txBody>
            <a:bodyPr rtlCol="0" anchor="ctr"/>
            <a:lstStyle/>
            <a:p>
              <a:pPr algn="ctr"/>
            </a:p>
          </p:txBody>
        </p:sp>
        <p:sp>
          <p:nvSpPr>
            <p:cNvPr id="35" name="chimney"/>
            <p:cNvSpPr/>
            <p:nvPr/>
          </p:nvSpPr>
          <p:spPr>
            <a:xfrm>
              <a:off x="10200132" y="2744114"/>
              <a:ext cx="275234" cy="373532"/>
            </a:xfrm>
            <a:prstGeom prst="rect">
              <a:avLst/>
            </a:prstGeom>
            <a:solidFill>
              <a:srgbClr val="3A3F47"/>
            </a:solidFill>
            <a:ln w="9525">
              <a:solidFill>
                <a:srgbClr val="9AA0A6"/>
              </a:solidFill>
            </a:ln>
          </p:spPr>
          <p:txBody>
            <a:bodyPr rtlCol="0" anchor="ctr"/>
            <a:lstStyle/>
            <a:p>
              <a:pPr algn="ctr"/>
            </a:p>
          </p:txBody>
        </p:sp>
        <p:sp>
          <p:nvSpPr>
            <p:cNvPr id="36" name="chimney lip"/>
            <p:cNvSpPr/>
            <p:nvPr/>
          </p:nvSpPr>
          <p:spPr>
            <a:xfrm>
              <a:off x="10141153" y="2704795"/>
              <a:ext cx="393192" cy="78638"/>
            </a:xfrm>
            <a:prstGeom prst="rect">
              <a:avLst/>
            </a:prstGeom>
            <a:solidFill>
              <a:srgbClr val="3A3F47"/>
            </a:solidFill>
            <a:ln w="9525">
              <a:solidFill>
                <a:srgbClr val="9AA0A6"/>
              </a:solidFill>
            </a:ln>
          </p:spPr>
          <p:txBody>
            <a:bodyPr rtlCol="0" anchor="ctr"/>
            <a:lstStyle/>
            <a:p>
              <a:pPr algn="ctr"/>
            </a:p>
          </p:txBody>
        </p:sp>
        <p:sp>
          <p:nvSpPr>
            <p:cNvPr id="37" name="dome"/>
            <p:cNvSpPr/>
            <p:nvPr/>
          </p:nvSpPr>
          <p:spPr>
            <a:xfrm>
              <a:off x="10278770" y="3019348"/>
              <a:ext cx="393192" cy="98298"/>
            </a:xfrm>
            <a:prstGeom prst="roundRect">
              <a:avLst>
                <a:gd name="adj" fmla="val 50000"/>
              </a:avLst>
            </a:prstGeom>
            <a:solidFill>
              <a:srgbClr val="F28C28"/>
            </a:solidFill>
            <a:ln>
              <a:noFill/>
            </a:ln>
          </p:spPr>
          <p:txBody>
            <a:bodyPr rtlCol="0" anchor="ctr"/>
            <a:lstStyle/>
            <a:p>
              <a:pPr algn="ctr"/>
            </a:p>
          </p:txBody>
        </p:sp>
        <p:sp>
          <p:nvSpPr>
            <p:cNvPr id="38" name="frame"/>
            <p:cNvSpPr/>
            <p:nvPr/>
          </p:nvSpPr>
          <p:spPr>
            <a:xfrm>
              <a:off x="7565745" y="3963009"/>
              <a:ext cx="3145536" cy="117957"/>
            </a:xfrm>
            <a:prstGeom prst="rect">
              <a:avLst/>
            </a:prstGeom>
            <a:solidFill>
              <a:srgbClr val="3A3F47"/>
            </a:solidFill>
            <a:ln w="9525">
              <a:solidFill>
                <a:srgbClr val="9AA0A6"/>
              </a:solidFill>
            </a:ln>
          </p:spPr>
          <p:txBody>
            <a:bodyPr rtlCol="0" anchor="ctr"/>
            <a:lstStyle/>
            <a:p>
              <a:pPr algn="ctr"/>
            </a:p>
          </p:txBody>
        </p:sp>
        <p:sp>
          <p:nvSpPr>
            <p:cNvPr id="39" name="wheel"/>
            <p:cNvSpPr/>
            <p:nvPr/>
          </p:nvSpPr>
          <p:spPr>
            <a:xfrm>
              <a:off x="8057235" y="3845051"/>
              <a:ext cx="589788" cy="589788"/>
            </a:xfrm>
            <a:prstGeom prst="ellipse">
              <a:avLst/>
            </a:prstGeom>
            <a:solidFill>
              <a:srgbClr val="1B1D21"/>
            </a:solidFill>
            <a:ln w="19050">
              <a:solidFill>
                <a:srgbClr val="9AA0A6"/>
              </a:solidFill>
            </a:ln>
          </p:spPr>
          <p:txBody>
            <a:bodyPr rtlCol="0" anchor="ctr"/>
            <a:lstStyle/>
            <a:p>
              <a:pPr algn="ctr"/>
            </a:p>
          </p:txBody>
        </p:sp>
        <p:sp>
          <p:nvSpPr>
            <p:cNvPr id="40" name="hub"/>
            <p:cNvSpPr/>
            <p:nvPr/>
          </p:nvSpPr>
          <p:spPr>
            <a:xfrm>
              <a:off x="8281355" y="4069171"/>
              <a:ext cx="141549" cy="141549"/>
            </a:xfrm>
            <a:prstGeom prst="ellipse">
              <a:avLst/>
            </a:prstGeom>
            <a:solidFill>
              <a:srgbClr val="9AA0A6"/>
            </a:solidFill>
            <a:ln>
              <a:noFill/>
            </a:ln>
          </p:spPr>
          <p:txBody>
            <a:bodyPr rtlCol="0" anchor="ctr"/>
            <a:lstStyle/>
            <a:p>
              <a:pPr algn="ctr"/>
            </a:p>
          </p:txBody>
        </p:sp>
        <p:sp>
          <p:nvSpPr>
            <p:cNvPr id="41" name="wheel"/>
            <p:cNvSpPr/>
            <p:nvPr/>
          </p:nvSpPr>
          <p:spPr>
            <a:xfrm>
              <a:off x="8843619" y="3845051"/>
              <a:ext cx="589788" cy="589788"/>
            </a:xfrm>
            <a:prstGeom prst="ellipse">
              <a:avLst/>
            </a:prstGeom>
            <a:solidFill>
              <a:srgbClr val="1B1D21"/>
            </a:solidFill>
            <a:ln w="19050">
              <a:solidFill>
                <a:srgbClr val="9AA0A6"/>
              </a:solidFill>
            </a:ln>
          </p:spPr>
          <p:txBody>
            <a:bodyPr rtlCol="0" anchor="ctr"/>
            <a:lstStyle/>
            <a:p>
              <a:pPr algn="ctr"/>
            </a:p>
          </p:txBody>
        </p:sp>
        <p:sp>
          <p:nvSpPr>
            <p:cNvPr id="42" name="hub"/>
            <p:cNvSpPr/>
            <p:nvPr/>
          </p:nvSpPr>
          <p:spPr>
            <a:xfrm>
              <a:off x="9067739" y="4069171"/>
              <a:ext cx="141549" cy="141549"/>
            </a:xfrm>
            <a:prstGeom prst="ellipse">
              <a:avLst/>
            </a:prstGeom>
            <a:solidFill>
              <a:srgbClr val="9AA0A6"/>
            </a:solidFill>
            <a:ln>
              <a:noFill/>
            </a:ln>
          </p:spPr>
          <p:txBody>
            <a:bodyPr rtlCol="0" anchor="ctr"/>
            <a:lstStyle/>
            <a:p>
              <a:pPr algn="ctr"/>
            </a:p>
          </p:txBody>
        </p:sp>
        <p:sp>
          <p:nvSpPr>
            <p:cNvPr id="43" name="wheel"/>
            <p:cNvSpPr/>
            <p:nvPr/>
          </p:nvSpPr>
          <p:spPr>
            <a:xfrm>
              <a:off x="9630003" y="3845051"/>
              <a:ext cx="589788" cy="589788"/>
            </a:xfrm>
            <a:prstGeom prst="ellipse">
              <a:avLst/>
            </a:prstGeom>
            <a:solidFill>
              <a:srgbClr val="1B1D21"/>
            </a:solidFill>
            <a:ln w="19050">
              <a:solidFill>
                <a:srgbClr val="9AA0A6"/>
              </a:solidFill>
            </a:ln>
          </p:spPr>
          <p:txBody>
            <a:bodyPr rtlCol="0" anchor="ctr"/>
            <a:lstStyle/>
            <a:p>
              <a:pPr algn="ctr"/>
            </a:p>
          </p:txBody>
        </p:sp>
        <p:sp>
          <p:nvSpPr>
            <p:cNvPr id="44" name="hub"/>
            <p:cNvSpPr/>
            <p:nvPr/>
          </p:nvSpPr>
          <p:spPr>
            <a:xfrm>
              <a:off x="9854123" y="4069171"/>
              <a:ext cx="141549" cy="141549"/>
            </a:xfrm>
            <a:prstGeom prst="ellipse">
              <a:avLst/>
            </a:prstGeom>
            <a:solidFill>
              <a:srgbClr val="9AA0A6"/>
            </a:solidFill>
            <a:ln>
              <a:noFill/>
            </a:ln>
          </p:spPr>
          <p:txBody>
            <a:bodyPr rtlCol="0" anchor="ctr"/>
            <a:lstStyle/>
            <a:p>
              <a:pPr algn="ctr"/>
            </a:p>
          </p:txBody>
        </p:sp>
        <p:cxnSp>
          <p:nvCxnSpPr>
            <p:cNvPr id="45" name="gantry post"/>
            <p:cNvCxnSpPr/>
            <p:nvPr/>
          </p:nvCxnSpPr>
          <p:spPr>
            <a:xfrm>
              <a:off x="914400" y="2331720"/>
              <a:ext cx="0" cy="2103120"/>
            </a:xfrm>
            <a:prstGeom prst="line">
              <a:avLst/>
            </a:prstGeom>
            <a:ln w="76200">
              <a:solidFill>
                <a:srgbClr val="9AA0A6"/>
              </a:solidFill>
            </a:ln>
          </p:spPr>
        </p:cxnSp>
        <p:cxnSp>
          <p:nvCxnSpPr>
            <p:cNvPr id="46" name="gantry beam"/>
            <p:cNvCxnSpPr/>
            <p:nvPr/>
          </p:nvCxnSpPr>
          <p:spPr>
            <a:xfrm>
              <a:off x="914400" y="2331720"/>
              <a:ext cx="2560320" cy="0"/>
            </a:xfrm>
            <a:prstGeom prst="line">
              <a:avLst/>
            </a:prstGeom>
            <a:ln w="76200">
              <a:solidFill>
                <a:srgbClr val="9AA0A6"/>
              </a:solidFill>
            </a:ln>
          </p:spPr>
        </p:cxnSp>
        <p:cxnSp>
          <p:nvCxnSpPr>
            <p:cNvPr id="47" name="machinery arm"/>
            <p:cNvCxnSpPr/>
            <p:nvPr/>
          </p:nvCxnSpPr>
          <p:spPr>
            <a:xfrm>
              <a:off x="1935480" y="2331720"/>
              <a:ext cx="0" cy="766572"/>
            </a:xfrm>
            <a:prstGeom prst="line">
              <a:avLst/>
            </a:prstGeom>
            <a:ln w="63500">
              <a:solidFill>
                <a:srgbClr val="9AA0A6"/>
              </a:solidFill>
            </a:ln>
          </p:spPr>
        </p:cxnSp>
        <p:sp>
          <p:nvSpPr>
            <p:cNvPr id="48" name="crosshair ring"/>
            <p:cNvSpPr/>
            <p:nvPr/>
          </p:nvSpPr>
          <p:spPr>
            <a:xfrm>
              <a:off x="1780032" y="3098292"/>
              <a:ext cx="310896" cy="310896"/>
            </a:xfrm>
            <a:prstGeom prst="ellipse">
              <a:avLst/>
            </a:prstGeom>
            <a:noFill/>
            <a:ln w="76200">
              <a:solidFill>
                <a:srgbClr val="101418"/>
              </a:solidFill>
            </a:ln>
          </p:spPr>
          <p:txBody>
            <a:bodyPr rtlCol="0" anchor="ctr"/>
            <a:lstStyle/>
            <a:p>
              <a:pPr algn="ctr"/>
            </a:p>
          </p:txBody>
        </p:sp>
        <p:cxnSp>
          <p:nvCxnSpPr>
            <p:cNvPr id="49" name="crosshair"/>
            <p:cNvCxnSpPr/>
            <p:nvPr/>
          </p:nvCxnSpPr>
          <p:spPr>
            <a:xfrm>
              <a:off x="1686763" y="3253740"/>
              <a:ext cx="497433" cy="0"/>
            </a:xfrm>
            <a:prstGeom prst="line">
              <a:avLst/>
            </a:prstGeom>
            <a:ln w="60960">
              <a:solidFill>
                <a:srgbClr val="101418"/>
              </a:solidFill>
            </a:ln>
          </p:spPr>
        </p:cxnSp>
        <p:cxnSp>
          <p:nvCxnSpPr>
            <p:cNvPr id="50" name="crosshair"/>
            <p:cNvCxnSpPr/>
            <p:nvPr/>
          </p:nvCxnSpPr>
          <p:spPr>
            <a:xfrm>
              <a:off x="1935480" y="3005023"/>
              <a:ext cx="0" cy="497433"/>
            </a:xfrm>
            <a:prstGeom prst="line">
              <a:avLst/>
            </a:prstGeom>
            <a:ln w="60960">
              <a:solidFill>
                <a:srgbClr val="101418"/>
              </a:solidFill>
            </a:ln>
          </p:spPr>
        </p:cxnSp>
        <p:sp>
          <p:nvSpPr>
            <p:cNvPr id="51" name="crosshair ring"/>
            <p:cNvSpPr/>
            <p:nvPr/>
          </p:nvSpPr>
          <p:spPr>
            <a:xfrm>
              <a:off x="1780032" y="3098292"/>
              <a:ext cx="310896" cy="310896"/>
            </a:xfrm>
            <a:prstGeom prst="ellipse">
              <a:avLst/>
            </a:prstGeom>
            <a:noFill/>
            <a:ln w="31750">
              <a:solidFill>
                <a:srgbClr val="F2F2F2"/>
              </a:solidFill>
            </a:ln>
          </p:spPr>
          <p:txBody>
            <a:bodyPr rtlCol="0" anchor="ctr"/>
            <a:lstStyle/>
            <a:p>
              <a:pPr algn="ctr"/>
            </a:p>
          </p:txBody>
        </p:sp>
        <p:cxnSp>
          <p:nvCxnSpPr>
            <p:cNvPr id="52" name="crosshair"/>
            <p:cNvCxnSpPr/>
            <p:nvPr/>
          </p:nvCxnSpPr>
          <p:spPr>
            <a:xfrm>
              <a:off x="1686763" y="3253740"/>
              <a:ext cx="497433" cy="0"/>
            </a:xfrm>
            <a:prstGeom prst="line">
              <a:avLst/>
            </a:prstGeom>
            <a:ln w="25400">
              <a:solidFill>
                <a:srgbClr val="F2F2F2"/>
              </a:solidFill>
            </a:ln>
          </p:spPr>
        </p:cxnSp>
        <p:cxnSp>
          <p:nvCxnSpPr>
            <p:cNvPr id="53" name="crosshair"/>
            <p:cNvCxnSpPr/>
            <p:nvPr/>
          </p:nvCxnSpPr>
          <p:spPr>
            <a:xfrm>
              <a:off x="1935480" y="3005023"/>
              <a:ext cx="0" cy="497433"/>
            </a:xfrm>
            <a:prstGeom prst="line">
              <a:avLst/>
            </a:prstGeom>
            <a:ln w="25400">
              <a:solidFill>
                <a:srgbClr val="F2F2F2"/>
              </a:solidFill>
            </a:ln>
          </p:spPr>
        </p:cxnSp>
        <p:cxnSp>
          <p:nvCxnSpPr>
            <p:cNvPr id="54" name="machinery arm"/>
            <p:cNvCxnSpPr/>
            <p:nvPr/>
          </p:nvCxnSpPr>
          <p:spPr>
            <a:xfrm>
              <a:off x="2468880" y="2331720"/>
              <a:ext cx="0" cy="633222"/>
            </a:xfrm>
            <a:prstGeom prst="line">
              <a:avLst/>
            </a:prstGeom>
            <a:ln w="63500">
              <a:solidFill>
                <a:srgbClr val="9AA0A6"/>
              </a:solidFill>
            </a:ln>
          </p:spPr>
        </p:cxnSp>
        <p:sp>
          <p:nvSpPr>
            <p:cNvPr id="55" name="crosshair ring"/>
            <p:cNvSpPr/>
            <p:nvPr/>
          </p:nvSpPr>
          <p:spPr>
            <a:xfrm>
              <a:off x="2313432" y="2964942"/>
              <a:ext cx="310896" cy="310896"/>
            </a:xfrm>
            <a:prstGeom prst="ellipse">
              <a:avLst/>
            </a:prstGeom>
            <a:noFill/>
            <a:ln w="76200">
              <a:solidFill>
                <a:srgbClr val="101418"/>
              </a:solidFill>
            </a:ln>
          </p:spPr>
          <p:txBody>
            <a:bodyPr rtlCol="0" anchor="ctr"/>
            <a:lstStyle/>
            <a:p>
              <a:pPr algn="ctr"/>
            </a:p>
          </p:txBody>
        </p:sp>
        <p:cxnSp>
          <p:nvCxnSpPr>
            <p:cNvPr id="56" name="crosshair"/>
            <p:cNvCxnSpPr/>
            <p:nvPr/>
          </p:nvCxnSpPr>
          <p:spPr>
            <a:xfrm>
              <a:off x="2220163" y="3120390"/>
              <a:ext cx="497433" cy="0"/>
            </a:xfrm>
            <a:prstGeom prst="line">
              <a:avLst/>
            </a:prstGeom>
            <a:ln w="60960">
              <a:solidFill>
                <a:srgbClr val="101418"/>
              </a:solidFill>
            </a:ln>
          </p:spPr>
        </p:cxnSp>
        <p:cxnSp>
          <p:nvCxnSpPr>
            <p:cNvPr id="57" name="crosshair"/>
            <p:cNvCxnSpPr/>
            <p:nvPr/>
          </p:nvCxnSpPr>
          <p:spPr>
            <a:xfrm>
              <a:off x="2468880" y="2871673"/>
              <a:ext cx="0" cy="497433"/>
            </a:xfrm>
            <a:prstGeom prst="line">
              <a:avLst/>
            </a:prstGeom>
            <a:ln w="60960">
              <a:solidFill>
                <a:srgbClr val="101418"/>
              </a:solidFill>
            </a:ln>
          </p:spPr>
        </p:cxnSp>
        <p:sp>
          <p:nvSpPr>
            <p:cNvPr id="58" name="crosshair ring"/>
            <p:cNvSpPr/>
            <p:nvPr/>
          </p:nvSpPr>
          <p:spPr>
            <a:xfrm>
              <a:off x="2313432" y="2964942"/>
              <a:ext cx="310896" cy="310896"/>
            </a:xfrm>
            <a:prstGeom prst="ellipse">
              <a:avLst/>
            </a:prstGeom>
            <a:noFill/>
            <a:ln w="31750">
              <a:solidFill>
                <a:srgbClr val="F2F2F2"/>
              </a:solidFill>
            </a:ln>
          </p:spPr>
          <p:txBody>
            <a:bodyPr rtlCol="0" anchor="ctr"/>
            <a:lstStyle/>
            <a:p>
              <a:pPr algn="ctr"/>
            </a:p>
          </p:txBody>
        </p:sp>
        <p:cxnSp>
          <p:nvCxnSpPr>
            <p:cNvPr id="59" name="crosshair"/>
            <p:cNvCxnSpPr/>
            <p:nvPr/>
          </p:nvCxnSpPr>
          <p:spPr>
            <a:xfrm>
              <a:off x="2220163" y="3120390"/>
              <a:ext cx="497433" cy="0"/>
            </a:xfrm>
            <a:prstGeom prst="line">
              <a:avLst/>
            </a:prstGeom>
            <a:ln w="25400">
              <a:solidFill>
                <a:srgbClr val="F2F2F2"/>
              </a:solidFill>
            </a:ln>
          </p:spPr>
        </p:cxnSp>
        <p:cxnSp>
          <p:nvCxnSpPr>
            <p:cNvPr id="60" name="crosshair"/>
            <p:cNvCxnSpPr/>
            <p:nvPr/>
          </p:nvCxnSpPr>
          <p:spPr>
            <a:xfrm>
              <a:off x="2468880" y="2871673"/>
              <a:ext cx="0" cy="497433"/>
            </a:xfrm>
            <a:prstGeom prst="line">
              <a:avLst/>
            </a:prstGeom>
            <a:ln w="25400">
              <a:solidFill>
                <a:srgbClr val="F2F2F2"/>
              </a:solidFill>
            </a:ln>
          </p:spPr>
        </p:cxnSp>
        <p:cxnSp>
          <p:nvCxnSpPr>
            <p:cNvPr id="61" name="gantry post"/>
            <p:cNvCxnSpPr/>
            <p:nvPr/>
          </p:nvCxnSpPr>
          <p:spPr>
            <a:xfrm>
              <a:off x="6400800" y="2331720"/>
              <a:ext cx="0" cy="2103120"/>
            </a:xfrm>
            <a:prstGeom prst="line">
              <a:avLst/>
            </a:prstGeom>
            <a:ln w="76200">
              <a:solidFill>
                <a:srgbClr val="9AA0A6"/>
              </a:solidFill>
            </a:ln>
          </p:spPr>
        </p:cxnSp>
        <p:cxnSp>
          <p:nvCxnSpPr>
            <p:cNvPr id="62" name="gantry beam"/>
            <p:cNvCxnSpPr/>
            <p:nvPr/>
          </p:nvCxnSpPr>
          <p:spPr>
            <a:xfrm>
              <a:off x="6400800" y="2331720"/>
              <a:ext cx="3108960" cy="0"/>
            </a:xfrm>
            <a:prstGeom prst="line">
              <a:avLst/>
            </a:prstGeom>
            <a:ln w="76200">
              <a:solidFill>
                <a:srgbClr val="9AA0A6"/>
              </a:solidFill>
            </a:ln>
          </p:spPr>
        </p:cxnSp>
        <p:cxnSp>
          <p:nvCxnSpPr>
            <p:cNvPr id="63" name="machinery arm"/>
            <p:cNvCxnSpPr/>
            <p:nvPr/>
          </p:nvCxnSpPr>
          <p:spPr>
            <a:xfrm>
              <a:off x="8981236" y="2331720"/>
              <a:ext cx="0" cy="886053"/>
            </a:xfrm>
            <a:prstGeom prst="line">
              <a:avLst/>
            </a:prstGeom>
            <a:ln w="63500">
              <a:solidFill>
                <a:srgbClr val="9AA0A6"/>
              </a:solidFill>
            </a:ln>
          </p:spPr>
        </p:cxnSp>
        <p:sp>
          <p:nvSpPr>
            <p:cNvPr id="64" name="crosshair ring"/>
            <p:cNvSpPr/>
            <p:nvPr/>
          </p:nvSpPr>
          <p:spPr>
            <a:xfrm>
              <a:off x="8825788" y="3217773"/>
              <a:ext cx="310896" cy="310896"/>
            </a:xfrm>
            <a:prstGeom prst="ellipse">
              <a:avLst/>
            </a:prstGeom>
            <a:noFill/>
            <a:ln w="76200">
              <a:solidFill>
                <a:srgbClr val="101418"/>
              </a:solidFill>
            </a:ln>
          </p:spPr>
          <p:txBody>
            <a:bodyPr rtlCol="0" anchor="ctr"/>
            <a:lstStyle/>
            <a:p>
              <a:pPr algn="ctr"/>
            </a:p>
          </p:txBody>
        </p:sp>
        <p:cxnSp>
          <p:nvCxnSpPr>
            <p:cNvPr id="65" name="crosshair"/>
            <p:cNvCxnSpPr/>
            <p:nvPr/>
          </p:nvCxnSpPr>
          <p:spPr>
            <a:xfrm>
              <a:off x="8732519" y="3373221"/>
              <a:ext cx="497434" cy="0"/>
            </a:xfrm>
            <a:prstGeom prst="line">
              <a:avLst/>
            </a:prstGeom>
            <a:ln w="60960">
              <a:solidFill>
                <a:srgbClr val="101418"/>
              </a:solidFill>
            </a:ln>
          </p:spPr>
        </p:cxnSp>
        <p:cxnSp>
          <p:nvCxnSpPr>
            <p:cNvPr id="66" name="crosshair"/>
            <p:cNvCxnSpPr/>
            <p:nvPr/>
          </p:nvCxnSpPr>
          <p:spPr>
            <a:xfrm>
              <a:off x="8981236" y="3124504"/>
              <a:ext cx="0" cy="497434"/>
            </a:xfrm>
            <a:prstGeom prst="line">
              <a:avLst/>
            </a:prstGeom>
            <a:ln w="60960">
              <a:solidFill>
                <a:srgbClr val="101418"/>
              </a:solidFill>
            </a:ln>
          </p:spPr>
        </p:cxnSp>
        <p:sp>
          <p:nvSpPr>
            <p:cNvPr id="67" name="crosshair ring"/>
            <p:cNvSpPr/>
            <p:nvPr/>
          </p:nvSpPr>
          <p:spPr>
            <a:xfrm>
              <a:off x="8825788" y="3217773"/>
              <a:ext cx="310896" cy="310896"/>
            </a:xfrm>
            <a:prstGeom prst="ellipse">
              <a:avLst/>
            </a:prstGeom>
            <a:noFill/>
            <a:ln w="31750">
              <a:solidFill>
                <a:srgbClr val="F2F2F2"/>
              </a:solidFill>
            </a:ln>
          </p:spPr>
          <p:txBody>
            <a:bodyPr rtlCol="0" anchor="ctr"/>
            <a:lstStyle/>
            <a:p>
              <a:pPr algn="ctr"/>
            </a:p>
          </p:txBody>
        </p:sp>
        <p:cxnSp>
          <p:nvCxnSpPr>
            <p:cNvPr id="68" name="crosshair"/>
            <p:cNvCxnSpPr/>
            <p:nvPr/>
          </p:nvCxnSpPr>
          <p:spPr>
            <a:xfrm>
              <a:off x="8732519" y="3373221"/>
              <a:ext cx="497434" cy="0"/>
            </a:xfrm>
            <a:prstGeom prst="line">
              <a:avLst/>
            </a:prstGeom>
            <a:ln w="25400">
              <a:solidFill>
                <a:srgbClr val="F2F2F2"/>
              </a:solidFill>
            </a:ln>
          </p:spPr>
        </p:cxnSp>
        <p:cxnSp>
          <p:nvCxnSpPr>
            <p:cNvPr id="69" name="crosshair"/>
            <p:cNvCxnSpPr/>
            <p:nvPr/>
          </p:nvCxnSpPr>
          <p:spPr>
            <a:xfrm>
              <a:off x="8981236" y="3124504"/>
              <a:ext cx="0" cy="497434"/>
            </a:xfrm>
            <a:prstGeom prst="line">
              <a:avLst/>
            </a:prstGeom>
            <a:ln w="25400">
              <a:solidFill>
                <a:srgbClr val="F2F2F2"/>
              </a:solidFill>
            </a:ln>
          </p:spPr>
        </p:cxnSp>
        <p:cxnSp>
          <p:nvCxnSpPr>
            <p:cNvPr id="70" name="machinery arm"/>
            <p:cNvCxnSpPr/>
            <p:nvPr/>
          </p:nvCxnSpPr>
          <p:spPr>
            <a:xfrm>
              <a:off x="7231532" y="2331720"/>
              <a:ext cx="0" cy="591159"/>
            </a:xfrm>
            <a:prstGeom prst="line">
              <a:avLst/>
            </a:prstGeom>
            <a:ln w="63500">
              <a:solidFill>
                <a:srgbClr val="9AA0A6"/>
              </a:solidFill>
            </a:ln>
          </p:spPr>
        </p:cxnSp>
        <p:sp>
          <p:nvSpPr>
            <p:cNvPr id="71" name="crosshair ring"/>
            <p:cNvSpPr/>
            <p:nvPr/>
          </p:nvSpPr>
          <p:spPr>
            <a:xfrm>
              <a:off x="7076084" y="2922879"/>
              <a:ext cx="310896" cy="310896"/>
            </a:xfrm>
            <a:prstGeom prst="ellipse">
              <a:avLst/>
            </a:prstGeom>
            <a:noFill/>
            <a:ln w="76200">
              <a:solidFill>
                <a:srgbClr val="101418"/>
              </a:solidFill>
            </a:ln>
          </p:spPr>
          <p:txBody>
            <a:bodyPr rtlCol="0" anchor="ctr"/>
            <a:lstStyle/>
            <a:p>
              <a:pPr algn="ctr"/>
            </a:p>
          </p:txBody>
        </p:sp>
        <p:cxnSp>
          <p:nvCxnSpPr>
            <p:cNvPr id="72" name="crosshair"/>
            <p:cNvCxnSpPr/>
            <p:nvPr/>
          </p:nvCxnSpPr>
          <p:spPr>
            <a:xfrm>
              <a:off x="6982815" y="3078327"/>
              <a:ext cx="497434" cy="0"/>
            </a:xfrm>
            <a:prstGeom prst="line">
              <a:avLst/>
            </a:prstGeom>
            <a:ln w="60960">
              <a:solidFill>
                <a:srgbClr val="101418"/>
              </a:solidFill>
            </a:ln>
          </p:spPr>
        </p:cxnSp>
        <p:cxnSp>
          <p:nvCxnSpPr>
            <p:cNvPr id="73" name="crosshair"/>
            <p:cNvCxnSpPr/>
            <p:nvPr/>
          </p:nvCxnSpPr>
          <p:spPr>
            <a:xfrm>
              <a:off x="7231532" y="2829610"/>
              <a:ext cx="0" cy="497434"/>
            </a:xfrm>
            <a:prstGeom prst="line">
              <a:avLst/>
            </a:prstGeom>
            <a:ln w="60960">
              <a:solidFill>
                <a:srgbClr val="101418"/>
              </a:solidFill>
            </a:ln>
          </p:spPr>
        </p:cxnSp>
        <p:sp>
          <p:nvSpPr>
            <p:cNvPr id="74" name="crosshair ring"/>
            <p:cNvSpPr/>
            <p:nvPr/>
          </p:nvSpPr>
          <p:spPr>
            <a:xfrm>
              <a:off x="7076084" y="2922879"/>
              <a:ext cx="310896" cy="310896"/>
            </a:xfrm>
            <a:prstGeom prst="ellipse">
              <a:avLst/>
            </a:prstGeom>
            <a:noFill/>
            <a:ln w="31750">
              <a:solidFill>
                <a:srgbClr val="F2F2F2"/>
              </a:solidFill>
            </a:ln>
          </p:spPr>
          <p:txBody>
            <a:bodyPr rtlCol="0" anchor="ctr"/>
            <a:lstStyle/>
            <a:p>
              <a:pPr algn="ctr"/>
            </a:p>
          </p:txBody>
        </p:sp>
        <p:cxnSp>
          <p:nvCxnSpPr>
            <p:cNvPr id="75" name="crosshair"/>
            <p:cNvCxnSpPr/>
            <p:nvPr/>
          </p:nvCxnSpPr>
          <p:spPr>
            <a:xfrm>
              <a:off x="6982815" y="3078327"/>
              <a:ext cx="497434" cy="0"/>
            </a:xfrm>
            <a:prstGeom prst="line">
              <a:avLst/>
            </a:prstGeom>
            <a:ln w="25400">
              <a:solidFill>
                <a:srgbClr val="F2F2F2"/>
              </a:solidFill>
            </a:ln>
          </p:spPr>
        </p:cxnSp>
        <p:cxnSp>
          <p:nvCxnSpPr>
            <p:cNvPr id="76" name="crosshair"/>
            <p:cNvCxnSpPr/>
            <p:nvPr/>
          </p:nvCxnSpPr>
          <p:spPr>
            <a:xfrm>
              <a:off x="7231532" y="2829610"/>
              <a:ext cx="0" cy="497434"/>
            </a:xfrm>
            <a:prstGeom prst="line">
              <a:avLst/>
            </a:prstGeom>
            <a:ln w="25400">
              <a:solidFill>
                <a:srgbClr val="F2F2F2"/>
              </a:solidFill>
            </a:ln>
          </p:spPr>
        </p:cxnSp>
        <p:sp>
          <p:nvSpPr>
            <p:cNvPr id="77" name="target label"/>
            <p:cNvSpPr txBox="1"/>
            <p:nvPr/>
          </p:nvSpPr>
          <p:spPr>
            <a:xfrm>
              <a:off x="518160" y="1874519"/>
              <a:ext cx="1417320" cy="365760"/>
            </a:xfrm>
            <a:prstGeom prst="rect">
              <a:avLst/>
            </a:prstGeom>
            <a:noFill/>
          </p:spPr>
          <p:txBody>
            <a:bodyPr wrap="square" anchor="ctr" lIns="18288" tIns="9144" rIns="18288" bIns="9144">
              <a:noAutofit/>
            </a:bodyPr>
            <a:lstStyle/>
            <a:p>
              <a:pPr algn="r"/>
              <a:r>
                <a:rPr sz="1400" b="1" i="0" lang="en-GB">
                  <a:solidFill>
                    <a:srgbClr val="F28C28"/>
                  </a:solidFill>
                  <a:latin typeface="Arial"/>
                </a:rPr>
                <a:t>Water hatch</a:t>
              </a:r>
            </a:p>
          </p:txBody>
        </p:sp>
        <p:sp>
          <p:nvSpPr>
            <p:cNvPr id="78" name="target label"/>
            <p:cNvSpPr txBox="1"/>
            <p:nvPr/>
          </p:nvSpPr>
          <p:spPr>
            <a:xfrm>
              <a:off x="2560320" y="1874519"/>
              <a:ext cx="1371600" cy="365760"/>
            </a:xfrm>
            <a:prstGeom prst="rect">
              <a:avLst/>
            </a:prstGeom>
            <a:noFill/>
          </p:spPr>
          <p:txBody>
            <a:bodyPr wrap="square" anchor="ctr" lIns="18288" tIns="9144" rIns="18288" bIns="9144">
              <a:noAutofit/>
            </a:bodyPr>
            <a:lstStyle/>
            <a:p>
              <a:pPr algn="l"/>
              <a:r>
                <a:rPr sz="1400" b="1" i="0" lang="en-GB">
                  <a:solidFill>
                    <a:srgbClr val="F28C28"/>
                  </a:solidFill>
                  <a:latin typeface="Arial"/>
                </a:rPr>
                <a:t>Coal point</a:t>
              </a:r>
            </a:p>
          </p:txBody>
        </p:sp>
        <p:sp>
          <p:nvSpPr>
            <p:cNvPr id="79" name="target label"/>
            <p:cNvSpPr txBox="1"/>
            <p:nvPr/>
          </p:nvSpPr>
          <p:spPr>
            <a:xfrm>
              <a:off x="6545732" y="1874519"/>
              <a:ext cx="1371600" cy="365760"/>
            </a:xfrm>
            <a:prstGeom prst="rect">
              <a:avLst/>
            </a:prstGeom>
            <a:noFill/>
          </p:spPr>
          <p:txBody>
            <a:bodyPr wrap="square" anchor="ctr" lIns="18288" tIns="9144" rIns="18288" bIns="9144">
              <a:noAutofit/>
            </a:bodyPr>
            <a:lstStyle/>
            <a:p>
              <a:pPr algn="ctr"/>
              <a:r>
                <a:rPr sz="1400" b="1" i="0" lang="en-GB">
                  <a:solidFill>
                    <a:srgbClr val="F28C28"/>
                  </a:solidFill>
                  <a:latin typeface="Arial"/>
                </a:rPr>
                <a:t>Coal point</a:t>
              </a:r>
            </a:p>
          </p:txBody>
        </p:sp>
        <p:sp>
          <p:nvSpPr>
            <p:cNvPr id="80" name="target label"/>
            <p:cNvSpPr txBox="1"/>
            <p:nvPr/>
          </p:nvSpPr>
          <p:spPr>
            <a:xfrm>
              <a:off x="8295436" y="1874519"/>
              <a:ext cx="1371600" cy="365760"/>
            </a:xfrm>
            <a:prstGeom prst="rect">
              <a:avLst/>
            </a:prstGeom>
            <a:noFill/>
          </p:spPr>
          <p:txBody>
            <a:bodyPr wrap="square" anchor="ctr" lIns="18288" tIns="9144" rIns="18288" bIns="9144">
              <a:noAutofit/>
            </a:bodyPr>
            <a:lstStyle/>
            <a:p>
              <a:pPr algn="ctr"/>
              <a:r>
                <a:rPr sz="1400" b="1" i="0" lang="en-GB">
                  <a:solidFill>
                    <a:srgbClr val="F28C28"/>
                  </a:solidFill>
                  <a:latin typeface="Arial"/>
                </a:rPr>
                <a:t>Water hatch</a:t>
              </a:r>
            </a:p>
          </p:txBody>
        </p:sp>
        <p:sp>
          <p:nvSpPr>
            <p:cNvPr id="81" name="engine label"/>
            <p:cNvSpPr txBox="1"/>
            <p:nvPr/>
          </p:nvSpPr>
          <p:spPr>
            <a:xfrm>
              <a:off x="1554480" y="4507992"/>
              <a:ext cx="4572000" cy="320040"/>
            </a:xfrm>
            <a:prstGeom prst="rect">
              <a:avLst/>
            </a:prstGeom>
            <a:noFill/>
          </p:spPr>
          <p:txBody>
            <a:bodyPr wrap="square" anchor="ctr" lIns="18288" tIns="9144" rIns="18288" bIns="9144">
              <a:noAutofit/>
            </a:bodyPr>
            <a:lstStyle/>
            <a:p>
              <a:pPr algn="ctr"/>
              <a:r>
                <a:rPr sz="1400" b="1" i="0" lang="en-GB">
                  <a:solidFill>
                    <a:srgbClr val="F2F2F2"/>
                  </a:solidFill>
                  <a:latin typeface="Arial"/>
                </a:rPr>
                <a:t>Tender engine</a:t>
              </a:r>
            </a:p>
          </p:txBody>
        </p:sp>
        <p:sp>
          <p:nvSpPr>
            <p:cNvPr id="82" name="engine label"/>
            <p:cNvSpPr txBox="1"/>
            <p:nvPr/>
          </p:nvSpPr>
          <p:spPr>
            <a:xfrm>
              <a:off x="6858000" y="4507992"/>
              <a:ext cx="3931920" cy="320040"/>
            </a:xfrm>
            <a:prstGeom prst="rect">
              <a:avLst/>
            </a:prstGeom>
            <a:noFill/>
          </p:spPr>
          <p:txBody>
            <a:bodyPr wrap="square" anchor="ctr" lIns="18288" tIns="9144" rIns="18288" bIns="9144">
              <a:noAutofit/>
            </a:bodyPr>
            <a:lstStyle/>
            <a:p>
              <a:pPr algn="ctr"/>
              <a:r>
                <a:rPr sz="1400" b="1" i="0" lang="en-GB">
                  <a:solidFill>
                    <a:srgbClr val="F2F2F2"/>
                  </a:solidFill>
                  <a:latin typeface="Arial"/>
                </a:rPr>
                <a:t>Tank engine</a:t>
              </a:r>
            </a:p>
          </p:txBody>
        </p:sp>
        <p:sp>
          <p:nvSpPr>
            <p:cNvPr id="83" name="ICHIP"/>
            <p:cNvSpPr/>
            <p:nvPr/>
          </p:nvSpPr>
          <p:spPr>
            <a:xfrm>
              <a:off x="548640" y="5074920"/>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84" name="target list"/>
            <p:cNvSpPr txBox="1"/>
            <p:nvPr/>
          </p:nvSpPr>
          <p:spPr>
            <a:xfrm>
              <a:off x="1965960" y="4956048"/>
              <a:ext cx="9646920" cy="685800"/>
            </a:xfrm>
            <a:prstGeom prst="rect">
              <a:avLst/>
            </a:prstGeom>
            <a:noFill/>
          </p:spPr>
          <p:txBody>
            <a:bodyPr wrap="square" anchor="ctr" lIns="18288" tIns="9144" rIns="18288" bIns="9144">
              <a:noAutofit/>
            </a:bodyPr>
            <a:lstStyle/>
            <a:p>
              <a:pPr algn="l"/>
              <a:r>
                <a:rPr sz="1600" b="0" i="0" lang="en-GB">
                  <a:solidFill>
                    <a:srgbClr val="F2F2F2"/>
                  </a:solidFill>
                  <a:latin typeface="Arial"/>
                </a:rPr>
                <a:t>Target points: water, coal, exhaust, front coupler, rear coupler, cab. Names are suggestions.</a:t>
              </a:r>
            </a:p>
          </p:txBody>
        </p:sp>
      </p:grpSp>
      <p:sp>
        <p:nvSpPr>
          <p:cNvPr id="8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7"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Every engine model has its own hatches. The machinery finds them.</a:t>
            </a:r>
          </a:p>
        </p:txBody>
      </p:sp>
      <p:sp>
        <p:nvSpPr>
          <p:cNvPr id="8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5"/>
                                        </p:tgtEl>
                                        <p:attrNameLst>
                                          <p:attrName>style.visibility</p:attrName>
                                        </p:attrNameLst>
                                      </p:cBhvr>
                                      <p:to>
                                        <p:strVal val="visible"/>
                                      </p:to>
                                    </p:set>
                                    <p:animEffect transition="in" filter="fade">
                                      <p:cBhvr>
                                        <p:cTn id="10" dur="500"/>
                                        <p:tgtEl>
                                          <p:spTgt spid="85"/>
                                        </p:tgtEl>
                                      </p:cBhvr>
                                    </p:animEffect>
                                  </p:childTnLst>
                                </p:cTn>
                              </p:par>
                              <p:par>
                                <p:cTn id="11" presetID="10" presetClass="entr" presetSubtype="0" fill="hold" nodeType="withEffect">
                                  <p:stCondLst>
                                    <p:cond delay="60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500"/>
                                        <p:tgtEl>
                                          <p:spTgt spid="86"/>
                                        </p:tgtEl>
                                      </p:cBhvr>
                                    </p:animEffect>
                                  </p:childTnLst>
                                </p:cTn>
                              </p:par>
                              <p:par>
                                <p:cTn id="14" presetID="10" presetClass="entr" presetSubtype="0" fill="hold" nodeType="withEffect">
                                  <p:stCondLst>
                                    <p:cond delay="90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How long does it take?</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grpSp>
        <p:nvGrpSpPr>
          <p:cNvPr id="4" name="Two time bars" descr="A short bar for a small top-up and a long bar for refilling empty tanks."/>
          <p:cNvGrpSpPr/>
          <p:nvPr/>
        </p:nvGrpSpPr>
        <p:grpSpPr>
          <a:xfrm>
            <a:off x="548640" y="1371600"/>
            <a:ext cx="11091672" cy="3977640"/>
            <a:chOff x="548640" y="1371600"/>
            <a:chExt cx="11091672" cy="3977640"/>
          </a:xfrm>
        </p:grpSpPr>
        <p:sp>
          <p:nvSpPr>
            <p:cNvPr id="5" name="clock"/>
            <p:cNvSpPr/>
            <p:nvPr/>
          </p:nvSpPr>
          <p:spPr>
            <a:xfrm>
              <a:off x="548640" y="2121408"/>
              <a:ext cx="365760" cy="365760"/>
            </a:xfrm>
            <a:prstGeom prst="ellipse">
              <a:avLst/>
            </a:prstGeom>
            <a:noFill/>
            <a:ln w="25400">
              <a:solidFill>
                <a:srgbClr val="A9B0B8"/>
              </a:solidFill>
            </a:ln>
          </p:spPr>
          <p:txBody>
            <a:bodyPr rtlCol="0" anchor="ctr"/>
            <a:lstStyle/>
            <a:p>
              <a:pPr algn="ctr"/>
            </a:p>
          </p:txBody>
        </p:sp>
        <p:cxnSp>
          <p:nvCxnSpPr>
            <p:cNvPr id="6" name="hand"/>
            <p:cNvCxnSpPr/>
            <p:nvPr/>
          </p:nvCxnSpPr>
          <p:spPr>
            <a:xfrm flipV="1">
              <a:off x="731520" y="2185415"/>
              <a:ext cx="0" cy="118873"/>
            </a:xfrm>
            <a:prstGeom prst="line">
              <a:avLst/>
            </a:prstGeom>
            <a:ln w="25400">
              <a:solidFill>
                <a:srgbClr val="A9B0B8"/>
              </a:solidFill>
            </a:ln>
          </p:spPr>
        </p:cxnSp>
        <p:cxnSp>
          <p:nvCxnSpPr>
            <p:cNvPr id="7" name="hand"/>
            <p:cNvCxnSpPr/>
            <p:nvPr/>
          </p:nvCxnSpPr>
          <p:spPr>
            <a:xfrm>
              <a:off x="731520" y="2304288"/>
              <a:ext cx="91440" cy="27432"/>
            </a:xfrm>
            <a:prstGeom prst="line">
              <a:avLst/>
            </a:prstGeom>
            <a:ln w="25400">
              <a:solidFill>
                <a:srgbClr val="A9B0B8"/>
              </a:solidFill>
            </a:ln>
          </p:spPr>
        </p:cxnSp>
        <p:sp>
          <p:nvSpPr>
            <p:cNvPr id="8" name="clock"/>
            <p:cNvSpPr/>
            <p:nvPr/>
          </p:nvSpPr>
          <p:spPr>
            <a:xfrm>
              <a:off x="548640" y="3950207"/>
              <a:ext cx="365760" cy="365760"/>
            </a:xfrm>
            <a:prstGeom prst="ellipse">
              <a:avLst/>
            </a:prstGeom>
            <a:noFill/>
            <a:ln w="25400">
              <a:solidFill>
                <a:srgbClr val="A9B0B8"/>
              </a:solidFill>
            </a:ln>
          </p:spPr>
          <p:txBody>
            <a:bodyPr rtlCol="0" anchor="ctr"/>
            <a:lstStyle/>
            <a:p>
              <a:pPr algn="ctr"/>
            </a:p>
          </p:txBody>
        </p:sp>
        <p:cxnSp>
          <p:nvCxnSpPr>
            <p:cNvPr id="9" name="hand"/>
            <p:cNvCxnSpPr/>
            <p:nvPr/>
          </p:nvCxnSpPr>
          <p:spPr>
            <a:xfrm flipV="1">
              <a:off x="731520" y="4014215"/>
              <a:ext cx="0" cy="118872"/>
            </a:xfrm>
            <a:prstGeom prst="line">
              <a:avLst/>
            </a:prstGeom>
            <a:ln w="25400">
              <a:solidFill>
                <a:srgbClr val="A9B0B8"/>
              </a:solidFill>
            </a:ln>
          </p:spPr>
        </p:cxnSp>
        <p:cxnSp>
          <p:nvCxnSpPr>
            <p:cNvPr id="10" name="hand"/>
            <p:cNvCxnSpPr/>
            <p:nvPr/>
          </p:nvCxnSpPr>
          <p:spPr>
            <a:xfrm>
              <a:off x="731520" y="4133087"/>
              <a:ext cx="91440" cy="27433"/>
            </a:xfrm>
            <a:prstGeom prst="line">
              <a:avLst/>
            </a:prstGeom>
            <a:ln w="25400">
              <a:solidFill>
                <a:srgbClr val="A9B0B8"/>
              </a:solidFill>
            </a:ln>
          </p:spPr>
        </p:cxnSp>
        <p:sp>
          <p:nvSpPr>
            <p:cNvPr id="11" name="bar label"/>
            <p:cNvSpPr txBox="1"/>
            <p:nvPr/>
          </p:nvSpPr>
          <p:spPr>
            <a:xfrm>
              <a:off x="1097280" y="1600199"/>
              <a:ext cx="5120640" cy="411480"/>
            </a:xfrm>
            <a:prstGeom prst="rect">
              <a:avLst/>
            </a:prstGeom>
            <a:noFill/>
          </p:spPr>
          <p:txBody>
            <a:bodyPr wrap="square" anchor="ctr" lIns="18288" tIns="9144" rIns="18288" bIns="9144">
              <a:noAutofit/>
            </a:bodyPr>
            <a:lstStyle/>
            <a:p>
              <a:pPr algn="l"/>
              <a:r>
                <a:rPr sz="2000" b="1" i="0" lang="en-GB">
                  <a:solidFill>
                    <a:srgbClr val="F2F2F2"/>
                  </a:solidFill>
                  <a:latin typeface="Arial"/>
                </a:rPr>
                <a:t>Small top-up</a:t>
              </a:r>
            </a:p>
          </p:txBody>
        </p:sp>
        <p:sp>
          <p:nvSpPr>
            <p:cNvPr id="12" name="time track"/>
            <p:cNvSpPr/>
            <p:nvPr/>
          </p:nvSpPr>
          <p:spPr>
            <a:xfrm>
              <a:off x="1097280" y="2103120"/>
              <a:ext cx="5120640" cy="457200"/>
            </a:xfrm>
            <a:prstGeom prst="roundRect">
              <a:avLst>
                <a:gd name="adj" fmla="val 12000"/>
              </a:avLst>
            </a:prstGeom>
            <a:solidFill>
              <a:srgbClr val="343A43"/>
            </a:solidFill>
            <a:ln w="12700">
              <a:solidFill>
                <a:srgbClr val="4A515B"/>
              </a:solidFill>
            </a:ln>
          </p:spPr>
          <p:txBody>
            <a:bodyPr rtlCol="0" anchor="ctr"/>
            <a:lstStyle/>
            <a:p>
              <a:pPr algn="ctr"/>
            </a:p>
          </p:txBody>
        </p:sp>
        <p:sp>
          <p:nvSpPr>
            <p:cNvPr id="13" name="time fill"/>
            <p:cNvSpPr/>
            <p:nvPr/>
          </p:nvSpPr>
          <p:spPr>
            <a:xfrm>
              <a:off x="1097280" y="2103120"/>
              <a:ext cx="1331366" cy="457200"/>
            </a:xfrm>
            <a:prstGeom prst="roundRect">
              <a:avLst>
                <a:gd name="adj" fmla="val 12000"/>
              </a:avLst>
            </a:prstGeom>
            <a:solidFill>
              <a:srgbClr val="F28C28"/>
            </a:solidFill>
            <a:ln>
              <a:noFill/>
            </a:ln>
          </p:spPr>
          <p:txBody>
            <a:bodyPr rtlCol="0" anchor="ctr"/>
            <a:lstStyle/>
            <a:p>
              <a:pPr algn="ctr"/>
            </a:p>
          </p:txBody>
        </p:sp>
        <p:sp>
          <p:nvSpPr>
            <p:cNvPr id="14" name="bar label"/>
            <p:cNvSpPr txBox="1"/>
            <p:nvPr/>
          </p:nvSpPr>
          <p:spPr>
            <a:xfrm>
              <a:off x="1097280" y="3429000"/>
              <a:ext cx="5120640" cy="411480"/>
            </a:xfrm>
            <a:prstGeom prst="rect">
              <a:avLst/>
            </a:prstGeom>
            <a:noFill/>
          </p:spPr>
          <p:txBody>
            <a:bodyPr wrap="square" anchor="ctr" lIns="18288" tIns="9144" rIns="18288" bIns="9144">
              <a:noAutofit/>
            </a:bodyPr>
            <a:lstStyle/>
            <a:p>
              <a:pPr algn="l"/>
              <a:r>
                <a:rPr sz="2000" b="1" i="0" lang="en-GB">
                  <a:solidFill>
                    <a:srgbClr val="F2F2F2"/>
                  </a:solidFill>
                  <a:latin typeface="Arial"/>
                </a:rPr>
                <a:t>Empty tanks</a:t>
              </a:r>
            </a:p>
          </p:txBody>
        </p:sp>
        <p:sp>
          <p:nvSpPr>
            <p:cNvPr id="15" name="time track"/>
            <p:cNvSpPr/>
            <p:nvPr/>
          </p:nvSpPr>
          <p:spPr>
            <a:xfrm>
              <a:off x="1097280" y="3931920"/>
              <a:ext cx="5120640" cy="457200"/>
            </a:xfrm>
            <a:prstGeom prst="roundRect">
              <a:avLst>
                <a:gd name="adj" fmla="val 12000"/>
              </a:avLst>
            </a:prstGeom>
            <a:solidFill>
              <a:srgbClr val="343A43"/>
            </a:solidFill>
            <a:ln w="12700">
              <a:solidFill>
                <a:srgbClr val="4A515B"/>
              </a:solidFill>
            </a:ln>
          </p:spPr>
          <p:txBody>
            <a:bodyPr rtlCol="0" anchor="ctr"/>
            <a:lstStyle/>
            <a:p>
              <a:pPr algn="ctr"/>
            </a:p>
          </p:txBody>
        </p:sp>
        <p:sp>
          <p:nvSpPr>
            <p:cNvPr id="16" name="time fill"/>
            <p:cNvSpPr/>
            <p:nvPr/>
          </p:nvSpPr>
          <p:spPr>
            <a:xfrm>
              <a:off x="1097280" y="3931920"/>
              <a:ext cx="4864607" cy="457200"/>
            </a:xfrm>
            <a:prstGeom prst="roundRect">
              <a:avLst>
                <a:gd name="adj" fmla="val 12000"/>
              </a:avLst>
            </a:prstGeom>
            <a:solidFill>
              <a:srgbClr val="F28C28"/>
            </a:solidFill>
            <a:ln>
              <a:noFill/>
            </a:ln>
          </p:spPr>
          <p:txBody>
            <a:bodyPr rtlCol="0" anchor="ctr"/>
            <a:lstStyle/>
            <a:p>
              <a:pPr algn="ctr"/>
            </a:p>
          </p:txBody>
        </p:sp>
        <p:sp>
          <p:nvSpPr>
            <p:cNvPr id="17" name="note card"/>
            <p:cNvSpPr/>
            <p:nvPr/>
          </p:nvSpPr>
          <p:spPr>
            <a:xfrm>
              <a:off x="6766560" y="1371600"/>
              <a:ext cx="4873752" cy="1234440"/>
            </a:xfrm>
            <a:prstGeom prst="roundRect">
              <a:avLst>
                <a:gd name="adj" fmla="val 7407"/>
              </a:avLst>
            </a:prstGeom>
            <a:solidFill>
              <a:srgbClr val="2B2F36"/>
            </a:solidFill>
            <a:ln w="12700">
              <a:solidFill>
                <a:srgbClr val="4A515B"/>
              </a:solidFill>
            </a:ln>
          </p:spPr>
          <p:txBody>
            <a:bodyPr rtlCol="0" anchor="ctr"/>
            <a:lstStyle/>
            <a:p>
              <a:pPr algn="ctr"/>
            </a:p>
          </p:txBody>
        </p:sp>
        <p:sp>
          <p:nvSpPr>
            <p:cNvPr id="18" name="ICHIP"/>
            <p:cNvSpPr/>
            <p:nvPr/>
          </p:nvSpPr>
          <p:spPr>
            <a:xfrm>
              <a:off x="6949440" y="1508760"/>
              <a:ext cx="1554480" cy="292608"/>
            </a:xfrm>
            <a:prstGeom prst="roundRect">
              <a:avLst>
                <a:gd name="adj" fmla="val 375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sp>
          <p:nvSpPr>
            <p:cNvPr id="19" name="note text"/>
            <p:cNvSpPr txBox="1"/>
            <p:nvPr/>
          </p:nvSpPr>
          <p:spPr>
            <a:xfrm>
              <a:off x="6949440" y="1874519"/>
              <a:ext cx="4526280" cy="640080"/>
            </a:xfrm>
            <a:prstGeom prst="rect">
              <a:avLst/>
            </a:prstGeom>
            <a:noFill/>
          </p:spPr>
          <p:txBody>
            <a:bodyPr wrap="square" anchor="t" lIns="18288" tIns="9144" rIns="18288" bIns="9144">
              <a:noAutofit/>
            </a:bodyPr>
            <a:lstStyle/>
            <a:p>
              <a:pPr algn="l"/>
              <a:r>
                <a:rPr sz="1800" b="0" i="0" lang="en-GB">
                  <a:solidFill>
                    <a:srgbClr val="F2F2F2"/>
                  </a:solidFill>
                  <a:latin typeface="Arial"/>
                </a:rPr>
                <a:t>First example: 5 to 15 extra seconds</a:t>
              </a:r>
            </a:p>
          </p:txBody>
        </p:sp>
        <p:sp>
          <p:nvSpPr>
            <p:cNvPr id="20" name="note card"/>
            <p:cNvSpPr/>
            <p:nvPr/>
          </p:nvSpPr>
          <p:spPr>
            <a:xfrm>
              <a:off x="6766560" y="2743200"/>
              <a:ext cx="4873752" cy="1234440"/>
            </a:xfrm>
            <a:prstGeom prst="roundRect">
              <a:avLst>
                <a:gd name="adj" fmla="val 7407"/>
              </a:avLst>
            </a:prstGeom>
            <a:solidFill>
              <a:srgbClr val="2B2F36"/>
            </a:solidFill>
            <a:ln w="12700">
              <a:solidFill>
                <a:srgbClr val="4A515B"/>
              </a:solidFill>
            </a:ln>
          </p:spPr>
          <p:txBody>
            <a:bodyPr rtlCol="0" anchor="ctr"/>
            <a:lstStyle/>
            <a:p>
              <a:pPr algn="ctr"/>
            </a:p>
          </p:txBody>
        </p:sp>
        <p:sp>
          <p:nvSpPr>
            <p:cNvPr id="21" name="ICHIP"/>
            <p:cNvSpPr/>
            <p:nvPr/>
          </p:nvSpPr>
          <p:spPr>
            <a:xfrm>
              <a:off x="6949440" y="2880360"/>
              <a:ext cx="155448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22" name="note text"/>
            <p:cNvSpPr txBox="1"/>
            <p:nvPr/>
          </p:nvSpPr>
          <p:spPr>
            <a:xfrm>
              <a:off x="6949440" y="3246120"/>
              <a:ext cx="4526280" cy="640080"/>
            </a:xfrm>
            <a:prstGeom prst="rect">
              <a:avLst/>
            </a:prstGeom>
            <a:noFill/>
          </p:spPr>
          <p:txBody>
            <a:bodyPr wrap="square" anchor="t" lIns="18288" tIns="9144" rIns="18288" bIns="9144">
              <a:noAutofit/>
            </a:bodyPr>
            <a:lstStyle/>
            <a:p>
              <a:pPr algn="l"/>
              <a:r>
                <a:rPr sz="1800" b="0" i="0" lang="en-GB">
                  <a:solidFill>
                    <a:srgbClr val="F2F2F2"/>
                  </a:solidFill>
                  <a:latin typeface="Arial"/>
                </a:rPr>
                <a:t>Later idea: real transfer rates</a:t>
              </a:r>
            </a:p>
          </p:txBody>
        </p:sp>
        <p:sp>
          <p:nvSpPr>
            <p:cNvPr id="23" name="note card"/>
            <p:cNvSpPr/>
            <p:nvPr/>
          </p:nvSpPr>
          <p:spPr>
            <a:xfrm>
              <a:off x="6766560" y="4114800"/>
              <a:ext cx="4873752" cy="1234440"/>
            </a:xfrm>
            <a:prstGeom prst="roundRect">
              <a:avLst>
                <a:gd name="adj" fmla="val 7407"/>
              </a:avLst>
            </a:prstGeom>
            <a:solidFill>
              <a:srgbClr val="2B2F36"/>
            </a:solidFill>
            <a:ln w="12700">
              <a:solidFill>
                <a:srgbClr val="4A515B"/>
              </a:solidFill>
            </a:ln>
          </p:spPr>
          <p:txBody>
            <a:bodyPr rtlCol="0" anchor="ctr"/>
            <a:lstStyle/>
            <a:p>
              <a:pPr algn="ctr"/>
            </a:p>
          </p:txBody>
        </p:sp>
        <p:sp>
          <p:nvSpPr>
            <p:cNvPr id="24" name="ICHIP"/>
            <p:cNvSpPr/>
            <p:nvPr/>
          </p:nvSpPr>
          <p:spPr>
            <a:xfrm>
              <a:off x="6949440" y="4251960"/>
              <a:ext cx="1554480" cy="292608"/>
            </a:xfrm>
            <a:prstGeom prst="roundRect">
              <a:avLst>
                <a:gd name="adj" fmla="val 375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sp>
          <p:nvSpPr>
            <p:cNvPr id="25" name="note text"/>
            <p:cNvSpPr txBox="1"/>
            <p:nvPr/>
          </p:nvSpPr>
          <p:spPr>
            <a:xfrm>
              <a:off x="6949440" y="4617720"/>
              <a:ext cx="4526280" cy="640080"/>
            </a:xfrm>
            <a:prstGeom prst="rect">
              <a:avLst/>
            </a:prstGeom>
            <a:noFill/>
          </p:spPr>
          <p:txBody>
            <a:bodyPr wrap="square" anchor="t" lIns="18288" tIns="9144" rIns="18288" bIns="9144">
              <a:noAutofit/>
            </a:bodyPr>
            <a:lstStyle/>
            <a:p>
              <a:pPr algn="l"/>
              <a:r>
                <a:rPr sz="1800" b="0" i="0" lang="en-GB">
                  <a:solidFill>
                    <a:srgbClr val="F2F2F2"/>
                  </a:solidFill>
                  <a:latin typeface="Arial"/>
                </a:rPr>
                <a:t>Rates and buffers: undecided (OQ08)</a:t>
              </a:r>
            </a:p>
          </p:txBody>
        </p:sp>
      </p:grpSp>
      <p:sp>
        <p:nvSpPr>
          <p:cNvPr id="2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7"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8"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small top-up should be quick. An empty refill takes longer.</a:t>
            </a:r>
          </a:p>
        </p:txBody>
      </p:sp>
      <p:sp>
        <p:nvSpPr>
          <p:cNvPr id="2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9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Service points</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grpSp>
        <p:nvGrpSpPr>
          <p:cNvPr id="4" name="Facilities and route" descr="Four proposed facilities: Water Tower, Coaling Stage, Steam Service Point and Full Station. Below, a route from a mine to a factory with a water stop, then a water and coal stop, and a train at the water stop."/>
          <p:cNvGrpSpPr/>
          <p:nvPr/>
        </p:nvGrpSpPr>
        <p:grpSpPr>
          <a:xfrm>
            <a:off x="274320" y="1371600"/>
            <a:ext cx="11430000" cy="3840480"/>
            <a:chOff x="274320" y="1371600"/>
            <a:chExt cx="11430000" cy="3840480"/>
          </a:xfrm>
        </p:grpSpPr>
        <p:sp>
          <p:nvSpPr>
            <p:cNvPr id="5" name="tile"/>
            <p:cNvSpPr/>
            <p:nvPr/>
          </p:nvSpPr>
          <p:spPr>
            <a:xfrm>
              <a:off x="548640" y="1371600"/>
              <a:ext cx="2560320" cy="2194560"/>
            </a:xfrm>
            <a:prstGeom prst="roundRect">
              <a:avLst>
                <a:gd name="adj" fmla="val 4166"/>
              </a:avLst>
            </a:prstGeom>
            <a:solidFill>
              <a:srgbClr val="2B2F36"/>
            </a:solidFill>
            <a:ln w="19050">
              <a:solidFill>
                <a:srgbClr val="4A515B"/>
              </a:solidFill>
            </a:ln>
          </p:spPr>
          <p:txBody>
            <a:bodyPr rtlCol="0" anchor="ctr"/>
            <a:lstStyle/>
            <a:p>
              <a:pPr algn="ctr"/>
            </a:p>
          </p:txBody>
        </p:sp>
        <p:sp>
          <p:nvSpPr>
            <p:cNvPr id="6" name="icon tank"/>
            <p:cNvSpPr/>
            <p:nvPr/>
          </p:nvSpPr>
          <p:spPr>
            <a:xfrm>
              <a:off x="1440180" y="1714499"/>
              <a:ext cx="777240" cy="466344"/>
            </a:xfrm>
            <a:prstGeom prst="roundRect">
              <a:avLst>
                <a:gd name="adj" fmla="val 11764"/>
              </a:avLst>
            </a:prstGeom>
            <a:solidFill>
              <a:srgbClr val="4DA3FF"/>
            </a:solidFill>
            <a:ln w="19050">
              <a:solidFill>
                <a:srgbClr val="F2F2F2"/>
              </a:solidFill>
            </a:ln>
          </p:spPr>
          <p:txBody>
            <a:bodyPr rtlCol="0" anchor="ctr"/>
            <a:lstStyle/>
            <a:p>
              <a:pPr algn="ctr"/>
            </a:p>
          </p:txBody>
        </p:sp>
        <p:sp>
          <p:nvSpPr>
            <p:cNvPr id="7" name="icon leg"/>
            <p:cNvSpPr/>
            <p:nvPr/>
          </p:nvSpPr>
          <p:spPr>
            <a:xfrm>
              <a:off x="1495044" y="2180844"/>
              <a:ext cx="45720" cy="427482"/>
            </a:xfrm>
            <a:prstGeom prst="rect">
              <a:avLst/>
            </a:prstGeom>
            <a:solidFill>
              <a:srgbClr val="9AA0A6"/>
            </a:solidFill>
            <a:ln>
              <a:noFill/>
            </a:ln>
          </p:spPr>
          <p:txBody>
            <a:bodyPr rtlCol="0" anchor="ctr"/>
            <a:lstStyle/>
            <a:p>
              <a:pPr algn="ctr"/>
            </a:p>
          </p:txBody>
        </p:sp>
        <p:sp>
          <p:nvSpPr>
            <p:cNvPr id="8" name="icon leg"/>
            <p:cNvSpPr/>
            <p:nvPr/>
          </p:nvSpPr>
          <p:spPr>
            <a:xfrm>
              <a:off x="1689354" y="2180844"/>
              <a:ext cx="45720" cy="427482"/>
            </a:xfrm>
            <a:prstGeom prst="rect">
              <a:avLst/>
            </a:prstGeom>
            <a:solidFill>
              <a:srgbClr val="9AA0A6"/>
            </a:solidFill>
            <a:ln>
              <a:noFill/>
            </a:ln>
          </p:spPr>
          <p:txBody>
            <a:bodyPr rtlCol="0" anchor="ctr"/>
            <a:lstStyle/>
            <a:p>
              <a:pPr algn="ctr"/>
            </a:p>
          </p:txBody>
        </p:sp>
        <p:sp>
          <p:nvSpPr>
            <p:cNvPr id="9" name="icon leg"/>
            <p:cNvSpPr/>
            <p:nvPr/>
          </p:nvSpPr>
          <p:spPr>
            <a:xfrm>
              <a:off x="1922526" y="2180844"/>
              <a:ext cx="45720" cy="427482"/>
            </a:xfrm>
            <a:prstGeom prst="rect">
              <a:avLst/>
            </a:prstGeom>
            <a:solidFill>
              <a:srgbClr val="9AA0A6"/>
            </a:solidFill>
            <a:ln>
              <a:noFill/>
            </a:ln>
          </p:spPr>
          <p:txBody>
            <a:bodyPr rtlCol="0" anchor="ctr"/>
            <a:lstStyle/>
            <a:p>
              <a:pPr algn="ctr"/>
            </a:p>
          </p:txBody>
        </p:sp>
        <p:sp>
          <p:nvSpPr>
            <p:cNvPr id="10" name="icon leg"/>
            <p:cNvSpPr/>
            <p:nvPr/>
          </p:nvSpPr>
          <p:spPr>
            <a:xfrm>
              <a:off x="2116836" y="2180844"/>
              <a:ext cx="45720" cy="427482"/>
            </a:xfrm>
            <a:prstGeom prst="rect">
              <a:avLst/>
            </a:prstGeom>
            <a:solidFill>
              <a:srgbClr val="9AA0A6"/>
            </a:solidFill>
            <a:ln>
              <a:noFill/>
            </a:ln>
          </p:spPr>
          <p:txBody>
            <a:bodyPr rtlCol="0" anchor="ctr"/>
            <a:lstStyle/>
            <a:p>
              <a:pPr algn="ctr"/>
            </a:p>
          </p:txBody>
        </p:sp>
        <p:sp>
          <p:nvSpPr>
            <p:cNvPr id="11" name="tile name"/>
            <p:cNvSpPr txBox="1"/>
            <p:nvPr/>
          </p:nvSpPr>
          <p:spPr>
            <a:xfrm>
              <a:off x="640080" y="274320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 Tower</a:t>
              </a:r>
            </a:p>
          </p:txBody>
        </p:sp>
        <p:sp>
          <p:nvSpPr>
            <p:cNvPr id="12" name="ICHIP"/>
            <p:cNvSpPr/>
            <p:nvPr/>
          </p:nvSpPr>
          <p:spPr>
            <a:xfrm>
              <a:off x="1188719" y="3154680"/>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13" name="tile"/>
            <p:cNvSpPr/>
            <p:nvPr/>
          </p:nvSpPr>
          <p:spPr>
            <a:xfrm>
              <a:off x="3392424" y="1371600"/>
              <a:ext cx="2560320" cy="2194560"/>
            </a:xfrm>
            <a:prstGeom prst="roundRect">
              <a:avLst>
                <a:gd name="adj" fmla="val 4166"/>
              </a:avLst>
            </a:prstGeom>
            <a:solidFill>
              <a:srgbClr val="2B2F36"/>
            </a:solidFill>
            <a:ln w="19050">
              <a:solidFill>
                <a:srgbClr val="4A515B"/>
              </a:solidFill>
            </a:ln>
          </p:spPr>
          <p:txBody>
            <a:bodyPr rtlCol="0" anchor="ctr"/>
            <a:lstStyle/>
            <a:p>
              <a:pPr algn="ctr"/>
            </a:p>
          </p:txBody>
        </p:sp>
        <p:sp>
          <p:nvSpPr>
            <p:cNvPr id="14" name="icon heap"/>
            <p:cNvSpPr/>
            <p:nvPr/>
          </p:nvSpPr>
          <p:spPr>
            <a:xfrm>
              <a:off x="4306823" y="1764792"/>
              <a:ext cx="731521" cy="402336"/>
            </a:xfrm>
            <a:custGeom>
              <a:avLst/>
              <a:gdLst/>
              <a:ahLst/>
              <a:cxnLst/>
              <a:rect l="l" t="t" r="r" b="b"/>
              <a:pathLst>
                <a:path w="731521" h="402336">
                  <a:moveTo>
                    <a:pt x="0" y="402336"/>
                  </a:moveTo>
                  <a:lnTo>
                    <a:pt x="160935" y="160934"/>
                  </a:lnTo>
                  <a:lnTo>
                    <a:pt x="329184" y="0"/>
                  </a:lnTo>
                  <a:lnTo>
                    <a:pt x="512065" y="120700"/>
                  </a:lnTo>
                  <a:lnTo>
                    <a:pt x="731521" y="402336"/>
                  </a:lnTo>
                  <a:close/>
                </a:path>
              </a:pathLst>
            </a:custGeom>
            <a:solidFill>
              <a:srgbClr val="1B1D21"/>
            </a:solidFill>
            <a:ln w="25400">
              <a:solidFill>
                <a:srgbClr val="B5BBC2"/>
              </a:solidFill>
            </a:ln>
          </p:spPr>
          <p:txBody>
            <a:bodyPr rtlCol="0" anchor="ctr"/>
            <a:lstStyle/>
            <a:p>
              <a:pPr algn="ctr"/>
            </a:p>
          </p:txBody>
        </p:sp>
        <p:sp>
          <p:nvSpPr>
            <p:cNvPr id="15" name="icon platform"/>
            <p:cNvSpPr/>
            <p:nvPr/>
          </p:nvSpPr>
          <p:spPr>
            <a:xfrm>
              <a:off x="4215383" y="2148840"/>
              <a:ext cx="914400" cy="73152"/>
            </a:xfrm>
            <a:prstGeom prst="rect">
              <a:avLst/>
            </a:prstGeom>
            <a:solidFill>
              <a:srgbClr val="9AA0A6"/>
            </a:solidFill>
            <a:ln>
              <a:noFill/>
            </a:ln>
          </p:spPr>
          <p:txBody>
            <a:bodyPr rtlCol="0" anchor="ctr"/>
            <a:lstStyle/>
            <a:p>
              <a:pPr algn="ctr"/>
            </a:p>
          </p:txBody>
        </p:sp>
        <p:sp>
          <p:nvSpPr>
            <p:cNvPr id="16" name="icon post"/>
            <p:cNvSpPr/>
            <p:nvPr/>
          </p:nvSpPr>
          <p:spPr>
            <a:xfrm>
              <a:off x="4283963" y="2221992"/>
              <a:ext cx="45720" cy="411480"/>
            </a:xfrm>
            <a:prstGeom prst="rect">
              <a:avLst/>
            </a:prstGeom>
            <a:solidFill>
              <a:srgbClr val="9AA0A6"/>
            </a:solidFill>
            <a:ln>
              <a:noFill/>
            </a:ln>
          </p:spPr>
          <p:txBody>
            <a:bodyPr rtlCol="0" anchor="ctr"/>
            <a:lstStyle/>
            <a:p>
              <a:pPr algn="ctr"/>
            </a:p>
          </p:txBody>
        </p:sp>
        <p:sp>
          <p:nvSpPr>
            <p:cNvPr id="17" name="icon post"/>
            <p:cNvSpPr/>
            <p:nvPr/>
          </p:nvSpPr>
          <p:spPr>
            <a:xfrm>
              <a:off x="5015483" y="2221992"/>
              <a:ext cx="45720" cy="411480"/>
            </a:xfrm>
            <a:prstGeom prst="rect">
              <a:avLst/>
            </a:prstGeom>
            <a:solidFill>
              <a:srgbClr val="9AA0A6"/>
            </a:solidFill>
            <a:ln>
              <a:noFill/>
            </a:ln>
          </p:spPr>
          <p:txBody>
            <a:bodyPr rtlCol="0" anchor="ctr"/>
            <a:lstStyle/>
            <a:p>
              <a:pPr algn="ctr"/>
            </a:p>
          </p:txBody>
        </p:sp>
        <p:sp>
          <p:nvSpPr>
            <p:cNvPr id="18" name="tile name"/>
            <p:cNvSpPr txBox="1"/>
            <p:nvPr/>
          </p:nvSpPr>
          <p:spPr>
            <a:xfrm>
              <a:off x="3483864" y="274320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Coaling Stage</a:t>
              </a:r>
            </a:p>
          </p:txBody>
        </p:sp>
        <p:sp>
          <p:nvSpPr>
            <p:cNvPr id="19" name="ICHIP"/>
            <p:cNvSpPr/>
            <p:nvPr/>
          </p:nvSpPr>
          <p:spPr>
            <a:xfrm>
              <a:off x="4032504" y="3154680"/>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20" name="tile"/>
            <p:cNvSpPr/>
            <p:nvPr/>
          </p:nvSpPr>
          <p:spPr>
            <a:xfrm>
              <a:off x="6236207" y="1371600"/>
              <a:ext cx="2560320" cy="2194560"/>
            </a:xfrm>
            <a:prstGeom prst="roundRect">
              <a:avLst>
                <a:gd name="adj" fmla="val 4166"/>
              </a:avLst>
            </a:prstGeom>
            <a:solidFill>
              <a:srgbClr val="2B2F36"/>
            </a:solidFill>
            <a:ln w="19050">
              <a:solidFill>
                <a:srgbClr val="4A515B"/>
              </a:solidFill>
            </a:ln>
          </p:spPr>
          <p:txBody>
            <a:bodyPr rtlCol="0" anchor="ctr"/>
            <a:lstStyle/>
            <a:p>
              <a:pPr algn="ctr"/>
            </a:p>
          </p:txBody>
        </p:sp>
        <p:sp>
          <p:nvSpPr>
            <p:cNvPr id="21" name="icon drop"/>
            <p:cNvSpPr/>
            <p:nvPr/>
          </p:nvSpPr>
          <p:spPr>
            <a:xfrm>
              <a:off x="6928952" y="1828800"/>
              <a:ext cx="443311" cy="642850"/>
            </a:xfrm>
            <a:custGeom>
              <a:avLst/>
              <a:gdLst/>
              <a:ahLst/>
              <a:cxnLst/>
              <a:rect l="l" t="t" r="r" b="b"/>
              <a:pathLst>
                <a:path w="443311" h="642850">
                  <a:moveTo>
                    <a:pt x="221655" y="0"/>
                  </a:moveTo>
                  <a:lnTo>
                    <a:pt x="410141" y="304508"/>
                  </a:lnTo>
                  <a:lnTo>
                    <a:pt x="424727" y="332290"/>
                  </a:lnTo>
                  <a:lnTo>
                    <a:pt x="435243" y="361854"/>
                  </a:lnTo>
                  <a:lnTo>
                    <a:pt x="441479" y="392606"/>
                  </a:lnTo>
                  <a:lnTo>
                    <a:pt x="443311" y="423931"/>
                  </a:lnTo>
                  <a:lnTo>
                    <a:pt x="440702" y="455200"/>
                  </a:lnTo>
                  <a:lnTo>
                    <a:pt x="433703" y="485788"/>
                  </a:lnTo>
                  <a:lnTo>
                    <a:pt x="422456" y="515081"/>
                  </a:lnTo>
                  <a:lnTo>
                    <a:pt x="407185" y="542493"/>
                  </a:lnTo>
                  <a:lnTo>
                    <a:pt x="388197" y="567474"/>
                  </a:lnTo>
                  <a:lnTo>
                    <a:pt x="365872" y="589524"/>
                  </a:lnTo>
                  <a:lnTo>
                    <a:pt x="340657" y="608200"/>
                  </a:lnTo>
                  <a:lnTo>
                    <a:pt x="313058" y="623129"/>
                  </a:lnTo>
                  <a:lnTo>
                    <a:pt x="283627" y="634012"/>
                  </a:lnTo>
                  <a:lnTo>
                    <a:pt x="252955" y="640630"/>
                  </a:lnTo>
                  <a:lnTo>
                    <a:pt x="221655" y="642850"/>
                  </a:lnTo>
                  <a:lnTo>
                    <a:pt x="190356" y="640630"/>
                  </a:lnTo>
                  <a:lnTo>
                    <a:pt x="159684" y="634012"/>
                  </a:lnTo>
                  <a:lnTo>
                    <a:pt x="130253" y="623129"/>
                  </a:lnTo>
                  <a:lnTo>
                    <a:pt x="102654" y="608200"/>
                  </a:lnTo>
                  <a:lnTo>
                    <a:pt x="77439" y="589524"/>
                  </a:lnTo>
                  <a:lnTo>
                    <a:pt x="55114" y="567474"/>
                  </a:lnTo>
                  <a:lnTo>
                    <a:pt x="36126" y="542493"/>
                  </a:lnTo>
                  <a:lnTo>
                    <a:pt x="20855" y="515081"/>
                  </a:lnTo>
                  <a:lnTo>
                    <a:pt x="9608" y="485788"/>
                  </a:lnTo>
                  <a:lnTo>
                    <a:pt x="2609" y="455200"/>
                  </a:lnTo>
                  <a:lnTo>
                    <a:pt x="0" y="423931"/>
                  </a:lnTo>
                  <a:lnTo>
                    <a:pt x="1832" y="392606"/>
                  </a:lnTo>
                  <a:lnTo>
                    <a:pt x="8068" y="361854"/>
                  </a:lnTo>
                  <a:lnTo>
                    <a:pt x="18584" y="332290"/>
                  </a:lnTo>
                  <a:lnTo>
                    <a:pt x="33170" y="304508"/>
                  </a:lnTo>
                  <a:close/>
                </a:path>
              </a:pathLst>
            </a:custGeom>
            <a:solidFill>
              <a:srgbClr val="4DA3FF"/>
            </a:solidFill>
            <a:ln>
              <a:noFill/>
            </a:ln>
          </p:spPr>
          <p:txBody>
            <a:bodyPr rtlCol="0" anchor="ctr"/>
            <a:lstStyle/>
            <a:p>
              <a:pPr algn="ctr"/>
            </a:p>
          </p:txBody>
        </p:sp>
        <p:sp>
          <p:nvSpPr>
            <p:cNvPr id="22" name="icon heap"/>
            <p:cNvSpPr/>
            <p:nvPr/>
          </p:nvSpPr>
          <p:spPr>
            <a:xfrm>
              <a:off x="7539227" y="2117978"/>
              <a:ext cx="777240" cy="427483"/>
            </a:xfrm>
            <a:custGeom>
              <a:avLst/>
              <a:gdLst/>
              <a:ahLst/>
              <a:cxnLst/>
              <a:rect l="l" t="t" r="r" b="b"/>
              <a:pathLst>
                <a:path w="777240" h="427483">
                  <a:moveTo>
                    <a:pt x="0" y="427483"/>
                  </a:moveTo>
                  <a:lnTo>
                    <a:pt x="170993" y="170993"/>
                  </a:lnTo>
                  <a:lnTo>
                    <a:pt x="349758" y="0"/>
                  </a:lnTo>
                  <a:lnTo>
                    <a:pt x="544068" y="128245"/>
                  </a:lnTo>
                  <a:lnTo>
                    <a:pt x="777240" y="427483"/>
                  </a:lnTo>
                  <a:close/>
                </a:path>
              </a:pathLst>
            </a:custGeom>
            <a:solidFill>
              <a:srgbClr val="1B1D21"/>
            </a:solidFill>
            <a:ln w="25400">
              <a:solidFill>
                <a:srgbClr val="B5BBC2"/>
              </a:solidFill>
            </a:ln>
          </p:spPr>
          <p:txBody>
            <a:bodyPr rtlCol="0" anchor="ctr"/>
            <a:lstStyle/>
            <a:p>
              <a:pPr algn="ctr"/>
            </a:p>
          </p:txBody>
        </p:sp>
        <p:sp>
          <p:nvSpPr>
            <p:cNvPr id="23" name="tile name"/>
            <p:cNvSpPr txBox="1"/>
            <p:nvPr/>
          </p:nvSpPr>
          <p:spPr>
            <a:xfrm>
              <a:off x="6327647" y="274320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Steam Service Point</a:t>
              </a:r>
            </a:p>
          </p:txBody>
        </p:sp>
        <p:sp>
          <p:nvSpPr>
            <p:cNvPr id="24" name="ICHIP"/>
            <p:cNvSpPr/>
            <p:nvPr/>
          </p:nvSpPr>
          <p:spPr>
            <a:xfrm>
              <a:off x="6876288" y="3154680"/>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25" name="tile"/>
            <p:cNvSpPr/>
            <p:nvPr/>
          </p:nvSpPr>
          <p:spPr>
            <a:xfrm>
              <a:off x="9079992" y="1371600"/>
              <a:ext cx="2560320" cy="2194560"/>
            </a:xfrm>
            <a:prstGeom prst="roundRect">
              <a:avLst>
                <a:gd name="adj" fmla="val 4166"/>
              </a:avLst>
            </a:prstGeom>
            <a:solidFill>
              <a:srgbClr val="2B2F36"/>
            </a:solidFill>
            <a:ln w="19050">
              <a:solidFill>
                <a:srgbClr val="4A515B"/>
              </a:solidFill>
            </a:ln>
          </p:spPr>
          <p:txBody>
            <a:bodyPr rtlCol="0" anchor="ctr"/>
            <a:lstStyle/>
            <a:p>
              <a:pPr algn="ctr"/>
            </a:p>
          </p:txBody>
        </p:sp>
        <p:sp>
          <p:nvSpPr>
            <p:cNvPr id="26" name="icon platform"/>
            <p:cNvSpPr/>
            <p:nvPr/>
          </p:nvSpPr>
          <p:spPr>
            <a:xfrm>
              <a:off x="9354312" y="2377440"/>
              <a:ext cx="2011680" cy="164592"/>
            </a:xfrm>
            <a:prstGeom prst="rect">
              <a:avLst/>
            </a:prstGeom>
            <a:solidFill>
              <a:srgbClr val="343A43"/>
            </a:solidFill>
            <a:ln w="19050">
              <a:solidFill>
                <a:srgbClr val="9AA0A6"/>
              </a:solidFill>
            </a:ln>
          </p:spPr>
          <p:txBody>
            <a:bodyPr rtlCol="0" anchor="ctr"/>
            <a:lstStyle/>
            <a:p>
              <a:pPr algn="ctr"/>
            </a:p>
          </p:txBody>
        </p:sp>
        <p:sp>
          <p:nvSpPr>
            <p:cNvPr id="27" name="icon drop"/>
            <p:cNvSpPr/>
            <p:nvPr/>
          </p:nvSpPr>
          <p:spPr>
            <a:xfrm>
              <a:off x="9599550" y="1828799"/>
              <a:ext cx="332483" cy="482139"/>
            </a:xfrm>
            <a:custGeom>
              <a:avLst/>
              <a:gdLst/>
              <a:ahLst/>
              <a:cxnLst/>
              <a:rect l="l" t="t" r="r" b="b"/>
              <a:pathLst>
                <a:path w="332483" h="482139">
                  <a:moveTo>
                    <a:pt x="166242" y="0"/>
                  </a:moveTo>
                  <a:lnTo>
                    <a:pt x="307606" y="228382"/>
                  </a:lnTo>
                  <a:lnTo>
                    <a:pt x="318545" y="249219"/>
                  </a:lnTo>
                  <a:lnTo>
                    <a:pt x="326432" y="271391"/>
                  </a:lnTo>
                  <a:lnTo>
                    <a:pt x="331109" y="294455"/>
                  </a:lnTo>
                  <a:lnTo>
                    <a:pt x="332483" y="317949"/>
                  </a:lnTo>
                  <a:lnTo>
                    <a:pt x="330526" y="341401"/>
                  </a:lnTo>
                  <a:lnTo>
                    <a:pt x="325277" y="364342"/>
                  </a:lnTo>
                  <a:lnTo>
                    <a:pt x="316842" y="386312"/>
                  </a:lnTo>
                  <a:lnTo>
                    <a:pt x="305389" y="406871"/>
                  </a:lnTo>
                  <a:lnTo>
                    <a:pt x="291148" y="425606"/>
                  </a:lnTo>
                  <a:lnTo>
                    <a:pt x="274404" y="442144"/>
                  </a:lnTo>
                  <a:lnTo>
                    <a:pt x="255493" y="456151"/>
                  </a:lnTo>
                  <a:lnTo>
                    <a:pt x="234793" y="467348"/>
                  </a:lnTo>
                  <a:lnTo>
                    <a:pt x="212720" y="475510"/>
                  </a:lnTo>
                  <a:lnTo>
                    <a:pt x="189716" y="480473"/>
                  </a:lnTo>
                  <a:lnTo>
                    <a:pt x="166242" y="482139"/>
                  </a:lnTo>
                  <a:lnTo>
                    <a:pt x="142767" y="480473"/>
                  </a:lnTo>
                  <a:lnTo>
                    <a:pt x="119763" y="475510"/>
                  </a:lnTo>
                  <a:lnTo>
                    <a:pt x="97690" y="467348"/>
                  </a:lnTo>
                  <a:lnTo>
                    <a:pt x="76990" y="456151"/>
                  </a:lnTo>
                  <a:lnTo>
                    <a:pt x="58079" y="442144"/>
                  </a:lnTo>
                  <a:lnTo>
                    <a:pt x="41335" y="425606"/>
                  </a:lnTo>
                  <a:lnTo>
                    <a:pt x="27094" y="406871"/>
                  </a:lnTo>
                  <a:lnTo>
                    <a:pt x="15641" y="386312"/>
                  </a:lnTo>
                  <a:lnTo>
                    <a:pt x="7206" y="364342"/>
                  </a:lnTo>
                  <a:lnTo>
                    <a:pt x="1957" y="341401"/>
                  </a:lnTo>
                  <a:lnTo>
                    <a:pt x="0" y="317949"/>
                  </a:lnTo>
                  <a:lnTo>
                    <a:pt x="1374" y="294455"/>
                  </a:lnTo>
                  <a:lnTo>
                    <a:pt x="6051" y="271391"/>
                  </a:lnTo>
                  <a:lnTo>
                    <a:pt x="13938" y="249219"/>
                  </a:lnTo>
                  <a:lnTo>
                    <a:pt x="24877" y="228382"/>
                  </a:lnTo>
                  <a:close/>
                </a:path>
              </a:pathLst>
            </a:custGeom>
            <a:solidFill>
              <a:srgbClr val="4DA3FF"/>
            </a:solidFill>
            <a:ln>
              <a:noFill/>
            </a:ln>
          </p:spPr>
          <p:txBody>
            <a:bodyPr rtlCol="0" anchor="ctr"/>
            <a:lstStyle/>
            <a:p>
              <a:pPr algn="ctr"/>
            </a:p>
          </p:txBody>
        </p:sp>
        <p:sp>
          <p:nvSpPr>
            <p:cNvPr id="28" name="icon heap"/>
            <p:cNvSpPr/>
            <p:nvPr/>
          </p:nvSpPr>
          <p:spPr>
            <a:xfrm>
              <a:off x="10131551" y="2089403"/>
              <a:ext cx="548641" cy="301753"/>
            </a:xfrm>
            <a:custGeom>
              <a:avLst/>
              <a:gdLst/>
              <a:ahLst/>
              <a:cxnLst/>
              <a:rect l="l" t="t" r="r" b="b"/>
              <a:pathLst>
                <a:path w="548641" h="301753">
                  <a:moveTo>
                    <a:pt x="0" y="301753"/>
                  </a:moveTo>
                  <a:lnTo>
                    <a:pt x="120701" y="120701"/>
                  </a:lnTo>
                  <a:lnTo>
                    <a:pt x="246889" y="0"/>
                  </a:lnTo>
                  <a:lnTo>
                    <a:pt x="384048" y="90526"/>
                  </a:lnTo>
                  <a:lnTo>
                    <a:pt x="548641" y="301753"/>
                  </a:lnTo>
                  <a:close/>
                </a:path>
              </a:pathLst>
            </a:custGeom>
            <a:solidFill>
              <a:srgbClr val="1B1D21"/>
            </a:solidFill>
            <a:ln w="25400">
              <a:solidFill>
                <a:srgbClr val="B5BBC2"/>
              </a:solidFill>
            </a:ln>
          </p:spPr>
          <p:txBody>
            <a:bodyPr rtlCol="0" anchor="ctr"/>
            <a:lstStyle/>
            <a:p>
              <a:pPr algn="ctr"/>
            </a:p>
          </p:txBody>
        </p:sp>
        <p:sp>
          <p:nvSpPr>
            <p:cNvPr id="29" name="icon box"/>
            <p:cNvSpPr/>
            <p:nvPr/>
          </p:nvSpPr>
          <p:spPr>
            <a:xfrm>
              <a:off x="10817352" y="2057400"/>
              <a:ext cx="411480" cy="320040"/>
            </a:xfrm>
            <a:prstGeom prst="rect">
              <a:avLst/>
            </a:prstGeom>
            <a:solidFill>
              <a:srgbClr val="343A43"/>
            </a:solidFill>
            <a:ln w="19050">
              <a:solidFill>
                <a:srgbClr val="9AA0A6"/>
              </a:solidFill>
            </a:ln>
          </p:spPr>
          <p:txBody>
            <a:bodyPr rtlCol="0" anchor="ctr"/>
            <a:lstStyle/>
            <a:p>
              <a:pPr algn="ctr"/>
            </a:p>
          </p:txBody>
        </p:sp>
        <p:sp>
          <p:nvSpPr>
            <p:cNvPr id="30" name="tile name"/>
            <p:cNvSpPr txBox="1"/>
            <p:nvPr/>
          </p:nvSpPr>
          <p:spPr>
            <a:xfrm>
              <a:off x="9171432" y="274320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Full Station</a:t>
              </a:r>
            </a:p>
          </p:txBody>
        </p:sp>
        <p:sp>
          <p:nvSpPr>
            <p:cNvPr id="31" name="ICHIP"/>
            <p:cNvSpPr/>
            <p:nvPr/>
          </p:nvSpPr>
          <p:spPr>
            <a:xfrm>
              <a:off x="9720072" y="3154680"/>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cxnSp>
          <p:nvCxnSpPr>
            <p:cNvPr id="32" name="route"/>
            <p:cNvCxnSpPr/>
            <p:nvPr/>
          </p:nvCxnSpPr>
          <p:spPr>
            <a:xfrm>
              <a:off x="1664208" y="4572000"/>
              <a:ext cx="2505455" cy="0"/>
            </a:xfrm>
            <a:prstGeom prst="line">
              <a:avLst/>
            </a:prstGeom>
            <a:ln w="44450">
              <a:solidFill>
                <a:srgbClr val="F28C28"/>
              </a:solidFill>
              <a:tailEnd type="triangle" w="med" len="med"/>
            </a:ln>
          </p:spPr>
        </p:cxnSp>
        <p:cxnSp>
          <p:nvCxnSpPr>
            <p:cNvPr id="33" name="route"/>
            <p:cNvCxnSpPr/>
            <p:nvPr/>
          </p:nvCxnSpPr>
          <p:spPr>
            <a:xfrm>
              <a:off x="4590288" y="4572000"/>
              <a:ext cx="2688335" cy="0"/>
            </a:xfrm>
            <a:prstGeom prst="line">
              <a:avLst/>
            </a:prstGeom>
            <a:ln w="44450">
              <a:solidFill>
                <a:srgbClr val="F28C28"/>
              </a:solidFill>
              <a:tailEnd type="triangle" w="med" len="med"/>
            </a:ln>
          </p:spPr>
        </p:cxnSp>
        <p:cxnSp>
          <p:nvCxnSpPr>
            <p:cNvPr id="34" name="route"/>
            <p:cNvCxnSpPr/>
            <p:nvPr/>
          </p:nvCxnSpPr>
          <p:spPr>
            <a:xfrm>
              <a:off x="7699248" y="4572000"/>
              <a:ext cx="2596896" cy="0"/>
            </a:xfrm>
            <a:prstGeom prst="line">
              <a:avLst/>
            </a:prstGeom>
            <a:ln w="44450">
              <a:solidFill>
                <a:srgbClr val="F28C28"/>
              </a:solidFill>
              <a:tailEnd type="triangle" w="med" len="med"/>
            </a:ln>
          </p:spPr>
        </p:cxnSp>
        <p:sp>
          <p:nvSpPr>
            <p:cNvPr id="35" name="stop"/>
            <p:cNvSpPr/>
            <p:nvPr/>
          </p:nvSpPr>
          <p:spPr>
            <a:xfrm>
              <a:off x="1280160" y="4389120"/>
              <a:ext cx="365760" cy="365760"/>
            </a:xfrm>
            <a:prstGeom prst="ellipse">
              <a:avLst/>
            </a:prstGeom>
            <a:solidFill>
              <a:srgbClr val="9AA0A6"/>
            </a:solidFill>
            <a:ln w="25400">
              <a:solidFill>
                <a:srgbClr val="101418"/>
              </a:solidFill>
            </a:ln>
          </p:spPr>
          <p:txBody>
            <a:bodyPr rtlCol="0" anchor="ctr"/>
            <a:lstStyle/>
            <a:p>
              <a:pPr algn="ctr"/>
            </a:p>
          </p:txBody>
        </p:sp>
        <p:sp>
          <p:nvSpPr>
            <p:cNvPr id="36" name="stop label"/>
            <p:cNvSpPr txBox="1"/>
            <p:nvPr/>
          </p:nvSpPr>
          <p:spPr>
            <a:xfrm>
              <a:off x="274320" y="484632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Mine</a:t>
              </a:r>
            </a:p>
          </p:txBody>
        </p:sp>
        <p:sp>
          <p:nvSpPr>
            <p:cNvPr id="37" name="stop"/>
            <p:cNvSpPr/>
            <p:nvPr/>
          </p:nvSpPr>
          <p:spPr>
            <a:xfrm>
              <a:off x="4206240" y="4389120"/>
              <a:ext cx="365760" cy="365760"/>
            </a:xfrm>
            <a:prstGeom prst="ellipse">
              <a:avLst/>
            </a:prstGeom>
            <a:solidFill>
              <a:srgbClr val="4DA3FF"/>
            </a:solidFill>
            <a:ln w="25400">
              <a:solidFill>
                <a:srgbClr val="101418"/>
              </a:solidFill>
            </a:ln>
          </p:spPr>
          <p:txBody>
            <a:bodyPr rtlCol="0" anchor="ctr"/>
            <a:lstStyle/>
            <a:p>
              <a:pPr algn="ctr"/>
            </a:p>
          </p:txBody>
        </p:sp>
        <p:sp>
          <p:nvSpPr>
            <p:cNvPr id="38" name="stop label"/>
            <p:cNvSpPr txBox="1"/>
            <p:nvPr/>
          </p:nvSpPr>
          <p:spPr>
            <a:xfrm>
              <a:off x="3200400" y="484632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 stop</a:t>
              </a:r>
            </a:p>
          </p:txBody>
        </p:sp>
        <p:sp>
          <p:nvSpPr>
            <p:cNvPr id="39" name="stop"/>
            <p:cNvSpPr/>
            <p:nvPr/>
          </p:nvSpPr>
          <p:spPr>
            <a:xfrm>
              <a:off x="7315199" y="4389120"/>
              <a:ext cx="365760" cy="365760"/>
            </a:xfrm>
            <a:prstGeom prst="ellipse">
              <a:avLst/>
            </a:prstGeom>
            <a:solidFill>
              <a:srgbClr val="F28C28"/>
            </a:solidFill>
            <a:ln w="25400">
              <a:solidFill>
                <a:srgbClr val="101418"/>
              </a:solidFill>
            </a:ln>
          </p:spPr>
          <p:txBody>
            <a:bodyPr rtlCol="0" anchor="ctr"/>
            <a:lstStyle/>
            <a:p>
              <a:pPr algn="ctr"/>
            </a:p>
          </p:txBody>
        </p:sp>
        <p:sp>
          <p:nvSpPr>
            <p:cNvPr id="40" name="stop label"/>
            <p:cNvSpPr txBox="1"/>
            <p:nvPr/>
          </p:nvSpPr>
          <p:spPr>
            <a:xfrm>
              <a:off x="6309359" y="484632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Water and coal stop</a:t>
              </a:r>
            </a:p>
          </p:txBody>
        </p:sp>
        <p:sp>
          <p:nvSpPr>
            <p:cNvPr id="41" name="stop"/>
            <p:cNvSpPr/>
            <p:nvPr/>
          </p:nvSpPr>
          <p:spPr>
            <a:xfrm>
              <a:off x="10332720" y="4389120"/>
              <a:ext cx="365760" cy="365760"/>
            </a:xfrm>
            <a:prstGeom prst="ellipse">
              <a:avLst/>
            </a:prstGeom>
            <a:solidFill>
              <a:srgbClr val="9AA0A6"/>
            </a:solidFill>
            <a:ln w="25400">
              <a:solidFill>
                <a:srgbClr val="101418"/>
              </a:solidFill>
            </a:ln>
          </p:spPr>
          <p:txBody>
            <a:bodyPr rtlCol="0" anchor="ctr"/>
            <a:lstStyle/>
            <a:p>
              <a:pPr algn="ctr"/>
            </a:p>
          </p:txBody>
        </p:sp>
        <p:sp>
          <p:nvSpPr>
            <p:cNvPr id="42" name="stop label"/>
            <p:cNvSpPr txBox="1"/>
            <p:nvPr/>
          </p:nvSpPr>
          <p:spPr>
            <a:xfrm>
              <a:off x="9326880" y="4846320"/>
              <a:ext cx="237744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Factory</a:t>
              </a:r>
            </a:p>
          </p:txBody>
        </p:sp>
        <p:sp>
          <p:nvSpPr>
            <p:cNvPr id="43" name="tender body"/>
            <p:cNvSpPr/>
            <p:nvPr/>
          </p:nvSpPr>
          <p:spPr>
            <a:xfrm>
              <a:off x="3611879" y="3896106"/>
              <a:ext cx="492252" cy="246126"/>
            </a:xfrm>
            <a:prstGeom prst="roundRect">
              <a:avLst>
                <a:gd name="adj" fmla="val 2631"/>
              </a:avLst>
            </a:prstGeom>
            <a:solidFill>
              <a:srgbClr val="6C7480"/>
            </a:solidFill>
            <a:ln>
              <a:noFill/>
            </a:ln>
          </p:spPr>
          <p:txBody>
            <a:bodyPr rtlCol="0" anchor="ctr"/>
            <a:lstStyle/>
            <a:p>
              <a:pPr algn="ctr"/>
            </a:p>
          </p:txBody>
        </p:sp>
        <p:sp>
          <p:nvSpPr>
            <p:cNvPr id="44" name="tender coal"/>
            <p:cNvSpPr/>
            <p:nvPr/>
          </p:nvSpPr>
          <p:spPr>
            <a:xfrm>
              <a:off x="3650741" y="3850767"/>
              <a:ext cx="414528" cy="58293"/>
            </a:xfrm>
            <a:prstGeom prst="rect">
              <a:avLst/>
            </a:prstGeom>
            <a:solidFill>
              <a:srgbClr val="1B1D21"/>
            </a:solidFill>
            <a:ln w="12700">
              <a:solidFill>
                <a:srgbClr val="9AA0A6"/>
              </a:solidFill>
            </a:ln>
          </p:spPr>
          <p:txBody>
            <a:bodyPr rtlCol="0" anchor="ctr"/>
            <a:lstStyle/>
            <a:p>
              <a:pPr algn="ctr"/>
            </a:p>
          </p:txBody>
        </p:sp>
        <p:sp>
          <p:nvSpPr>
            <p:cNvPr id="45" name="tender frame"/>
            <p:cNvSpPr/>
            <p:nvPr/>
          </p:nvSpPr>
          <p:spPr>
            <a:xfrm>
              <a:off x="3611879" y="4142232"/>
              <a:ext cx="492252" cy="38862"/>
            </a:xfrm>
            <a:prstGeom prst="rect">
              <a:avLst/>
            </a:prstGeom>
            <a:solidFill>
              <a:srgbClr val="3A3F47"/>
            </a:solidFill>
            <a:ln w="9525">
              <a:solidFill>
                <a:srgbClr val="9AA0A6"/>
              </a:solidFill>
            </a:ln>
          </p:spPr>
          <p:txBody>
            <a:bodyPr rtlCol="0" anchor="ctr"/>
            <a:lstStyle/>
            <a:p>
              <a:pPr algn="ctr"/>
            </a:p>
          </p:txBody>
        </p:sp>
        <p:sp>
          <p:nvSpPr>
            <p:cNvPr id="46" name="coupling"/>
            <p:cNvSpPr/>
            <p:nvPr/>
          </p:nvSpPr>
          <p:spPr>
            <a:xfrm>
              <a:off x="4104132" y="4064508"/>
              <a:ext cx="51816" cy="25908"/>
            </a:xfrm>
            <a:prstGeom prst="rect">
              <a:avLst/>
            </a:prstGeom>
            <a:solidFill>
              <a:srgbClr val="9AA0A6"/>
            </a:solidFill>
            <a:ln>
              <a:noFill/>
            </a:ln>
          </p:spPr>
          <p:txBody>
            <a:bodyPr rtlCol="0" anchor="ctr"/>
            <a:lstStyle/>
            <a:p>
              <a:pPr algn="ctr"/>
            </a:p>
          </p:txBody>
        </p:sp>
        <p:sp>
          <p:nvSpPr>
            <p:cNvPr id="47" name="wheel"/>
            <p:cNvSpPr/>
            <p:nvPr/>
          </p:nvSpPr>
          <p:spPr>
            <a:xfrm>
              <a:off x="3631310" y="4103370"/>
              <a:ext cx="194310" cy="194310"/>
            </a:xfrm>
            <a:prstGeom prst="ellipse">
              <a:avLst/>
            </a:prstGeom>
            <a:solidFill>
              <a:srgbClr val="1B1D21"/>
            </a:solidFill>
            <a:ln w="19050">
              <a:solidFill>
                <a:srgbClr val="9AA0A6"/>
              </a:solidFill>
            </a:ln>
          </p:spPr>
          <p:txBody>
            <a:bodyPr rtlCol="0" anchor="ctr"/>
            <a:lstStyle/>
            <a:p>
              <a:pPr algn="ctr"/>
            </a:p>
          </p:txBody>
        </p:sp>
        <p:sp>
          <p:nvSpPr>
            <p:cNvPr id="48" name="hub"/>
            <p:cNvSpPr/>
            <p:nvPr/>
          </p:nvSpPr>
          <p:spPr>
            <a:xfrm>
              <a:off x="3705148" y="4177207"/>
              <a:ext cx="46634" cy="46634"/>
            </a:xfrm>
            <a:prstGeom prst="ellipse">
              <a:avLst/>
            </a:prstGeom>
            <a:solidFill>
              <a:srgbClr val="9AA0A6"/>
            </a:solidFill>
            <a:ln>
              <a:noFill/>
            </a:ln>
          </p:spPr>
          <p:txBody>
            <a:bodyPr rtlCol="0" anchor="ctr"/>
            <a:lstStyle/>
            <a:p>
              <a:pPr algn="ctr"/>
            </a:p>
          </p:txBody>
        </p:sp>
        <p:sp>
          <p:nvSpPr>
            <p:cNvPr id="49" name="wheel"/>
            <p:cNvSpPr/>
            <p:nvPr/>
          </p:nvSpPr>
          <p:spPr>
            <a:xfrm>
              <a:off x="3890390" y="4103370"/>
              <a:ext cx="194310" cy="194310"/>
            </a:xfrm>
            <a:prstGeom prst="ellipse">
              <a:avLst/>
            </a:prstGeom>
            <a:solidFill>
              <a:srgbClr val="1B1D21"/>
            </a:solidFill>
            <a:ln w="19050">
              <a:solidFill>
                <a:srgbClr val="9AA0A6"/>
              </a:solidFill>
            </a:ln>
          </p:spPr>
          <p:txBody>
            <a:bodyPr rtlCol="0" anchor="ctr"/>
            <a:lstStyle/>
            <a:p>
              <a:pPr algn="ctr"/>
            </a:p>
          </p:txBody>
        </p:sp>
        <p:sp>
          <p:nvSpPr>
            <p:cNvPr id="50" name="hub"/>
            <p:cNvSpPr/>
            <p:nvPr/>
          </p:nvSpPr>
          <p:spPr>
            <a:xfrm>
              <a:off x="3964228" y="4177207"/>
              <a:ext cx="46634" cy="46634"/>
            </a:xfrm>
            <a:prstGeom prst="ellipse">
              <a:avLst/>
            </a:prstGeom>
            <a:solidFill>
              <a:srgbClr val="9AA0A6"/>
            </a:solidFill>
            <a:ln>
              <a:noFill/>
            </a:ln>
          </p:spPr>
          <p:txBody>
            <a:bodyPr rtlCol="0" anchor="ctr"/>
            <a:lstStyle/>
            <a:p>
              <a:pPr algn="ctr"/>
            </a:p>
          </p:txBody>
        </p:sp>
        <p:sp>
          <p:nvSpPr>
            <p:cNvPr id="51" name="cab"/>
            <p:cNvSpPr/>
            <p:nvPr/>
          </p:nvSpPr>
          <p:spPr>
            <a:xfrm>
              <a:off x="4130040" y="3779520"/>
              <a:ext cx="259080" cy="362711"/>
            </a:xfrm>
            <a:prstGeom prst="roundRect">
              <a:avLst>
                <a:gd name="adj" fmla="val 2500"/>
              </a:avLst>
            </a:prstGeom>
            <a:solidFill>
              <a:srgbClr val="F28C28"/>
            </a:solidFill>
            <a:ln>
              <a:noFill/>
            </a:ln>
          </p:spPr>
          <p:txBody>
            <a:bodyPr rtlCol="0" anchor="ctr"/>
            <a:lstStyle/>
            <a:p>
              <a:pPr algn="ctr"/>
            </a:p>
          </p:txBody>
        </p:sp>
        <p:sp>
          <p:nvSpPr>
            <p:cNvPr id="52" name="cab roof"/>
            <p:cNvSpPr/>
            <p:nvPr/>
          </p:nvSpPr>
          <p:spPr>
            <a:xfrm>
              <a:off x="4117085" y="3760089"/>
              <a:ext cx="284988" cy="28498"/>
            </a:xfrm>
            <a:prstGeom prst="rect">
              <a:avLst/>
            </a:prstGeom>
            <a:solidFill>
              <a:srgbClr val="3A3F47"/>
            </a:solidFill>
            <a:ln w="9525">
              <a:solidFill>
                <a:srgbClr val="9AA0A6"/>
              </a:solidFill>
            </a:ln>
          </p:spPr>
          <p:txBody>
            <a:bodyPr rtlCol="0" anchor="ctr"/>
            <a:lstStyle/>
            <a:p>
              <a:pPr algn="ctr"/>
            </a:p>
          </p:txBody>
        </p:sp>
        <p:sp>
          <p:nvSpPr>
            <p:cNvPr id="53" name="cab window"/>
            <p:cNvSpPr/>
            <p:nvPr/>
          </p:nvSpPr>
          <p:spPr>
            <a:xfrm>
              <a:off x="4181856" y="3850767"/>
              <a:ext cx="155448" cy="116586"/>
            </a:xfrm>
            <a:prstGeom prst="rect">
              <a:avLst/>
            </a:prstGeom>
            <a:solidFill>
              <a:srgbClr val="1B1D21"/>
            </a:solidFill>
            <a:ln>
              <a:noFill/>
            </a:ln>
          </p:spPr>
          <p:txBody>
            <a:bodyPr rtlCol="0" anchor="ctr"/>
            <a:lstStyle/>
            <a:p>
              <a:pPr algn="ctr"/>
            </a:p>
          </p:txBody>
        </p:sp>
        <p:sp>
          <p:nvSpPr>
            <p:cNvPr id="54" name="boiler"/>
            <p:cNvSpPr/>
            <p:nvPr/>
          </p:nvSpPr>
          <p:spPr>
            <a:xfrm>
              <a:off x="4389120" y="3857244"/>
              <a:ext cx="777240" cy="284988"/>
            </a:xfrm>
            <a:prstGeom prst="roundRect">
              <a:avLst>
                <a:gd name="adj" fmla="val 27272"/>
              </a:avLst>
            </a:prstGeom>
            <a:solidFill>
              <a:srgbClr val="F28C28"/>
            </a:solidFill>
            <a:ln>
              <a:noFill/>
            </a:ln>
          </p:spPr>
          <p:txBody>
            <a:bodyPr rtlCol="0" anchor="ctr"/>
            <a:lstStyle/>
            <a:p>
              <a:pPr algn="ctr"/>
            </a:p>
          </p:txBody>
        </p:sp>
        <p:sp>
          <p:nvSpPr>
            <p:cNvPr id="55" name="chimney"/>
            <p:cNvSpPr/>
            <p:nvPr/>
          </p:nvSpPr>
          <p:spPr>
            <a:xfrm>
              <a:off x="4997957" y="3740658"/>
              <a:ext cx="90677" cy="123063"/>
            </a:xfrm>
            <a:prstGeom prst="rect">
              <a:avLst/>
            </a:prstGeom>
            <a:solidFill>
              <a:srgbClr val="3A3F47"/>
            </a:solidFill>
            <a:ln w="9525">
              <a:solidFill>
                <a:srgbClr val="9AA0A6"/>
              </a:solidFill>
            </a:ln>
          </p:spPr>
          <p:txBody>
            <a:bodyPr rtlCol="0" anchor="ctr"/>
            <a:lstStyle/>
            <a:p>
              <a:pPr algn="ctr"/>
            </a:p>
          </p:txBody>
        </p:sp>
        <p:sp>
          <p:nvSpPr>
            <p:cNvPr id="56" name="chimney lip"/>
            <p:cNvSpPr/>
            <p:nvPr/>
          </p:nvSpPr>
          <p:spPr>
            <a:xfrm>
              <a:off x="4978527" y="3727704"/>
              <a:ext cx="129540" cy="25908"/>
            </a:xfrm>
            <a:prstGeom prst="rect">
              <a:avLst/>
            </a:prstGeom>
            <a:solidFill>
              <a:srgbClr val="3A3F47"/>
            </a:solidFill>
            <a:ln w="9525">
              <a:solidFill>
                <a:srgbClr val="9AA0A6"/>
              </a:solidFill>
            </a:ln>
          </p:spPr>
          <p:txBody>
            <a:bodyPr rtlCol="0" anchor="ctr"/>
            <a:lstStyle/>
            <a:p>
              <a:pPr algn="ctr"/>
            </a:p>
          </p:txBody>
        </p:sp>
        <p:sp>
          <p:nvSpPr>
            <p:cNvPr id="57" name="dome"/>
            <p:cNvSpPr/>
            <p:nvPr/>
          </p:nvSpPr>
          <p:spPr>
            <a:xfrm>
              <a:off x="4609338" y="3798951"/>
              <a:ext cx="129540" cy="64770"/>
            </a:xfrm>
            <a:prstGeom prst="roundRect">
              <a:avLst>
                <a:gd name="adj" fmla="val 40000"/>
              </a:avLst>
            </a:prstGeom>
            <a:solidFill>
              <a:srgbClr val="F28C28"/>
            </a:solidFill>
            <a:ln>
              <a:noFill/>
            </a:ln>
          </p:spPr>
          <p:txBody>
            <a:bodyPr rtlCol="0" anchor="ctr"/>
            <a:lstStyle/>
            <a:p>
              <a:pPr algn="ctr"/>
            </a:p>
          </p:txBody>
        </p:sp>
        <p:sp>
          <p:nvSpPr>
            <p:cNvPr id="58" name="frame"/>
            <p:cNvSpPr/>
            <p:nvPr/>
          </p:nvSpPr>
          <p:spPr>
            <a:xfrm>
              <a:off x="4130040" y="4142232"/>
              <a:ext cx="1036320" cy="38862"/>
            </a:xfrm>
            <a:prstGeom prst="rect">
              <a:avLst/>
            </a:prstGeom>
            <a:solidFill>
              <a:srgbClr val="3A3F47"/>
            </a:solidFill>
            <a:ln w="9525">
              <a:solidFill>
                <a:srgbClr val="9AA0A6"/>
              </a:solidFill>
            </a:ln>
          </p:spPr>
          <p:txBody>
            <a:bodyPr rtlCol="0" anchor="ctr"/>
            <a:lstStyle/>
            <a:p>
              <a:pPr algn="ctr"/>
            </a:p>
          </p:txBody>
        </p:sp>
        <p:sp>
          <p:nvSpPr>
            <p:cNvPr id="59" name="wheel"/>
            <p:cNvSpPr/>
            <p:nvPr/>
          </p:nvSpPr>
          <p:spPr>
            <a:xfrm>
              <a:off x="4317873" y="4103370"/>
              <a:ext cx="194310" cy="194310"/>
            </a:xfrm>
            <a:prstGeom prst="ellipse">
              <a:avLst/>
            </a:prstGeom>
            <a:solidFill>
              <a:srgbClr val="1B1D21"/>
            </a:solidFill>
            <a:ln w="19050">
              <a:solidFill>
                <a:srgbClr val="9AA0A6"/>
              </a:solidFill>
            </a:ln>
          </p:spPr>
          <p:txBody>
            <a:bodyPr rtlCol="0" anchor="ctr"/>
            <a:lstStyle/>
            <a:p>
              <a:pPr algn="ctr"/>
            </a:p>
          </p:txBody>
        </p:sp>
        <p:sp>
          <p:nvSpPr>
            <p:cNvPr id="60" name="hub"/>
            <p:cNvSpPr/>
            <p:nvPr/>
          </p:nvSpPr>
          <p:spPr>
            <a:xfrm>
              <a:off x="4391710" y="4177207"/>
              <a:ext cx="46634" cy="46634"/>
            </a:xfrm>
            <a:prstGeom prst="ellipse">
              <a:avLst/>
            </a:prstGeom>
            <a:solidFill>
              <a:srgbClr val="9AA0A6"/>
            </a:solidFill>
            <a:ln>
              <a:noFill/>
            </a:ln>
          </p:spPr>
          <p:txBody>
            <a:bodyPr rtlCol="0" anchor="ctr"/>
            <a:lstStyle/>
            <a:p>
              <a:pPr algn="ctr"/>
            </a:p>
          </p:txBody>
        </p:sp>
        <p:sp>
          <p:nvSpPr>
            <p:cNvPr id="61" name="wheel"/>
            <p:cNvSpPr/>
            <p:nvPr/>
          </p:nvSpPr>
          <p:spPr>
            <a:xfrm>
              <a:off x="4576953" y="4103370"/>
              <a:ext cx="194310" cy="194310"/>
            </a:xfrm>
            <a:prstGeom prst="ellipse">
              <a:avLst/>
            </a:prstGeom>
            <a:solidFill>
              <a:srgbClr val="1B1D21"/>
            </a:solidFill>
            <a:ln w="19050">
              <a:solidFill>
                <a:srgbClr val="9AA0A6"/>
              </a:solidFill>
            </a:ln>
          </p:spPr>
          <p:txBody>
            <a:bodyPr rtlCol="0" anchor="ctr"/>
            <a:lstStyle/>
            <a:p>
              <a:pPr algn="ctr"/>
            </a:p>
          </p:txBody>
        </p:sp>
        <p:sp>
          <p:nvSpPr>
            <p:cNvPr id="62" name="hub"/>
            <p:cNvSpPr/>
            <p:nvPr/>
          </p:nvSpPr>
          <p:spPr>
            <a:xfrm>
              <a:off x="4650790" y="4177207"/>
              <a:ext cx="46634" cy="46634"/>
            </a:xfrm>
            <a:prstGeom prst="ellipse">
              <a:avLst/>
            </a:prstGeom>
            <a:solidFill>
              <a:srgbClr val="9AA0A6"/>
            </a:solidFill>
            <a:ln>
              <a:noFill/>
            </a:ln>
          </p:spPr>
          <p:txBody>
            <a:bodyPr rtlCol="0" anchor="ctr"/>
            <a:lstStyle/>
            <a:p>
              <a:pPr algn="ctr"/>
            </a:p>
          </p:txBody>
        </p:sp>
        <p:sp>
          <p:nvSpPr>
            <p:cNvPr id="63" name="wheel"/>
            <p:cNvSpPr/>
            <p:nvPr/>
          </p:nvSpPr>
          <p:spPr>
            <a:xfrm>
              <a:off x="4836032" y="4103370"/>
              <a:ext cx="194310" cy="194310"/>
            </a:xfrm>
            <a:prstGeom prst="ellipse">
              <a:avLst/>
            </a:prstGeom>
            <a:solidFill>
              <a:srgbClr val="1B1D21"/>
            </a:solidFill>
            <a:ln w="19050">
              <a:solidFill>
                <a:srgbClr val="9AA0A6"/>
              </a:solidFill>
            </a:ln>
          </p:spPr>
          <p:txBody>
            <a:bodyPr rtlCol="0" anchor="ctr"/>
            <a:lstStyle/>
            <a:p>
              <a:pPr algn="ctr"/>
            </a:p>
          </p:txBody>
        </p:sp>
        <p:sp>
          <p:nvSpPr>
            <p:cNvPr id="64" name="hub"/>
            <p:cNvSpPr/>
            <p:nvPr/>
          </p:nvSpPr>
          <p:spPr>
            <a:xfrm>
              <a:off x="4909870" y="4177207"/>
              <a:ext cx="46634" cy="46634"/>
            </a:xfrm>
            <a:prstGeom prst="ellipse">
              <a:avLst/>
            </a:prstGeom>
            <a:solidFill>
              <a:srgbClr val="9AA0A6"/>
            </a:solidFill>
            <a:ln>
              <a:noFill/>
            </a:ln>
          </p:spPr>
          <p:txBody>
            <a:bodyPr rtlCol="0" anchor="ctr"/>
            <a:lstStyle/>
            <a:p>
              <a:pPr algn="ctr"/>
            </a:p>
          </p:txBody>
        </p:sp>
      </p:grpSp>
      <p:sp>
        <p:nvSpPr>
          <p:cNvPr id="6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6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67" name="CAPTION"/>
          <p:cNvSpPr txBox="1"/>
          <p:nvPr/>
        </p:nvSpPr>
        <p:spPr>
          <a:xfrm>
            <a:off x="777240" y="5760720"/>
            <a:ext cx="909828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Separate coal and water stops make long routes possible. Not every stop needs a full station.</a:t>
            </a:r>
          </a:p>
        </p:txBody>
      </p:sp>
      <p:sp>
        <p:nvSpPr>
          <p:cNvPr id="68" name="ICHIP"/>
          <p:cNvSpPr/>
          <p:nvPr/>
        </p:nvSpPr>
        <p:spPr>
          <a:xfrm>
            <a:off x="10012680" y="5980176"/>
            <a:ext cx="1463040" cy="292608"/>
          </a:xfrm>
          <a:prstGeom prst="roundRect">
            <a:avLst>
              <a:gd name="adj" fmla="val 375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sp>
        <p:nvSpPr>
          <p:cNvPr id="6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par>
                                <p:cTn id="11" presetID="10" presetClass="entr" presetSubtype="0" fill="hold" nodeType="withEffect">
                                  <p:stCondLst>
                                    <p:cond delay="60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500"/>
                                        <p:tgtEl>
                                          <p:spTgt spid="66"/>
                                        </p:tgtEl>
                                      </p:cBhvr>
                                    </p:animEffect>
                                  </p:childTnLst>
                                </p:cTn>
                              </p:par>
                              <p:par>
                                <p:cTn id="14" presetID="10" presetClass="entr" presetSubtype="0" fill="hold" nodeType="withEffect">
                                  <p:stCondLst>
                                    <p:cond delay="900"/>
                                  </p:stCondLst>
                                  <p:childTnLst>
                                    <p:set>
                                      <p:cBhvr>
                                        <p:cTn id="15" dur="1" fill="hold">
                                          <p:stCondLst>
                                            <p:cond delay="0"/>
                                          </p:stCondLst>
                                        </p:cTn>
                                        <p:tgtEl>
                                          <p:spTgt spid="67"/>
                                        </p:tgtEl>
                                        <p:attrNameLst>
                                          <p:attrName>style.visibility</p:attrName>
                                        </p:attrNameLst>
                                      </p:cBhvr>
                                      <p:to>
                                        <p:strVal val="visible"/>
                                      </p:to>
                                    </p:set>
                                    <p:animEffect transition="in" filter="fade">
                                      <p:cBhvr>
                                        <p:cTn id="16" dur="500"/>
                                        <p:tgtEl>
                                          <p:spTgt spid="67"/>
                                        </p:tgtEl>
                                      </p:cBhvr>
                                    </p:animEffect>
                                  </p:childTnLst>
                                </p:cTn>
                              </p:par>
                              <p:par>
                                <p:cTn id="17" presetID="10" presetClass="entr" presetSubtype="0" fill="hold" nodeType="withEffect">
                                  <p:stCondLst>
                                    <p:cond delay="1200"/>
                                  </p:stCondLst>
                                  <p:childTnLst>
                                    <p:set>
                                      <p:cBhvr>
                                        <p:cTn id="18" dur="1" fill="hold">
                                          <p:stCondLst>
                                            <p:cond delay="0"/>
                                          </p:stCondLst>
                                        </p:cTn>
                                        <p:tgtEl>
                                          <p:spTgt spid="68"/>
                                        </p:tgtEl>
                                        <p:attrNameLst>
                                          <p:attrName>style.visibility</p:attrName>
                                        </p:attrNameLst>
                                      </p:cBhvr>
                                      <p:to>
                                        <p:strVal val="visible"/>
                                      </p:to>
                                    </p:set>
                                    <p:animEffect transition="in" filter="fade">
                                      <p:cBhvr>
                                        <p:cTn id="1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Service stops in the timetable</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grpSp>
        <p:nvGrpSpPr>
          <p:cNvPr id="4" name="Timetable card" descr="A timetable with three lines: mine, load; water tower, water only and leave when full; factory, unload. A side note says automatic servicing at any stop was mentioned but not chosen."/>
          <p:cNvGrpSpPr/>
          <p:nvPr/>
        </p:nvGrpSpPr>
        <p:grpSpPr>
          <a:xfrm>
            <a:off x="548640" y="1417320"/>
            <a:ext cx="11091672" cy="3840480"/>
            <a:chOff x="548640" y="1417320"/>
            <a:chExt cx="11091672" cy="3840480"/>
          </a:xfrm>
        </p:grpSpPr>
        <p:sp>
          <p:nvSpPr>
            <p:cNvPr id="5" name="timetable card"/>
            <p:cNvSpPr/>
            <p:nvPr/>
          </p:nvSpPr>
          <p:spPr>
            <a:xfrm>
              <a:off x="548640" y="1417320"/>
              <a:ext cx="6675120" cy="3840480"/>
            </a:xfrm>
            <a:prstGeom prst="roundRect">
              <a:avLst>
                <a:gd name="adj" fmla="val 2380"/>
              </a:avLst>
            </a:prstGeom>
            <a:solidFill>
              <a:srgbClr val="2B2F36"/>
            </a:solidFill>
            <a:ln w="19050">
              <a:solidFill>
                <a:srgbClr val="4A515B"/>
              </a:solidFill>
            </a:ln>
          </p:spPr>
          <p:txBody>
            <a:bodyPr rtlCol="0" anchor="ctr"/>
            <a:lstStyle/>
            <a:p>
              <a:pPr algn="ctr"/>
            </a:p>
          </p:txBody>
        </p:sp>
        <p:sp>
          <p:nvSpPr>
            <p:cNvPr id="6" name="card title"/>
            <p:cNvSpPr txBox="1"/>
            <p:nvPr/>
          </p:nvSpPr>
          <p:spPr>
            <a:xfrm>
              <a:off x="822960" y="1554480"/>
              <a:ext cx="2743200" cy="457200"/>
            </a:xfrm>
            <a:prstGeom prst="rect">
              <a:avLst/>
            </a:prstGeom>
            <a:noFill/>
          </p:spPr>
          <p:txBody>
            <a:bodyPr wrap="square" anchor="ctr" lIns="18288" tIns="9144" rIns="18288" bIns="9144">
              <a:noAutofit/>
            </a:bodyPr>
            <a:lstStyle/>
            <a:p>
              <a:pPr algn="l"/>
              <a:r>
                <a:rPr sz="2000" b="1" i="0" lang="en-GB">
                  <a:solidFill>
                    <a:srgbClr val="A9B0B8"/>
                  </a:solidFill>
                  <a:latin typeface="Arial"/>
                </a:rPr>
                <a:t>Timetable</a:t>
              </a:r>
            </a:p>
          </p:txBody>
        </p:sp>
        <p:sp>
          <p:nvSpPr>
            <p:cNvPr id="7" name="ICHIP"/>
            <p:cNvSpPr/>
            <p:nvPr/>
          </p:nvSpPr>
          <p:spPr>
            <a:xfrm>
              <a:off x="5760720" y="1627632"/>
              <a:ext cx="1280160" cy="310896"/>
            </a:xfrm>
            <a:prstGeom prst="roundRect">
              <a:avLst>
                <a:gd name="adj" fmla="val 35294"/>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8" name="timetable row"/>
            <p:cNvSpPr/>
            <p:nvPr/>
          </p:nvSpPr>
          <p:spPr>
            <a:xfrm>
              <a:off x="822960" y="2240280"/>
              <a:ext cx="6126480" cy="777240"/>
            </a:xfrm>
            <a:prstGeom prst="roundRect">
              <a:avLst>
                <a:gd name="adj" fmla="val 9411"/>
              </a:avLst>
            </a:prstGeom>
            <a:solidFill>
              <a:srgbClr val="343A43"/>
            </a:solidFill>
            <a:ln>
              <a:noFill/>
            </a:ln>
          </p:spPr>
          <p:txBody>
            <a:bodyPr rtlCol="0" anchor="ctr"/>
            <a:lstStyle/>
            <a:p>
              <a:pPr algn="ctr"/>
            </a:p>
          </p:txBody>
        </p:sp>
        <p:sp>
          <p:nvSpPr>
            <p:cNvPr id="9" name="badge"/>
            <p:cNvSpPr/>
            <p:nvPr/>
          </p:nvSpPr>
          <p:spPr>
            <a:xfrm>
              <a:off x="960120" y="2400300"/>
              <a:ext cx="457200" cy="45720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1</a:t>
              </a:r>
            </a:p>
          </p:txBody>
        </p:sp>
        <p:sp>
          <p:nvSpPr>
            <p:cNvPr id="10" name="timetable text"/>
            <p:cNvSpPr txBox="1"/>
            <p:nvPr/>
          </p:nvSpPr>
          <p:spPr>
            <a:xfrm>
              <a:off x="1554480" y="2240280"/>
              <a:ext cx="5303520" cy="777240"/>
            </a:xfrm>
            <a:prstGeom prst="rect">
              <a:avLst/>
            </a:prstGeom>
            <a:noFill/>
          </p:spPr>
          <p:txBody>
            <a:bodyPr wrap="square" anchor="ctr" lIns="18288" tIns="9144" rIns="18288" bIns="9144">
              <a:noAutofit/>
            </a:bodyPr>
            <a:lstStyle/>
            <a:p>
              <a:pPr algn="l"/>
              <a:r>
                <a:rPr sz="2000" b="0" i="0" lang="en-GB">
                  <a:solidFill>
                    <a:srgbClr val="F2F2F2"/>
                  </a:solidFill>
                  <a:latin typeface="Arial"/>
                </a:rPr>
                <a:t>Mine: load</a:t>
              </a:r>
            </a:p>
          </p:txBody>
        </p:sp>
        <p:sp>
          <p:nvSpPr>
            <p:cNvPr id="11" name="timetable row"/>
            <p:cNvSpPr/>
            <p:nvPr/>
          </p:nvSpPr>
          <p:spPr>
            <a:xfrm>
              <a:off x="822960" y="3200400"/>
              <a:ext cx="6126480" cy="777240"/>
            </a:xfrm>
            <a:prstGeom prst="roundRect">
              <a:avLst>
                <a:gd name="adj" fmla="val 9411"/>
              </a:avLst>
            </a:prstGeom>
            <a:solidFill>
              <a:srgbClr val="343A43"/>
            </a:solidFill>
            <a:ln w="28575">
              <a:solidFill>
                <a:srgbClr val="F28C28"/>
              </a:solidFill>
            </a:ln>
          </p:spPr>
          <p:txBody>
            <a:bodyPr rtlCol="0" anchor="ctr"/>
            <a:lstStyle/>
            <a:p>
              <a:pPr algn="ctr"/>
            </a:p>
          </p:txBody>
        </p:sp>
        <p:sp>
          <p:nvSpPr>
            <p:cNvPr id="12" name="badge"/>
            <p:cNvSpPr/>
            <p:nvPr/>
          </p:nvSpPr>
          <p:spPr>
            <a:xfrm>
              <a:off x="960120" y="3360420"/>
              <a:ext cx="457200" cy="45720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2</a:t>
              </a:r>
            </a:p>
          </p:txBody>
        </p:sp>
        <p:sp>
          <p:nvSpPr>
            <p:cNvPr id="13" name="timetable text"/>
            <p:cNvSpPr txBox="1"/>
            <p:nvPr/>
          </p:nvSpPr>
          <p:spPr>
            <a:xfrm>
              <a:off x="1554480" y="3200400"/>
              <a:ext cx="5303520" cy="777240"/>
            </a:xfrm>
            <a:prstGeom prst="rect">
              <a:avLst/>
            </a:prstGeom>
            <a:noFill/>
          </p:spPr>
          <p:txBody>
            <a:bodyPr wrap="square" anchor="ctr" lIns="18288" tIns="9144" rIns="18288" bIns="9144">
              <a:noAutofit/>
            </a:bodyPr>
            <a:lstStyle/>
            <a:p>
              <a:pPr algn="l"/>
              <a:r>
                <a:rPr sz="2000" b="1" i="0" lang="en-GB">
                  <a:solidFill>
                    <a:srgbClr val="F2F2F2"/>
                  </a:solidFill>
                  <a:latin typeface="Arial"/>
                </a:rPr>
                <a:t>Water Tower: water only, leave when full</a:t>
              </a:r>
            </a:p>
          </p:txBody>
        </p:sp>
        <p:sp>
          <p:nvSpPr>
            <p:cNvPr id="14" name="timetable row"/>
            <p:cNvSpPr/>
            <p:nvPr/>
          </p:nvSpPr>
          <p:spPr>
            <a:xfrm>
              <a:off x="822960" y="4160520"/>
              <a:ext cx="6126480" cy="777240"/>
            </a:xfrm>
            <a:prstGeom prst="roundRect">
              <a:avLst>
                <a:gd name="adj" fmla="val 9411"/>
              </a:avLst>
            </a:prstGeom>
            <a:solidFill>
              <a:srgbClr val="343A43"/>
            </a:solidFill>
            <a:ln>
              <a:noFill/>
            </a:ln>
          </p:spPr>
          <p:txBody>
            <a:bodyPr rtlCol="0" anchor="ctr"/>
            <a:lstStyle/>
            <a:p>
              <a:pPr algn="ctr"/>
            </a:p>
          </p:txBody>
        </p:sp>
        <p:sp>
          <p:nvSpPr>
            <p:cNvPr id="15" name="badge"/>
            <p:cNvSpPr/>
            <p:nvPr/>
          </p:nvSpPr>
          <p:spPr>
            <a:xfrm>
              <a:off x="960120" y="4320540"/>
              <a:ext cx="457200" cy="457200"/>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3</a:t>
              </a:r>
            </a:p>
          </p:txBody>
        </p:sp>
        <p:sp>
          <p:nvSpPr>
            <p:cNvPr id="16" name="timetable text"/>
            <p:cNvSpPr txBox="1"/>
            <p:nvPr/>
          </p:nvSpPr>
          <p:spPr>
            <a:xfrm>
              <a:off x="1554480" y="4160520"/>
              <a:ext cx="5303520" cy="777240"/>
            </a:xfrm>
            <a:prstGeom prst="rect">
              <a:avLst/>
            </a:prstGeom>
            <a:noFill/>
          </p:spPr>
          <p:txBody>
            <a:bodyPr wrap="square" anchor="ctr" lIns="18288" tIns="9144" rIns="18288" bIns="9144">
              <a:noAutofit/>
            </a:bodyPr>
            <a:lstStyle/>
            <a:p>
              <a:pPr algn="l"/>
              <a:r>
                <a:rPr sz="2000" b="0" i="0" lang="en-GB">
                  <a:solidFill>
                    <a:srgbClr val="F2F2F2"/>
                  </a:solidFill>
                  <a:latin typeface="Arial"/>
                </a:rPr>
                <a:t>Factory: unload</a:t>
              </a:r>
            </a:p>
          </p:txBody>
        </p:sp>
        <p:sp>
          <p:nvSpPr>
            <p:cNvPr id="17" name="side note card"/>
            <p:cNvSpPr/>
            <p:nvPr/>
          </p:nvSpPr>
          <p:spPr>
            <a:xfrm>
              <a:off x="7680960" y="2148840"/>
              <a:ext cx="3959352" cy="2194560"/>
            </a:xfrm>
            <a:prstGeom prst="roundRect">
              <a:avLst>
                <a:gd name="adj" fmla="val 4166"/>
              </a:avLst>
            </a:prstGeom>
            <a:solidFill>
              <a:srgbClr val="2B2F36"/>
            </a:solidFill>
            <a:ln w="19050">
              <a:solidFill>
                <a:srgbClr val="4A515B"/>
              </a:solidFill>
            </a:ln>
          </p:spPr>
          <p:txBody>
            <a:bodyPr rtlCol="0" anchor="ctr"/>
            <a:lstStyle/>
            <a:p>
              <a:pPr algn="ctr"/>
            </a:p>
          </p:txBody>
        </p:sp>
        <p:sp>
          <p:nvSpPr>
            <p:cNvPr id="18" name="side note"/>
            <p:cNvSpPr txBox="1"/>
            <p:nvPr/>
          </p:nvSpPr>
          <p:spPr>
            <a:xfrm>
              <a:off x="7909560" y="2286000"/>
              <a:ext cx="3520440" cy="1097280"/>
            </a:xfrm>
            <a:prstGeom prst="rect">
              <a:avLst/>
            </a:prstGeom>
            <a:noFill/>
          </p:spPr>
          <p:txBody>
            <a:bodyPr wrap="square" anchor="t" lIns="18288" tIns="9144" rIns="18288" bIns="9144">
              <a:noAutofit/>
            </a:bodyPr>
            <a:lstStyle/>
            <a:p>
              <a:pPr algn="l"/>
              <a:r>
                <a:rPr sz="1800" b="0" i="0" lang="en-GB">
                  <a:solidFill>
                    <a:srgbClr val="F2F2F2"/>
                  </a:solidFill>
                  <a:latin typeface="Arial"/>
                </a:rPr>
                <a:t>Servicing at any stop, automatically: mentioned, not chosen</a:t>
              </a:r>
            </a:p>
          </p:txBody>
        </p:sp>
        <p:sp>
          <p:nvSpPr>
            <p:cNvPr id="19" name="ICHIP"/>
            <p:cNvSpPr/>
            <p:nvPr/>
          </p:nvSpPr>
          <p:spPr>
            <a:xfrm>
              <a:off x="7909560" y="3611880"/>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grpSp>
      <p:sp>
        <p:nvSpPr>
          <p:cNvPr id="2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1"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2"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timetable can include a water-only stop. The train leaves when full.</a:t>
            </a:r>
          </a:p>
        </p:txBody>
      </p:sp>
      <p:sp>
        <p:nvSpPr>
          <p:cNvPr id="23"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6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9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Tenders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pic>
        <p:nvPicPr>
          <p:cNvPr id="4" name="P18_lms_tender" descr="A detached LMS tender at Norton Fitzwarren. Comparison only: not any particular engine's tender."/>
          <p:cNvPicPr>
            <a:picLocks noChangeAspect="1"/>
          </p:cNvPicPr>
          <p:nvPr/>
        </p:nvPicPr>
        <p:blipFill>
          <a:blip r:embed="rId2"/>
          <a:srcRect t="12941" b="12941"/>
          <a:stretch>
            <a:fillRect/>
          </a:stretch>
        </p:blipFill>
        <p:spPr>
          <a:xfrm>
            <a:off x="548640" y="3767328"/>
            <a:ext cx="3108960" cy="1536192"/>
          </a:xfrm>
          <a:prstGeom prst="roundRect">
            <a:avLst>
              <a:gd name="adj" fmla="val 4761"/>
            </a:avLst>
          </a:prstGeom>
        </p:spPr>
      </p:pic>
      <p:sp>
        <p:nvSpPr>
          <p:cNvPr id="5" name="CREDIT"/>
          <p:cNvSpPr txBox="1"/>
          <p:nvPr/>
        </p:nvSpPr>
        <p:spPr>
          <a:xfrm>
            <a:off x="548640" y="5340096"/>
            <a:ext cx="3108960" cy="310896"/>
          </a:xfrm>
          <a:prstGeom prst="rect">
            <a:avLst/>
          </a:prstGeom>
          <a:noFill/>
        </p:spPr>
        <p:txBody>
          <a:bodyPr wrap="square" anchor="t" lIns="0" tIns="0" rIns="0" bIns="0">
            <a:noAutofit/>
          </a:bodyPr>
          <a:lstStyle/>
          <a:p>
            <a:pPr algn="l"/>
            <a:r>
              <a:rPr sz="1000" b="0" i="0" lang="en-GB">
                <a:solidFill>
                  <a:srgbClr val="A9B0B8"/>
                </a:solidFill>
                <a:latin typeface="Arial"/>
              </a:rPr>
              <a:t>A real tender, for illustration. Geof Sheppard, CC BY-SA 4.0.</a:t>
            </a:r>
          </a:p>
        </p:txBody>
      </p:sp>
      <p:grpSp>
        <p:nvGrpSpPr>
          <p:cNvPr id="6" name="Train strip" descr="A train strip. An engine and its normal tender are joined as one vehicle. Next comes a hatched auxiliary tender, which is a separate wagon, then three cargo wagons. The auxiliary tender carries no freight and adds weight."/>
          <p:cNvGrpSpPr/>
          <p:nvPr/>
        </p:nvGrpSpPr>
        <p:grpSpPr>
          <a:xfrm>
            <a:off x="548640" y="1371600"/>
            <a:ext cx="11091672" cy="3840480"/>
            <a:chOff x="548640" y="1371600"/>
            <a:chExt cx="11091672" cy="3840480"/>
          </a:xfrm>
        </p:grpSpPr>
        <p:sp>
          <p:nvSpPr>
            <p:cNvPr id="7" name="rail"/>
            <p:cNvSpPr/>
            <p:nvPr/>
          </p:nvSpPr>
          <p:spPr>
            <a:xfrm>
              <a:off x="548640" y="3631996"/>
              <a:ext cx="11091672" cy="64008"/>
            </a:xfrm>
            <a:prstGeom prst="rect">
              <a:avLst/>
            </a:prstGeom>
            <a:solidFill>
              <a:srgbClr val="9AA0A6"/>
            </a:solidFill>
            <a:ln>
              <a:noFill/>
            </a:ln>
          </p:spPr>
          <p:txBody>
            <a:bodyPr rtlCol="0" anchor="ctr"/>
            <a:lstStyle/>
            <a:p>
              <a:pPr algn="ctr"/>
            </a:p>
          </p:txBody>
        </p:sp>
        <p:sp>
          <p:nvSpPr>
            <p:cNvPr id="8" name="tender body"/>
            <p:cNvSpPr/>
            <p:nvPr/>
          </p:nvSpPr>
          <p:spPr>
            <a:xfrm>
              <a:off x="640080" y="2554833"/>
              <a:ext cx="1320393" cy="660196"/>
            </a:xfrm>
            <a:prstGeom prst="roundRect">
              <a:avLst>
                <a:gd name="adj" fmla="val 2631"/>
              </a:avLst>
            </a:prstGeom>
            <a:solidFill>
              <a:srgbClr val="6C7480"/>
            </a:solidFill>
            <a:ln>
              <a:noFill/>
            </a:ln>
          </p:spPr>
          <p:txBody>
            <a:bodyPr rtlCol="0" anchor="ctr"/>
            <a:lstStyle/>
            <a:p>
              <a:pPr algn="ctr"/>
            </a:p>
          </p:txBody>
        </p:sp>
        <p:sp>
          <p:nvSpPr>
            <p:cNvPr id="9" name="tender coal"/>
            <p:cNvSpPr/>
            <p:nvPr/>
          </p:nvSpPr>
          <p:spPr>
            <a:xfrm>
              <a:off x="744321" y="2433218"/>
              <a:ext cx="1111910" cy="156362"/>
            </a:xfrm>
            <a:prstGeom prst="rect">
              <a:avLst/>
            </a:prstGeom>
            <a:solidFill>
              <a:srgbClr val="1B1D21"/>
            </a:solidFill>
            <a:ln w="12700">
              <a:solidFill>
                <a:srgbClr val="9AA0A6"/>
              </a:solidFill>
            </a:ln>
          </p:spPr>
          <p:txBody>
            <a:bodyPr rtlCol="0" anchor="ctr"/>
            <a:lstStyle/>
            <a:p>
              <a:pPr algn="ctr"/>
            </a:p>
          </p:txBody>
        </p:sp>
        <p:sp>
          <p:nvSpPr>
            <p:cNvPr id="10" name="tender frame"/>
            <p:cNvSpPr/>
            <p:nvPr/>
          </p:nvSpPr>
          <p:spPr>
            <a:xfrm>
              <a:off x="640080" y="3215030"/>
              <a:ext cx="1320393" cy="104241"/>
            </a:xfrm>
            <a:prstGeom prst="rect">
              <a:avLst/>
            </a:prstGeom>
            <a:solidFill>
              <a:srgbClr val="3A3F47"/>
            </a:solidFill>
            <a:ln w="9525">
              <a:solidFill>
                <a:srgbClr val="9AA0A6"/>
              </a:solidFill>
            </a:ln>
          </p:spPr>
          <p:txBody>
            <a:bodyPr rtlCol="0" anchor="ctr"/>
            <a:lstStyle/>
            <a:p>
              <a:pPr algn="ctr"/>
            </a:p>
          </p:txBody>
        </p:sp>
        <p:sp>
          <p:nvSpPr>
            <p:cNvPr id="11" name="coupling"/>
            <p:cNvSpPr/>
            <p:nvPr/>
          </p:nvSpPr>
          <p:spPr>
            <a:xfrm>
              <a:off x="1960473" y="3006547"/>
              <a:ext cx="138988" cy="69494"/>
            </a:xfrm>
            <a:prstGeom prst="rect">
              <a:avLst/>
            </a:prstGeom>
            <a:solidFill>
              <a:srgbClr val="9AA0A6"/>
            </a:solidFill>
            <a:ln>
              <a:noFill/>
            </a:ln>
          </p:spPr>
          <p:txBody>
            <a:bodyPr rtlCol="0" anchor="ctr"/>
            <a:lstStyle/>
            <a:p>
              <a:pPr algn="ctr"/>
            </a:p>
          </p:txBody>
        </p:sp>
        <p:sp>
          <p:nvSpPr>
            <p:cNvPr id="12" name="wheel"/>
            <p:cNvSpPr/>
            <p:nvPr/>
          </p:nvSpPr>
          <p:spPr>
            <a:xfrm>
              <a:off x="692200" y="3110788"/>
              <a:ext cx="521208" cy="521208"/>
            </a:xfrm>
            <a:prstGeom prst="ellipse">
              <a:avLst/>
            </a:prstGeom>
            <a:solidFill>
              <a:srgbClr val="1B1D21"/>
            </a:solidFill>
            <a:ln w="19050">
              <a:solidFill>
                <a:srgbClr val="9AA0A6"/>
              </a:solidFill>
            </a:ln>
          </p:spPr>
          <p:txBody>
            <a:bodyPr rtlCol="0" anchor="ctr"/>
            <a:lstStyle/>
            <a:p>
              <a:pPr algn="ctr"/>
            </a:p>
          </p:txBody>
        </p:sp>
        <p:sp>
          <p:nvSpPr>
            <p:cNvPr id="13" name="hub"/>
            <p:cNvSpPr/>
            <p:nvPr/>
          </p:nvSpPr>
          <p:spPr>
            <a:xfrm>
              <a:off x="890259" y="3308847"/>
              <a:ext cx="125089" cy="125089"/>
            </a:xfrm>
            <a:prstGeom prst="ellipse">
              <a:avLst/>
            </a:prstGeom>
            <a:solidFill>
              <a:srgbClr val="9AA0A6"/>
            </a:solidFill>
            <a:ln>
              <a:noFill/>
            </a:ln>
          </p:spPr>
          <p:txBody>
            <a:bodyPr rtlCol="0" anchor="ctr"/>
            <a:lstStyle/>
            <a:p>
              <a:pPr algn="ctr"/>
            </a:p>
          </p:txBody>
        </p:sp>
        <p:sp>
          <p:nvSpPr>
            <p:cNvPr id="14" name="wheel"/>
            <p:cNvSpPr/>
            <p:nvPr/>
          </p:nvSpPr>
          <p:spPr>
            <a:xfrm>
              <a:off x="1387144" y="3110788"/>
              <a:ext cx="521208" cy="521208"/>
            </a:xfrm>
            <a:prstGeom prst="ellipse">
              <a:avLst/>
            </a:prstGeom>
            <a:solidFill>
              <a:srgbClr val="1B1D21"/>
            </a:solidFill>
            <a:ln w="19050">
              <a:solidFill>
                <a:srgbClr val="9AA0A6"/>
              </a:solidFill>
            </a:ln>
          </p:spPr>
          <p:txBody>
            <a:bodyPr rtlCol="0" anchor="ctr"/>
            <a:lstStyle/>
            <a:p>
              <a:pPr algn="ctr"/>
            </a:p>
          </p:txBody>
        </p:sp>
        <p:sp>
          <p:nvSpPr>
            <p:cNvPr id="15" name="hub"/>
            <p:cNvSpPr/>
            <p:nvPr/>
          </p:nvSpPr>
          <p:spPr>
            <a:xfrm>
              <a:off x="1585203" y="3308847"/>
              <a:ext cx="125089" cy="125089"/>
            </a:xfrm>
            <a:prstGeom prst="ellipse">
              <a:avLst/>
            </a:prstGeom>
            <a:solidFill>
              <a:srgbClr val="9AA0A6"/>
            </a:solidFill>
            <a:ln>
              <a:noFill/>
            </a:ln>
          </p:spPr>
          <p:txBody>
            <a:bodyPr rtlCol="0" anchor="ctr"/>
            <a:lstStyle/>
            <a:p>
              <a:pPr algn="ctr"/>
            </a:p>
          </p:txBody>
        </p:sp>
        <p:sp>
          <p:nvSpPr>
            <p:cNvPr id="16" name="cab"/>
            <p:cNvSpPr/>
            <p:nvPr/>
          </p:nvSpPr>
          <p:spPr>
            <a:xfrm>
              <a:off x="2029968" y="2242108"/>
              <a:ext cx="694944" cy="972921"/>
            </a:xfrm>
            <a:prstGeom prst="roundRect">
              <a:avLst>
                <a:gd name="adj" fmla="val 2500"/>
              </a:avLst>
            </a:prstGeom>
            <a:solidFill>
              <a:srgbClr val="F28C28"/>
            </a:solidFill>
            <a:ln>
              <a:noFill/>
            </a:ln>
          </p:spPr>
          <p:txBody>
            <a:bodyPr rtlCol="0" anchor="ctr"/>
            <a:lstStyle/>
            <a:p>
              <a:pPr algn="ctr"/>
            </a:p>
          </p:txBody>
        </p:sp>
        <p:sp>
          <p:nvSpPr>
            <p:cNvPr id="17" name="cab roof"/>
            <p:cNvSpPr/>
            <p:nvPr/>
          </p:nvSpPr>
          <p:spPr>
            <a:xfrm>
              <a:off x="1995220" y="2189988"/>
              <a:ext cx="764438" cy="76443"/>
            </a:xfrm>
            <a:prstGeom prst="rect">
              <a:avLst/>
            </a:prstGeom>
            <a:solidFill>
              <a:srgbClr val="3A3F47"/>
            </a:solidFill>
            <a:ln w="9525">
              <a:solidFill>
                <a:srgbClr val="9AA0A6"/>
              </a:solidFill>
            </a:ln>
          </p:spPr>
          <p:txBody>
            <a:bodyPr rtlCol="0" anchor="ctr"/>
            <a:lstStyle/>
            <a:p>
              <a:pPr algn="ctr"/>
            </a:p>
          </p:txBody>
        </p:sp>
        <p:sp>
          <p:nvSpPr>
            <p:cNvPr id="18" name="cab window"/>
            <p:cNvSpPr/>
            <p:nvPr/>
          </p:nvSpPr>
          <p:spPr>
            <a:xfrm>
              <a:off x="2168956" y="2433218"/>
              <a:ext cx="416966" cy="312724"/>
            </a:xfrm>
            <a:prstGeom prst="rect">
              <a:avLst/>
            </a:prstGeom>
            <a:solidFill>
              <a:srgbClr val="1B1D21"/>
            </a:solidFill>
            <a:ln>
              <a:noFill/>
            </a:ln>
          </p:spPr>
          <p:txBody>
            <a:bodyPr rtlCol="0" anchor="ctr"/>
            <a:lstStyle/>
            <a:p>
              <a:pPr algn="ctr"/>
            </a:p>
          </p:txBody>
        </p:sp>
        <p:sp>
          <p:nvSpPr>
            <p:cNvPr id="19" name="boiler"/>
            <p:cNvSpPr/>
            <p:nvPr/>
          </p:nvSpPr>
          <p:spPr>
            <a:xfrm>
              <a:off x="2724912" y="2450591"/>
              <a:ext cx="2084832" cy="764438"/>
            </a:xfrm>
            <a:prstGeom prst="roundRect">
              <a:avLst>
                <a:gd name="adj" fmla="val 27272"/>
              </a:avLst>
            </a:prstGeom>
            <a:solidFill>
              <a:srgbClr val="F28C28"/>
            </a:solidFill>
            <a:ln>
              <a:noFill/>
            </a:ln>
          </p:spPr>
          <p:txBody>
            <a:bodyPr rtlCol="0" anchor="ctr"/>
            <a:lstStyle/>
            <a:p>
              <a:pPr algn="ctr"/>
            </a:p>
          </p:txBody>
        </p:sp>
        <p:sp>
          <p:nvSpPr>
            <p:cNvPr id="20" name="chimney"/>
            <p:cNvSpPr/>
            <p:nvPr/>
          </p:nvSpPr>
          <p:spPr>
            <a:xfrm>
              <a:off x="4358030" y="2137867"/>
              <a:ext cx="243230" cy="330098"/>
            </a:xfrm>
            <a:prstGeom prst="rect">
              <a:avLst/>
            </a:prstGeom>
            <a:solidFill>
              <a:srgbClr val="3A3F47"/>
            </a:solidFill>
            <a:ln w="9525">
              <a:solidFill>
                <a:srgbClr val="9AA0A6"/>
              </a:solidFill>
            </a:ln>
          </p:spPr>
          <p:txBody>
            <a:bodyPr rtlCol="0" anchor="ctr"/>
            <a:lstStyle/>
            <a:p>
              <a:pPr algn="ctr"/>
            </a:p>
          </p:txBody>
        </p:sp>
        <p:sp>
          <p:nvSpPr>
            <p:cNvPr id="21" name="chimney lip"/>
            <p:cNvSpPr/>
            <p:nvPr/>
          </p:nvSpPr>
          <p:spPr>
            <a:xfrm>
              <a:off x="4305909" y="2103120"/>
              <a:ext cx="347472" cy="69494"/>
            </a:xfrm>
            <a:prstGeom prst="rect">
              <a:avLst/>
            </a:prstGeom>
            <a:solidFill>
              <a:srgbClr val="3A3F47"/>
            </a:solidFill>
            <a:ln w="9525">
              <a:solidFill>
                <a:srgbClr val="9AA0A6"/>
              </a:solidFill>
            </a:ln>
          </p:spPr>
          <p:txBody>
            <a:bodyPr rtlCol="0" anchor="ctr"/>
            <a:lstStyle/>
            <a:p>
              <a:pPr algn="ctr"/>
            </a:p>
          </p:txBody>
        </p:sp>
        <p:sp>
          <p:nvSpPr>
            <p:cNvPr id="22" name="dome"/>
            <p:cNvSpPr/>
            <p:nvPr/>
          </p:nvSpPr>
          <p:spPr>
            <a:xfrm>
              <a:off x="3315614" y="2294229"/>
              <a:ext cx="347472" cy="173736"/>
            </a:xfrm>
            <a:prstGeom prst="roundRect">
              <a:avLst>
                <a:gd name="adj" fmla="val 40000"/>
              </a:avLst>
            </a:prstGeom>
            <a:solidFill>
              <a:srgbClr val="F28C28"/>
            </a:solidFill>
            <a:ln>
              <a:noFill/>
            </a:ln>
          </p:spPr>
          <p:txBody>
            <a:bodyPr rtlCol="0" anchor="ctr"/>
            <a:lstStyle/>
            <a:p>
              <a:pPr algn="ctr"/>
            </a:p>
          </p:txBody>
        </p:sp>
        <p:sp>
          <p:nvSpPr>
            <p:cNvPr id="23" name="frame"/>
            <p:cNvSpPr/>
            <p:nvPr/>
          </p:nvSpPr>
          <p:spPr>
            <a:xfrm>
              <a:off x="2029968" y="3215030"/>
              <a:ext cx="2779776" cy="104241"/>
            </a:xfrm>
            <a:prstGeom prst="rect">
              <a:avLst/>
            </a:prstGeom>
            <a:solidFill>
              <a:srgbClr val="3A3F47"/>
            </a:solidFill>
            <a:ln w="9525">
              <a:solidFill>
                <a:srgbClr val="9AA0A6"/>
              </a:solidFill>
            </a:ln>
          </p:spPr>
          <p:txBody>
            <a:bodyPr rtlCol="0" anchor="ctr"/>
            <a:lstStyle/>
            <a:p>
              <a:pPr algn="ctr"/>
            </a:p>
          </p:txBody>
        </p:sp>
        <p:sp>
          <p:nvSpPr>
            <p:cNvPr id="24" name="wheel"/>
            <p:cNvSpPr/>
            <p:nvPr/>
          </p:nvSpPr>
          <p:spPr>
            <a:xfrm>
              <a:off x="2533802" y="3110788"/>
              <a:ext cx="521208" cy="521208"/>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2731861" y="3308847"/>
              <a:ext cx="125089" cy="125089"/>
            </a:xfrm>
            <a:prstGeom prst="ellipse">
              <a:avLst/>
            </a:prstGeom>
            <a:solidFill>
              <a:srgbClr val="9AA0A6"/>
            </a:solidFill>
            <a:ln>
              <a:noFill/>
            </a:ln>
          </p:spPr>
          <p:txBody>
            <a:bodyPr rtlCol="0" anchor="ctr"/>
            <a:lstStyle/>
            <a:p>
              <a:pPr algn="ctr"/>
            </a:p>
          </p:txBody>
        </p:sp>
        <p:sp>
          <p:nvSpPr>
            <p:cNvPr id="26" name="wheel"/>
            <p:cNvSpPr/>
            <p:nvPr/>
          </p:nvSpPr>
          <p:spPr>
            <a:xfrm>
              <a:off x="3228746" y="3110788"/>
              <a:ext cx="521208" cy="521208"/>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3426805" y="3308847"/>
              <a:ext cx="125089" cy="125089"/>
            </a:xfrm>
            <a:prstGeom prst="ellipse">
              <a:avLst/>
            </a:prstGeom>
            <a:solidFill>
              <a:srgbClr val="9AA0A6"/>
            </a:solidFill>
            <a:ln>
              <a:noFill/>
            </a:ln>
          </p:spPr>
          <p:txBody>
            <a:bodyPr rtlCol="0" anchor="ctr"/>
            <a:lstStyle/>
            <a:p>
              <a:pPr algn="ctr"/>
            </a:p>
          </p:txBody>
        </p:sp>
        <p:sp>
          <p:nvSpPr>
            <p:cNvPr id="28" name="wheel"/>
            <p:cNvSpPr/>
            <p:nvPr/>
          </p:nvSpPr>
          <p:spPr>
            <a:xfrm>
              <a:off x="3923690" y="3110788"/>
              <a:ext cx="521208" cy="521208"/>
            </a:xfrm>
            <a:prstGeom prst="ellipse">
              <a:avLst/>
            </a:prstGeom>
            <a:solidFill>
              <a:srgbClr val="1B1D21"/>
            </a:solidFill>
            <a:ln w="19050">
              <a:solidFill>
                <a:srgbClr val="9AA0A6"/>
              </a:solidFill>
            </a:ln>
          </p:spPr>
          <p:txBody>
            <a:bodyPr rtlCol="0" anchor="ctr"/>
            <a:lstStyle/>
            <a:p>
              <a:pPr algn="ctr"/>
            </a:p>
          </p:txBody>
        </p:sp>
        <p:sp>
          <p:nvSpPr>
            <p:cNvPr id="29" name="hub"/>
            <p:cNvSpPr/>
            <p:nvPr/>
          </p:nvSpPr>
          <p:spPr>
            <a:xfrm>
              <a:off x="4121749" y="3308847"/>
              <a:ext cx="125089" cy="125089"/>
            </a:xfrm>
            <a:prstGeom prst="ellipse">
              <a:avLst/>
            </a:prstGeom>
            <a:solidFill>
              <a:srgbClr val="9AA0A6"/>
            </a:solidFill>
            <a:ln>
              <a:noFill/>
            </a:ln>
          </p:spPr>
          <p:txBody>
            <a:bodyPr rtlCol="0" anchor="ctr"/>
            <a:lstStyle/>
            <a:p>
              <a:pPr algn="ctr"/>
            </a:p>
          </p:txBody>
        </p:sp>
        <p:sp>
          <p:nvSpPr>
            <p:cNvPr id="30" name="aux tender"/>
            <p:cNvSpPr/>
            <p:nvPr/>
          </p:nvSpPr>
          <p:spPr>
            <a:xfrm>
              <a:off x="5084064" y="2554833"/>
              <a:ext cx="1737360" cy="660196"/>
            </a:xfrm>
            <a:prstGeom prst="rect">
              <a:avLst/>
            </a:prstGeom>
            <a:pattFill prst="wdUpDiag">
              <a:fgClr>
                <a:srgbClr val="C9CED3"/>
              </a:fgClr>
              <a:bgClr>
                <a:srgbClr val="2B2F36"/>
              </a:bgClr>
            </a:pattFill>
            <a:ln w="25400">
              <a:solidFill>
                <a:srgbClr val="C9CED3"/>
              </a:solidFill>
            </a:ln>
          </p:spPr>
          <p:txBody>
            <a:bodyPr rtlCol="0" anchor="ctr"/>
            <a:lstStyle/>
            <a:p>
              <a:pPr algn="ctr"/>
            </a:p>
          </p:txBody>
        </p:sp>
        <p:sp>
          <p:nvSpPr>
            <p:cNvPr id="31" name="tender hatch"/>
            <p:cNvSpPr/>
            <p:nvPr/>
          </p:nvSpPr>
          <p:spPr>
            <a:xfrm>
              <a:off x="5223052" y="2450591"/>
              <a:ext cx="243230" cy="243230"/>
            </a:xfrm>
            <a:prstGeom prst="ellipse">
              <a:avLst/>
            </a:prstGeom>
            <a:solidFill>
              <a:srgbClr val="1B1D21"/>
            </a:solidFill>
            <a:ln w="19050">
              <a:solidFill>
                <a:srgbClr val="F2F2F2"/>
              </a:solidFill>
            </a:ln>
          </p:spPr>
          <p:txBody>
            <a:bodyPr rtlCol="0" anchor="ctr"/>
            <a:lstStyle/>
            <a:p>
              <a:pPr algn="ctr"/>
            </a:p>
          </p:txBody>
        </p:sp>
        <p:sp>
          <p:nvSpPr>
            <p:cNvPr id="32" name="wagon frame"/>
            <p:cNvSpPr/>
            <p:nvPr/>
          </p:nvSpPr>
          <p:spPr>
            <a:xfrm>
              <a:off x="5084064" y="3215030"/>
              <a:ext cx="1737360" cy="104241"/>
            </a:xfrm>
            <a:prstGeom prst="rect">
              <a:avLst/>
            </a:prstGeom>
            <a:solidFill>
              <a:srgbClr val="3A3F47"/>
            </a:solidFill>
            <a:ln w="9525">
              <a:solidFill>
                <a:srgbClr val="9AA0A6"/>
              </a:solidFill>
            </a:ln>
          </p:spPr>
          <p:txBody>
            <a:bodyPr rtlCol="0" anchor="ctr"/>
            <a:lstStyle/>
            <a:p>
              <a:pPr algn="ctr"/>
            </a:p>
          </p:txBody>
        </p:sp>
        <p:sp>
          <p:nvSpPr>
            <p:cNvPr id="33" name="wheel"/>
            <p:cNvSpPr/>
            <p:nvPr/>
          </p:nvSpPr>
          <p:spPr>
            <a:xfrm>
              <a:off x="5136184" y="3110788"/>
              <a:ext cx="521208" cy="521208"/>
            </a:xfrm>
            <a:prstGeom prst="ellipse">
              <a:avLst/>
            </a:prstGeom>
            <a:solidFill>
              <a:srgbClr val="1B1D21"/>
            </a:solidFill>
            <a:ln w="19050">
              <a:solidFill>
                <a:srgbClr val="9AA0A6"/>
              </a:solidFill>
            </a:ln>
          </p:spPr>
          <p:txBody>
            <a:bodyPr rtlCol="0" anchor="ctr"/>
            <a:lstStyle/>
            <a:p>
              <a:pPr algn="ctr"/>
            </a:p>
          </p:txBody>
        </p:sp>
        <p:sp>
          <p:nvSpPr>
            <p:cNvPr id="34" name="hub"/>
            <p:cNvSpPr/>
            <p:nvPr/>
          </p:nvSpPr>
          <p:spPr>
            <a:xfrm>
              <a:off x="5334243" y="3308847"/>
              <a:ext cx="125089" cy="125089"/>
            </a:xfrm>
            <a:prstGeom prst="ellipse">
              <a:avLst/>
            </a:prstGeom>
            <a:solidFill>
              <a:srgbClr val="9AA0A6"/>
            </a:solidFill>
            <a:ln>
              <a:noFill/>
            </a:ln>
          </p:spPr>
          <p:txBody>
            <a:bodyPr rtlCol="0" anchor="ctr"/>
            <a:lstStyle/>
            <a:p>
              <a:pPr algn="ctr"/>
            </a:p>
          </p:txBody>
        </p:sp>
        <p:sp>
          <p:nvSpPr>
            <p:cNvPr id="35" name="wheel"/>
            <p:cNvSpPr/>
            <p:nvPr/>
          </p:nvSpPr>
          <p:spPr>
            <a:xfrm>
              <a:off x="6248095" y="3110788"/>
              <a:ext cx="521208" cy="521208"/>
            </a:xfrm>
            <a:prstGeom prst="ellipse">
              <a:avLst/>
            </a:prstGeom>
            <a:solidFill>
              <a:srgbClr val="1B1D21"/>
            </a:solidFill>
            <a:ln w="19050">
              <a:solidFill>
                <a:srgbClr val="9AA0A6"/>
              </a:solidFill>
            </a:ln>
          </p:spPr>
          <p:txBody>
            <a:bodyPr rtlCol="0" anchor="ctr"/>
            <a:lstStyle/>
            <a:p>
              <a:pPr algn="ctr"/>
            </a:p>
          </p:txBody>
        </p:sp>
        <p:sp>
          <p:nvSpPr>
            <p:cNvPr id="36" name="hub"/>
            <p:cNvSpPr/>
            <p:nvPr/>
          </p:nvSpPr>
          <p:spPr>
            <a:xfrm>
              <a:off x="6446154" y="3308847"/>
              <a:ext cx="125089" cy="125089"/>
            </a:xfrm>
            <a:prstGeom prst="ellipse">
              <a:avLst/>
            </a:prstGeom>
            <a:solidFill>
              <a:srgbClr val="9AA0A6"/>
            </a:solidFill>
            <a:ln>
              <a:noFill/>
            </a:ln>
          </p:spPr>
          <p:txBody>
            <a:bodyPr rtlCol="0" anchor="ctr"/>
            <a:lstStyle/>
            <a:p>
              <a:pPr algn="ctr"/>
            </a:p>
          </p:txBody>
        </p:sp>
        <p:sp>
          <p:nvSpPr>
            <p:cNvPr id="37" name="wagon body"/>
            <p:cNvSpPr/>
            <p:nvPr/>
          </p:nvSpPr>
          <p:spPr>
            <a:xfrm>
              <a:off x="6958584" y="2450591"/>
              <a:ext cx="1320393" cy="764438"/>
            </a:xfrm>
            <a:prstGeom prst="roundRect">
              <a:avLst>
                <a:gd name="adj" fmla="val 2272"/>
              </a:avLst>
            </a:prstGeom>
            <a:solidFill>
              <a:srgbClr val="6C7480"/>
            </a:solidFill>
            <a:ln>
              <a:noFill/>
            </a:ln>
          </p:spPr>
          <p:txBody>
            <a:bodyPr rtlCol="0" anchor="ctr"/>
            <a:lstStyle/>
            <a:p>
              <a:pPr algn="ctr"/>
            </a:p>
          </p:txBody>
        </p:sp>
        <p:sp>
          <p:nvSpPr>
            <p:cNvPr id="38" name="plank"/>
            <p:cNvSpPr/>
            <p:nvPr/>
          </p:nvSpPr>
          <p:spPr>
            <a:xfrm>
              <a:off x="7281732" y="2485339"/>
              <a:ext cx="13898" cy="694944"/>
            </a:xfrm>
            <a:prstGeom prst="rect">
              <a:avLst/>
            </a:prstGeom>
            <a:solidFill>
              <a:srgbClr val="4A515B"/>
            </a:solidFill>
            <a:ln>
              <a:noFill/>
            </a:ln>
          </p:spPr>
          <p:txBody>
            <a:bodyPr rtlCol="0" anchor="ctr"/>
            <a:lstStyle/>
            <a:p>
              <a:pPr algn="ctr"/>
            </a:p>
          </p:txBody>
        </p:sp>
        <p:sp>
          <p:nvSpPr>
            <p:cNvPr id="39" name="plank"/>
            <p:cNvSpPr/>
            <p:nvPr/>
          </p:nvSpPr>
          <p:spPr>
            <a:xfrm>
              <a:off x="7611831" y="2485339"/>
              <a:ext cx="13898" cy="694944"/>
            </a:xfrm>
            <a:prstGeom prst="rect">
              <a:avLst/>
            </a:prstGeom>
            <a:solidFill>
              <a:srgbClr val="4A515B"/>
            </a:solidFill>
            <a:ln>
              <a:noFill/>
            </a:ln>
          </p:spPr>
          <p:txBody>
            <a:bodyPr rtlCol="0" anchor="ctr"/>
            <a:lstStyle/>
            <a:p>
              <a:pPr algn="ctr"/>
            </a:p>
          </p:txBody>
        </p:sp>
        <p:sp>
          <p:nvSpPr>
            <p:cNvPr id="40" name="plank"/>
            <p:cNvSpPr/>
            <p:nvPr/>
          </p:nvSpPr>
          <p:spPr>
            <a:xfrm>
              <a:off x="7941929" y="2485339"/>
              <a:ext cx="13898" cy="694944"/>
            </a:xfrm>
            <a:prstGeom prst="rect">
              <a:avLst/>
            </a:prstGeom>
            <a:solidFill>
              <a:srgbClr val="4A515B"/>
            </a:solidFill>
            <a:ln>
              <a:noFill/>
            </a:ln>
          </p:spPr>
          <p:txBody>
            <a:bodyPr rtlCol="0" anchor="ctr"/>
            <a:lstStyle/>
            <a:p>
              <a:pPr algn="ctr"/>
            </a:p>
          </p:txBody>
        </p:sp>
        <p:sp>
          <p:nvSpPr>
            <p:cNvPr id="41" name="wagon frame"/>
            <p:cNvSpPr/>
            <p:nvPr/>
          </p:nvSpPr>
          <p:spPr>
            <a:xfrm>
              <a:off x="6958584" y="3215030"/>
              <a:ext cx="1320393" cy="104241"/>
            </a:xfrm>
            <a:prstGeom prst="rect">
              <a:avLst/>
            </a:prstGeom>
            <a:solidFill>
              <a:srgbClr val="3A3F47"/>
            </a:solidFill>
            <a:ln w="9525">
              <a:solidFill>
                <a:srgbClr val="9AA0A6"/>
              </a:solidFill>
            </a:ln>
          </p:spPr>
          <p:txBody>
            <a:bodyPr rtlCol="0" anchor="ctr"/>
            <a:lstStyle/>
            <a:p>
              <a:pPr algn="ctr"/>
            </a:p>
          </p:txBody>
        </p:sp>
        <p:sp>
          <p:nvSpPr>
            <p:cNvPr id="42" name="wheel"/>
            <p:cNvSpPr/>
            <p:nvPr/>
          </p:nvSpPr>
          <p:spPr>
            <a:xfrm>
              <a:off x="7010704" y="3110788"/>
              <a:ext cx="521208" cy="521208"/>
            </a:xfrm>
            <a:prstGeom prst="ellipse">
              <a:avLst/>
            </a:prstGeom>
            <a:solidFill>
              <a:srgbClr val="1B1D21"/>
            </a:solidFill>
            <a:ln w="19050">
              <a:solidFill>
                <a:srgbClr val="9AA0A6"/>
              </a:solidFill>
            </a:ln>
          </p:spPr>
          <p:txBody>
            <a:bodyPr rtlCol="0" anchor="ctr"/>
            <a:lstStyle/>
            <a:p>
              <a:pPr algn="ctr"/>
            </a:p>
          </p:txBody>
        </p:sp>
        <p:sp>
          <p:nvSpPr>
            <p:cNvPr id="43" name="hub"/>
            <p:cNvSpPr/>
            <p:nvPr/>
          </p:nvSpPr>
          <p:spPr>
            <a:xfrm>
              <a:off x="7208763" y="3308847"/>
              <a:ext cx="125089" cy="125089"/>
            </a:xfrm>
            <a:prstGeom prst="ellipse">
              <a:avLst/>
            </a:prstGeom>
            <a:solidFill>
              <a:srgbClr val="9AA0A6"/>
            </a:solidFill>
            <a:ln>
              <a:noFill/>
            </a:ln>
          </p:spPr>
          <p:txBody>
            <a:bodyPr rtlCol="0" anchor="ctr"/>
            <a:lstStyle/>
            <a:p>
              <a:pPr algn="ctr"/>
            </a:p>
          </p:txBody>
        </p:sp>
        <p:sp>
          <p:nvSpPr>
            <p:cNvPr id="44" name="wheel"/>
            <p:cNvSpPr/>
            <p:nvPr/>
          </p:nvSpPr>
          <p:spPr>
            <a:xfrm>
              <a:off x="7705648" y="3110788"/>
              <a:ext cx="521208" cy="521208"/>
            </a:xfrm>
            <a:prstGeom prst="ellipse">
              <a:avLst/>
            </a:prstGeom>
            <a:solidFill>
              <a:srgbClr val="1B1D21"/>
            </a:solidFill>
            <a:ln w="19050">
              <a:solidFill>
                <a:srgbClr val="9AA0A6"/>
              </a:solidFill>
            </a:ln>
          </p:spPr>
          <p:txBody>
            <a:bodyPr rtlCol="0" anchor="ctr"/>
            <a:lstStyle/>
            <a:p>
              <a:pPr algn="ctr"/>
            </a:p>
          </p:txBody>
        </p:sp>
        <p:sp>
          <p:nvSpPr>
            <p:cNvPr id="45" name="hub"/>
            <p:cNvSpPr/>
            <p:nvPr/>
          </p:nvSpPr>
          <p:spPr>
            <a:xfrm>
              <a:off x="7903707" y="3308847"/>
              <a:ext cx="125089" cy="125089"/>
            </a:xfrm>
            <a:prstGeom prst="ellipse">
              <a:avLst/>
            </a:prstGeom>
            <a:solidFill>
              <a:srgbClr val="9AA0A6"/>
            </a:solidFill>
            <a:ln>
              <a:noFill/>
            </a:ln>
          </p:spPr>
          <p:txBody>
            <a:bodyPr rtlCol="0" anchor="ctr"/>
            <a:lstStyle/>
            <a:p>
              <a:pPr algn="ctr"/>
            </a:p>
          </p:txBody>
        </p:sp>
        <p:sp>
          <p:nvSpPr>
            <p:cNvPr id="46" name="wagon body"/>
            <p:cNvSpPr/>
            <p:nvPr/>
          </p:nvSpPr>
          <p:spPr>
            <a:xfrm>
              <a:off x="8370417" y="2450591"/>
              <a:ext cx="1320393" cy="764438"/>
            </a:xfrm>
            <a:prstGeom prst="roundRect">
              <a:avLst>
                <a:gd name="adj" fmla="val 2272"/>
              </a:avLst>
            </a:prstGeom>
            <a:solidFill>
              <a:srgbClr val="6C7480"/>
            </a:solidFill>
            <a:ln>
              <a:noFill/>
            </a:ln>
          </p:spPr>
          <p:txBody>
            <a:bodyPr rtlCol="0" anchor="ctr"/>
            <a:lstStyle/>
            <a:p>
              <a:pPr algn="ctr"/>
            </a:p>
          </p:txBody>
        </p:sp>
        <p:sp>
          <p:nvSpPr>
            <p:cNvPr id="47" name="plank"/>
            <p:cNvSpPr/>
            <p:nvPr/>
          </p:nvSpPr>
          <p:spPr>
            <a:xfrm>
              <a:off x="8693566" y="2485339"/>
              <a:ext cx="13898" cy="694944"/>
            </a:xfrm>
            <a:prstGeom prst="rect">
              <a:avLst/>
            </a:prstGeom>
            <a:solidFill>
              <a:srgbClr val="4A515B"/>
            </a:solidFill>
            <a:ln>
              <a:noFill/>
            </a:ln>
          </p:spPr>
          <p:txBody>
            <a:bodyPr rtlCol="0" anchor="ctr"/>
            <a:lstStyle/>
            <a:p>
              <a:pPr algn="ctr"/>
            </a:p>
          </p:txBody>
        </p:sp>
        <p:sp>
          <p:nvSpPr>
            <p:cNvPr id="48" name="plank"/>
            <p:cNvSpPr/>
            <p:nvPr/>
          </p:nvSpPr>
          <p:spPr>
            <a:xfrm>
              <a:off x="9023664" y="2485339"/>
              <a:ext cx="13898" cy="694944"/>
            </a:xfrm>
            <a:prstGeom prst="rect">
              <a:avLst/>
            </a:prstGeom>
            <a:solidFill>
              <a:srgbClr val="4A515B"/>
            </a:solidFill>
            <a:ln>
              <a:noFill/>
            </a:ln>
          </p:spPr>
          <p:txBody>
            <a:bodyPr rtlCol="0" anchor="ctr"/>
            <a:lstStyle/>
            <a:p>
              <a:pPr algn="ctr"/>
            </a:p>
          </p:txBody>
        </p:sp>
        <p:sp>
          <p:nvSpPr>
            <p:cNvPr id="49" name="plank"/>
            <p:cNvSpPr/>
            <p:nvPr/>
          </p:nvSpPr>
          <p:spPr>
            <a:xfrm>
              <a:off x="9353763" y="2485339"/>
              <a:ext cx="13898" cy="694944"/>
            </a:xfrm>
            <a:prstGeom prst="rect">
              <a:avLst/>
            </a:prstGeom>
            <a:solidFill>
              <a:srgbClr val="4A515B"/>
            </a:solidFill>
            <a:ln>
              <a:noFill/>
            </a:ln>
          </p:spPr>
          <p:txBody>
            <a:bodyPr rtlCol="0" anchor="ctr"/>
            <a:lstStyle/>
            <a:p>
              <a:pPr algn="ctr"/>
            </a:p>
          </p:txBody>
        </p:sp>
        <p:sp>
          <p:nvSpPr>
            <p:cNvPr id="50" name="wagon frame"/>
            <p:cNvSpPr/>
            <p:nvPr/>
          </p:nvSpPr>
          <p:spPr>
            <a:xfrm>
              <a:off x="8370417" y="3215030"/>
              <a:ext cx="1320393" cy="104241"/>
            </a:xfrm>
            <a:prstGeom prst="rect">
              <a:avLst/>
            </a:prstGeom>
            <a:solidFill>
              <a:srgbClr val="3A3F47"/>
            </a:solidFill>
            <a:ln w="9525">
              <a:solidFill>
                <a:srgbClr val="9AA0A6"/>
              </a:solidFill>
            </a:ln>
          </p:spPr>
          <p:txBody>
            <a:bodyPr rtlCol="0" anchor="ctr"/>
            <a:lstStyle/>
            <a:p>
              <a:pPr algn="ctr"/>
            </a:p>
          </p:txBody>
        </p:sp>
        <p:sp>
          <p:nvSpPr>
            <p:cNvPr id="51" name="wheel"/>
            <p:cNvSpPr/>
            <p:nvPr/>
          </p:nvSpPr>
          <p:spPr>
            <a:xfrm>
              <a:off x="8422538" y="3110788"/>
              <a:ext cx="521208" cy="521208"/>
            </a:xfrm>
            <a:prstGeom prst="ellipse">
              <a:avLst/>
            </a:prstGeom>
            <a:solidFill>
              <a:srgbClr val="1B1D21"/>
            </a:solidFill>
            <a:ln w="19050">
              <a:solidFill>
                <a:srgbClr val="9AA0A6"/>
              </a:solidFill>
            </a:ln>
          </p:spPr>
          <p:txBody>
            <a:bodyPr rtlCol="0" anchor="ctr"/>
            <a:lstStyle/>
            <a:p>
              <a:pPr algn="ctr"/>
            </a:p>
          </p:txBody>
        </p:sp>
        <p:sp>
          <p:nvSpPr>
            <p:cNvPr id="52" name="hub"/>
            <p:cNvSpPr/>
            <p:nvPr/>
          </p:nvSpPr>
          <p:spPr>
            <a:xfrm>
              <a:off x="8620597" y="3308847"/>
              <a:ext cx="125089" cy="125089"/>
            </a:xfrm>
            <a:prstGeom prst="ellipse">
              <a:avLst/>
            </a:prstGeom>
            <a:solidFill>
              <a:srgbClr val="9AA0A6"/>
            </a:solidFill>
            <a:ln>
              <a:noFill/>
            </a:ln>
          </p:spPr>
          <p:txBody>
            <a:bodyPr rtlCol="0" anchor="ctr"/>
            <a:lstStyle/>
            <a:p>
              <a:pPr algn="ctr"/>
            </a:p>
          </p:txBody>
        </p:sp>
        <p:sp>
          <p:nvSpPr>
            <p:cNvPr id="53" name="wheel"/>
            <p:cNvSpPr/>
            <p:nvPr/>
          </p:nvSpPr>
          <p:spPr>
            <a:xfrm>
              <a:off x="9117482" y="3110788"/>
              <a:ext cx="521208" cy="521208"/>
            </a:xfrm>
            <a:prstGeom prst="ellipse">
              <a:avLst/>
            </a:prstGeom>
            <a:solidFill>
              <a:srgbClr val="1B1D21"/>
            </a:solidFill>
            <a:ln w="19050">
              <a:solidFill>
                <a:srgbClr val="9AA0A6"/>
              </a:solidFill>
            </a:ln>
          </p:spPr>
          <p:txBody>
            <a:bodyPr rtlCol="0" anchor="ctr"/>
            <a:lstStyle/>
            <a:p>
              <a:pPr algn="ctr"/>
            </a:p>
          </p:txBody>
        </p:sp>
        <p:sp>
          <p:nvSpPr>
            <p:cNvPr id="54" name="hub"/>
            <p:cNvSpPr/>
            <p:nvPr/>
          </p:nvSpPr>
          <p:spPr>
            <a:xfrm>
              <a:off x="9315541" y="3308847"/>
              <a:ext cx="125089" cy="125089"/>
            </a:xfrm>
            <a:prstGeom prst="ellipse">
              <a:avLst/>
            </a:prstGeom>
            <a:solidFill>
              <a:srgbClr val="9AA0A6"/>
            </a:solidFill>
            <a:ln>
              <a:noFill/>
            </a:ln>
          </p:spPr>
          <p:txBody>
            <a:bodyPr rtlCol="0" anchor="ctr"/>
            <a:lstStyle/>
            <a:p>
              <a:pPr algn="ctr"/>
            </a:p>
          </p:txBody>
        </p:sp>
        <p:sp>
          <p:nvSpPr>
            <p:cNvPr id="55" name="wagon body"/>
            <p:cNvSpPr/>
            <p:nvPr/>
          </p:nvSpPr>
          <p:spPr>
            <a:xfrm>
              <a:off x="9782251" y="2450591"/>
              <a:ext cx="1320393" cy="764438"/>
            </a:xfrm>
            <a:prstGeom prst="roundRect">
              <a:avLst>
                <a:gd name="adj" fmla="val 2272"/>
              </a:avLst>
            </a:prstGeom>
            <a:solidFill>
              <a:srgbClr val="6C7480"/>
            </a:solidFill>
            <a:ln>
              <a:noFill/>
            </a:ln>
          </p:spPr>
          <p:txBody>
            <a:bodyPr rtlCol="0" anchor="ctr"/>
            <a:lstStyle/>
            <a:p>
              <a:pPr algn="ctr"/>
            </a:p>
          </p:txBody>
        </p:sp>
        <p:sp>
          <p:nvSpPr>
            <p:cNvPr id="56" name="plank"/>
            <p:cNvSpPr/>
            <p:nvPr/>
          </p:nvSpPr>
          <p:spPr>
            <a:xfrm>
              <a:off x="10105400" y="2485339"/>
              <a:ext cx="13898" cy="694944"/>
            </a:xfrm>
            <a:prstGeom prst="rect">
              <a:avLst/>
            </a:prstGeom>
            <a:solidFill>
              <a:srgbClr val="4A515B"/>
            </a:solidFill>
            <a:ln>
              <a:noFill/>
            </a:ln>
          </p:spPr>
          <p:txBody>
            <a:bodyPr rtlCol="0" anchor="ctr"/>
            <a:lstStyle/>
            <a:p>
              <a:pPr algn="ctr"/>
            </a:p>
          </p:txBody>
        </p:sp>
        <p:sp>
          <p:nvSpPr>
            <p:cNvPr id="57" name="plank"/>
            <p:cNvSpPr/>
            <p:nvPr/>
          </p:nvSpPr>
          <p:spPr>
            <a:xfrm>
              <a:off x="10435498" y="2485339"/>
              <a:ext cx="13898" cy="694944"/>
            </a:xfrm>
            <a:prstGeom prst="rect">
              <a:avLst/>
            </a:prstGeom>
            <a:solidFill>
              <a:srgbClr val="4A515B"/>
            </a:solidFill>
            <a:ln>
              <a:noFill/>
            </a:ln>
          </p:spPr>
          <p:txBody>
            <a:bodyPr rtlCol="0" anchor="ctr"/>
            <a:lstStyle/>
            <a:p>
              <a:pPr algn="ctr"/>
            </a:p>
          </p:txBody>
        </p:sp>
        <p:sp>
          <p:nvSpPr>
            <p:cNvPr id="58" name="plank"/>
            <p:cNvSpPr/>
            <p:nvPr/>
          </p:nvSpPr>
          <p:spPr>
            <a:xfrm>
              <a:off x="10765596" y="2485339"/>
              <a:ext cx="13898" cy="694944"/>
            </a:xfrm>
            <a:prstGeom prst="rect">
              <a:avLst/>
            </a:prstGeom>
            <a:solidFill>
              <a:srgbClr val="4A515B"/>
            </a:solidFill>
            <a:ln>
              <a:noFill/>
            </a:ln>
          </p:spPr>
          <p:txBody>
            <a:bodyPr rtlCol="0" anchor="ctr"/>
            <a:lstStyle/>
            <a:p>
              <a:pPr algn="ctr"/>
            </a:p>
          </p:txBody>
        </p:sp>
        <p:sp>
          <p:nvSpPr>
            <p:cNvPr id="59" name="wagon frame"/>
            <p:cNvSpPr/>
            <p:nvPr/>
          </p:nvSpPr>
          <p:spPr>
            <a:xfrm>
              <a:off x="9782251" y="3215030"/>
              <a:ext cx="1320393" cy="104241"/>
            </a:xfrm>
            <a:prstGeom prst="rect">
              <a:avLst/>
            </a:prstGeom>
            <a:solidFill>
              <a:srgbClr val="3A3F47"/>
            </a:solidFill>
            <a:ln w="9525">
              <a:solidFill>
                <a:srgbClr val="9AA0A6"/>
              </a:solidFill>
            </a:ln>
          </p:spPr>
          <p:txBody>
            <a:bodyPr rtlCol="0" anchor="ctr"/>
            <a:lstStyle/>
            <a:p>
              <a:pPr algn="ctr"/>
            </a:p>
          </p:txBody>
        </p:sp>
        <p:sp>
          <p:nvSpPr>
            <p:cNvPr id="60" name="wheel"/>
            <p:cNvSpPr/>
            <p:nvPr/>
          </p:nvSpPr>
          <p:spPr>
            <a:xfrm>
              <a:off x="9834372" y="3110788"/>
              <a:ext cx="521208" cy="521208"/>
            </a:xfrm>
            <a:prstGeom prst="ellipse">
              <a:avLst/>
            </a:prstGeom>
            <a:solidFill>
              <a:srgbClr val="1B1D21"/>
            </a:solidFill>
            <a:ln w="19050">
              <a:solidFill>
                <a:srgbClr val="9AA0A6"/>
              </a:solidFill>
            </a:ln>
          </p:spPr>
          <p:txBody>
            <a:bodyPr rtlCol="0" anchor="ctr"/>
            <a:lstStyle/>
            <a:p>
              <a:pPr algn="ctr"/>
            </a:p>
          </p:txBody>
        </p:sp>
        <p:sp>
          <p:nvSpPr>
            <p:cNvPr id="61" name="hub"/>
            <p:cNvSpPr/>
            <p:nvPr/>
          </p:nvSpPr>
          <p:spPr>
            <a:xfrm>
              <a:off x="10032431" y="3308847"/>
              <a:ext cx="125089" cy="125089"/>
            </a:xfrm>
            <a:prstGeom prst="ellipse">
              <a:avLst/>
            </a:prstGeom>
            <a:solidFill>
              <a:srgbClr val="9AA0A6"/>
            </a:solidFill>
            <a:ln>
              <a:noFill/>
            </a:ln>
          </p:spPr>
          <p:txBody>
            <a:bodyPr rtlCol="0" anchor="ctr"/>
            <a:lstStyle/>
            <a:p>
              <a:pPr algn="ctr"/>
            </a:p>
          </p:txBody>
        </p:sp>
        <p:sp>
          <p:nvSpPr>
            <p:cNvPr id="62" name="wheel"/>
            <p:cNvSpPr/>
            <p:nvPr/>
          </p:nvSpPr>
          <p:spPr>
            <a:xfrm>
              <a:off x="10529316" y="3110788"/>
              <a:ext cx="521208" cy="521208"/>
            </a:xfrm>
            <a:prstGeom prst="ellipse">
              <a:avLst/>
            </a:prstGeom>
            <a:solidFill>
              <a:srgbClr val="1B1D21"/>
            </a:solidFill>
            <a:ln w="19050">
              <a:solidFill>
                <a:srgbClr val="9AA0A6"/>
              </a:solidFill>
            </a:ln>
          </p:spPr>
          <p:txBody>
            <a:bodyPr rtlCol="0" anchor="ctr"/>
            <a:lstStyle/>
            <a:p>
              <a:pPr algn="ctr"/>
            </a:p>
          </p:txBody>
        </p:sp>
        <p:sp>
          <p:nvSpPr>
            <p:cNvPr id="63" name="hub"/>
            <p:cNvSpPr/>
            <p:nvPr/>
          </p:nvSpPr>
          <p:spPr>
            <a:xfrm>
              <a:off x="10727375" y="3308847"/>
              <a:ext cx="125089" cy="125089"/>
            </a:xfrm>
            <a:prstGeom prst="ellipse">
              <a:avLst/>
            </a:prstGeom>
            <a:solidFill>
              <a:srgbClr val="9AA0A6"/>
            </a:solidFill>
            <a:ln>
              <a:noFill/>
            </a:ln>
          </p:spPr>
          <p:txBody>
            <a:bodyPr rtlCol="0" anchor="ctr"/>
            <a:lstStyle/>
            <a:p>
              <a:pPr algn="ctr"/>
            </a:p>
          </p:txBody>
        </p:sp>
        <p:sp>
          <p:nvSpPr>
            <p:cNvPr id="64" name="bracket"/>
            <p:cNvSpPr/>
            <p:nvPr/>
          </p:nvSpPr>
          <p:spPr>
            <a:xfrm>
              <a:off x="640080" y="1874519"/>
              <a:ext cx="4169664" cy="137161"/>
            </a:xfrm>
            <a:custGeom>
              <a:avLst/>
              <a:gdLst/>
              <a:ahLst/>
              <a:cxnLst/>
              <a:rect l="l" t="t" r="r" b="b"/>
              <a:pathLst>
                <a:path w="4169664" h="137161">
                  <a:moveTo>
                    <a:pt x="0" y="137161"/>
                  </a:moveTo>
                  <a:lnTo>
                    <a:pt x="0" y="0"/>
                  </a:lnTo>
                  <a:lnTo>
                    <a:pt x="4169664" y="0"/>
                  </a:lnTo>
                  <a:lnTo>
                    <a:pt x="4169664" y="137161"/>
                  </a:lnTo>
                </a:path>
              </a:pathLst>
            </a:custGeom>
            <a:noFill/>
            <a:ln w="28575">
              <a:solidFill>
                <a:srgbClr val="9AA0A6"/>
              </a:solidFill>
            </a:ln>
          </p:spPr>
          <p:txBody>
            <a:bodyPr rtlCol="0" anchor="ctr"/>
            <a:lstStyle/>
            <a:p>
              <a:pPr algn="ctr"/>
            </a:p>
          </p:txBody>
        </p:sp>
        <p:sp>
          <p:nvSpPr>
            <p:cNvPr id="65" name="bracket label"/>
            <p:cNvSpPr txBox="1"/>
            <p:nvPr/>
          </p:nvSpPr>
          <p:spPr>
            <a:xfrm>
              <a:off x="1737360" y="1371600"/>
              <a:ext cx="1645920" cy="411480"/>
            </a:xfrm>
            <a:prstGeom prst="rect">
              <a:avLst/>
            </a:prstGeom>
            <a:noFill/>
          </p:spPr>
          <p:txBody>
            <a:bodyPr wrap="square" anchor="ctr" lIns="18288" tIns="9144" rIns="18288" bIns="9144">
              <a:noAutofit/>
            </a:bodyPr>
            <a:lstStyle/>
            <a:p>
              <a:pPr algn="ctr"/>
              <a:r>
                <a:rPr sz="1800" b="1" i="0" lang="en-GB">
                  <a:solidFill>
                    <a:srgbClr val="F2F2F2"/>
                  </a:solidFill>
                  <a:latin typeface="Arial"/>
                </a:rPr>
                <a:t>One vehicle</a:t>
              </a:r>
            </a:p>
          </p:txBody>
        </p:sp>
        <p:sp>
          <p:nvSpPr>
            <p:cNvPr id="66" name="ICHIP"/>
            <p:cNvSpPr/>
            <p:nvPr/>
          </p:nvSpPr>
          <p:spPr>
            <a:xfrm>
              <a:off x="3429000" y="1426464"/>
              <a:ext cx="128016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67" name="aux label"/>
            <p:cNvSpPr txBox="1"/>
            <p:nvPr/>
          </p:nvSpPr>
          <p:spPr>
            <a:xfrm>
              <a:off x="4398264" y="3796588"/>
              <a:ext cx="3108960" cy="640080"/>
            </a:xfrm>
            <a:prstGeom prst="rect">
              <a:avLst/>
            </a:prstGeom>
            <a:noFill/>
          </p:spPr>
          <p:txBody>
            <a:bodyPr wrap="square" anchor="ctr" lIns="18288" tIns="9144" rIns="18288" bIns="9144">
              <a:noAutofit/>
            </a:bodyPr>
            <a:lstStyle/>
            <a:p>
              <a:pPr algn="ctr"/>
              <a:r>
                <a:rPr sz="1600" b="1" i="0" lang="en-GB">
                  <a:solidFill>
                    <a:srgbClr val="F2F2F2"/>
                  </a:solidFill>
                  <a:latin typeface="Arial"/>
                </a:rPr>
                <a:t>Auxiliary tender: a separate wagon</a:t>
              </a:r>
            </a:p>
          </p:txBody>
        </p:sp>
        <p:sp>
          <p:nvSpPr>
            <p:cNvPr id="68" name="ICHIP TEXT"/>
            <p:cNvSpPr/>
            <p:nvPr/>
          </p:nvSpPr>
          <p:spPr>
            <a:xfrm>
              <a:off x="4398264" y="4528108"/>
              <a:ext cx="141732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Water only</a:t>
              </a:r>
            </a:p>
          </p:txBody>
        </p:sp>
        <p:sp>
          <p:nvSpPr>
            <p:cNvPr id="69" name="ICHIP TEXT"/>
            <p:cNvSpPr/>
            <p:nvPr/>
          </p:nvSpPr>
          <p:spPr>
            <a:xfrm>
              <a:off x="5907024" y="4528108"/>
              <a:ext cx="1600200" cy="292608"/>
            </a:xfrm>
            <a:prstGeom prst="roundRect">
              <a:avLst>
                <a:gd name="adj" fmla="val 375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Coal and water</a:t>
              </a:r>
            </a:p>
          </p:txBody>
        </p:sp>
        <p:sp>
          <p:nvSpPr>
            <p:cNvPr id="70" name="crate"/>
            <p:cNvSpPr/>
            <p:nvPr/>
          </p:nvSpPr>
          <p:spPr>
            <a:xfrm>
              <a:off x="8229600" y="3977639"/>
              <a:ext cx="548640" cy="457200"/>
            </a:xfrm>
            <a:prstGeom prst="rect">
              <a:avLst/>
            </a:prstGeom>
            <a:solidFill>
              <a:srgbClr val="343A43"/>
            </a:solidFill>
            <a:ln w="25400">
              <a:solidFill>
                <a:srgbClr val="9AA0A6"/>
              </a:solidFill>
            </a:ln>
          </p:spPr>
          <p:txBody>
            <a:bodyPr rtlCol="0" anchor="ctr"/>
            <a:lstStyle/>
            <a:p>
              <a:pPr algn="ctr"/>
            </a:p>
          </p:txBody>
        </p:sp>
        <p:cxnSp>
          <p:nvCxnSpPr>
            <p:cNvPr id="71" name="strike"/>
            <p:cNvCxnSpPr/>
            <p:nvPr/>
          </p:nvCxnSpPr>
          <p:spPr>
            <a:xfrm flipV="1">
              <a:off x="8229600" y="3977639"/>
              <a:ext cx="548640" cy="457201"/>
            </a:xfrm>
            <a:prstGeom prst="line">
              <a:avLst/>
            </a:prstGeom>
            <a:ln w="44450">
              <a:solidFill>
                <a:srgbClr val="E5484D"/>
              </a:solidFill>
            </a:ln>
          </p:spPr>
        </p:cxnSp>
        <p:sp>
          <p:nvSpPr>
            <p:cNvPr id="72" name="weight"/>
            <p:cNvSpPr/>
            <p:nvPr/>
          </p:nvSpPr>
          <p:spPr>
            <a:xfrm>
              <a:off x="10378440" y="4114800"/>
              <a:ext cx="548640" cy="320040"/>
            </a:xfrm>
            <a:custGeom>
              <a:avLst/>
              <a:gdLst/>
              <a:ahLst/>
              <a:cxnLst/>
              <a:rect l="l" t="t" r="r" b="b"/>
              <a:pathLst>
                <a:path w="548640" h="320040">
                  <a:moveTo>
                    <a:pt x="0" y="320040"/>
                  </a:moveTo>
                  <a:lnTo>
                    <a:pt x="91440" y="0"/>
                  </a:lnTo>
                  <a:lnTo>
                    <a:pt x="457200" y="0"/>
                  </a:lnTo>
                  <a:lnTo>
                    <a:pt x="548640" y="320040"/>
                  </a:lnTo>
                  <a:close/>
                </a:path>
              </a:pathLst>
            </a:custGeom>
            <a:solidFill>
              <a:srgbClr val="9AA0A6"/>
            </a:solidFill>
            <a:ln>
              <a:noFill/>
            </a:ln>
          </p:spPr>
          <p:txBody>
            <a:bodyPr rtlCol="0" anchor="ctr"/>
            <a:lstStyle/>
            <a:p>
              <a:pPr algn="ctr"/>
            </a:p>
          </p:txBody>
        </p:sp>
        <p:sp>
          <p:nvSpPr>
            <p:cNvPr id="73" name="weight ring"/>
            <p:cNvSpPr/>
            <p:nvPr/>
          </p:nvSpPr>
          <p:spPr>
            <a:xfrm>
              <a:off x="10533888" y="3968496"/>
              <a:ext cx="237744" cy="237744"/>
            </a:xfrm>
            <a:prstGeom prst="ellipse">
              <a:avLst/>
            </a:prstGeom>
            <a:noFill/>
            <a:ln w="38100">
              <a:solidFill>
                <a:srgbClr val="9AA0A6"/>
              </a:solidFill>
            </a:ln>
          </p:spPr>
          <p:txBody>
            <a:bodyPr rtlCol="0" anchor="ctr"/>
            <a:lstStyle/>
            <a:p>
              <a:pPr algn="ctr"/>
            </a:p>
          </p:txBody>
        </p:sp>
        <p:sp>
          <p:nvSpPr>
            <p:cNvPr id="74" name="downside label"/>
            <p:cNvSpPr txBox="1"/>
            <p:nvPr/>
          </p:nvSpPr>
          <p:spPr>
            <a:xfrm>
              <a:off x="7726679" y="4572000"/>
              <a:ext cx="1554480" cy="640080"/>
            </a:xfrm>
            <a:prstGeom prst="rect">
              <a:avLst/>
            </a:prstGeom>
            <a:noFill/>
          </p:spPr>
          <p:txBody>
            <a:bodyPr wrap="square" anchor="ctr" lIns="18288" tIns="9144" rIns="18288" bIns="9144">
              <a:noAutofit/>
            </a:bodyPr>
            <a:lstStyle/>
            <a:p>
              <a:pPr algn="ctr"/>
              <a:r>
                <a:rPr sz="1600" b="1" i="0" lang="en-GB">
                  <a:solidFill>
                    <a:srgbClr val="F2F2F2"/>
                  </a:solidFill>
                  <a:latin typeface="Arial"/>
                </a:rPr>
                <a:t>Carries no freight</a:t>
              </a:r>
            </a:p>
          </p:txBody>
        </p:sp>
        <p:sp>
          <p:nvSpPr>
            <p:cNvPr id="75" name="downside label"/>
            <p:cNvSpPr txBox="1"/>
            <p:nvPr/>
          </p:nvSpPr>
          <p:spPr>
            <a:xfrm>
              <a:off x="9875520" y="4572000"/>
              <a:ext cx="1554480" cy="640080"/>
            </a:xfrm>
            <a:prstGeom prst="rect">
              <a:avLst/>
            </a:prstGeom>
            <a:noFill/>
          </p:spPr>
          <p:txBody>
            <a:bodyPr wrap="square" anchor="ctr" lIns="18288" tIns="9144" rIns="18288" bIns="9144">
              <a:noAutofit/>
            </a:bodyPr>
            <a:lstStyle/>
            <a:p>
              <a:pPr algn="ctr"/>
              <a:r>
                <a:rPr sz="1600" b="1" i="0" lang="en-GB">
                  <a:solidFill>
                    <a:srgbClr val="F2F2F2"/>
                  </a:solidFill>
                  <a:latin typeface="Arial"/>
                </a:rPr>
                <a:t>Adds weight</a:t>
              </a:r>
            </a:p>
          </p:txBody>
        </p:sp>
      </p:grpSp>
      <p:sp>
        <p:nvSpPr>
          <p:cNvPr id="7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77"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78"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normal tender belongs to the engine. An auxiliary tender is an extra wagon: more range, less pulling power.</a:t>
            </a:r>
          </a:p>
        </p:txBody>
      </p:sp>
      <p:sp>
        <p:nvSpPr>
          <p:cNvPr id="7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500"/>
                                        <p:tgtEl>
                                          <p:spTgt spid="76"/>
                                        </p:tgtEl>
                                      </p:cBhvr>
                                    </p:animEffect>
                                  </p:childTnLst>
                                </p:cTn>
                              </p:par>
                              <p:par>
                                <p:cTn id="14" presetID="10" presetClass="entr" presetSubtype="0" fill="hold" nodeType="withEffect">
                                  <p:stCondLst>
                                    <p:cond delay="900"/>
                                  </p:stCondLst>
                                  <p:childTnLst>
                                    <p:set>
                                      <p:cBhvr>
                                        <p:cTn id="15" dur="1" fill="hold">
                                          <p:stCondLst>
                                            <p:cond delay="0"/>
                                          </p:stCondLst>
                                        </p:cTn>
                                        <p:tgtEl>
                                          <p:spTgt spid="77"/>
                                        </p:tgtEl>
                                        <p:attrNameLst>
                                          <p:attrName>style.visibility</p:attrName>
                                        </p:attrNameLst>
                                      </p:cBhvr>
                                      <p:to>
                                        <p:strVal val="visible"/>
                                      </p:to>
                                    </p:set>
                                    <p:animEffect transition="in" filter="fade">
                                      <p:cBhvr>
                                        <p:cTn id="16" dur="500"/>
                                        <p:tgtEl>
                                          <p:spTgt spid="77"/>
                                        </p:tgtEl>
                                      </p:cBhvr>
                                    </p:animEffect>
                                  </p:childTnLst>
                                </p:cTn>
                              </p:par>
                              <p:par>
                                <p:cTn id="17" presetID="10" presetClass="entr" presetSubtype="0" fill="hold" nodeType="withEffect">
                                  <p:stCondLst>
                                    <p:cond delay="1200"/>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Who gains from a tender?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hree class cards" descr="Three cards for Small, Medium and Large. Each shows a locomotive with a hatched auxiliary tender behind it, and a one-line verdict."/>
          <p:cNvGrpSpPr/>
          <p:nvPr/>
        </p:nvGrpSpPr>
        <p:grpSpPr>
          <a:xfrm>
            <a:off x="548640" y="1417320"/>
            <a:ext cx="11091672" cy="3931920"/>
            <a:chOff x="548640" y="1417320"/>
            <a:chExt cx="11091672" cy="3931920"/>
          </a:xfrm>
        </p:grpSpPr>
        <p:sp>
          <p:nvSpPr>
            <p:cNvPr id="5" name="class card"/>
            <p:cNvSpPr/>
            <p:nvPr/>
          </p:nvSpPr>
          <p:spPr>
            <a:xfrm>
              <a:off x="548640" y="1417320"/>
              <a:ext cx="3474720" cy="3246120"/>
            </a:xfrm>
            <a:prstGeom prst="roundRect">
              <a:avLst>
                <a:gd name="adj" fmla="val 2816"/>
              </a:avLst>
            </a:prstGeom>
            <a:solidFill>
              <a:srgbClr val="2B2F36"/>
            </a:solidFill>
            <a:ln w="19050">
              <a:solidFill>
                <a:srgbClr val="4A515B"/>
              </a:solidFill>
            </a:ln>
          </p:spPr>
          <p:txBody>
            <a:bodyPr rtlCol="0" anchor="ctr"/>
            <a:lstStyle/>
            <a:p>
              <a:pPr algn="ctr"/>
            </a:p>
          </p:txBody>
        </p:sp>
        <p:sp>
          <p:nvSpPr>
            <p:cNvPr id="6" name="card header"/>
            <p:cNvSpPr/>
            <p:nvPr/>
          </p:nvSpPr>
          <p:spPr>
            <a:xfrm>
              <a:off x="548640" y="1417320"/>
              <a:ext cx="3474720" cy="548640"/>
            </a:xfrm>
            <a:prstGeom prst="roundRect">
              <a:avLst>
                <a:gd name="adj" fmla="val 16666"/>
              </a:avLst>
            </a:prstGeom>
            <a:solidFill>
              <a:srgbClr val="343A43"/>
            </a:solidFill>
            <a:ln>
              <a:noFill/>
            </a:ln>
          </p:spPr>
          <p:txBody>
            <a:bodyPr rtlCol="0" anchor="ctr"/>
            <a:lstStyle/>
            <a:p>
              <a:pPr algn="ctr"/>
            </a:p>
          </p:txBody>
        </p:sp>
        <p:sp>
          <p:nvSpPr>
            <p:cNvPr id="7" name="class name"/>
            <p:cNvSpPr txBox="1"/>
            <p:nvPr/>
          </p:nvSpPr>
          <p:spPr>
            <a:xfrm>
              <a:off x="731520" y="1417320"/>
              <a:ext cx="3108960" cy="548640"/>
            </a:xfrm>
            <a:prstGeom prst="rect">
              <a:avLst/>
            </a:prstGeom>
            <a:noFill/>
          </p:spPr>
          <p:txBody>
            <a:bodyPr wrap="square" anchor="ctr" lIns="18288" tIns="9144" rIns="18288" bIns="9144">
              <a:noAutofit/>
            </a:bodyPr>
            <a:lstStyle/>
            <a:p>
              <a:pPr algn="l"/>
              <a:r>
                <a:rPr sz="2200" b="1" i="0" lang="en-GB">
                  <a:solidFill>
                    <a:srgbClr val="F28C28"/>
                  </a:solidFill>
                  <a:latin typeface="Arial"/>
                </a:rPr>
                <a:t>Small</a:t>
              </a:r>
            </a:p>
          </p:txBody>
        </p:sp>
        <p:sp>
          <p:nvSpPr>
            <p:cNvPr id="8" name="bunker"/>
            <p:cNvSpPr/>
            <p:nvPr/>
          </p:nvSpPr>
          <p:spPr>
            <a:xfrm>
              <a:off x="731520" y="2660904"/>
              <a:ext cx="347472" cy="347472"/>
            </a:xfrm>
            <a:prstGeom prst="roundRect">
              <a:avLst>
                <a:gd name="adj" fmla="val 2631"/>
              </a:avLst>
            </a:prstGeom>
            <a:solidFill>
              <a:srgbClr val="F28C28"/>
            </a:solidFill>
            <a:ln>
              <a:noFill/>
            </a:ln>
          </p:spPr>
          <p:txBody>
            <a:bodyPr rtlCol="0" anchor="ctr"/>
            <a:lstStyle/>
            <a:p>
              <a:pPr algn="ctr"/>
            </a:p>
          </p:txBody>
        </p:sp>
        <p:sp>
          <p:nvSpPr>
            <p:cNvPr id="9" name="bunker coal"/>
            <p:cNvSpPr/>
            <p:nvPr/>
          </p:nvSpPr>
          <p:spPr>
            <a:xfrm>
              <a:off x="768096" y="2596896"/>
              <a:ext cx="274320" cy="82296"/>
            </a:xfrm>
            <a:prstGeom prst="rect">
              <a:avLst/>
            </a:prstGeom>
            <a:solidFill>
              <a:srgbClr val="1B1D21"/>
            </a:solidFill>
            <a:ln w="12700">
              <a:solidFill>
                <a:srgbClr val="9AA0A6"/>
              </a:solidFill>
            </a:ln>
          </p:spPr>
          <p:txBody>
            <a:bodyPr rtlCol="0" anchor="ctr"/>
            <a:lstStyle/>
            <a:p>
              <a:pPr algn="ctr"/>
            </a:p>
          </p:txBody>
        </p:sp>
        <p:sp>
          <p:nvSpPr>
            <p:cNvPr id="10" name="cab"/>
            <p:cNvSpPr/>
            <p:nvPr/>
          </p:nvSpPr>
          <p:spPr>
            <a:xfrm>
              <a:off x="1060704" y="2496312"/>
              <a:ext cx="365760" cy="512063"/>
            </a:xfrm>
            <a:prstGeom prst="roundRect">
              <a:avLst>
                <a:gd name="adj" fmla="val 2500"/>
              </a:avLst>
            </a:prstGeom>
            <a:solidFill>
              <a:srgbClr val="F28C28"/>
            </a:solidFill>
            <a:ln>
              <a:noFill/>
            </a:ln>
          </p:spPr>
          <p:txBody>
            <a:bodyPr rtlCol="0" anchor="ctr"/>
            <a:lstStyle/>
            <a:p>
              <a:pPr algn="ctr"/>
            </a:p>
          </p:txBody>
        </p:sp>
        <p:sp>
          <p:nvSpPr>
            <p:cNvPr id="11" name="cab roof"/>
            <p:cNvSpPr/>
            <p:nvPr/>
          </p:nvSpPr>
          <p:spPr>
            <a:xfrm>
              <a:off x="1042416" y="2468879"/>
              <a:ext cx="402336" cy="40233"/>
            </a:xfrm>
            <a:prstGeom prst="rect">
              <a:avLst/>
            </a:prstGeom>
            <a:solidFill>
              <a:srgbClr val="3A3F47"/>
            </a:solidFill>
            <a:ln w="9525">
              <a:solidFill>
                <a:srgbClr val="9AA0A6"/>
              </a:solidFill>
            </a:ln>
          </p:spPr>
          <p:txBody>
            <a:bodyPr rtlCol="0" anchor="ctr"/>
            <a:lstStyle/>
            <a:p>
              <a:pPr algn="ctr"/>
            </a:p>
          </p:txBody>
        </p:sp>
        <p:sp>
          <p:nvSpPr>
            <p:cNvPr id="12" name="cab window"/>
            <p:cNvSpPr/>
            <p:nvPr/>
          </p:nvSpPr>
          <p:spPr>
            <a:xfrm>
              <a:off x="1133856" y="2596896"/>
              <a:ext cx="219456" cy="164592"/>
            </a:xfrm>
            <a:prstGeom prst="rect">
              <a:avLst/>
            </a:prstGeom>
            <a:solidFill>
              <a:srgbClr val="1B1D21"/>
            </a:solidFill>
            <a:ln>
              <a:noFill/>
            </a:ln>
          </p:spPr>
          <p:txBody>
            <a:bodyPr rtlCol="0" anchor="ctr"/>
            <a:lstStyle/>
            <a:p>
              <a:pPr algn="ctr"/>
            </a:p>
          </p:txBody>
        </p:sp>
        <p:sp>
          <p:nvSpPr>
            <p:cNvPr id="13" name="boiler"/>
            <p:cNvSpPr/>
            <p:nvPr/>
          </p:nvSpPr>
          <p:spPr>
            <a:xfrm>
              <a:off x="1426464" y="2606040"/>
              <a:ext cx="1097280" cy="402336"/>
            </a:xfrm>
            <a:prstGeom prst="roundRect">
              <a:avLst>
                <a:gd name="adj" fmla="val 27272"/>
              </a:avLst>
            </a:prstGeom>
            <a:solidFill>
              <a:srgbClr val="F28C28"/>
            </a:solidFill>
            <a:ln>
              <a:noFill/>
            </a:ln>
          </p:spPr>
          <p:txBody>
            <a:bodyPr rtlCol="0" anchor="ctr"/>
            <a:lstStyle/>
            <a:p>
              <a:pPr algn="ctr"/>
            </a:p>
          </p:txBody>
        </p:sp>
        <p:sp>
          <p:nvSpPr>
            <p:cNvPr id="14" name="side tank"/>
            <p:cNvSpPr/>
            <p:nvPr/>
          </p:nvSpPr>
          <p:spPr>
            <a:xfrm>
              <a:off x="1444752" y="2734056"/>
              <a:ext cx="841247" cy="274320"/>
            </a:xfrm>
            <a:prstGeom prst="roundRect">
              <a:avLst>
                <a:gd name="adj" fmla="val 13333"/>
              </a:avLst>
            </a:prstGeom>
            <a:solidFill>
              <a:srgbClr val="C96F1B"/>
            </a:solidFill>
            <a:ln>
              <a:noFill/>
            </a:ln>
          </p:spPr>
          <p:txBody>
            <a:bodyPr rtlCol="0" anchor="ctr"/>
            <a:lstStyle/>
            <a:p>
              <a:pPr algn="ctr"/>
            </a:p>
          </p:txBody>
        </p:sp>
        <p:sp>
          <p:nvSpPr>
            <p:cNvPr id="15" name="chimney"/>
            <p:cNvSpPr/>
            <p:nvPr/>
          </p:nvSpPr>
          <p:spPr>
            <a:xfrm>
              <a:off x="2286000" y="2441448"/>
              <a:ext cx="128015" cy="173736"/>
            </a:xfrm>
            <a:prstGeom prst="rect">
              <a:avLst/>
            </a:prstGeom>
            <a:solidFill>
              <a:srgbClr val="3A3F47"/>
            </a:solidFill>
            <a:ln w="9525">
              <a:solidFill>
                <a:srgbClr val="9AA0A6"/>
              </a:solidFill>
            </a:ln>
          </p:spPr>
          <p:txBody>
            <a:bodyPr rtlCol="0" anchor="ctr"/>
            <a:lstStyle/>
            <a:p>
              <a:pPr algn="ctr"/>
            </a:p>
          </p:txBody>
        </p:sp>
        <p:sp>
          <p:nvSpPr>
            <p:cNvPr id="16" name="chimney lip"/>
            <p:cNvSpPr/>
            <p:nvPr/>
          </p:nvSpPr>
          <p:spPr>
            <a:xfrm>
              <a:off x="2258568" y="2423160"/>
              <a:ext cx="182880" cy="36576"/>
            </a:xfrm>
            <a:prstGeom prst="rect">
              <a:avLst/>
            </a:prstGeom>
            <a:solidFill>
              <a:srgbClr val="3A3F47"/>
            </a:solidFill>
            <a:ln w="9525">
              <a:solidFill>
                <a:srgbClr val="9AA0A6"/>
              </a:solidFill>
            </a:ln>
          </p:spPr>
          <p:txBody>
            <a:bodyPr rtlCol="0" anchor="ctr"/>
            <a:lstStyle/>
            <a:p>
              <a:pPr algn="ctr"/>
            </a:p>
          </p:txBody>
        </p:sp>
        <p:sp>
          <p:nvSpPr>
            <p:cNvPr id="17" name="dome"/>
            <p:cNvSpPr/>
            <p:nvPr/>
          </p:nvSpPr>
          <p:spPr>
            <a:xfrm>
              <a:off x="2322576" y="2569464"/>
              <a:ext cx="182880" cy="45720"/>
            </a:xfrm>
            <a:prstGeom prst="roundRect">
              <a:avLst>
                <a:gd name="adj" fmla="val 50000"/>
              </a:avLst>
            </a:prstGeom>
            <a:solidFill>
              <a:srgbClr val="F28C28"/>
            </a:solidFill>
            <a:ln>
              <a:noFill/>
            </a:ln>
          </p:spPr>
          <p:txBody>
            <a:bodyPr rtlCol="0" anchor="ctr"/>
            <a:lstStyle/>
            <a:p>
              <a:pPr algn="ctr"/>
            </a:p>
          </p:txBody>
        </p:sp>
        <p:sp>
          <p:nvSpPr>
            <p:cNvPr id="18" name="frame"/>
            <p:cNvSpPr/>
            <p:nvPr/>
          </p:nvSpPr>
          <p:spPr>
            <a:xfrm>
              <a:off x="1060704" y="3008376"/>
              <a:ext cx="1463040" cy="54864"/>
            </a:xfrm>
            <a:prstGeom prst="rect">
              <a:avLst/>
            </a:prstGeom>
            <a:solidFill>
              <a:srgbClr val="3A3F47"/>
            </a:solidFill>
            <a:ln w="9525">
              <a:solidFill>
                <a:srgbClr val="9AA0A6"/>
              </a:solidFill>
            </a:ln>
          </p:spPr>
          <p:txBody>
            <a:bodyPr rtlCol="0" anchor="ctr"/>
            <a:lstStyle/>
            <a:p>
              <a:pPr algn="ctr"/>
            </a:p>
          </p:txBody>
        </p:sp>
        <p:sp>
          <p:nvSpPr>
            <p:cNvPr id="19" name="wheel"/>
            <p:cNvSpPr/>
            <p:nvPr/>
          </p:nvSpPr>
          <p:spPr>
            <a:xfrm>
              <a:off x="1289304" y="2953512"/>
              <a:ext cx="274320" cy="274320"/>
            </a:xfrm>
            <a:prstGeom prst="ellipse">
              <a:avLst/>
            </a:prstGeom>
            <a:solidFill>
              <a:srgbClr val="1B1D21"/>
            </a:solidFill>
            <a:ln w="19050">
              <a:solidFill>
                <a:srgbClr val="9AA0A6"/>
              </a:solidFill>
            </a:ln>
          </p:spPr>
          <p:txBody>
            <a:bodyPr rtlCol="0" anchor="ctr"/>
            <a:lstStyle/>
            <a:p>
              <a:pPr algn="ctr"/>
            </a:p>
          </p:txBody>
        </p:sp>
        <p:sp>
          <p:nvSpPr>
            <p:cNvPr id="20" name="hub"/>
            <p:cNvSpPr/>
            <p:nvPr/>
          </p:nvSpPr>
          <p:spPr>
            <a:xfrm>
              <a:off x="1393545" y="3057753"/>
              <a:ext cx="65836" cy="65836"/>
            </a:xfrm>
            <a:prstGeom prst="ellipse">
              <a:avLst/>
            </a:prstGeom>
            <a:solidFill>
              <a:srgbClr val="9AA0A6"/>
            </a:solidFill>
            <a:ln>
              <a:noFill/>
            </a:ln>
          </p:spPr>
          <p:txBody>
            <a:bodyPr rtlCol="0" anchor="ctr"/>
            <a:lstStyle/>
            <a:p>
              <a:pPr algn="ctr"/>
            </a:p>
          </p:txBody>
        </p:sp>
        <p:sp>
          <p:nvSpPr>
            <p:cNvPr id="21" name="wheel"/>
            <p:cNvSpPr/>
            <p:nvPr/>
          </p:nvSpPr>
          <p:spPr>
            <a:xfrm>
              <a:off x="1655064" y="2953512"/>
              <a:ext cx="274320" cy="274320"/>
            </a:xfrm>
            <a:prstGeom prst="ellipse">
              <a:avLst/>
            </a:prstGeom>
            <a:solidFill>
              <a:srgbClr val="1B1D21"/>
            </a:solidFill>
            <a:ln w="19050">
              <a:solidFill>
                <a:srgbClr val="9AA0A6"/>
              </a:solidFill>
            </a:ln>
          </p:spPr>
          <p:txBody>
            <a:bodyPr rtlCol="0" anchor="ctr"/>
            <a:lstStyle/>
            <a:p>
              <a:pPr algn="ctr"/>
            </a:p>
          </p:txBody>
        </p:sp>
        <p:sp>
          <p:nvSpPr>
            <p:cNvPr id="22" name="hub"/>
            <p:cNvSpPr/>
            <p:nvPr/>
          </p:nvSpPr>
          <p:spPr>
            <a:xfrm>
              <a:off x="1759305" y="3057753"/>
              <a:ext cx="65836" cy="65836"/>
            </a:xfrm>
            <a:prstGeom prst="ellipse">
              <a:avLst/>
            </a:prstGeom>
            <a:solidFill>
              <a:srgbClr val="9AA0A6"/>
            </a:solidFill>
            <a:ln>
              <a:noFill/>
            </a:ln>
          </p:spPr>
          <p:txBody>
            <a:bodyPr rtlCol="0" anchor="ctr"/>
            <a:lstStyle/>
            <a:p>
              <a:pPr algn="ctr"/>
            </a:p>
          </p:txBody>
        </p:sp>
        <p:sp>
          <p:nvSpPr>
            <p:cNvPr id="23" name="wheel"/>
            <p:cNvSpPr/>
            <p:nvPr/>
          </p:nvSpPr>
          <p:spPr>
            <a:xfrm>
              <a:off x="2020824" y="2953512"/>
              <a:ext cx="274320" cy="274320"/>
            </a:xfrm>
            <a:prstGeom prst="ellipse">
              <a:avLst/>
            </a:prstGeom>
            <a:solidFill>
              <a:srgbClr val="1B1D21"/>
            </a:solidFill>
            <a:ln w="19050">
              <a:solidFill>
                <a:srgbClr val="9AA0A6"/>
              </a:solidFill>
            </a:ln>
          </p:spPr>
          <p:txBody>
            <a:bodyPr rtlCol="0" anchor="ctr"/>
            <a:lstStyle/>
            <a:p>
              <a:pPr algn="ctr"/>
            </a:p>
          </p:txBody>
        </p:sp>
        <p:sp>
          <p:nvSpPr>
            <p:cNvPr id="24" name="hub"/>
            <p:cNvSpPr/>
            <p:nvPr/>
          </p:nvSpPr>
          <p:spPr>
            <a:xfrm>
              <a:off x="2125065" y="3057753"/>
              <a:ext cx="65836" cy="65836"/>
            </a:xfrm>
            <a:prstGeom prst="ellipse">
              <a:avLst/>
            </a:prstGeom>
            <a:solidFill>
              <a:srgbClr val="9AA0A6"/>
            </a:solidFill>
            <a:ln>
              <a:noFill/>
            </a:ln>
          </p:spPr>
          <p:txBody>
            <a:bodyPr rtlCol="0" anchor="ctr"/>
            <a:lstStyle/>
            <a:p>
              <a:pPr algn="ctr"/>
            </a:p>
          </p:txBody>
        </p:sp>
        <p:sp>
          <p:nvSpPr>
            <p:cNvPr id="25" name="aux tender"/>
            <p:cNvSpPr/>
            <p:nvPr/>
          </p:nvSpPr>
          <p:spPr>
            <a:xfrm>
              <a:off x="2633472"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p>
          </p:txBody>
        </p:sp>
        <p:sp>
          <p:nvSpPr>
            <p:cNvPr id="26" name="tender hatch"/>
            <p:cNvSpPr/>
            <p:nvPr/>
          </p:nvSpPr>
          <p:spPr>
            <a:xfrm>
              <a:off x="2706624" y="2606040"/>
              <a:ext cx="128015" cy="128015"/>
            </a:xfrm>
            <a:prstGeom prst="ellipse">
              <a:avLst/>
            </a:prstGeom>
            <a:solidFill>
              <a:srgbClr val="1B1D21"/>
            </a:solidFill>
            <a:ln w="19050">
              <a:solidFill>
                <a:srgbClr val="F2F2F2"/>
              </a:solidFill>
            </a:ln>
          </p:spPr>
          <p:txBody>
            <a:bodyPr rtlCol="0" anchor="ctr"/>
            <a:lstStyle/>
            <a:p>
              <a:pPr algn="ctr"/>
            </a:p>
          </p:txBody>
        </p:sp>
        <p:sp>
          <p:nvSpPr>
            <p:cNvPr id="27" name="wagon frame"/>
            <p:cNvSpPr/>
            <p:nvPr/>
          </p:nvSpPr>
          <p:spPr>
            <a:xfrm>
              <a:off x="2633472" y="3008376"/>
              <a:ext cx="914400" cy="54864"/>
            </a:xfrm>
            <a:prstGeom prst="rect">
              <a:avLst/>
            </a:prstGeom>
            <a:solidFill>
              <a:srgbClr val="3A3F47"/>
            </a:solidFill>
            <a:ln w="9525">
              <a:solidFill>
                <a:srgbClr val="9AA0A6"/>
              </a:solidFill>
            </a:ln>
          </p:spPr>
          <p:txBody>
            <a:bodyPr rtlCol="0" anchor="ctr"/>
            <a:lstStyle/>
            <a:p>
              <a:pPr algn="ctr"/>
            </a:p>
          </p:txBody>
        </p:sp>
        <p:sp>
          <p:nvSpPr>
            <p:cNvPr id="28" name="wheel"/>
            <p:cNvSpPr/>
            <p:nvPr/>
          </p:nvSpPr>
          <p:spPr>
            <a:xfrm>
              <a:off x="2660904" y="2953512"/>
              <a:ext cx="274320" cy="274320"/>
            </a:xfrm>
            <a:prstGeom prst="ellipse">
              <a:avLst/>
            </a:prstGeom>
            <a:solidFill>
              <a:srgbClr val="1B1D21"/>
            </a:solidFill>
            <a:ln w="19050">
              <a:solidFill>
                <a:srgbClr val="9AA0A6"/>
              </a:solidFill>
            </a:ln>
          </p:spPr>
          <p:txBody>
            <a:bodyPr rtlCol="0" anchor="ctr"/>
            <a:lstStyle/>
            <a:p>
              <a:pPr algn="ctr"/>
            </a:p>
          </p:txBody>
        </p:sp>
        <p:sp>
          <p:nvSpPr>
            <p:cNvPr id="29" name="hub"/>
            <p:cNvSpPr/>
            <p:nvPr/>
          </p:nvSpPr>
          <p:spPr>
            <a:xfrm>
              <a:off x="2765145" y="3057753"/>
              <a:ext cx="65836" cy="65836"/>
            </a:xfrm>
            <a:prstGeom prst="ellipse">
              <a:avLst/>
            </a:prstGeom>
            <a:solidFill>
              <a:srgbClr val="9AA0A6"/>
            </a:solidFill>
            <a:ln>
              <a:noFill/>
            </a:ln>
          </p:spPr>
          <p:txBody>
            <a:bodyPr rtlCol="0" anchor="ctr"/>
            <a:lstStyle/>
            <a:p>
              <a:pPr algn="ctr"/>
            </a:p>
          </p:txBody>
        </p:sp>
        <p:sp>
          <p:nvSpPr>
            <p:cNvPr id="30" name="wheel"/>
            <p:cNvSpPr/>
            <p:nvPr/>
          </p:nvSpPr>
          <p:spPr>
            <a:xfrm>
              <a:off x="3246120" y="2953512"/>
              <a:ext cx="274320" cy="274320"/>
            </a:xfrm>
            <a:prstGeom prst="ellipse">
              <a:avLst/>
            </a:prstGeom>
            <a:solidFill>
              <a:srgbClr val="1B1D21"/>
            </a:solidFill>
            <a:ln w="19050">
              <a:solidFill>
                <a:srgbClr val="9AA0A6"/>
              </a:solidFill>
            </a:ln>
          </p:spPr>
          <p:txBody>
            <a:bodyPr rtlCol="0" anchor="ctr"/>
            <a:lstStyle/>
            <a:p>
              <a:pPr algn="ctr"/>
            </a:p>
          </p:txBody>
        </p:sp>
        <p:sp>
          <p:nvSpPr>
            <p:cNvPr id="31" name="hub"/>
            <p:cNvSpPr/>
            <p:nvPr/>
          </p:nvSpPr>
          <p:spPr>
            <a:xfrm>
              <a:off x="3350361" y="3057753"/>
              <a:ext cx="65836" cy="65836"/>
            </a:xfrm>
            <a:prstGeom prst="ellipse">
              <a:avLst/>
            </a:prstGeom>
            <a:solidFill>
              <a:srgbClr val="9AA0A6"/>
            </a:solidFill>
            <a:ln>
              <a:noFill/>
            </a:ln>
          </p:spPr>
          <p:txBody>
            <a:bodyPr rtlCol="0" anchor="ctr"/>
            <a:lstStyle/>
            <a:p>
              <a:pPr algn="ctr"/>
            </a:p>
          </p:txBody>
        </p:sp>
        <p:sp>
          <p:nvSpPr>
            <p:cNvPr id="32" name="rail"/>
            <p:cNvSpPr/>
            <p:nvPr/>
          </p:nvSpPr>
          <p:spPr>
            <a:xfrm>
              <a:off x="640080" y="3227832"/>
              <a:ext cx="3291840" cy="54864"/>
            </a:xfrm>
            <a:prstGeom prst="rect">
              <a:avLst/>
            </a:prstGeom>
            <a:solidFill>
              <a:srgbClr val="9AA0A6"/>
            </a:solidFill>
            <a:ln>
              <a:noFill/>
            </a:ln>
          </p:spPr>
          <p:txBody>
            <a:bodyPr rtlCol="0" anchor="ctr"/>
            <a:lstStyle/>
            <a:p>
              <a:pPr algn="ctr"/>
            </a:p>
          </p:txBody>
        </p:sp>
        <p:sp>
          <p:nvSpPr>
            <p:cNvPr id="33" name="verdict"/>
            <p:cNvSpPr txBox="1"/>
            <p:nvPr/>
          </p:nvSpPr>
          <p:spPr>
            <a:xfrm>
              <a:off x="731520" y="3520440"/>
              <a:ext cx="3108960" cy="1051560"/>
            </a:xfrm>
            <a:prstGeom prst="rect">
              <a:avLst/>
            </a:prstGeom>
            <a:noFill/>
          </p:spPr>
          <p:txBody>
            <a:bodyPr wrap="square" anchor="t" lIns="18288" tIns="9144" rIns="18288" bIns="9144">
              <a:noAutofit/>
            </a:bodyPr>
            <a:lstStyle/>
            <a:p>
              <a:pPr algn="l"/>
              <a:r>
                <a:rPr sz="2000" b="0" i="0" lang="en-GB">
                  <a:solidFill>
                    <a:srgbClr val="F2F2F2"/>
                  </a:solidFill>
                  <a:latin typeface="Arial"/>
                </a:rPr>
                <a:t>Extra weight worsens its main weakness</a:t>
              </a:r>
            </a:p>
          </p:txBody>
        </p:sp>
        <p:sp>
          <p:nvSpPr>
            <p:cNvPr id="34" name="class card"/>
            <p:cNvSpPr/>
            <p:nvPr/>
          </p:nvSpPr>
          <p:spPr>
            <a:xfrm>
              <a:off x="4357116" y="1417320"/>
              <a:ext cx="3474720" cy="3246120"/>
            </a:xfrm>
            <a:prstGeom prst="roundRect">
              <a:avLst>
                <a:gd name="adj" fmla="val 2816"/>
              </a:avLst>
            </a:prstGeom>
            <a:solidFill>
              <a:srgbClr val="2B2F36"/>
            </a:solidFill>
            <a:ln w="19050">
              <a:solidFill>
                <a:srgbClr val="4A515B"/>
              </a:solidFill>
            </a:ln>
          </p:spPr>
          <p:txBody>
            <a:bodyPr rtlCol="0" anchor="ctr"/>
            <a:lstStyle/>
            <a:p>
              <a:pPr algn="ctr"/>
            </a:p>
          </p:txBody>
        </p:sp>
        <p:sp>
          <p:nvSpPr>
            <p:cNvPr id="35" name="card header"/>
            <p:cNvSpPr/>
            <p:nvPr/>
          </p:nvSpPr>
          <p:spPr>
            <a:xfrm>
              <a:off x="4357116" y="1417320"/>
              <a:ext cx="3474720" cy="548640"/>
            </a:xfrm>
            <a:prstGeom prst="roundRect">
              <a:avLst>
                <a:gd name="adj" fmla="val 16666"/>
              </a:avLst>
            </a:prstGeom>
            <a:solidFill>
              <a:srgbClr val="343A43"/>
            </a:solidFill>
            <a:ln>
              <a:noFill/>
            </a:ln>
          </p:spPr>
          <p:txBody>
            <a:bodyPr rtlCol="0" anchor="ctr"/>
            <a:lstStyle/>
            <a:p>
              <a:pPr algn="ctr"/>
            </a:p>
          </p:txBody>
        </p:sp>
        <p:sp>
          <p:nvSpPr>
            <p:cNvPr id="36" name="class name"/>
            <p:cNvSpPr txBox="1"/>
            <p:nvPr/>
          </p:nvSpPr>
          <p:spPr>
            <a:xfrm>
              <a:off x="4539996" y="1417320"/>
              <a:ext cx="3108960" cy="548640"/>
            </a:xfrm>
            <a:prstGeom prst="rect">
              <a:avLst/>
            </a:prstGeom>
            <a:noFill/>
          </p:spPr>
          <p:txBody>
            <a:bodyPr wrap="square" anchor="ctr" lIns="18288" tIns="9144" rIns="18288" bIns="9144">
              <a:noAutofit/>
            </a:bodyPr>
            <a:lstStyle/>
            <a:p>
              <a:pPr algn="l"/>
              <a:r>
                <a:rPr sz="2200" b="1" i="0" lang="en-GB">
                  <a:solidFill>
                    <a:srgbClr val="F28C28"/>
                  </a:solidFill>
                  <a:latin typeface="Arial"/>
                </a:rPr>
                <a:t>Medium</a:t>
              </a:r>
            </a:p>
          </p:txBody>
        </p:sp>
        <p:sp>
          <p:nvSpPr>
            <p:cNvPr id="37" name="tender body"/>
            <p:cNvSpPr/>
            <p:nvPr/>
          </p:nvSpPr>
          <p:spPr>
            <a:xfrm>
              <a:off x="4539996" y="2660904"/>
              <a:ext cx="694944" cy="347472"/>
            </a:xfrm>
            <a:prstGeom prst="roundRect">
              <a:avLst>
                <a:gd name="adj" fmla="val 2631"/>
              </a:avLst>
            </a:prstGeom>
            <a:solidFill>
              <a:srgbClr val="6C7480"/>
            </a:solidFill>
            <a:ln>
              <a:noFill/>
            </a:ln>
          </p:spPr>
          <p:txBody>
            <a:bodyPr rtlCol="0" anchor="ctr"/>
            <a:lstStyle/>
            <a:p>
              <a:pPr algn="ctr"/>
            </a:p>
          </p:txBody>
        </p:sp>
        <p:sp>
          <p:nvSpPr>
            <p:cNvPr id="38" name="tender coal"/>
            <p:cNvSpPr/>
            <p:nvPr/>
          </p:nvSpPr>
          <p:spPr>
            <a:xfrm>
              <a:off x="4594859" y="2596896"/>
              <a:ext cx="585216" cy="82296"/>
            </a:xfrm>
            <a:prstGeom prst="rect">
              <a:avLst/>
            </a:prstGeom>
            <a:solidFill>
              <a:srgbClr val="1B1D21"/>
            </a:solidFill>
            <a:ln w="12700">
              <a:solidFill>
                <a:srgbClr val="9AA0A6"/>
              </a:solidFill>
            </a:ln>
          </p:spPr>
          <p:txBody>
            <a:bodyPr rtlCol="0" anchor="ctr"/>
            <a:lstStyle/>
            <a:p>
              <a:pPr algn="ctr"/>
            </a:p>
          </p:txBody>
        </p:sp>
        <p:sp>
          <p:nvSpPr>
            <p:cNvPr id="39" name="tender frame"/>
            <p:cNvSpPr/>
            <p:nvPr/>
          </p:nvSpPr>
          <p:spPr>
            <a:xfrm>
              <a:off x="4539996" y="3008376"/>
              <a:ext cx="694944" cy="54864"/>
            </a:xfrm>
            <a:prstGeom prst="rect">
              <a:avLst/>
            </a:prstGeom>
            <a:solidFill>
              <a:srgbClr val="3A3F47"/>
            </a:solidFill>
            <a:ln w="9525">
              <a:solidFill>
                <a:srgbClr val="9AA0A6"/>
              </a:solidFill>
            </a:ln>
          </p:spPr>
          <p:txBody>
            <a:bodyPr rtlCol="0" anchor="ctr"/>
            <a:lstStyle/>
            <a:p>
              <a:pPr algn="ctr"/>
            </a:p>
          </p:txBody>
        </p:sp>
        <p:sp>
          <p:nvSpPr>
            <p:cNvPr id="40" name="coupling"/>
            <p:cNvSpPr/>
            <p:nvPr/>
          </p:nvSpPr>
          <p:spPr>
            <a:xfrm>
              <a:off x="5234940" y="2898648"/>
              <a:ext cx="73152" cy="36576"/>
            </a:xfrm>
            <a:prstGeom prst="rect">
              <a:avLst/>
            </a:prstGeom>
            <a:solidFill>
              <a:srgbClr val="9AA0A6"/>
            </a:solidFill>
            <a:ln>
              <a:noFill/>
            </a:ln>
          </p:spPr>
          <p:txBody>
            <a:bodyPr rtlCol="0" anchor="ctr"/>
            <a:lstStyle/>
            <a:p>
              <a:pPr algn="ctr"/>
            </a:p>
          </p:txBody>
        </p:sp>
        <p:sp>
          <p:nvSpPr>
            <p:cNvPr id="41" name="wheel"/>
            <p:cNvSpPr/>
            <p:nvPr/>
          </p:nvSpPr>
          <p:spPr>
            <a:xfrm>
              <a:off x="4567427" y="2953512"/>
              <a:ext cx="274320" cy="274320"/>
            </a:xfrm>
            <a:prstGeom prst="ellipse">
              <a:avLst/>
            </a:prstGeom>
            <a:solidFill>
              <a:srgbClr val="1B1D21"/>
            </a:solidFill>
            <a:ln w="19050">
              <a:solidFill>
                <a:srgbClr val="9AA0A6"/>
              </a:solidFill>
            </a:ln>
          </p:spPr>
          <p:txBody>
            <a:bodyPr rtlCol="0" anchor="ctr"/>
            <a:lstStyle/>
            <a:p>
              <a:pPr algn="ctr"/>
            </a:p>
          </p:txBody>
        </p:sp>
        <p:sp>
          <p:nvSpPr>
            <p:cNvPr id="42" name="hub"/>
            <p:cNvSpPr/>
            <p:nvPr/>
          </p:nvSpPr>
          <p:spPr>
            <a:xfrm>
              <a:off x="4671669" y="3057753"/>
              <a:ext cx="65836" cy="65836"/>
            </a:xfrm>
            <a:prstGeom prst="ellipse">
              <a:avLst/>
            </a:prstGeom>
            <a:solidFill>
              <a:srgbClr val="9AA0A6"/>
            </a:solidFill>
            <a:ln>
              <a:noFill/>
            </a:ln>
          </p:spPr>
          <p:txBody>
            <a:bodyPr rtlCol="0" anchor="ctr"/>
            <a:lstStyle/>
            <a:p>
              <a:pPr algn="ctr"/>
            </a:p>
          </p:txBody>
        </p:sp>
        <p:sp>
          <p:nvSpPr>
            <p:cNvPr id="43" name="wheel"/>
            <p:cNvSpPr/>
            <p:nvPr/>
          </p:nvSpPr>
          <p:spPr>
            <a:xfrm>
              <a:off x="4933188" y="2953512"/>
              <a:ext cx="274320" cy="274320"/>
            </a:xfrm>
            <a:prstGeom prst="ellipse">
              <a:avLst/>
            </a:prstGeom>
            <a:solidFill>
              <a:srgbClr val="1B1D21"/>
            </a:solidFill>
            <a:ln w="19050">
              <a:solidFill>
                <a:srgbClr val="9AA0A6"/>
              </a:solidFill>
            </a:ln>
          </p:spPr>
          <p:txBody>
            <a:bodyPr rtlCol="0" anchor="ctr"/>
            <a:lstStyle/>
            <a:p>
              <a:pPr algn="ctr"/>
            </a:p>
          </p:txBody>
        </p:sp>
        <p:sp>
          <p:nvSpPr>
            <p:cNvPr id="44" name="hub"/>
            <p:cNvSpPr/>
            <p:nvPr/>
          </p:nvSpPr>
          <p:spPr>
            <a:xfrm>
              <a:off x="5037429" y="3057753"/>
              <a:ext cx="65836" cy="65836"/>
            </a:xfrm>
            <a:prstGeom prst="ellipse">
              <a:avLst/>
            </a:prstGeom>
            <a:solidFill>
              <a:srgbClr val="9AA0A6"/>
            </a:solidFill>
            <a:ln>
              <a:noFill/>
            </a:ln>
          </p:spPr>
          <p:txBody>
            <a:bodyPr rtlCol="0" anchor="ctr"/>
            <a:lstStyle/>
            <a:p>
              <a:pPr algn="ctr"/>
            </a:p>
          </p:txBody>
        </p:sp>
        <p:sp>
          <p:nvSpPr>
            <p:cNvPr id="45" name="cab"/>
            <p:cNvSpPr/>
            <p:nvPr/>
          </p:nvSpPr>
          <p:spPr>
            <a:xfrm>
              <a:off x="5271516" y="2496312"/>
              <a:ext cx="365760" cy="512064"/>
            </a:xfrm>
            <a:prstGeom prst="roundRect">
              <a:avLst>
                <a:gd name="adj" fmla="val 2500"/>
              </a:avLst>
            </a:prstGeom>
            <a:solidFill>
              <a:srgbClr val="F28C28"/>
            </a:solidFill>
            <a:ln>
              <a:noFill/>
            </a:ln>
          </p:spPr>
          <p:txBody>
            <a:bodyPr rtlCol="0" anchor="ctr"/>
            <a:lstStyle/>
            <a:p>
              <a:pPr algn="ctr"/>
            </a:p>
          </p:txBody>
        </p:sp>
        <p:sp>
          <p:nvSpPr>
            <p:cNvPr id="46" name="cab roof"/>
            <p:cNvSpPr/>
            <p:nvPr/>
          </p:nvSpPr>
          <p:spPr>
            <a:xfrm>
              <a:off x="5253228" y="2468879"/>
              <a:ext cx="402336" cy="40233"/>
            </a:xfrm>
            <a:prstGeom prst="rect">
              <a:avLst/>
            </a:prstGeom>
            <a:solidFill>
              <a:srgbClr val="3A3F47"/>
            </a:solidFill>
            <a:ln w="9525">
              <a:solidFill>
                <a:srgbClr val="9AA0A6"/>
              </a:solidFill>
            </a:ln>
          </p:spPr>
          <p:txBody>
            <a:bodyPr rtlCol="0" anchor="ctr"/>
            <a:lstStyle/>
            <a:p>
              <a:pPr algn="ctr"/>
            </a:p>
          </p:txBody>
        </p:sp>
        <p:sp>
          <p:nvSpPr>
            <p:cNvPr id="47" name="cab window"/>
            <p:cNvSpPr/>
            <p:nvPr/>
          </p:nvSpPr>
          <p:spPr>
            <a:xfrm>
              <a:off x="5344668" y="2596896"/>
              <a:ext cx="219456" cy="164592"/>
            </a:xfrm>
            <a:prstGeom prst="rect">
              <a:avLst/>
            </a:prstGeom>
            <a:solidFill>
              <a:srgbClr val="1B1D21"/>
            </a:solidFill>
            <a:ln>
              <a:noFill/>
            </a:ln>
          </p:spPr>
          <p:txBody>
            <a:bodyPr rtlCol="0" anchor="ctr"/>
            <a:lstStyle/>
            <a:p>
              <a:pPr algn="ctr"/>
            </a:p>
          </p:txBody>
        </p:sp>
        <p:sp>
          <p:nvSpPr>
            <p:cNvPr id="48" name="boiler"/>
            <p:cNvSpPr/>
            <p:nvPr/>
          </p:nvSpPr>
          <p:spPr>
            <a:xfrm>
              <a:off x="5637276" y="2606040"/>
              <a:ext cx="1097280" cy="402336"/>
            </a:xfrm>
            <a:prstGeom prst="roundRect">
              <a:avLst>
                <a:gd name="adj" fmla="val 27272"/>
              </a:avLst>
            </a:prstGeom>
            <a:solidFill>
              <a:srgbClr val="F28C28"/>
            </a:solidFill>
            <a:ln>
              <a:noFill/>
            </a:ln>
          </p:spPr>
          <p:txBody>
            <a:bodyPr rtlCol="0" anchor="ctr"/>
            <a:lstStyle/>
            <a:p>
              <a:pPr algn="ctr"/>
            </a:p>
          </p:txBody>
        </p:sp>
        <p:sp>
          <p:nvSpPr>
            <p:cNvPr id="49" name="chimney"/>
            <p:cNvSpPr/>
            <p:nvPr/>
          </p:nvSpPr>
          <p:spPr>
            <a:xfrm>
              <a:off x="6496812" y="2441448"/>
              <a:ext cx="128016" cy="173736"/>
            </a:xfrm>
            <a:prstGeom prst="rect">
              <a:avLst/>
            </a:prstGeom>
            <a:solidFill>
              <a:srgbClr val="3A3F47"/>
            </a:solidFill>
            <a:ln w="9525">
              <a:solidFill>
                <a:srgbClr val="9AA0A6"/>
              </a:solidFill>
            </a:ln>
          </p:spPr>
          <p:txBody>
            <a:bodyPr rtlCol="0" anchor="ctr"/>
            <a:lstStyle/>
            <a:p>
              <a:pPr algn="ctr"/>
            </a:p>
          </p:txBody>
        </p:sp>
        <p:sp>
          <p:nvSpPr>
            <p:cNvPr id="50" name="chimney lip"/>
            <p:cNvSpPr/>
            <p:nvPr/>
          </p:nvSpPr>
          <p:spPr>
            <a:xfrm>
              <a:off x="6469380" y="2423160"/>
              <a:ext cx="182880" cy="36576"/>
            </a:xfrm>
            <a:prstGeom prst="rect">
              <a:avLst/>
            </a:prstGeom>
            <a:solidFill>
              <a:srgbClr val="3A3F47"/>
            </a:solidFill>
            <a:ln w="9525">
              <a:solidFill>
                <a:srgbClr val="9AA0A6"/>
              </a:solidFill>
            </a:ln>
          </p:spPr>
          <p:txBody>
            <a:bodyPr rtlCol="0" anchor="ctr"/>
            <a:lstStyle/>
            <a:p>
              <a:pPr algn="ctr"/>
            </a:p>
          </p:txBody>
        </p:sp>
        <p:sp>
          <p:nvSpPr>
            <p:cNvPr id="51" name="dome"/>
            <p:cNvSpPr/>
            <p:nvPr/>
          </p:nvSpPr>
          <p:spPr>
            <a:xfrm>
              <a:off x="5948172" y="2523744"/>
              <a:ext cx="182880" cy="91440"/>
            </a:xfrm>
            <a:prstGeom prst="roundRect">
              <a:avLst>
                <a:gd name="adj" fmla="val 40000"/>
              </a:avLst>
            </a:prstGeom>
            <a:solidFill>
              <a:srgbClr val="F28C28"/>
            </a:solidFill>
            <a:ln>
              <a:noFill/>
            </a:ln>
          </p:spPr>
          <p:txBody>
            <a:bodyPr rtlCol="0" anchor="ctr"/>
            <a:lstStyle/>
            <a:p>
              <a:pPr algn="ctr"/>
            </a:p>
          </p:txBody>
        </p:sp>
        <p:sp>
          <p:nvSpPr>
            <p:cNvPr id="52" name="frame"/>
            <p:cNvSpPr/>
            <p:nvPr/>
          </p:nvSpPr>
          <p:spPr>
            <a:xfrm>
              <a:off x="5271516" y="3008376"/>
              <a:ext cx="1463040" cy="54864"/>
            </a:xfrm>
            <a:prstGeom prst="rect">
              <a:avLst/>
            </a:prstGeom>
            <a:solidFill>
              <a:srgbClr val="3A3F47"/>
            </a:solidFill>
            <a:ln w="9525">
              <a:solidFill>
                <a:srgbClr val="9AA0A6"/>
              </a:solidFill>
            </a:ln>
          </p:spPr>
          <p:txBody>
            <a:bodyPr rtlCol="0" anchor="ctr"/>
            <a:lstStyle/>
            <a:p>
              <a:pPr algn="ctr"/>
            </a:p>
          </p:txBody>
        </p:sp>
        <p:sp>
          <p:nvSpPr>
            <p:cNvPr id="53" name="wheel"/>
            <p:cNvSpPr/>
            <p:nvPr/>
          </p:nvSpPr>
          <p:spPr>
            <a:xfrm>
              <a:off x="5536692" y="2953512"/>
              <a:ext cx="274320" cy="274320"/>
            </a:xfrm>
            <a:prstGeom prst="ellipse">
              <a:avLst/>
            </a:prstGeom>
            <a:solidFill>
              <a:srgbClr val="1B1D21"/>
            </a:solidFill>
            <a:ln w="19050">
              <a:solidFill>
                <a:srgbClr val="9AA0A6"/>
              </a:solidFill>
            </a:ln>
          </p:spPr>
          <p:txBody>
            <a:bodyPr rtlCol="0" anchor="ctr"/>
            <a:lstStyle/>
            <a:p>
              <a:pPr algn="ctr"/>
            </a:p>
          </p:txBody>
        </p:sp>
        <p:sp>
          <p:nvSpPr>
            <p:cNvPr id="54" name="hub"/>
            <p:cNvSpPr/>
            <p:nvPr/>
          </p:nvSpPr>
          <p:spPr>
            <a:xfrm>
              <a:off x="5640933" y="3057753"/>
              <a:ext cx="65836" cy="65836"/>
            </a:xfrm>
            <a:prstGeom prst="ellipse">
              <a:avLst/>
            </a:prstGeom>
            <a:solidFill>
              <a:srgbClr val="9AA0A6"/>
            </a:solidFill>
            <a:ln>
              <a:noFill/>
            </a:ln>
          </p:spPr>
          <p:txBody>
            <a:bodyPr rtlCol="0" anchor="ctr"/>
            <a:lstStyle/>
            <a:p>
              <a:pPr algn="ctr"/>
            </a:p>
          </p:txBody>
        </p:sp>
        <p:sp>
          <p:nvSpPr>
            <p:cNvPr id="55" name="wheel"/>
            <p:cNvSpPr/>
            <p:nvPr/>
          </p:nvSpPr>
          <p:spPr>
            <a:xfrm>
              <a:off x="5902452" y="2953512"/>
              <a:ext cx="274320" cy="274320"/>
            </a:xfrm>
            <a:prstGeom prst="ellipse">
              <a:avLst/>
            </a:prstGeom>
            <a:solidFill>
              <a:srgbClr val="1B1D21"/>
            </a:solidFill>
            <a:ln w="19050">
              <a:solidFill>
                <a:srgbClr val="9AA0A6"/>
              </a:solidFill>
            </a:ln>
          </p:spPr>
          <p:txBody>
            <a:bodyPr rtlCol="0" anchor="ctr"/>
            <a:lstStyle/>
            <a:p>
              <a:pPr algn="ctr"/>
            </a:p>
          </p:txBody>
        </p:sp>
        <p:sp>
          <p:nvSpPr>
            <p:cNvPr id="56" name="hub"/>
            <p:cNvSpPr/>
            <p:nvPr/>
          </p:nvSpPr>
          <p:spPr>
            <a:xfrm>
              <a:off x="6006693" y="3057753"/>
              <a:ext cx="65836" cy="65836"/>
            </a:xfrm>
            <a:prstGeom prst="ellipse">
              <a:avLst/>
            </a:prstGeom>
            <a:solidFill>
              <a:srgbClr val="9AA0A6"/>
            </a:solidFill>
            <a:ln>
              <a:noFill/>
            </a:ln>
          </p:spPr>
          <p:txBody>
            <a:bodyPr rtlCol="0" anchor="ctr"/>
            <a:lstStyle/>
            <a:p>
              <a:pPr algn="ctr"/>
            </a:p>
          </p:txBody>
        </p:sp>
        <p:sp>
          <p:nvSpPr>
            <p:cNvPr id="57" name="wheel"/>
            <p:cNvSpPr/>
            <p:nvPr/>
          </p:nvSpPr>
          <p:spPr>
            <a:xfrm>
              <a:off x="6268212" y="2953512"/>
              <a:ext cx="274320" cy="274320"/>
            </a:xfrm>
            <a:prstGeom prst="ellipse">
              <a:avLst/>
            </a:prstGeom>
            <a:solidFill>
              <a:srgbClr val="1B1D21"/>
            </a:solidFill>
            <a:ln w="19050">
              <a:solidFill>
                <a:srgbClr val="9AA0A6"/>
              </a:solidFill>
            </a:ln>
          </p:spPr>
          <p:txBody>
            <a:bodyPr rtlCol="0" anchor="ctr"/>
            <a:lstStyle/>
            <a:p>
              <a:pPr algn="ctr"/>
            </a:p>
          </p:txBody>
        </p:sp>
        <p:sp>
          <p:nvSpPr>
            <p:cNvPr id="58" name="hub"/>
            <p:cNvSpPr/>
            <p:nvPr/>
          </p:nvSpPr>
          <p:spPr>
            <a:xfrm>
              <a:off x="6372453" y="3057753"/>
              <a:ext cx="65836" cy="65836"/>
            </a:xfrm>
            <a:prstGeom prst="ellipse">
              <a:avLst/>
            </a:prstGeom>
            <a:solidFill>
              <a:srgbClr val="9AA0A6"/>
            </a:solidFill>
            <a:ln>
              <a:noFill/>
            </a:ln>
          </p:spPr>
          <p:txBody>
            <a:bodyPr rtlCol="0" anchor="ctr"/>
            <a:lstStyle/>
            <a:p>
              <a:pPr algn="ctr"/>
            </a:p>
          </p:txBody>
        </p:sp>
        <p:sp>
          <p:nvSpPr>
            <p:cNvPr id="59" name="aux tender"/>
            <p:cNvSpPr/>
            <p:nvPr/>
          </p:nvSpPr>
          <p:spPr>
            <a:xfrm>
              <a:off x="6807708"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p>
          </p:txBody>
        </p:sp>
        <p:sp>
          <p:nvSpPr>
            <p:cNvPr id="60" name="tender hatch"/>
            <p:cNvSpPr/>
            <p:nvPr/>
          </p:nvSpPr>
          <p:spPr>
            <a:xfrm>
              <a:off x="6880860" y="2606040"/>
              <a:ext cx="128015" cy="128015"/>
            </a:xfrm>
            <a:prstGeom prst="ellipse">
              <a:avLst/>
            </a:prstGeom>
            <a:solidFill>
              <a:srgbClr val="1B1D21"/>
            </a:solidFill>
            <a:ln w="19050">
              <a:solidFill>
                <a:srgbClr val="F2F2F2"/>
              </a:solidFill>
            </a:ln>
          </p:spPr>
          <p:txBody>
            <a:bodyPr rtlCol="0" anchor="ctr"/>
            <a:lstStyle/>
            <a:p>
              <a:pPr algn="ctr"/>
            </a:p>
          </p:txBody>
        </p:sp>
        <p:sp>
          <p:nvSpPr>
            <p:cNvPr id="61" name="wagon frame"/>
            <p:cNvSpPr/>
            <p:nvPr/>
          </p:nvSpPr>
          <p:spPr>
            <a:xfrm>
              <a:off x="6807708" y="3008376"/>
              <a:ext cx="914400" cy="54864"/>
            </a:xfrm>
            <a:prstGeom prst="rect">
              <a:avLst/>
            </a:prstGeom>
            <a:solidFill>
              <a:srgbClr val="3A3F47"/>
            </a:solidFill>
            <a:ln w="9525">
              <a:solidFill>
                <a:srgbClr val="9AA0A6"/>
              </a:solidFill>
            </a:ln>
          </p:spPr>
          <p:txBody>
            <a:bodyPr rtlCol="0" anchor="ctr"/>
            <a:lstStyle/>
            <a:p>
              <a:pPr algn="ctr"/>
            </a:p>
          </p:txBody>
        </p:sp>
        <p:sp>
          <p:nvSpPr>
            <p:cNvPr id="62" name="wheel"/>
            <p:cNvSpPr/>
            <p:nvPr/>
          </p:nvSpPr>
          <p:spPr>
            <a:xfrm>
              <a:off x="6835140" y="2953512"/>
              <a:ext cx="274320" cy="274320"/>
            </a:xfrm>
            <a:prstGeom prst="ellipse">
              <a:avLst/>
            </a:prstGeom>
            <a:solidFill>
              <a:srgbClr val="1B1D21"/>
            </a:solidFill>
            <a:ln w="19050">
              <a:solidFill>
                <a:srgbClr val="9AA0A6"/>
              </a:solidFill>
            </a:ln>
          </p:spPr>
          <p:txBody>
            <a:bodyPr rtlCol="0" anchor="ctr"/>
            <a:lstStyle/>
            <a:p>
              <a:pPr algn="ctr"/>
            </a:p>
          </p:txBody>
        </p:sp>
        <p:sp>
          <p:nvSpPr>
            <p:cNvPr id="63" name="hub"/>
            <p:cNvSpPr/>
            <p:nvPr/>
          </p:nvSpPr>
          <p:spPr>
            <a:xfrm>
              <a:off x="6939381" y="3057753"/>
              <a:ext cx="65836" cy="65836"/>
            </a:xfrm>
            <a:prstGeom prst="ellipse">
              <a:avLst/>
            </a:prstGeom>
            <a:solidFill>
              <a:srgbClr val="9AA0A6"/>
            </a:solidFill>
            <a:ln>
              <a:noFill/>
            </a:ln>
          </p:spPr>
          <p:txBody>
            <a:bodyPr rtlCol="0" anchor="ctr"/>
            <a:lstStyle/>
            <a:p>
              <a:pPr algn="ctr"/>
            </a:p>
          </p:txBody>
        </p:sp>
        <p:sp>
          <p:nvSpPr>
            <p:cNvPr id="64" name="wheel"/>
            <p:cNvSpPr/>
            <p:nvPr/>
          </p:nvSpPr>
          <p:spPr>
            <a:xfrm>
              <a:off x="7420356" y="2953512"/>
              <a:ext cx="274320" cy="274320"/>
            </a:xfrm>
            <a:prstGeom prst="ellipse">
              <a:avLst/>
            </a:prstGeom>
            <a:solidFill>
              <a:srgbClr val="1B1D21"/>
            </a:solidFill>
            <a:ln w="19050">
              <a:solidFill>
                <a:srgbClr val="9AA0A6"/>
              </a:solidFill>
            </a:ln>
          </p:spPr>
          <p:txBody>
            <a:bodyPr rtlCol="0" anchor="ctr"/>
            <a:lstStyle/>
            <a:p>
              <a:pPr algn="ctr"/>
            </a:p>
          </p:txBody>
        </p:sp>
        <p:sp>
          <p:nvSpPr>
            <p:cNvPr id="65" name="hub"/>
            <p:cNvSpPr/>
            <p:nvPr/>
          </p:nvSpPr>
          <p:spPr>
            <a:xfrm>
              <a:off x="7524597" y="3057753"/>
              <a:ext cx="65836" cy="65836"/>
            </a:xfrm>
            <a:prstGeom prst="ellipse">
              <a:avLst/>
            </a:prstGeom>
            <a:solidFill>
              <a:srgbClr val="9AA0A6"/>
            </a:solidFill>
            <a:ln>
              <a:noFill/>
            </a:ln>
          </p:spPr>
          <p:txBody>
            <a:bodyPr rtlCol="0" anchor="ctr"/>
            <a:lstStyle/>
            <a:p>
              <a:pPr algn="ctr"/>
            </a:p>
          </p:txBody>
        </p:sp>
        <p:sp>
          <p:nvSpPr>
            <p:cNvPr id="66" name="rail"/>
            <p:cNvSpPr/>
            <p:nvPr/>
          </p:nvSpPr>
          <p:spPr>
            <a:xfrm>
              <a:off x="4448555" y="3227832"/>
              <a:ext cx="3291840" cy="54864"/>
            </a:xfrm>
            <a:prstGeom prst="rect">
              <a:avLst/>
            </a:prstGeom>
            <a:solidFill>
              <a:srgbClr val="9AA0A6"/>
            </a:solidFill>
            <a:ln>
              <a:noFill/>
            </a:ln>
          </p:spPr>
          <p:txBody>
            <a:bodyPr rtlCol="0" anchor="ctr"/>
            <a:lstStyle/>
            <a:p>
              <a:pPr algn="ctr"/>
            </a:p>
          </p:txBody>
        </p:sp>
        <p:sp>
          <p:nvSpPr>
            <p:cNvPr id="67" name="verdict"/>
            <p:cNvSpPr txBox="1"/>
            <p:nvPr/>
          </p:nvSpPr>
          <p:spPr>
            <a:xfrm>
              <a:off x="4539996" y="3520440"/>
              <a:ext cx="3108960" cy="1051560"/>
            </a:xfrm>
            <a:prstGeom prst="rect">
              <a:avLst/>
            </a:prstGeom>
            <a:noFill/>
          </p:spPr>
          <p:txBody>
            <a:bodyPr wrap="square" anchor="t" lIns="18288" tIns="9144" rIns="18288" bIns="9144">
              <a:noAutofit/>
            </a:bodyPr>
            <a:lstStyle/>
            <a:p>
              <a:pPr algn="l"/>
              <a:r>
                <a:rPr sz="2000" b="0" i="0" lang="en-GB">
                  <a:solidFill>
                    <a:srgbClr val="F2F2F2"/>
                  </a:solidFill>
                  <a:latin typeface="Arial"/>
                </a:rPr>
                <a:t>Attractive on longer work</a:t>
              </a:r>
            </a:p>
          </p:txBody>
        </p:sp>
        <p:sp>
          <p:nvSpPr>
            <p:cNvPr id="68" name="class card"/>
            <p:cNvSpPr/>
            <p:nvPr/>
          </p:nvSpPr>
          <p:spPr>
            <a:xfrm>
              <a:off x="8165592" y="1417320"/>
              <a:ext cx="3474720" cy="3246120"/>
            </a:xfrm>
            <a:prstGeom prst="roundRect">
              <a:avLst>
                <a:gd name="adj" fmla="val 2816"/>
              </a:avLst>
            </a:prstGeom>
            <a:solidFill>
              <a:srgbClr val="2B2F36"/>
            </a:solidFill>
            <a:ln w="19050">
              <a:solidFill>
                <a:srgbClr val="4A515B"/>
              </a:solidFill>
            </a:ln>
          </p:spPr>
          <p:txBody>
            <a:bodyPr rtlCol="0" anchor="ctr"/>
            <a:lstStyle/>
            <a:p>
              <a:pPr algn="ctr"/>
            </a:p>
          </p:txBody>
        </p:sp>
        <p:sp>
          <p:nvSpPr>
            <p:cNvPr id="69" name="card header"/>
            <p:cNvSpPr/>
            <p:nvPr/>
          </p:nvSpPr>
          <p:spPr>
            <a:xfrm>
              <a:off x="8165592" y="1417320"/>
              <a:ext cx="3474720" cy="548640"/>
            </a:xfrm>
            <a:prstGeom prst="roundRect">
              <a:avLst>
                <a:gd name="adj" fmla="val 16666"/>
              </a:avLst>
            </a:prstGeom>
            <a:solidFill>
              <a:srgbClr val="343A43"/>
            </a:solidFill>
            <a:ln>
              <a:noFill/>
            </a:ln>
          </p:spPr>
          <p:txBody>
            <a:bodyPr rtlCol="0" anchor="ctr"/>
            <a:lstStyle/>
            <a:p>
              <a:pPr algn="ctr"/>
            </a:p>
          </p:txBody>
        </p:sp>
        <p:sp>
          <p:nvSpPr>
            <p:cNvPr id="70" name="class name"/>
            <p:cNvSpPr txBox="1"/>
            <p:nvPr/>
          </p:nvSpPr>
          <p:spPr>
            <a:xfrm>
              <a:off x="8348471" y="1417320"/>
              <a:ext cx="3108960" cy="548640"/>
            </a:xfrm>
            <a:prstGeom prst="rect">
              <a:avLst/>
            </a:prstGeom>
            <a:noFill/>
          </p:spPr>
          <p:txBody>
            <a:bodyPr wrap="square" anchor="ctr" lIns="18288" tIns="9144" rIns="18288" bIns="9144">
              <a:noAutofit/>
            </a:bodyPr>
            <a:lstStyle/>
            <a:p>
              <a:pPr algn="l"/>
              <a:r>
                <a:rPr sz="2200" b="1" i="0" lang="en-GB">
                  <a:solidFill>
                    <a:srgbClr val="F28C28"/>
                  </a:solidFill>
                  <a:latin typeface="Arial"/>
                </a:rPr>
                <a:t>Large</a:t>
              </a:r>
            </a:p>
          </p:txBody>
        </p:sp>
        <p:sp>
          <p:nvSpPr>
            <p:cNvPr id="71" name="tender body"/>
            <p:cNvSpPr/>
            <p:nvPr/>
          </p:nvSpPr>
          <p:spPr>
            <a:xfrm>
              <a:off x="8348471" y="2660904"/>
              <a:ext cx="694944" cy="347472"/>
            </a:xfrm>
            <a:prstGeom prst="roundRect">
              <a:avLst>
                <a:gd name="adj" fmla="val 2631"/>
              </a:avLst>
            </a:prstGeom>
            <a:solidFill>
              <a:srgbClr val="6C7480"/>
            </a:solidFill>
            <a:ln>
              <a:noFill/>
            </a:ln>
          </p:spPr>
          <p:txBody>
            <a:bodyPr rtlCol="0" anchor="ctr"/>
            <a:lstStyle/>
            <a:p>
              <a:pPr algn="ctr"/>
            </a:p>
          </p:txBody>
        </p:sp>
        <p:sp>
          <p:nvSpPr>
            <p:cNvPr id="72" name="tender coal"/>
            <p:cNvSpPr/>
            <p:nvPr/>
          </p:nvSpPr>
          <p:spPr>
            <a:xfrm>
              <a:off x="8403336" y="2596896"/>
              <a:ext cx="585216" cy="82296"/>
            </a:xfrm>
            <a:prstGeom prst="rect">
              <a:avLst/>
            </a:prstGeom>
            <a:solidFill>
              <a:srgbClr val="1B1D21"/>
            </a:solidFill>
            <a:ln w="12700">
              <a:solidFill>
                <a:srgbClr val="9AA0A6"/>
              </a:solidFill>
            </a:ln>
          </p:spPr>
          <p:txBody>
            <a:bodyPr rtlCol="0" anchor="ctr"/>
            <a:lstStyle/>
            <a:p>
              <a:pPr algn="ctr"/>
            </a:p>
          </p:txBody>
        </p:sp>
        <p:sp>
          <p:nvSpPr>
            <p:cNvPr id="73" name="tender frame"/>
            <p:cNvSpPr/>
            <p:nvPr/>
          </p:nvSpPr>
          <p:spPr>
            <a:xfrm>
              <a:off x="8348471" y="3008376"/>
              <a:ext cx="694944" cy="54864"/>
            </a:xfrm>
            <a:prstGeom prst="rect">
              <a:avLst/>
            </a:prstGeom>
            <a:solidFill>
              <a:srgbClr val="3A3F47"/>
            </a:solidFill>
            <a:ln w="9525">
              <a:solidFill>
                <a:srgbClr val="9AA0A6"/>
              </a:solidFill>
            </a:ln>
          </p:spPr>
          <p:txBody>
            <a:bodyPr rtlCol="0" anchor="ctr"/>
            <a:lstStyle/>
            <a:p>
              <a:pPr algn="ctr"/>
            </a:p>
          </p:txBody>
        </p:sp>
        <p:sp>
          <p:nvSpPr>
            <p:cNvPr id="74" name="coupling"/>
            <p:cNvSpPr/>
            <p:nvPr/>
          </p:nvSpPr>
          <p:spPr>
            <a:xfrm>
              <a:off x="9043415" y="2898648"/>
              <a:ext cx="73152" cy="36576"/>
            </a:xfrm>
            <a:prstGeom prst="rect">
              <a:avLst/>
            </a:prstGeom>
            <a:solidFill>
              <a:srgbClr val="9AA0A6"/>
            </a:solidFill>
            <a:ln>
              <a:noFill/>
            </a:ln>
          </p:spPr>
          <p:txBody>
            <a:bodyPr rtlCol="0" anchor="ctr"/>
            <a:lstStyle/>
            <a:p>
              <a:pPr algn="ctr"/>
            </a:p>
          </p:txBody>
        </p:sp>
        <p:sp>
          <p:nvSpPr>
            <p:cNvPr id="75" name="wheel"/>
            <p:cNvSpPr/>
            <p:nvPr/>
          </p:nvSpPr>
          <p:spPr>
            <a:xfrm>
              <a:off x="8375903" y="2953512"/>
              <a:ext cx="274320" cy="274320"/>
            </a:xfrm>
            <a:prstGeom prst="ellipse">
              <a:avLst/>
            </a:prstGeom>
            <a:solidFill>
              <a:srgbClr val="1B1D21"/>
            </a:solidFill>
            <a:ln w="19050">
              <a:solidFill>
                <a:srgbClr val="9AA0A6"/>
              </a:solidFill>
            </a:ln>
          </p:spPr>
          <p:txBody>
            <a:bodyPr rtlCol="0" anchor="ctr"/>
            <a:lstStyle/>
            <a:p>
              <a:pPr algn="ctr"/>
            </a:p>
          </p:txBody>
        </p:sp>
        <p:sp>
          <p:nvSpPr>
            <p:cNvPr id="76" name="hub"/>
            <p:cNvSpPr/>
            <p:nvPr/>
          </p:nvSpPr>
          <p:spPr>
            <a:xfrm>
              <a:off x="8480145" y="3057753"/>
              <a:ext cx="65836" cy="65836"/>
            </a:xfrm>
            <a:prstGeom prst="ellipse">
              <a:avLst/>
            </a:prstGeom>
            <a:solidFill>
              <a:srgbClr val="9AA0A6"/>
            </a:solidFill>
            <a:ln>
              <a:noFill/>
            </a:ln>
          </p:spPr>
          <p:txBody>
            <a:bodyPr rtlCol="0" anchor="ctr"/>
            <a:lstStyle/>
            <a:p>
              <a:pPr algn="ctr"/>
            </a:p>
          </p:txBody>
        </p:sp>
        <p:sp>
          <p:nvSpPr>
            <p:cNvPr id="77" name="wheel"/>
            <p:cNvSpPr/>
            <p:nvPr/>
          </p:nvSpPr>
          <p:spPr>
            <a:xfrm>
              <a:off x="8741663" y="2953512"/>
              <a:ext cx="274320" cy="274320"/>
            </a:xfrm>
            <a:prstGeom prst="ellipse">
              <a:avLst/>
            </a:prstGeom>
            <a:solidFill>
              <a:srgbClr val="1B1D21"/>
            </a:solidFill>
            <a:ln w="19050">
              <a:solidFill>
                <a:srgbClr val="9AA0A6"/>
              </a:solidFill>
            </a:ln>
          </p:spPr>
          <p:txBody>
            <a:bodyPr rtlCol="0" anchor="ctr"/>
            <a:lstStyle/>
            <a:p>
              <a:pPr algn="ctr"/>
            </a:p>
          </p:txBody>
        </p:sp>
        <p:sp>
          <p:nvSpPr>
            <p:cNvPr id="78" name="hub"/>
            <p:cNvSpPr/>
            <p:nvPr/>
          </p:nvSpPr>
          <p:spPr>
            <a:xfrm>
              <a:off x="8845905" y="3057753"/>
              <a:ext cx="65836" cy="65836"/>
            </a:xfrm>
            <a:prstGeom prst="ellipse">
              <a:avLst/>
            </a:prstGeom>
            <a:solidFill>
              <a:srgbClr val="9AA0A6"/>
            </a:solidFill>
            <a:ln>
              <a:noFill/>
            </a:ln>
          </p:spPr>
          <p:txBody>
            <a:bodyPr rtlCol="0" anchor="ctr"/>
            <a:lstStyle/>
            <a:p>
              <a:pPr algn="ctr"/>
            </a:p>
          </p:txBody>
        </p:sp>
        <p:sp>
          <p:nvSpPr>
            <p:cNvPr id="79" name="cab"/>
            <p:cNvSpPr/>
            <p:nvPr/>
          </p:nvSpPr>
          <p:spPr>
            <a:xfrm>
              <a:off x="9079992" y="2496312"/>
              <a:ext cx="365760" cy="512064"/>
            </a:xfrm>
            <a:prstGeom prst="roundRect">
              <a:avLst>
                <a:gd name="adj" fmla="val 2500"/>
              </a:avLst>
            </a:prstGeom>
            <a:solidFill>
              <a:srgbClr val="F28C28"/>
            </a:solidFill>
            <a:ln>
              <a:noFill/>
            </a:ln>
          </p:spPr>
          <p:txBody>
            <a:bodyPr rtlCol="0" anchor="ctr"/>
            <a:lstStyle/>
            <a:p>
              <a:pPr algn="ctr"/>
            </a:p>
          </p:txBody>
        </p:sp>
        <p:sp>
          <p:nvSpPr>
            <p:cNvPr id="80" name="cab roof"/>
            <p:cNvSpPr/>
            <p:nvPr/>
          </p:nvSpPr>
          <p:spPr>
            <a:xfrm>
              <a:off x="9061703" y="2468879"/>
              <a:ext cx="402336" cy="40233"/>
            </a:xfrm>
            <a:prstGeom prst="rect">
              <a:avLst/>
            </a:prstGeom>
            <a:solidFill>
              <a:srgbClr val="3A3F47"/>
            </a:solidFill>
            <a:ln w="9525">
              <a:solidFill>
                <a:srgbClr val="9AA0A6"/>
              </a:solidFill>
            </a:ln>
          </p:spPr>
          <p:txBody>
            <a:bodyPr rtlCol="0" anchor="ctr"/>
            <a:lstStyle/>
            <a:p>
              <a:pPr algn="ctr"/>
            </a:p>
          </p:txBody>
        </p:sp>
        <p:sp>
          <p:nvSpPr>
            <p:cNvPr id="81" name="cab window"/>
            <p:cNvSpPr/>
            <p:nvPr/>
          </p:nvSpPr>
          <p:spPr>
            <a:xfrm>
              <a:off x="9153144" y="2596896"/>
              <a:ext cx="219456" cy="164592"/>
            </a:xfrm>
            <a:prstGeom prst="rect">
              <a:avLst/>
            </a:prstGeom>
            <a:solidFill>
              <a:srgbClr val="1B1D21"/>
            </a:solidFill>
            <a:ln>
              <a:noFill/>
            </a:ln>
          </p:spPr>
          <p:txBody>
            <a:bodyPr rtlCol="0" anchor="ctr"/>
            <a:lstStyle/>
            <a:p>
              <a:pPr algn="ctr"/>
            </a:p>
          </p:txBody>
        </p:sp>
        <p:sp>
          <p:nvSpPr>
            <p:cNvPr id="82" name="boiler"/>
            <p:cNvSpPr/>
            <p:nvPr/>
          </p:nvSpPr>
          <p:spPr>
            <a:xfrm>
              <a:off x="9445751" y="2606040"/>
              <a:ext cx="1097280" cy="402336"/>
            </a:xfrm>
            <a:prstGeom prst="roundRect">
              <a:avLst>
                <a:gd name="adj" fmla="val 27272"/>
              </a:avLst>
            </a:prstGeom>
            <a:solidFill>
              <a:srgbClr val="F28C28"/>
            </a:solidFill>
            <a:ln>
              <a:noFill/>
            </a:ln>
          </p:spPr>
          <p:txBody>
            <a:bodyPr rtlCol="0" anchor="ctr"/>
            <a:lstStyle/>
            <a:p>
              <a:pPr algn="ctr"/>
            </a:p>
          </p:txBody>
        </p:sp>
        <p:sp>
          <p:nvSpPr>
            <p:cNvPr id="83" name="chimney"/>
            <p:cNvSpPr/>
            <p:nvPr/>
          </p:nvSpPr>
          <p:spPr>
            <a:xfrm>
              <a:off x="10305288" y="2441448"/>
              <a:ext cx="128016" cy="173736"/>
            </a:xfrm>
            <a:prstGeom prst="rect">
              <a:avLst/>
            </a:prstGeom>
            <a:solidFill>
              <a:srgbClr val="3A3F47"/>
            </a:solidFill>
            <a:ln w="9525">
              <a:solidFill>
                <a:srgbClr val="9AA0A6"/>
              </a:solidFill>
            </a:ln>
          </p:spPr>
          <p:txBody>
            <a:bodyPr rtlCol="0" anchor="ctr"/>
            <a:lstStyle/>
            <a:p>
              <a:pPr algn="ctr"/>
            </a:p>
          </p:txBody>
        </p:sp>
        <p:sp>
          <p:nvSpPr>
            <p:cNvPr id="84" name="chimney lip"/>
            <p:cNvSpPr/>
            <p:nvPr/>
          </p:nvSpPr>
          <p:spPr>
            <a:xfrm>
              <a:off x="10277856" y="2423160"/>
              <a:ext cx="182880" cy="36576"/>
            </a:xfrm>
            <a:prstGeom prst="rect">
              <a:avLst/>
            </a:prstGeom>
            <a:solidFill>
              <a:srgbClr val="3A3F47"/>
            </a:solidFill>
            <a:ln w="9525">
              <a:solidFill>
                <a:srgbClr val="9AA0A6"/>
              </a:solidFill>
            </a:ln>
          </p:spPr>
          <p:txBody>
            <a:bodyPr rtlCol="0" anchor="ctr"/>
            <a:lstStyle/>
            <a:p>
              <a:pPr algn="ctr"/>
            </a:p>
          </p:txBody>
        </p:sp>
        <p:sp>
          <p:nvSpPr>
            <p:cNvPr id="85" name="dome"/>
            <p:cNvSpPr/>
            <p:nvPr/>
          </p:nvSpPr>
          <p:spPr>
            <a:xfrm>
              <a:off x="9756648" y="2523744"/>
              <a:ext cx="182880" cy="91440"/>
            </a:xfrm>
            <a:prstGeom prst="roundRect">
              <a:avLst>
                <a:gd name="adj" fmla="val 40000"/>
              </a:avLst>
            </a:prstGeom>
            <a:solidFill>
              <a:srgbClr val="F28C28"/>
            </a:solidFill>
            <a:ln>
              <a:noFill/>
            </a:ln>
          </p:spPr>
          <p:txBody>
            <a:bodyPr rtlCol="0" anchor="ctr"/>
            <a:lstStyle/>
            <a:p>
              <a:pPr algn="ctr"/>
            </a:p>
          </p:txBody>
        </p:sp>
        <p:sp>
          <p:nvSpPr>
            <p:cNvPr id="86" name="frame"/>
            <p:cNvSpPr/>
            <p:nvPr/>
          </p:nvSpPr>
          <p:spPr>
            <a:xfrm>
              <a:off x="9079992" y="3008376"/>
              <a:ext cx="1463040" cy="54864"/>
            </a:xfrm>
            <a:prstGeom prst="rect">
              <a:avLst/>
            </a:prstGeom>
            <a:solidFill>
              <a:srgbClr val="3A3F47"/>
            </a:solidFill>
            <a:ln w="9525">
              <a:solidFill>
                <a:srgbClr val="9AA0A6"/>
              </a:solidFill>
            </a:ln>
          </p:spPr>
          <p:txBody>
            <a:bodyPr rtlCol="0" anchor="ctr"/>
            <a:lstStyle/>
            <a:p>
              <a:pPr algn="ctr"/>
            </a:p>
          </p:txBody>
        </p:sp>
        <p:sp>
          <p:nvSpPr>
            <p:cNvPr id="87" name="wheel"/>
            <p:cNvSpPr/>
            <p:nvPr/>
          </p:nvSpPr>
          <p:spPr>
            <a:xfrm>
              <a:off x="9345167" y="2953512"/>
              <a:ext cx="274320" cy="274320"/>
            </a:xfrm>
            <a:prstGeom prst="ellipse">
              <a:avLst/>
            </a:prstGeom>
            <a:solidFill>
              <a:srgbClr val="1B1D21"/>
            </a:solidFill>
            <a:ln w="19050">
              <a:solidFill>
                <a:srgbClr val="9AA0A6"/>
              </a:solidFill>
            </a:ln>
          </p:spPr>
          <p:txBody>
            <a:bodyPr rtlCol="0" anchor="ctr"/>
            <a:lstStyle/>
            <a:p>
              <a:pPr algn="ctr"/>
            </a:p>
          </p:txBody>
        </p:sp>
        <p:sp>
          <p:nvSpPr>
            <p:cNvPr id="88" name="hub"/>
            <p:cNvSpPr/>
            <p:nvPr/>
          </p:nvSpPr>
          <p:spPr>
            <a:xfrm>
              <a:off x="9449409" y="3057753"/>
              <a:ext cx="65836" cy="65836"/>
            </a:xfrm>
            <a:prstGeom prst="ellipse">
              <a:avLst/>
            </a:prstGeom>
            <a:solidFill>
              <a:srgbClr val="9AA0A6"/>
            </a:solidFill>
            <a:ln>
              <a:noFill/>
            </a:ln>
          </p:spPr>
          <p:txBody>
            <a:bodyPr rtlCol="0" anchor="ctr"/>
            <a:lstStyle/>
            <a:p>
              <a:pPr algn="ctr"/>
            </a:p>
          </p:txBody>
        </p:sp>
        <p:sp>
          <p:nvSpPr>
            <p:cNvPr id="89" name="wheel"/>
            <p:cNvSpPr/>
            <p:nvPr/>
          </p:nvSpPr>
          <p:spPr>
            <a:xfrm>
              <a:off x="9710928" y="2953512"/>
              <a:ext cx="274320" cy="274320"/>
            </a:xfrm>
            <a:prstGeom prst="ellipse">
              <a:avLst/>
            </a:prstGeom>
            <a:solidFill>
              <a:srgbClr val="1B1D21"/>
            </a:solidFill>
            <a:ln w="19050">
              <a:solidFill>
                <a:srgbClr val="9AA0A6"/>
              </a:solidFill>
            </a:ln>
          </p:spPr>
          <p:txBody>
            <a:bodyPr rtlCol="0" anchor="ctr"/>
            <a:lstStyle/>
            <a:p>
              <a:pPr algn="ctr"/>
            </a:p>
          </p:txBody>
        </p:sp>
        <p:sp>
          <p:nvSpPr>
            <p:cNvPr id="90" name="hub"/>
            <p:cNvSpPr/>
            <p:nvPr/>
          </p:nvSpPr>
          <p:spPr>
            <a:xfrm>
              <a:off x="9815169" y="3057753"/>
              <a:ext cx="65836" cy="65836"/>
            </a:xfrm>
            <a:prstGeom prst="ellipse">
              <a:avLst/>
            </a:prstGeom>
            <a:solidFill>
              <a:srgbClr val="9AA0A6"/>
            </a:solidFill>
            <a:ln>
              <a:noFill/>
            </a:ln>
          </p:spPr>
          <p:txBody>
            <a:bodyPr rtlCol="0" anchor="ctr"/>
            <a:lstStyle/>
            <a:p>
              <a:pPr algn="ctr"/>
            </a:p>
          </p:txBody>
        </p:sp>
        <p:sp>
          <p:nvSpPr>
            <p:cNvPr id="91" name="wheel"/>
            <p:cNvSpPr/>
            <p:nvPr/>
          </p:nvSpPr>
          <p:spPr>
            <a:xfrm>
              <a:off x="10076687" y="2953512"/>
              <a:ext cx="274320" cy="274320"/>
            </a:xfrm>
            <a:prstGeom prst="ellipse">
              <a:avLst/>
            </a:prstGeom>
            <a:solidFill>
              <a:srgbClr val="1B1D21"/>
            </a:solidFill>
            <a:ln w="19050">
              <a:solidFill>
                <a:srgbClr val="9AA0A6"/>
              </a:solidFill>
            </a:ln>
          </p:spPr>
          <p:txBody>
            <a:bodyPr rtlCol="0" anchor="ctr"/>
            <a:lstStyle/>
            <a:p>
              <a:pPr algn="ctr"/>
            </a:p>
          </p:txBody>
        </p:sp>
        <p:sp>
          <p:nvSpPr>
            <p:cNvPr id="92" name="hub"/>
            <p:cNvSpPr/>
            <p:nvPr/>
          </p:nvSpPr>
          <p:spPr>
            <a:xfrm>
              <a:off x="10180929" y="3057753"/>
              <a:ext cx="65836" cy="65836"/>
            </a:xfrm>
            <a:prstGeom prst="ellipse">
              <a:avLst/>
            </a:prstGeom>
            <a:solidFill>
              <a:srgbClr val="9AA0A6"/>
            </a:solidFill>
            <a:ln>
              <a:noFill/>
            </a:ln>
          </p:spPr>
          <p:txBody>
            <a:bodyPr rtlCol="0" anchor="ctr"/>
            <a:lstStyle/>
            <a:p>
              <a:pPr algn="ctr"/>
            </a:p>
          </p:txBody>
        </p:sp>
        <p:sp>
          <p:nvSpPr>
            <p:cNvPr id="93" name="aux tender"/>
            <p:cNvSpPr/>
            <p:nvPr/>
          </p:nvSpPr>
          <p:spPr>
            <a:xfrm>
              <a:off x="10616184"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p>
          </p:txBody>
        </p:sp>
        <p:sp>
          <p:nvSpPr>
            <p:cNvPr id="94" name="tender hatch"/>
            <p:cNvSpPr/>
            <p:nvPr/>
          </p:nvSpPr>
          <p:spPr>
            <a:xfrm>
              <a:off x="10689336" y="2606040"/>
              <a:ext cx="128015" cy="128015"/>
            </a:xfrm>
            <a:prstGeom prst="ellipse">
              <a:avLst/>
            </a:prstGeom>
            <a:solidFill>
              <a:srgbClr val="1B1D21"/>
            </a:solidFill>
            <a:ln w="19050">
              <a:solidFill>
                <a:srgbClr val="F2F2F2"/>
              </a:solidFill>
            </a:ln>
          </p:spPr>
          <p:txBody>
            <a:bodyPr rtlCol="0" anchor="ctr"/>
            <a:lstStyle/>
            <a:p>
              <a:pPr algn="ctr"/>
            </a:p>
          </p:txBody>
        </p:sp>
        <p:sp>
          <p:nvSpPr>
            <p:cNvPr id="95" name="wagon frame"/>
            <p:cNvSpPr/>
            <p:nvPr/>
          </p:nvSpPr>
          <p:spPr>
            <a:xfrm>
              <a:off x="10616184" y="3008376"/>
              <a:ext cx="914400" cy="54864"/>
            </a:xfrm>
            <a:prstGeom prst="rect">
              <a:avLst/>
            </a:prstGeom>
            <a:solidFill>
              <a:srgbClr val="3A3F47"/>
            </a:solidFill>
            <a:ln w="9525">
              <a:solidFill>
                <a:srgbClr val="9AA0A6"/>
              </a:solidFill>
            </a:ln>
          </p:spPr>
          <p:txBody>
            <a:bodyPr rtlCol="0" anchor="ctr"/>
            <a:lstStyle/>
            <a:p>
              <a:pPr algn="ctr"/>
            </a:p>
          </p:txBody>
        </p:sp>
        <p:sp>
          <p:nvSpPr>
            <p:cNvPr id="96" name="wheel"/>
            <p:cNvSpPr/>
            <p:nvPr/>
          </p:nvSpPr>
          <p:spPr>
            <a:xfrm>
              <a:off x="10643615" y="2953512"/>
              <a:ext cx="274320" cy="274320"/>
            </a:xfrm>
            <a:prstGeom prst="ellipse">
              <a:avLst/>
            </a:prstGeom>
            <a:solidFill>
              <a:srgbClr val="1B1D21"/>
            </a:solidFill>
            <a:ln w="19050">
              <a:solidFill>
                <a:srgbClr val="9AA0A6"/>
              </a:solidFill>
            </a:ln>
          </p:spPr>
          <p:txBody>
            <a:bodyPr rtlCol="0" anchor="ctr"/>
            <a:lstStyle/>
            <a:p>
              <a:pPr algn="ctr"/>
            </a:p>
          </p:txBody>
        </p:sp>
        <p:sp>
          <p:nvSpPr>
            <p:cNvPr id="97" name="hub"/>
            <p:cNvSpPr/>
            <p:nvPr/>
          </p:nvSpPr>
          <p:spPr>
            <a:xfrm>
              <a:off x="10747857" y="3057753"/>
              <a:ext cx="65836" cy="65836"/>
            </a:xfrm>
            <a:prstGeom prst="ellipse">
              <a:avLst/>
            </a:prstGeom>
            <a:solidFill>
              <a:srgbClr val="9AA0A6"/>
            </a:solidFill>
            <a:ln>
              <a:noFill/>
            </a:ln>
          </p:spPr>
          <p:txBody>
            <a:bodyPr rtlCol="0" anchor="ctr"/>
            <a:lstStyle/>
            <a:p>
              <a:pPr algn="ctr"/>
            </a:p>
          </p:txBody>
        </p:sp>
        <p:sp>
          <p:nvSpPr>
            <p:cNvPr id="98" name="wheel"/>
            <p:cNvSpPr/>
            <p:nvPr/>
          </p:nvSpPr>
          <p:spPr>
            <a:xfrm>
              <a:off x="11228832" y="2953512"/>
              <a:ext cx="274320" cy="274320"/>
            </a:xfrm>
            <a:prstGeom prst="ellipse">
              <a:avLst/>
            </a:prstGeom>
            <a:solidFill>
              <a:srgbClr val="1B1D21"/>
            </a:solidFill>
            <a:ln w="19050">
              <a:solidFill>
                <a:srgbClr val="9AA0A6"/>
              </a:solidFill>
            </a:ln>
          </p:spPr>
          <p:txBody>
            <a:bodyPr rtlCol="0" anchor="ctr"/>
            <a:lstStyle/>
            <a:p>
              <a:pPr algn="ctr"/>
            </a:p>
          </p:txBody>
        </p:sp>
        <p:sp>
          <p:nvSpPr>
            <p:cNvPr id="99" name="hub"/>
            <p:cNvSpPr/>
            <p:nvPr/>
          </p:nvSpPr>
          <p:spPr>
            <a:xfrm>
              <a:off x="11333073" y="3057753"/>
              <a:ext cx="65836" cy="65836"/>
            </a:xfrm>
            <a:prstGeom prst="ellipse">
              <a:avLst/>
            </a:prstGeom>
            <a:solidFill>
              <a:srgbClr val="9AA0A6"/>
            </a:solidFill>
            <a:ln>
              <a:noFill/>
            </a:ln>
          </p:spPr>
          <p:txBody>
            <a:bodyPr rtlCol="0" anchor="ctr"/>
            <a:lstStyle/>
            <a:p>
              <a:pPr algn="ctr"/>
            </a:p>
          </p:txBody>
        </p:sp>
        <p:sp>
          <p:nvSpPr>
            <p:cNvPr id="100" name="rail"/>
            <p:cNvSpPr/>
            <p:nvPr/>
          </p:nvSpPr>
          <p:spPr>
            <a:xfrm>
              <a:off x="8257031" y="3227832"/>
              <a:ext cx="3291840" cy="54864"/>
            </a:xfrm>
            <a:prstGeom prst="rect">
              <a:avLst/>
            </a:prstGeom>
            <a:solidFill>
              <a:srgbClr val="9AA0A6"/>
            </a:solidFill>
            <a:ln>
              <a:noFill/>
            </a:ln>
          </p:spPr>
          <p:txBody>
            <a:bodyPr rtlCol="0" anchor="ctr"/>
            <a:lstStyle/>
            <a:p>
              <a:pPr algn="ctr"/>
            </a:p>
          </p:txBody>
        </p:sp>
        <p:sp>
          <p:nvSpPr>
            <p:cNvPr id="101" name="verdict"/>
            <p:cNvSpPr txBox="1"/>
            <p:nvPr/>
          </p:nvSpPr>
          <p:spPr>
            <a:xfrm>
              <a:off x="8348471" y="3520440"/>
              <a:ext cx="3108960" cy="1051560"/>
            </a:xfrm>
            <a:prstGeom prst="rect">
              <a:avLst/>
            </a:prstGeom>
            <a:noFill/>
          </p:spPr>
          <p:txBody>
            <a:bodyPr wrap="square" anchor="t" lIns="18288" tIns="9144" rIns="18288" bIns="9144">
              <a:noAutofit/>
            </a:bodyPr>
            <a:lstStyle/>
            <a:p>
              <a:pPr algn="l"/>
              <a:r>
                <a:rPr sz="2000" b="0" i="0" lang="en-GB">
                  <a:solidFill>
                    <a:srgbClr val="F2F2F2"/>
                  </a:solidFill>
                  <a:latin typeface="Arial"/>
                </a:rPr>
                <a:t>For especially long journeys</a:t>
              </a:r>
            </a:p>
          </p:txBody>
        </p:sp>
        <p:sp>
          <p:nvSpPr>
            <p:cNvPr id="102" name="footer"/>
            <p:cNvSpPr txBox="1"/>
            <p:nvPr/>
          </p:nvSpPr>
          <p:spPr>
            <a:xfrm>
              <a:off x="548640" y="4937760"/>
              <a:ext cx="11091672" cy="411480"/>
            </a:xfrm>
            <a:prstGeom prst="rect">
              <a:avLst/>
            </a:prstGeom>
            <a:noFill/>
          </p:spPr>
          <p:txBody>
            <a:bodyPr wrap="square" anchor="ctr" lIns="18288" tIns="9144" rIns="18288" bIns="9144">
              <a:noAutofit/>
            </a:bodyPr>
            <a:lstStyle/>
            <a:p>
              <a:pPr algn="ctr"/>
              <a:r>
                <a:rPr sz="1800" b="0" i="0" lang="en-GB">
                  <a:solidFill>
                    <a:srgbClr val="A9B0B8"/>
                  </a:solidFill>
                  <a:latin typeface="Arial"/>
                </a:rPr>
                <a:t>Which types at launch: undecided (OQ10).</a:t>
              </a:r>
            </a:p>
          </p:txBody>
        </p:sp>
      </p:grpSp>
      <p:sp>
        <p:nvSpPr>
          <p:cNvPr id="10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0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05"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Small can take one, but the weight hurts. Medium gains most. Large uses one for very long trips.</a:t>
            </a:r>
          </a:p>
        </p:txBody>
      </p:sp>
      <p:sp>
        <p:nvSpPr>
          <p:cNvPr id="10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500"/>
                                        <p:tgtEl>
                                          <p:spTgt spid="103"/>
                                        </p:tgtEl>
                                      </p:cBhvr>
                                    </p:animEffect>
                                  </p:childTnLst>
                                </p:cTn>
                              </p:par>
                              <p:par>
                                <p:cTn id="11" presetID="10" presetClass="entr" presetSubtype="0" fill="hold" nodeType="withEffect">
                                  <p:stCondLst>
                                    <p:cond delay="60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500"/>
                                        <p:tgtEl>
                                          <p:spTgt spid="104"/>
                                        </p:tgtEl>
                                      </p:cBhvr>
                                    </p:animEffect>
                                  </p:childTnLst>
                                </p:cTn>
                              </p:par>
                              <p:par>
                                <p:cTn id="14" presetID="10" presetClass="entr" presetSubtype="0" fill="hold" nodeType="withEffect">
                                  <p:stCondLst>
                                    <p:cond delay="900"/>
                                  </p:stCondLst>
                                  <p:childTnLst>
                                    <p:set>
                                      <p:cBhvr>
                                        <p:cTn id="15" dur="1" fill="hold">
                                          <p:stCondLst>
                                            <p:cond delay="0"/>
                                          </p:stCondLst>
                                        </p:cTn>
                                        <p:tgtEl>
                                          <p:spTgt spid="105"/>
                                        </p:tgtEl>
                                        <p:attrNameLst>
                                          <p:attrName>style.visibility</p:attrName>
                                        </p:attrNameLst>
                                      </p:cBhvr>
                                      <p:to>
                                        <p:strVal val="visible"/>
                                      </p:to>
                                    </p:set>
                                    <p:animEffect transition="in" filter="fade">
                                      <p:cBhvr>
                                        <p:cTn id="16"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Four ways to go further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Route and four answers" descr="A route that is too long for one engine's range, shown with a red dashed gap. Below, four answers: add an auxiliary tender, add a water stop, build a service point, or pick a bigger engine."/>
          <p:cNvGrpSpPr/>
          <p:nvPr/>
        </p:nvGrpSpPr>
        <p:grpSpPr>
          <a:xfrm>
            <a:off x="548640" y="1901952"/>
            <a:ext cx="11091672" cy="3355848"/>
            <a:chOff x="548640" y="1901952"/>
            <a:chExt cx="11091672" cy="3355848"/>
          </a:xfrm>
        </p:grpSpPr>
        <p:cxnSp>
          <p:nvCxnSpPr>
            <p:cNvPr id="5" name="route in range"/>
            <p:cNvCxnSpPr/>
            <p:nvPr/>
          </p:nvCxnSpPr>
          <p:spPr>
            <a:xfrm>
              <a:off x="1463040" y="2514600"/>
              <a:ext cx="3749040" cy="0"/>
            </a:xfrm>
            <a:prstGeom prst="line">
              <a:avLst/>
            </a:prstGeom>
            <a:ln w="63500">
              <a:solidFill>
                <a:srgbClr val="F28C28"/>
              </a:solidFill>
              <a:tailEnd type="triangle" w="med" len="med"/>
            </a:ln>
          </p:spPr>
        </p:cxnSp>
        <p:cxnSp>
          <p:nvCxnSpPr>
            <p:cNvPr id="6" name="route gap"/>
            <p:cNvCxnSpPr/>
            <p:nvPr/>
          </p:nvCxnSpPr>
          <p:spPr>
            <a:xfrm>
              <a:off x="5212080" y="2514600"/>
              <a:ext cx="5669280" cy="0"/>
            </a:xfrm>
            <a:prstGeom prst="line">
              <a:avLst/>
            </a:prstGeom>
            <a:ln w="63500">
              <a:solidFill>
                <a:srgbClr val="E5484D"/>
              </a:solidFill>
              <a:prstDash val="dash"/>
            </a:ln>
          </p:spPr>
        </p:cxnSp>
        <p:cxnSp>
          <p:nvCxnSpPr>
            <p:cNvPr id="7" name="range end"/>
            <p:cNvCxnSpPr/>
            <p:nvPr/>
          </p:nvCxnSpPr>
          <p:spPr>
            <a:xfrm>
              <a:off x="5212080" y="2286000"/>
              <a:ext cx="0" cy="457200"/>
            </a:xfrm>
            <a:prstGeom prst="line">
              <a:avLst/>
            </a:prstGeom>
            <a:ln w="50800">
              <a:solidFill>
                <a:srgbClr val="F28C28"/>
              </a:solidFill>
            </a:ln>
          </p:spPr>
        </p:cxnSp>
        <p:sp>
          <p:nvSpPr>
            <p:cNvPr id="8" name="destination"/>
            <p:cNvSpPr/>
            <p:nvPr/>
          </p:nvSpPr>
          <p:spPr>
            <a:xfrm>
              <a:off x="10881360" y="2313432"/>
              <a:ext cx="402336" cy="402336"/>
            </a:xfrm>
            <a:prstGeom prst="ellipse">
              <a:avLst/>
            </a:prstGeom>
            <a:solidFill>
              <a:srgbClr val="9AA0A6"/>
            </a:solidFill>
            <a:ln w="25400">
              <a:solidFill>
                <a:srgbClr val="101418"/>
              </a:solidFill>
            </a:ln>
          </p:spPr>
          <p:txBody>
            <a:bodyPr rtlCol="0" anchor="ctr"/>
            <a:lstStyle/>
            <a:p>
              <a:pPr algn="ctr"/>
            </a:p>
          </p:txBody>
        </p:sp>
        <p:sp>
          <p:nvSpPr>
            <p:cNvPr id="9" name="tender body"/>
            <p:cNvSpPr/>
            <p:nvPr/>
          </p:nvSpPr>
          <p:spPr>
            <a:xfrm>
              <a:off x="731520" y="2050542"/>
              <a:ext cx="434340" cy="217170"/>
            </a:xfrm>
            <a:prstGeom prst="roundRect">
              <a:avLst>
                <a:gd name="adj" fmla="val 2631"/>
              </a:avLst>
            </a:prstGeom>
            <a:solidFill>
              <a:srgbClr val="6C7480"/>
            </a:solidFill>
            <a:ln>
              <a:noFill/>
            </a:ln>
          </p:spPr>
          <p:txBody>
            <a:bodyPr rtlCol="0" anchor="ctr"/>
            <a:lstStyle/>
            <a:p>
              <a:pPr algn="ctr"/>
            </a:p>
          </p:txBody>
        </p:sp>
        <p:sp>
          <p:nvSpPr>
            <p:cNvPr id="10" name="tender coal"/>
            <p:cNvSpPr/>
            <p:nvPr/>
          </p:nvSpPr>
          <p:spPr>
            <a:xfrm>
              <a:off x="765810" y="2010537"/>
              <a:ext cx="365760" cy="51435"/>
            </a:xfrm>
            <a:prstGeom prst="rect">
              <a:avLst/>
            </a:prstGeom>
            <a:solidFill>
              <a:srgbClr val="1B1D21"/>
            </a:solidFill>
            <a:ln w="12700">
              <a:solidFill>
                <a:srgbClr val="9AA0A6"/>
              </a:solidFill>
            </a:ln>
          </p:spPr>
          <p:txBody>
            <a:bodyPr rtlCol="0" anchor="ctr"/>
            <a:lstStyle/>
            <a:p>
              <a:pPr algn="ctr"/>
            </a:p>
          </p:txBody>
        </p:sp>
        <p:sp>
          <p:nvSpPr>
            <p:cNvPr id="11" name="tender frame"/>
            <p:cNvSpPr/>
            <p:nvPr/>
          </p:nvSpPr>
          <p:spPr>
            <a:xfrm>
              <a:off x="731520" y="2267712"/>
              <a:ext cx="434340" cy="34290"/>
            </a:xfrm>
            <a:prstGeom prst="rect">
              <a:avLst/>
            </a:prstGeom>
            <a:solidFill>
              <a:srgbClr val="3A3F47"/>
            </a:solidFill>
            <a:ln w="9525">
              <a:solidFill>
                <a:srgbClr val="9AA0A6"/>
              </a:solidFill>
            </a:ln>
          </p:spPr>
          <p:txBody>
            <a:bodyPr rtlCol="0" anchor="ctr"/>
            <a:lstStyle/>
            <a:p>
              <a:pPr algn="ctr"/>
            </a:p>
          </p:txBody>
        </p:sp>
        <p:sp>
          <p:nvSpPr>
            <p:cNvPr id="12" name="coupling"/>
            <p:cNvSpPr/>
            <p:nvPr/>
          </p:nvSpPr>
          <p:spPr>
            <a:xfrm>
              <a:off x="1165860" y="2199132"/>
              <a:ext cx="45720" cy="22860"/>
            </a:xfrm>
            <a:prstGeom prst="rect">
              <a:avLst/>
            </a:prstGeom>
            <a:solidFill>
              <a:srgbClr val="9AA0A6"/>
            </a:solidFill>
            <a:ln>
              <a:noFill/>
            </a:ln>
          </p:spPr>
          <p:txBody>
            <a:bodyPr rtlCol="0" anchor="ctr"/>
            <a:lstStyle/>
            <a:p>
              <a:pPr algn="ctr"/>
            </a:p>
          </p:txBody>
        </p:sp>
        <p:sp>
          <p:nvSpPr>
            <p:cNvPr id="13" name="wheel"/>
            <p:cNvSpPr/>
            <p:nvPr/>
          </p:nvSpPr>
          <p:spPr>
            <a:xfrm>
              <a:off x="748665" y="2233422"/>
              <a:ext cx="171450" cy="171450"/>
            </a:xfrm>
            <a:prstGeom prst="ellipse">
              <a:avLst/>
            </a:prstGeom>
            <a:solidFill>
              <a:srgbClr val="1B1D21"/>
            </a:solidFill>
            <a:ln w="19050">
              <a:solidFill>
                <a:srgbClr val="9AA0A6"/>
              </a:solidFill>
            </a:ln>
          </p:spPr>
          <p:txBody>
            <a:bodyPr rtlCol="0" anchor="ctr"/>
            <a:lstStyle/>
            <a:p>
              <a:pPr algn="ctr"/>
            </a:p>
          </p:txBody>
        </p:sp>
        <p:sp>
          <p:nvSpPr>
            <p:cNvPr id="14" name="hub"/>
            <p:cNvSpPr/>
            <p:nvPr/>
          </p:nvSpPr>
          <p:spPr>
            <a:xfrm>
              <a:off x="813816" y="2298573"/>
              <a:ext cx="41148" cy="41148"/>
            </a:xfrm>
            <a:prstGeom prst="ellipse">
              <a:avLst/>
            </a:prstGeom>
            <a:solidFill>
              <a:srgbClr val="9AA0A6"/>
            </a:solidFill>
            <a:ln>
              <a:noFill/>
            </a:ln>
          </p:spPr>
          <p:txBody>
            <a:bodyPr rtlCol="0" anchor="ctr"/>
            <a:lstStyle/>
            <a:p>
              <a:pPr algn="ctr"/>
            </a:p>
          </p:txBody>
        </p:sp>
        <p:sp>
          <p:nvSpPr>
            <p:cNvPr id="15" name="wheel"/>
            <p:cNvSpPr/>
            <p:nvPr/>
          </p:nvSpPr>
          <p:spPr>
            <a:xfrm>
              <a:off x="977265" y="2233422"/>
              <a:ext cx="171450" cy="171450"/>
            </a:xfrm>
            <a:prstGeom prst="ellipse">
              <a:avLst/>
            </a:prstGeom>
            <a:solidFill>
              <a:srgbClr val="1B1D21"/>
            </a:solidFill>
            <a:ln w="19050">
              <a:solidFill>
                <a:srgbClr val="9AA0A6"/>
              </a:solidFill>
            </a:ln>
          </p:spPr>
          <p:txBody>
            <a:bodyPr rtlCol="0" anchor="ctr"/>
            <a:lstStyle/>
            <a:p>
              <a:pPr algn="ctr"/>
            </a:p>
          </p:txBody>
        </p:sp>
        <p:sp>
          <p:nvSpPr>
            <p:cNvPr id="16" name="hub"/>
            <p:cNvSpPr/>
            <p:nvPr/>
          </p:nvSpPr>
          <p:spPr>
            <a:xfrm>
              <a:off x="1042416" y="2298573"/>
              <a:ext cx="41148" cy="41148"/>
            </a:xfrm>
            <a:prstGeom prst="ellipse">
              <a:avLst/>
            </a:prstGeom>
            <a:solidFill>
              <a:srgbClr val="9AA0A6"/>
            </a:solidFill>
            <a:ln>
              <a:noFill/>
            </a:ln>
          </p:spPr>
          <p:txBody>
            <a:bodyPr rtlCol="0" anchor="ctr"/>
            <a:lstStyle/>
            <a:p>
              <a:pPr algn="ctr"/>
            </a:p>
          </p:txBody>
        </p:sp>
        <p:sp>
          <p:nvSpPr>
            <p:cNvPr id="17" name="cab"/>
            <p:cNvSpPr/>
            <p:nvPr/>
          </p:nvSpPr>
          <p:spPr>
            <a:xfrm>
              <a:off x="1188720" y="1947672"/>
              <a:ext cx="228600" cy="320040"/>
            </a:xfrm>
            <a:prstGeom prst="roundRect">
              <a:avLst>
                <a:gd name="adj" fmla="val 2500"/>
              </a:avLst>
            </a:prstGeom>
            <a:solidFill>
              <a:srgbClr val="F28C28"/>
            </a:solidFill>
            <a:ln>
              <a:noFill/>
            </a:ln>
          </p:spPr>
          <p:txBody>
            <a:bodyPr rtlCol="0" anchor="ctr"/>
            <a:lstStyle/>
            <a:p>
              <a:pPr algn="ctr"/>
            </a:p>
          </p:txBody>
        </p:sp>
        <p:sp>
          <p:nvSpPr>
            <p:cNvPr id="18" name="cab roof"/>
            <p:cNvSpPr/>
            <p:nvPr/>
          </p:nvSpPr>
          <p:spPr>
            <a:xfrm>
              <a:off x="1177290" y="1930527"/>
              <a:ext cx="251460" cy="25146"/>
            </a:xfrm>
            <a:prstGeom prst="rect">
              <a:avLst/>
            </a:prstGeom>
            <a:solidFill>
              <a:srgbClr val="3A3F47"/>
            </a:solidFill>
            <a:ln w="9525">
              <a:solidFill>
                <a:srgbClr val="9AA0A6"/>
              </a:solidFill>
            </a:ln>
          </p:spPr>
          <p:txBody>
            <a:bodyPr rtlCol="0" anchor="ctr"/>
            <a:lstStyle/>
            <a:p>
              <a:pPr algn="ctr"/>
            </a:p>
          </p:txBody>
        </p:sp>
        <p:sp>
          <p:nvSpPr>
            <p:cNvPr id="19" name="cab window"/>
            <p:cNvSpPr/>
            <p:nvPr/>
          </p:nvSpPr>
          <p:spPr>
            <a:xfrm>
              <a:off x="1234440" y="2010537"/>
              <a:ext cx="137160" cy="102870"/>
            </a:xfrm>
            <a:prstGeom prst="rect">
              <a:avLst/>
            </a:prstGeom>
            <a:solidFill>
              <a:srgbClr val="1B1D21"/>
            </a:solidFill>
            <a:ln>
              <a:noFill/>
            </a:ln>
          </p:spPr>
          <p:txBody>
            <a:bodyPr rtlCol="0" anchor="ctr"/>
            <a:lstStyle/>
            <a:p>
              <a:pPr algn="ctr"/>
            </a:p>
          </p:txBody>
        </p:sp>
        <p:sp>
          <p:nvSpPr>
            <p:cNvPr id="20" name="boiler"/>
            <p:cNvSpPr/>
            <p:nvPr/>
          </p:nvSpPr>
          <p:spPr>
            <a:xfrm>
              <a:off x="1417320" y="2016252"/>
              <a:ext cx="685800" cy="251460"/>
            </a:xfrm>
            <a:prstGeom prst="roundRect">
              <a:avLst>
                <a:gd name="adj" fmla="val 27272"/>
              </a:avLst>
            </a:prstGeom>
            <a:solidFill>
              <a:srgbClr val="F28C28"/>
            </a:solidFill>
            <a:ln>
              <a:noFill/>
            </a:ln>
          </p:spPr>
          <p:txBody>
            <a:bodyPr rtlCol="0" anchor="ctr"/>
            <a:lstStyle/>
            <a:p>
              <a:pPr algn="ctr"/>
            </a:p>
          </p:txBody>
        </p:sp>
        <p:sp>
          <p:nvSpPr>
            <p:cNvPr id="21" name="chimney"/>
            <p:cNvSpPr/>
            <p:nvPr/>
          </p:nvSpPr>
          <p:spPr>
            <a:xfrm>
              <a:off x="1954530" y="1913382"/>
              <a:ext cx="80010" cy="108585"/>
            </a:xfrm>
            <a:prstGeom prst="rect">
              <a:avLst/>
            </a:prstGeom>
            <a:solidFill>
              <a:srgbClr val="3A3F47"/>
            </a:solidFill>
            <a:ln w="9525">
              <a:solidFill>
                <a:srgbClr val="9AA0A6"/>
              </a:solidFill>
            </a:ln>
          </p:spPr>
          <p:txBody>
            <a:bodyPr rtlCol="0" anchor="ctr"/>
            <a:lstStyle/>
            <a:p>
              <a:pPr algn="ctr"/>
            </a:p>
          </p:txBody>
        </p:sp>
        <p:sp>
          <p:nvSpPr>
            <p:cNvPr id="22" name="chimney lip"/>
            <p:cNvSpPr/>
            <p:nvPr/>
          </p:nvSpPr>
          <p:spPr>
            <a:xfrm>
              <a:off x="1937385" y="1901952"/>
              <a:ext cx="114300" cy="22860"/>
            </a:xfrm>
            <a:prstGeom prst="rect">
              <a:avLst/>
            </a:prstGeom>
            <a:solidFill>
              <a:srgbClr val="3A3F47"/>
            </a:solidFill>
            <a:ln w="9525">
              <a:solidFill>
                <a:srgbClr val="9AA0A6"/>
              </a:solidFill>
            </a:ln>
          </p:spPr>
          <p:txBody>
            <a:bodyPr rtlCol="0" anchor="ctr"/>
            <a:lstStyle/>
            <a:p>
              <a:pPr algn="ctr"/>
            </a:p>
          </p:txBody>
        </p:sp>
        <p:sp>
          <p:nvSpPr>
            <p:cNvPr id="23" name="dome"/>
            <p:cNvSpPr/>
            <p:nvPr/>
          </p:nvSpPr>
          <p:spPr>
            <a:xfrm>
              <a:off x="1611630" y="1964817"/>
              <a:ext cx="114300" cy="57150"/>
            </a:xfrm>
            <a:prstGeom prst="roundRect">
              <a:avLst>
                <a:gd name="adj" fmla="val 40000"/>
              </a:avLst>
            </a:prstGeom>
            <a:solidFill>
              <a:srgbClr val="F28C28"/>
            </a:solidFill>
            <a:ln>
              <a:noFill/>
            </a:ln>
          </p:spPr>
          <p:txBody>
            <a:bodyPr rtlCol="0" anchor="ctr"/>
            <a:lstStyle/>
            <a:p>
              <a:pPr algn="ctr"/>
            </a:p>
          </p:txBody>
        </p:sp>
        <p:sp>
          <p:nvSpPr>
            <p:cNvPr id="24" name="frame"/>
            <p:cNvSpPr/>
            <p:nvPr/>
          </p:nvSpPr>
          <p:spPr>
            <a:xfrm>
              <a:off x="1188720" y="2267712"/>
              <a:ext cx="914400" cy="34290"/>
            </a:xfrm>
            <a:prstGeom prst="rect">
              <a:avLst/>
            </a:prstGeom>
            <a:solidFill>
              <a:srgbClr val="3A3F47"/>
            </a:solidFill>
            <a:ln w="9525">
              <a:solidFill>
                <a:srgbClr val="9AA0A6"/>
              </a:solidFill>
            </a:ln>
          </p:spPr>
          <p:txBody>
            <a:bodyPr rtlCol="0" anchor="ctr"/>
            <a:lstStyle/>
            <a:p>
              <a:pPr algn="ctr"/>
            </a:p>
          </p:txBody>
        </p:sp>
        <p:sp>
          <p:nvSpPr>
            <p:cNvPr id="25" name="wheel"/>
            <p:cNvSpPr/>
            <p:nvPr/>
          </p:nvSpPr>
          <p:spPr>
            <a:xfrm>
              <a:off x="1354455" y="2233422"/>
              <a:ext cx="171450" cy="171450"/>
            </a:xfrm>
            <a:prstGeom prst="ellipse">
              <a:avLst/>
            </a:prstGeom>
            <a:solidFill>
              <a:srgbClr val="1B1D21"/>
            </a:solidFill>
            <a:ln w="19050">
              <a:solidFill>
                <a:srgbClr val="9AA0A6"/>
              </a:solidFill>
            </a:ln>
          </p:spPr>
          <p:txBody>
            <a:bodyPr rtlCol="0" anchor="ctr"/>
            <a:lstStyle/>
            <a:p>
              <a:pPr algn="ctr"/>
            </a:p>
          </p:txBody>
        </p:sp>
        <p:sp>
          <p:nvSpPr>
            <p:cNvPr id="26" name="hub"/>
            <p:cNvSpPr/>
            <p:nvPr/>
          </p:nvSpPr>
          <p:spPr>
            <a:xfrm>
              <a:off x="1419606" y="2298573"/>
              <a:ext cx="41148" cy="41148"/>
            </a:xfrm>
            <a:prstGeom prst="ellipse">
              <a:avLst/>
            </a:prstGeom>
            <a:solidFill>
              <a:srgbClr val="9AA0A6"/>
            </a:solidFill>
            <a:ln>
              <a:noFill/>
            </a:ln>
          </p:spPr>
          <p:txBody>
            <a:bodyPr rtlCol="0" anchor="ctr"/>
            <a:lstStyle/>
            <a:p>
              <a:pPr algn="ctr"/>
            </a:p>
          </p:txBody>
        </p:sp>
        <p:sp>
          <p:nvSpPr>
            <p:cNvPr id="27" name="wheel"/>
            <p:cNvSpPr/>
            <p:nvPr/>
          </p:nvSpPr>
          <p:spPr>
            <a:xfrm>
              <a:off x="1583055" y="2233422"/>
              <a:ext cx="171450" cy="171450"/>
            </a:xfrm>
            <a:prstGeom prst="ellipse">
              <a:avLst/>
            </a:prstGeom>
            <a:solidFill>
              <a:srgbClr val="1B1D21"/>
            </a:solidFill>
            <a:ln w="19050">
              <a:solidFill>
                <a:srgbClr val="9AA0A6"/>
              </a:solidFill>
            </a:ln>
          </p:spPr>
          <p:txBody>
            <a:bodyPr rtlCol="0" anchor="ctr"/>
            <a:lstStyle/>
            <a:p>
              <a:pPr algn="ctr"/>
            </a:p>
          </p:txBody>
        </p:sp>
        <p:sp>
          <p:nvSpPr>
            <p:cNvPr id="28" name="hub"/>
            <p:cNvSpPr/>
            <p:nvPr/>
          </p:nvSpPr>
          <p:spPr>
            <a:xfrm>
              <a:off x="1648206" y="2298573"/>
              <a:ext cx="41148" cy="41148"/>
            </a:xfrm>
            <a:prstGeom prst="ellipse">
              <a:avLst/>
            </a:prstGeom>
            <a:solidFill>
              <a:srgbClr val="9AA0A6"/>
            </a:solidFill>
            <a:ln>
              <a:noFill/>
            </a:ln>
          </p:spPr>
          <p:txBody>
            <a:bodyPr rtlCol="0" anchor="ctr"/>
            <a:lstStyle/>
            <a:p>
              <a:pPr algn="ctr"/>
            </a:p>
          </p:txBody>
        </p:sp>
        <p:sp>
          <p:nvSpPr>
            <p:cNvPr id="29" name="wheel"/>
            <p:cNvSpPr/>
            <p:nvPr/>
          </p:nvSpPr>
          <p:spPr>
            <a:xfrm>
              <a:off x="1811655" y="2233422"/>
              <a:ext cx="171450" cy="171450"/>
            </a:xfrm>
            <a:prstGeom prst="ellipse">
              <a:avLst/>
            </a:prstGeom>
            <a:solidFill>
              <a:srgbClr val="1B1D21"/>
            </a:solidFill>
            <a:ln w="19050">
              <a:solidFill>
                <a:srgbClr val="9AA0A6"/>
              </a:solidFill>
            </a:ln>
          </p:spPr>
          <p:txBody>
            <a:bodyPr rtlCol="0" anchor="ctr"/>
            <a:lstStyle/>
            <a:p>
              <a:pPr algn="ctr"/>
            </a:p>
          </p:txBody>
        </p:sp>
        <p:sp>
          <p:nvSpPr>
            <p:cNvPr id="30" name="hub"/>
            <p:cNvSpPr/>
            <p:nvPr/>
          </p:nvSpPr>
          <p:spPr>
            <a:xfrm>
              <a:off x="1876806" y="2298573"/>
              <a:ext cx="41148" cy="41148"/>
            </a:xfrm>
            <a:prstGeom prst="ellipse">
              <a:avLst/>
            </a:prstGeom>
            <a:solidFill>
              <a:srgbClr val="9AA0A6"/>
            </a:solidFill>
            <a:ln>
              <a:noFill/>
            </a:ln>
          </p:spPr>
          <p:txBody>
            <a:bodyPr rtlCol="0" anchor="ctr"/>
            <a:lstStyle/>
            <a:p>
              <a:pPr algn="ctr"/>
            </a:p>
          </p:txBody>
        </p:sp>
        <p:sp>
          <p:nvSpPr>
            <p:cNvPr id="31" name="gap tag"/>
            <p:cNvSpPr/>
            <p:nvPr/>
          </p:nvSpPr>
          <p:spPr>
            <a:xfrm>
              <a:off x="6583680" y="1947672"/>
              <a:ext cx="1554480" cy="365760"/>
            </a:xfrm>
            <a:prstGeom prst="roundRect">
              <a:avLst>
                <a:gd name="adj" fmla="val 25000"/>
              </a:avLst>
            </a:prstGeom>
            <a:solidFill>
              <a:srgbClr val="E5484D"/>
            </a:solidFill>
            <a:ln>
              <a:noFill/>
            </a:ln>
          </p:spPr>
          <p:txBody>
            <a:bodyPr rtlCol="0" anchor="ctr" wrap="square" lIns="54864" tIns="27432" rIns="54864" bIns="27432">
              <a:noAutofit/>
            </a:bodyPr>
            <a:lstStyle/>
            <a:p>
              <a:pPr algn="ctr"/>
              <a:r>
                <a:rPr sz="1800" b="1" i="0" lang="en-GB">
                  <a:solidFill>
                    <a:srgbClr val="101418"/>
                  </a:solidFill>
                  <a:latin typeface="Arial"/>
                </a:rPr>
                <a:t>Too far</a:t>
              </a:r>
            </a:p>
          </p:txBody>
        </p:sp>
        <p:sp>
          <p:nvSpPr>
            <p:cNvPr id="32" name="answer card"/>
            <p:cNvSpPr/>
            <p:nvPr/>
          </p:nvSpPr>
          <p:spPr>
            <a:xfrm>
              <a:off x="548640" y="3246120"/>
              <a:ext cx="2560320" cy="2011680"/>
            </a:xfrm>
            <a:prstGeom prst="roundRect">
              <a:avLst>
                <a:gd name="adj" fmla="val 4545"/>
              </a:avLst>
            </a:prstGeom>
            <a:solidFill>
              <a:srgbClr val="F28C28"/>
            </a:solidFill>
            <a:ln>
              <a:noFill/>
            </a:ln>
          </p:spPr>
          <p:txBody>
            <a:bodyPr rtlCol="0" anchor="ctr"/>
            <a:lstStyle/>
            <a:p>
              <a:pPr algn="ctr"/>
            </a:p>
          </p:txBody>
        </p:sp>
        <p:sp>
          <p:nvSpPr>
            <p:cNvPr id="33" name="icon aux tender"/>
            <p:cNvSpPr/>
            <p:nvPr/>
          </p:nvSpPr>
          <p:spPr>
            <a:xfrm>
              <a:off x="1097280" y="3749040"/>
              <a:ext cx="1463040" cy="548640"/>
            </a:xfrm>
            <a:prstGeom prst="rect">
              <a:avLst/>
            </a:prstGeom>
            <a:pattFill prst="wdUpDiag">
              <a:fgClr>
                <a:srgbClr val="101418"/>
              </a:fgClr>
              <a:bgClr>
                <a:srgbClr val="F28C28"/>
              </a:bgClr>
            </a:pattFill>
            <a:ln w="25400">
              <a:solidFill>
                <a:srgbClr val="101418"/>
              </a:solidFill>
            </a:ln>
          </p:spPr>
          <p:txBody>
            <a:bodyPr rtlCol="0" anchor="ctr"/>
            <a:lstStyle/>
            <a:p>
              <a:pPr algn="ctr"/>
            </a:p>
          </p:txBody>
        </p:sp>
        <p:sp>
          <p:nvSpPr>
            <p:cNvPr id="34" name="answer label"/>
            <p:cNvSpPr txBox="1"/>
            <p:nvPr/>
          </p:nvSpPr>
          <p:spPr>
            <a:xfrm>
              <a:off x="640080" y="4572000"/>
              <a:ext cx="2377440" cy="457200"/>
            </a:xfrm>
            <a:prstGeom prst="rect">
              <a:avLst/>
            </a:prstGeom>
            <a:noFill/>
          </p:spPr>
          <p:txBody>
            <a:bodyPr wrap="square" anchor="ctr" lIns="18288" tIns="9144" rIns="18288" bIns="9144">
              <a:noAutofit/>
            </a:bodyPr>
            <a:lstStyle/>
            <a:p>
              <a:pPr algn="ctr"/>
              <a:r>
                <a:rPr sz="2000" b="1" i="0" lang="en-GB">
                  <a:solidFill>
                    <a:srgbClr val="101418"/>
                  </a:solidFill>
                  <a:latin typeface="Arial"/>
                </a:rPr>
                <a:t>Auxiliary tender</a:t>
              </a:r>
            </a:p>
          </p:txBody>
        </p:sp>
        <p:sp>
          <p:nvSpPr>
            <p:cNvPr id="35" name="answer card"/>
            <p:cNvSpPr/>
            <p:nvPr/>
          </p:nvSpPr>
          <p:spPr>
            <a:xfrm>
              <a:off x="3392424" y="3246120"/>
              <a:ext cx="2560320" cy="2011680"/>
            </a:xfrm>
            <a:prstGeom prst="roundRect">
              <a:avLst>
                <a:gd name="adj" fmla="val 4545"/>
              </a:avLst>
            </a:prstGeom>
            <a:solidFill>
              <a:srgbClr val="F28C28"/>
            </a:solidFill>
            <a:ln>
              <a:noFill/>
            </a:ln>
          </p:spPr>
          <p:txBody>
            <a:bodyPr rtlCol="0" anchor="ctr"/>
            <a:lstStyle/>
            <a:p>
              <a:pPr algn="ctr"/>
            </a:p>
          </p:txBody>
        </p:sp>
        <p:sp>
          <p:nvSpPr>
            <p:cNvPr id="36" name="icon drop"/>
            <p:cNvSpPr/>
            <p:nvPr/>
          </p:nvSpPr>
          <p:spPr>
            <a:xfrm>
              <a:off x="4423221" y="3611880"/>
              <a:ext cx="498725" cy="723207"/>
            </a:xfrm>
            <a:custGeom>
              <a:avLst/>
              <a:gdLst/>
              <a:ahLst/>
              <a:cxnLst/>
              <a:rect l="l" t="t" r="r" b="b"/>
              <a:pathLst>
                <a:path w="498725" h="723207">
                  <a:moveTo>
                    <a:pt x="249362" y="0"/>
                  </a:moveTo>
                  <a:lnTo>
                    <a:pt x="461409" y="342571"/>
                  </a:lnTo>
                  <a:lnTo>
                    <a:pt x="477817" y="373827"/>
                  </a:lnTo>
                  <a:lnTo>
                    <a:pt x="489648" y="407086"/>
                  </a:lnTo>
                  <a:lnTo>
                    <a:pt x="496664" y="441682"/>
                  </a:lnTo>
                  <a:lnTo>
                    <a:pt x="498725" y="476922"/>
                  </a:lnTo>
                  <a:lnTo>
                    <a:pt x="495790" y="512101"/>
                  </a:lnTo>
                  <a:lnTo>
                    <a:pt x="487916" y="546512"/>
                  </a:lnTo>
                  <a:lnTo>
                    <a:pt x="475263" y="579467"/>
                  </a:lnTo>
                  <a:lnTo>
                    <a:pt x="458084" y="610305"/>
                  </a:lnTo>
                  <a:lnTo>
                    <a:pt x="436722" y="638408"/>
                  </a:lnTo>
                  <a:lnTo>
                    <a:pt x="411606" y="663214"/>
                  </a:lnTo>
                  <a:lnTo>
                    <a:pt x="383240" y="684225"/>
                  </a:lnTo>
                  <a:lnTo>
                    <a:pt x="352190" y="701020"/>
                  </a:lnTo>
                  <a:lnTo>
                    <a:pt x="319081" y="713263"/>
                  </a:lnTo>
                  <a:lnTo>
                    <a:pt x="284574" y="720708"/>
                  </a:lnTo>
                  <a:lnTo>
                    <a:pt x="249362" y="723207"/>
                  </a:lnTo>
                  <a:lnTo>
                    <a:pt x="214151" y="720708"/>
                  </a:lnTo>
                  <a:lnTo>
                    <a:pt x="179644" y="713263"/>
                  </a:lnTo>
                  <a:lnTo>
                    <a:pt x="146535" y="701020"/>
                  </a:lnTo>
                  <a:lnTo>
                    <a:pt x="115485" y="684225"/>
                  </a:lnTo>
                  <a:lnTo>
                    <a:pt x="87119" y="663214"/>
                  </a:lnTo>
                  <a:lnTo>
                    <a:pt x="62003" y="638408"/>
                  </a:lnTo>
                  <a:lnTo>
                    <a:pt x="40641" y="610305"/>
                  </a:lnTo>
                  <a:lnTo>
                    <a:pt x="23462" y="579467"/>
                  </a:lnTo>
                  <a:lnTo>
                    <a:pt x="10809" y="546512"/>
                  </a:lnTo>
                  <a:lnTo>
                    <a:pt x="2935" y="512101"/>
                  </a:lnTo>
                  <a:lnTo>
                    <a:pt x="0" y="476922"/>
                  </a:lnTo>
                  <a:lnTo>
                    <a:pt x="2061" y="441682"/>
                  </a:lnTo>
                  <a:lnTo>
                    <a:pt x="9077" y="407086"/>
                  </a:lnTo>
                  <a:lnTo>
                    <a:pt x="20908" y="373827"/>
                  </a:lnTo>
                  <a:lnTo>
                    <a:pt x="37316" y="342571"/>
                  </a:lnTo>
                  <a:close/>
                </a:path>
              </a:pathLst>
            </a:custGeom>
            <a:solidFill>
              <a:srgbClr val="101418"/>
            </a:solidFill>
            <a:ln>
              <a:noFill/>
            </a:ln>
          </p:spPr>
          <p:txBody>
            <a:bodyPr rtlCol="0" anchor="ctr"/>
            <a:lstStyle/>
            <a:p>
              <a:pPr algn="ctr"/>
            </a:p>
          </p:txBody>
        </p:sp>
        <p:sp>
          <p:nvSpPr>
            <p:cNvPr id="37" name="answer label"/>
            <p:cNvSpPr txBox="1"/>
            <p:nvPr/>
          </p:nvSpPr>
          <p:spPr>
            <a:xfrm>
              <a:off x="3483864" y="4572000"/>
              <a:ext cx="2377440" cy="457200"/>
            </a:xfrm>
            <a:prstGeom prst="rect">
              <a:avLst/>
            </a:prstGeom>
            <a:noFill/>
          </p:spPr>
          <p:txBody>
            <a:bodyPr wrap="square" anchor="ctr" lIns="18288" tIns="9144" rIns="18288" bIns="9144">
              <a:noAutofit/>
            </a:bodyPr>
            <a:lstStyle/>
            <a:p>
              <a:pPr algn="ctr"/>
              <a:r>
                <a:rPr sz="2000" b="1" i="0" lang="en-GB">
                  <a:solidFill>
                    <a:srgbClr val="101418"/>
                  </a:solidFill>
                  <a:latin typeface="Arial"/>
                </a:rPr>
                <a:t>Water stop</a:t>
              </a:r>
            </a:p>
          </p:txBody>
        </p:sp>
        <p:sp>
          <p:nvSpPr>
            <p:cNvPr id="38" name="answer card"/>
            <p:cNvSpPr/>
            <p:nvPr/>
          </p:nvSpPr>
          <p:spPr>
            <a:xfrm>
              <a:off x="6236207" y="3246120"/>
              <a:ext cx="2560320" cy="2011680"/>
            </a:xfrm>
            <a:prstGeom prst="roundRect">
              <a:avLst>
                <a:gd name="adj" fmla="val 4545"/>
              </a:avLst>
            </a:prstGeom>
            <a:solidFill>
              <a:srgbClr val="F28C28"/>
            </a:solidFill>
            <a:ln>
              <a:noFill/>
            </a:ln>
          </p:spPr>
          <p:txBody>
            <a:bodyPr rtlCol="0" anchor="ctr"/>
            <a:lstStyle/>
            <a:p>
              <a:pPr algn="ctr"/>
            </a:p>
          </p:txBody>
        </p:sp>
        <p:sp>
          <p:nvSpPr>
            <p:cNvPr id="39" name="icon drop"/>
            <p:cNvSpPr/>
            <p:nvPr/>
          </p:nvSpPr>
          <p:spPr>
            <a:xfrm>
              <a:off x="6928952" y="3657600"/>
              <a:ext cx="443311" cy="642850"/>
            </a:xfrm>
            <a:custGeom>
              <a:avLst/>
              <a:gdLst/>
              <a:ahLst/>
              <a:cxnLst/>
              <a:rect l="l" t="t" r="r" b="b"/>
              <a:pathLst>
                <a:path w="443311" h="642850">
                  <a:moveTo>
                    <a:pt x="221655" y="0"/>
                  </a:moveTo>
                  <a:lnTo>
                    <a:pt x="410141" y="304508"/>
                  </a:lnTo>
                  <a:lnTo>
                    <a:pt x="424727" y="332290"/>
                  </a:lnTo>
                  <a:lnTo>
                    <a:pt x="435243" y="361854"/>
                  </a:lnTo>
                  <a:lnTo>
                    <a:pt x="441479" y="392606"/>
                  </a:lnTo>
                  <a:lnTo>
                    <a:pt x="443311" y="423931"/>
                  </a:lnTo>
                  <a:lnTo>
                    <a:pt x="440702" y="455200"/>
                  </a:lnTo>
                  <a:lnTo>
                    <a:pt x="433703" y="485788"/>
                  </a:lnTo>
                  <a:lnTo>
                    <a:pt x="422456" y="515081"/>
                  </a:lnTo>
                  <a:lnTo>
                    <a:pt x="407185" y="542493"/>
                  </a:lnTo>
                  <a:lnTo>
                    <a:pt x="388197" y="567474"/>
                  </a:lnTo>
                  <a:lnTo>
                    <a:pt x="365872" y="589524"/>
                  </a:lnTo>
                  <a:lnTo>
                    <a:pt x="340657" y="608200"/>
                  </a:lnTo>
                  <a:lnTo>
                    <a:pt x="313058" y="623129"/>
                  </a:lnTo>
                  <a:lnTo>
                    <a:pt x="283627" y="634012"/>
                  </a:lnTo>
                  <a:lnTo>
                    <a:pt x="252955" y="640630"/>
                  </a:lnTo>
                  <a:lnTo>
                    <a:pt x="221655" y="642850"/>
                  </a:lnTo>
                  <a:lnTo>
                    <a:pt x="190356" y="640630"/>
                  </a:lnTo>
                  <a:lnTo>
                    <a:pt x="159684" y="634012"/>
                  </a:lnTo>
                  <a:lnTo>
                    <a:pt x="130253" y="623129"/>
                  </a:lnTo>
                  <a:lnTo>
                    <a:pt x="102654" y="608200"/>
                  </a:lnTo>
                  <a:lnTo>
                    <a:pt x="77439" y="589524"/>
                  </a:lnTo>
                  <a:lnTo>
                    <a:pt x="55114" y="567474"/>
                  </a:lnTo>
                  <a:lnTo>
                    <a:pt x="36126" y="542493"/>
                  </a:lnTo>
                  <a:lnTo>
                    <a:pt x="20855" y="515081"/>
                  </a:lnTo>
                  <a:lnTo>
                    <a:pt x="9608" y="485788"/>
                  </a:lnTo>
                  <a:lnTo>
                    <a:pt x="2609" y="455200"/>
                  </a:lnTo>
                  <a:lnTo>
                    <a:pt x="0" y="423931"/>
                  </a:lnTo>
                  <a:lnTo>
                    <a:pt x="1832" y="392606"/>
                  </a:lnTo>
                  <a:lnTo>
                    <a:pt x="8068" y="361854"/>
                  </a:lnTo>
                  <a:lnTo>
                    <a:pt x="18584" y="332290"/>
                  </a:lnTo>
                  <a:lnTo>
                    <a:pt x="33170" y="304508"/>
                  </a:lnTo>
                  <a:close/>
                </a:path>
              </a:pathLst>
            </a:custGeom>
            <a:solidFill>
              <a:srgbClr val="101418"/>
            </a:solidFill>
            <a:ln>
              <a:noFill/>
            </a:ln>
          </p:spPr>
          <p:txBody>
            <a:bodyPr rtlCol="0" anchor="ctr"/>
            <a:lstStyle/>
            <a:p>
              <a:pPr algn="ctr"/>
            </a:p>
          </p:txBody>
        </p:sp>
        <p:sp>
          <p:nvSpPr>
            <p:cNvPr id="40" name="icon heap"/>
            <p:cNvSpPr/>
            <p:nvPr/>
          </p:nvSpPr>
          <p:spPr>
            <a:xfrm>
              <a:off x="7539227" y="3946779"/>
              <a:ext cx="777240" cy="427482"/>
            </a:xfrm>
            <a:custGeom>
              <a:avLst/>
              <a:gdLst/>
              <a:ahLst/>
              <a:cxnLst/>
              <a:rect l="l" t="t" r="r" b="b"/>
              <a:pathLst>
                <a:path w="777240" h="427482">
                  <a:moveTo>
                    <a:pt x="0" y="427482"/>
                  </a:moveTo>
                  <a:lnTo>
                    <a:pt x="170993" y="170992"/>
                  </a:lnTo>
                  <a:lnTo>
                    <a:pt x="349758" y="0"/>
                  </a:lnTo>
                  <a:lnTo>
                    <a:pt x="544068" y="128244"/>
                  </a:lnTo>
                  <a:lnTo>
                    <a:pt x="777240" y="427482"/>
                  </a:lnTo>
                  <a:close/>
                </a:path>
              </a:pathLst>
            </a:custGeom>
            <a:solidFill>
              <a:srgbClr val="101418"/>
            </a:solidFill>
            <a:ln w="25400">
              <a:solidFill>
                <a:srgbClr val="101418"/>
              </a:solidFill>
            </a:ln>
          </p:spPr>
          <p:txBody>
            <a:bodyPr rtlCol="0" anchor="ctr"/>
            <a:lstStyle/>
            <a:p>
              <a:pPr algn="ctr"/>
            </a:p>
          </p:txBody>
        </p:sp>
        <p:sp>
          <p:nvSpPr>
            <p:cNvPr id="41" name="answer label"/>
            <p:cNvSpPr txBox="1"/>
            <p:nvPr/>
          </p:nvSpPr>
          <p:spPr>
            <a:xfrm>
              <a:off x="6327647" y="4572000"/>
              <a:ext cx="2377440" cy="457200"/>
            </a:xfrm>
            <a:prstGeom prst="rect">
              <a:avLst/>
            </a:prstGeom>
            <a:noFill/>
          </p:spPr>
          <p:txBody>
            <a:bodyPr wrap="square" anchor="ctr" lIns="18288" tIns="9144" rIns="18288" bIns="9144">
              <a:noAutofit/>
            </a:bodyPr>
            <a:lstStyle/>
            <a:p>
              <a:pPr algn="ctr"/>
              <a:r>
                <a:rPr sz="2000" b="1" i="0" lang="en-GB">
                  <a:solidFill>
                    <a:srgbClr val="101418"/>
                  </a:solidFill>
                  <a:latin typeface="Arial"/>
                </a:rPr>
                <a:t>Service point</a:t>
              </a:r>
            </a:p>
          </p:txBody>
        </p:sp>
        <p:sp>
          <p:nvSpPr>
            <p:cNvPr id="42" name="answer card"/>
            <p:cNvSpPr/>
            <p:nvPr/>
          </p:nvSpPr>
          <p:spPr>
            <a:xfrm>
              <a:off x="9079992" y="3246120"/>
              <a:ext cx="2560320" cy="2011680"/>
            </a:xfrm>
            <a:prstGeom prst="roundRect">
              <a:avLst>
                <a:gd name="adj" fmla="val 4545"/>
              </a:avLst>
            </a:prstGeom>
            <a:solidFill>
              <a:srgbClr val="F28C28"/>
            </a:solidFill>
            <a:ln>
              <a:noFill/>
            </a:ln>
          </p:spPr>
          <p:txBody>
            <a:bodyPr rtlCol="0" anchor="ctr"/>
            <a:lstStyle/>
            <a:p>
              <a:pPr algn="ctr"/>
            </a:p>
          </p:txBody>
        </p:sp>
        <p:sp>
          <p:nvSpPr>
            <p:cNvPr id="43" name="bunker"/>
            <p:cNvSpPr/>
            <p:nvPr/>
          </p:nvSpPr>
          <p:spPr>
            <a:xfrm>
              <a:off x="9308592" y="4070908"/>
              <a:ext cx="138988" cy="138988"/>
            </a:xfrm>
            <a:prstGeom prst="roundRect">
              <a:avLst>
                <a:gd name="adj" fmla="val 2631"/>
              </a:avLst>
            </a:prstGeom>
            <a:solidFill>
              <a:srgbClr val="101418"/>
            </a:solidFill>
            <a:ln>
              <a:noFill/>
            </a:ln>
          </p:spPr>
          <p:txBody>
            <a:bodyPr rtlCol="0" anchor="ctr"/>
            <a:lstStyle/>
            <a:p>
              <a:pPr algn="ctr"/>
            </a:p>
          </p:txBody>
        </p:sp>
        <p:sp>
          <p:nvSpPr>
            <p:cNvPr id="44" name="bunker coal"/>
            <p:cNvSpPr/>
            <p:nvPr/>
          </p:nvSpPr>
          <p:spPr>
            <a:xfrm>
              <a:off x="9323222" y="4045305"/>
              <a:ext cx="109728" cy="32918"/>
            </a:xfrm>
            <a:prstGeom prst="rect">
              <a:avLst/>
            </a:prstGeom>
            <a:solidFill>
              <a:srgbClr val="1B1D21"/>
            </a:solidFill>
            <a:ln w="12700">
              <a:solidFill>
                <a:srgbClr val="9AA0A6"/>
              </a:solidFill>
            </a:ln>
          </p:spPr>
          <p:txBody>
            <a:bodyPr rtlCol="0" anchor="ctr"/>
            <a:lstStyle/>
            <a:p>
              <a:pPr algn="ctr"/>
            </a:p>
          </p:txBody>
        </p:sp>
        <p:sp>
          <p:nvSpPr>
            <p:cNvPr id="45" name="cab"/>
            <p:cNvSpPr/>
            <p:nvPr/>
          </p:nvSpPr>
          <p:spPr>
            <a:xfrm>
              <a:off x="9440265" y="4005072"/>
              <a:ext cx="146304" cy="204825"/>
            </a:xfrm>
            <a:prstGeom prst="roundRect">
              <a:avLst>
                <a:gd name="adj" fmla="val 2500"/>
              </a:avLst>
            </a:prstGeom>
            <a:solidFill>
              <a:srgbClr val="101418"/>
            </a:solidFill>
            <a:ln>
              <a:noFill/>
            </a:ln>
          </p:spPr>
          <p:txBody>
            <a:bodyPr rtlCol="0" anchor="ctr"/>
            <a:lstStyle/>
            <a:p>
              <a:pPr algn="ctr"/>
            </a:p>
          </p:txBody>
        </p:sp>
        <p:sp>
          <p:nvSpPr>
            <p:cNvPr id="46" name="cab roof"/>
            <p:cNvSpPr/>
            <p:nvPr/>
          </p:nvSpPr>
          <p:spPr>
            <a:xfrm>
              <a:off x="9432950" y="3994099"/>
              <a:ext cx="160934" cy="16093"/>
            </a:xfrm>
            <a:prstGeom prst="rect">
              <a:avLst/>
            </a:prstGeom>
            <a:solidFill>
              <a:srgbClr val="3A3F47"/>
            </a:solidFill>
            <a:ln w="9525">
              <a:solidFill>
                <a:srgbClr val="9AA0A6"/>
              </a:solidFill>
            </a:ln>
          </p:spPr>
          <p:txBody>
            <a:bodyPr rtlCol="0" anchor="ctr"/>
            <a:lstStyle/>
            <a:p>
              <a:pPr algn="ctr"/>
            </a:p>
          </p:txBody>
        </p:sp>
        <p:sp>
          <p:nvSpPr>
            <p:cNvPr id="47" name="cab window"/>
            <p:cNvSpPr/>
            <p:nvPr/>
          </p:nvSpPr>
          <p:spPr>
            <a:xfrm>
              <a:off x="9469526" y="4045305"/>
              <a:ext cx="87782" cy="65836"/>
            </a:xfrm>
            <a:prstGeom prst="rect">
              <a:avLst/>
            </a:prstGeom>
            <a:solidFill>
              <a:srgbClr val="1B1D21"/>
            </a:solidFill>
            <a:ln>
              <a:noFill/>
            </a:ln>
          </p:spPr>
          <p:txBody>
            <a:bodyPr rtlCol="0" anchor="ctr"/>
            <a:lstStyle/>
            <a:p>
              <a:pPr algn="ctr"/>
            </a:p>
          </p:txBody>
        </p:sp>
        <p:sp>
          <p:nvSpPr>
            <p:cNvPr id="48" name="boiler"/>
            <p:cNvSpPr/>
            <p:nvPr/>
          </p:nvSpPr>
          <p:spPr>
            <a:xfrm>
              <a:off x="9586569" y="4048963"/>
              <a:ext cx="438912" cy="160934"/>
            </a:xfrm>
            <a:prstGeom prst="roundRect">
              <a:avLst>
                <a:gd name="adj" fmla="val 27272"/>
              </a:avLst>
            </a:prstGeom>
            <a:solidFill>
              <a:srgbClr val="101418"/>
            </a:solidFill>
            <a:ln>
              <a:noFill/>
            </a:ln>
          </p:spPr>
          <p:txBody>
            <a:bodyPr rtlCol="0" anchor="ctr"/>
            <a:lstStyle/>
            <a:p>
              <a:pPr algn="ctr"/>
            </a:p>
          </p:txBody>
        </p:sp>
        <p:sp>
          <p:nvSpPr>
            <p:cNvPr id="49" name="side tank"/>
            <p:cNvSpPr/>
            <p:nvPr/>
          </p:nvSpPr>
          <p:spPr>
            <a:xfrm>
              <a:off x="9593884" y="4100169"/>
              <a:ext cx="336499" cy="109728"/>
            </a:xfrm>
            <a:prstGeom prst="roundRect">
              <a:avLst>
                <a:gd name="adj" fmla="val 13333"/>
              </a:avLst>
            </a:prstGeom>
            <a:solidFill>
              <a:srgbClr val="C96F1B"/>
            </a:solidFill>
            <a:ln>
              <a:noFill/>
            </a:ln>
          </p:spPr>
          <p:txBody>
            <a:bodyPr rtlCol="0" anchor="ctr"/>
            <a:lstStyle/>
            <a:p>
              <a:pPr algn="ctr"/>
            </a:p>
          </p:txBody>
        </p:sp>
        <p:sp>
          <p:nvSpPr>
            <p:cNvPr id="50" name="chimney"/>
            <p:cNvSpPr/>
            <p:nvPr/>
          </p:nvSpPr>
          <p:spPr>
            <a:xfrm>
              <a:off x="9930384" y="3983126"/>
              <a:ext cx="51206" cy="69494"/>
            </a:xfrm>
            <a:prstGeom prst="rect">
              <a:avLst/>
            </a:prstGeom>
            <a:solidFill>
              <a:srgbClr val="3A3F47"/>
            </a:solidFill>
            <a:ln w="9525">
              <a:solidFill>
                <a:srgbClr val="9AA0A6"/>
              </a:solidFill>
            </a:ln>
          </p:spPr>
          <p:txBody>
            <a:bodyPr rtlCol="0" anchor="ctr"/>
            <a:lstStyle/>
            <a:p>
              <a:pPr algn="ctr"/>
            </a:p>
          </p:txBody>
        </p:sp>
        <p:sp>
          <p:nvSpPr>
            <p:cNvPr id="51" name="chimney lip"/>
            <p:cNvSpPr/>
            <p:nvPr/>
          </p:nvSpPr>
          <p:spPr>
            <a:xfrm>
              <a:off x="9919411" y="3975811"/>
              <a:ext cx="73152" cy="14630"/>
            </a:xfrm>
            <a:prstGeom prst="rect">
              <a:avLst/>
            </a:prstGeom>
            <a:solidFill>
              <a:srgbClr val="3A3F47"/>
            </a:solidFill>
            <a:ln w="9525">
              <a:solidFill>
                <a:srgbClr val="9AA0A6"/>
              </a:solidFill>
            </a:ln>
          </p:spPr>
          <p:txBody>
            <a:bodyPr rtlCol="0" anchor="ctr"/>
            <a:lstStyle/>
            <a:p>
              <a:pPr algn="ctr"/>
            </a:p>
          </p:txBody>
        </p:sp>
        <p:sp>
          <p:nvSpPr>
            <p:cNvPr id="52" name="dome"/>
            <p:cNvSpPr/>
            <p:nvPr/>
          </p:nvSpPr>
          <p:spPr>
            <a:xfrm>
              <a:off x="9945014" y="4034332"/>
              <a:ext cx="73152" cy="18288"/>
            </a:xfrm>
            <a:prstGeom prst="roundRect">
              <a:avLst>
                <a:gd name="adj" fmla="val 50000"/>
              </a:avLst>
            </a:prstGeom>
            <a:solidFill>
              <a:srgbClr val="101418"/>
            </a:solidFill>
            <a:ln>
              <a:noFill/>
            </a:ln>
          </p:spPr>
          <p:txBody>
            <a:bodyPr rtlCol="0" anchor="ctr"/>
            <a:lstStyle/>
            <a:p>
              <a:pPr algn="ctr"/>
            </a:p>
          </p:txBody>
        </p:sp>
        <p:sp>
          <p:nvSpPr>
            <p:cNvPr id="53" name="frame"/>
            <p:cNvSpPr/>
            <p:nvPr/>
          </p:nvSpPr>
          <p:spPr>
            <a:xfrm>
              <a:off x="9440265" y="4209897"/>
              <a:ext cx="585216" cy="21945"/>
            </a:xfrm>
            <a:prstGeom prst="rect">
              <a:avLst/>
            </a:prstGeom>
            <a:solidFill>
              <a:srgbClr val="3A3F47"/>
            </a:solidFill>
            <a:ln w="9525">
              <a:solidFill>
                <a:srgbClr val="9AA0A6"/>
              </a:solidFill>
            </a:ln>
          </p:spPr>
          <p:txBody>
            <a:bodyPr rtlCol="0" anchor="ctr"/>
            <a:lstStyle/>
            <a:p>
              <a:pPr algn="ctr"/>
            </a:p>
          </p:txBody>
        </p:sp>
        <p:sp>
          <p:nvSpPr>
            <p:cNvPr id="54" name="wheel"/>
            <p:cNvSpPr/>
            <p:nvPr/>
          </p:nvSpPr>
          <p:spPr>
            <a:xfrm>
              <a:off x="9531705" y="4187952"/>
              <a:ext cx="109728" cy="109728"/>
            </a:xfrm>
            <a:prstGeom prst="ellipse">
              <a:avLst/>
            </a:prstGeom>
            <a:solidFill>
              <a:srgbClr val="1B1D21"/>
            </a:solidFill>
            <a:ln w="19050">
              <a:solidFill>
                <a:srgbClr val="9AA0A6"/>
              </a:solidFill>
            </a:ln>
          </p:spPr>
          <p:txBody>
            <a:bodyPr rtlCol="0" anchor="ctr"/>
            <a:lstStyle/>
            <a:p>
              <a:pPr algn="ctr"/>
            </a:p>
          </p:txBody>
        </p:sp>
        <p:sp>
          <p:nvSpPr>
            <p:cNvPr id="55" name="hub"/>
            <p:cNvSpPr/>
            <p:nvPr/>
          </p:nvSpPr>
          <p:spPr>
            <a:xfrm>
              <a:off x="9573402" y="4229648"/>
              <a:ext cx="26334" cy="26334"/>
            </a:xfrm>
            <a:prstGeom prst="ellipse">
              <a:avLst/>
            </a:prstGeom>
            <a:solidFill>
              <a:srgbClr val="9AA0A6"/>
            </a:solidFill>
            <a:ln>
              <a:noFill/>
            </a:ln>
          </p:spPr>
          <p:txBody>
            <a:bodyPr rtlCol="0" anchor="ctr"/>
            <a:lstStyle/>
            <a:p>
              <a:pPr algn="ctr"/>
            </a:p>
          </p:txBody>
        </p:sp>
        <p:sp>
          <p:nvSpPr>
            <p:cNvPr id="56" name="wheel"/>
            <p:cNvSpPr/>
            <p:nvPr/>
          </p:nvSpPr>
          <p:spPr>
            <a:xfrm>
              <a:off x="9678009" y="4187952"/>
              <a:ext cx="109728" cy="109728"/>
            </a:xfrm>
            <a:prstGeom prst="ellipse">
              <a:avLst/>
            </a:prstGeom>
            <a:solidFill>
              <a:srgbClr val="1B1D21"/>
            </a:solidFill>
            <a:ln w="19050">
              <a:solidFill>
                <a:srgbClr val="9AA0A6"/>
              </a:solidFill>
            </a:ln>
          </p:spPr>
          <p:txBody>
            <a:bodyPr rtlCol="0" anchor="ctr"/>
            <a:lstStyle/>
            <a:p>
              <a:pPr algn="ctr"/>
            </a:p>
          </p:txBody>
        </p:sp>
        <p:sp>
          <p:nvSpPr>
            <p:cNvPr id="57" name="hub"/>
            <p:cNvSpPr/>
            <p:nvPr/>
          </p:nvSpPr>
          <p:spPr>
            <a:xfrm>
              <a:off x="9719706" y="4229648"/>
              <a:ext cx="26334" cy="26334"/>
            </a:xfrm>
            <a:prstGeom prst="ellipse">
              <a:avLst/>
            </a:prstGeom>
            <a:solidFill>
              <a:srgbClr val="9AA0A6"/>
            </a:solidFill>
            <a:ln>
              <a:noFill/>
            </a:ln>
          </p:spPr>
          <p:txBody>
            <a:bodyPr rtlCol="0" anchor="ctr"/>
            <a:lstStyle/>
            <a:p>
              <a:pPr algn="ctr"/>
            </a:p>
          </p:txBody>
        </p:sp>
        <p:sp>
          <p:nvSpPr>
            <p:cNvPr id="58" name="wheel"/>
            <p:cNvSpPr/>
            <p:nvPr/>
          </p:nvSpPr>
          <p:spPr>
            <a:xfrm>
              <a:off x="9824313" y="4187952"/>
              <a:ext cx="109728" cy="109728"/>
            </a:xfrm>
            <a:prstGeom prst="ellipse">
              <a:avLst/>
            </a:prstGeom>
            <a:solidFill>
              <a:srgbClr val="1B1D21"/>
            </a:solidFill>
            <a:ln w="19050">
              <a:solidFill>
                <a:srgbClr val="9AA0A6"/>
              </a:solidFill>
            </a:ln>
          </p:spPr>
          <p:txBody>
            <a:bodyPr rtlCol="0" anchor="ctr"/>
            <a:lstStyle/>
            <a:p>
              <a:pPr algn="ctr"/>
            </a:p>
          </p:txBody>
        </p:sp>
        <p:sp>
          <p:nvSpPr>
            <p:cNvPr id="59" name="hub"/>
            <p:cNvSpPr/>
            <p:nvPr/>
          </p:nvSpPr>
          <p:spPr>
            <a:xfrm>
              <a:off x="9866010" y="4229648"/>
              <a:ext cx="26334" cy="26334"/>
            </a:xfrm>
            <a:prstGeom prst="ellipse">
              <a:avLst/>
            </a:prstGeom>
            <a:solidFill>
              <a:srgbClr val="9AA0A6"/>
            </a:solidFill>
            <a:ln>
              <a:noFill/>
            </a:ln>
          </p:spPr>
          <p:txBody>
            <a:bodyPr rtlCol="0" anchor="ctr"/>
            <a:lstStyle/>
            <a:p>
              <a:pPr algn="ctr"/>
            </a:p>
          </p:txBody>
        </p:sp>
        <p:sp>
          <p:nvSpPr>
            <p:cNvPr id="60" name="tender body"/>
            <p:cNvSpPr/>
            <p:nvPr/>
          </p:nvSpPr>
          <p:spPr>
            <a:xfrm>
              <a:off x="10177272" y="3978783"/>
              <a:ext cx="390906" cy="195453"/>
            </a:xfrm>
            <a:prstGeom prst="roundRect">
              <a:avLst>
                <a:gd name="adj" fmla="val 2631"/>
              </a:avLst>
            </a:prstGeom>
            <a:solidFill>
              <a:srgbClr val="6C7480"/>
            </a:solidFill>
            <a:ln>
              <a:noFill/>
            </a:ln>
          </p:spPr>
          <p:txBody>
            <a:bodyPr rtlCol="0" anchor="ctr"/>
            <a:lstStyle/>
            <a:p>
              <a:pPr algn="ctr"/>
            </a:p>
          </p:txBody>
        </p:sp>
        <p:sp>
          <p:nvSpPr>
            <p:cNvPr id="61" name="tender coal"/>
            <p:cNvSpPr/>
            <p:nvPr/>
          </p:nvSpPr>
          <p:spPr>
            <a:xfrm>
              <a:off x="10208133" y="3942778"/>
              <a:ext cx="329184" cy="46291"/>
            </a:xfrm>
            <a:prstGeom prst="rect">
              <a:avLst/>
            </a:prstGeom>
            <a:solidFill>
              <a:srgbClr val="1B1D21"/>
            </a:solidFill>
            <a:ln w="12700">
              <a:solidFill>
                <a:srgbClr val="9AA0A6"/>
              </a:solidFill>
            </a:ln>
          </p:spPr>
          <p:txBody>
            <a:bodyPr rtlCol="0" anchor="ctr"/>
            <a:lstStyle/>
            <a:p>
              <a:pPr algn="ctr"/>
            </a:p>
          </p:txBody>
        </p:sp>
        <p:sp>
          <p:nvSpPr>
            <p:cNvPr id="62" name="tender frame"/>
            <p:cNvSpPr/>
            <p:nvPr/>
          </p:nvSpPr>
          <p:spPr>
            <a:xfrm>
              <a:off x="10177272" y="4174236"/>
              <a:ext cx="390906" cy="30861"/>
            </a:xfrm>
            <a:prstGeom prst="rect">
              <a:avLst/>
            </a:prstGeom>
            <a:solidFill>
              <a:srgbClr val="3A3F47"/>
            </a:solidFill>
            <a:ln w="9525">
              <a:solidFill>
                <a:srgbClr val="9AA0A6"/>
              </a:solidFill>
            </a:ln>
          </p:spPr>
          <p:txBody>
            <a:bodyPr rtlCol="0" anchor="ctr"/>
            <a:lstStyle/>
            <a:p>
              <a:pPr algn="ctr"/>
            </a:p>
          </p:txBody>
        </p:sp>
        <p:sp>
          <p:nvSpPr>
            <p:cNvPr id="63" name="coupling"/>
            <p:cNvSpPr/>
            <p:nvPr/>
          </p:nvSpPr>
          <p:spPr>
            <a:xfrm>
              <a:off x="10568178" y="4112514"/>
              <a:ext cx="41148" cy="20574"/>
            </a:xfrm>
            <a:prstGeom prst="rect">
              <a:avLst/>
            </a:prstGeom>
            <a:solidFill>
              <a:srgbClr val="9AA0A6"/>
            </a:solidFill>
            <a:ln>
              <a:noFill/>
            </a:ln>
          </p:spPr>
          <p:txBody>
            <a:bodyPr rtlCol="0" anchor="ctr"/>
            <a:lstStyle/>
            <a:p>
              <a:pPr algn="ctr"/>
            </a:p>
          </p:txBody>
        </p:sp>
        <p:sp>
          <p:nvSpPr>
            <p:cNvPr id="64" name="wheel"/>
            <p:cNvSpPr/>
            <p:nvPr/>
          </p:nvSpPr>
          <p:spPr>
            <a:xfrm>
              <a:off x="10192702" y="4143375"/>
              <a:ext cx="154305" cy="154305"/>
            </a:xfrm>
            <a:prstGeom prst="ellipse">
              <a:avLst/>
            </a:prstGeom>
            <a:solidFill>
              <a:srgbClr val="1B1D21"/>
            </a:solidFill>
            <a:ln w="19050">
              <a:solidFill>
                <a:srgbClr val="9AA0A6"/>
              </a:solidFill>
            </a:ln>
          </p:spPr>
          <p:txBody>
            <a:bodyPr rtlCol="0" anchor="ctr"/>
            <a:lstStyle/>
            <a:p>
              <a:pPr algn="ctr"/>
            </a:p>
          </p:txBody>
        </p:sp>
        <p:sp>
          <p:nvSpPr>
            <p:cNvPr id="65" name="hub"/>
            <p:cNvSpPr/>
            <p:nvPr/>
          </p:nvSpPr>
          <p:spPr>
            <a:xfrm>
              <a:off x="10251338" y="4202010"/>
              <a:ext cx="37033" cy="37033"/>
            </a:xfrm>
            <a:prstGeom prst="ellipse">
              <a:avLst/>
            </a:prstGeom>
            <a:solidFill>
              <a:srgbClr val="9AA0A6"/>
            </a:solidFill>
            <a:ln>
              <a:noFill/>
            </a:ln>
          </p:spPr>
          <p:txBody>
            <a:bodyPr rtlCol="0" anchor="ctr"/>
            <a:lstStyle/>
            <a:p>
              <a:pPr algn="ctr"/>
            </a:p>
          </p:txBody>
        </p:sp>
        <p:sp>
          <p:nvSpPr>
            <p:cNvPr id="66" name="wheel"/>
            <p:cNvSpPr/>
            <p:nvPr/>
          </p:nvSpPr>
          <p:spPr>
            <a:xfrm>
              <a:off x="10398442" y="4143375"/>
              <a:ext cx="154305" cy="154305"/>
            </a:xfrm>
            <a:prstGeom prst="ellipse">
              <a:avLst/>
            </a:prstGeom>
            <a:solidFill>
              <a:srgbClr val="1B1D21"/>
            </a:solidFill>
            <a:ln w="19050">
              <a:solidFill>
                <a:srgbClr val="9AA0A6"/>
              </a:solidFill>
            </a:ln>
          </p:spPr>
          <p:txBody>
            <a:bodyPr rtlCol="0" anchor="ctr"/>
            <a:lstStyle/>
            <a:p>
              <a:pPr algn="ctr"/>
            </a:p>
          </p:txBody>
        </p:sp>
        <p:sp>
          <p:nvSpPr>
            <p:cNvPr id="67" name="hub"/>
            <p:cNvSpPr/>
            <p:nvPr/>
          </p:nvSpPr>
          <p:spPr>
            <a:xfrm>
              <a:off x="10457078" y="4202010"/>
              <a:ext cx="37033" cy="37033"/>
            </a:xfrm>
            <a:prstGeom prst="ellipse">
              <a:avLst/>
            </a:prstGeom>
            <a:solidFill>
              <a:srgbClr val="9AA0A6"/>
            </a:solidFill>
            <a:ln>
              <a:noFill/>
            </a:ln>
          </p:spPr>
          <p:txBody>
            <a:bodyPr rtlCol="0" anchor="ctr"/>
            <a:lstStyle/>
            <a:p>
              <a:pPr algn="ctr"/>
            </a:p>
          </p:txBody>
        </p:sp>
        <p:sp>
          <p:nvSpPr>
            <p:cNvPr id="68" name="cab"/>
            <p:cNvSpPr/>
            <p:nvPr/>
          </p:nvSpPr>
          <p:spPr>
            <a:xfrm>
              <a:off x="10588752" y="3886200"/>
              <a:ext cx="205740" cy="288036"/>
            </a:xfrm>
            <a:prstGeom prst="roundRect">
              <a:avLst>
                <a:gd name="adj" fmla="val 2500"/>
              </a:avLst>
            </a:prstGeom>
            <a:solidFill>
              <a:srgbClr val="101418"/>
            </a:solidFill>
            <a:ln>
              <a:noFill/>
            </a:ln>
          </p:spPr>
          <p:txBody>
            <a:bodyPr rtlCol="0" anchor="ctr"/>
            <a:lstStyle/>
            <a:p>
              <a:pPr algn="ctr"/>
            </a:p>
          </p:txBody>
        </p:sp>
        <p:sp>
          <p:nvSpPr>
            <p:cNvPr id="69" name="cab roof"/>
            <p:cNvSpPr/>
            <p:nvPr/>
          </p:nvSpPr>
          <p:spPr>
            <a:xfrm>
              <a:off x="10578465" y="3870769"/>
              <a:ext cx="226314" cy="22631"/>
            </a:xfrm>
            <a:prstGeom prst="rect">
              <a:avLst/>
            </a:prstGeom>
            <a:solidFill>
              <a:srgbClr val="3A3F47"/>
            </a:solidFill>
            <a:ln w="9525">
              <a:solidFill>
                <a:srgbClr val="9AA0A6"/>
              </a:solidFill>
            </a:ln>
          </p:spPr>
          <p:txBody>
            <a:bodyPr rtlCol="0" anchor="ctr"/>
            <a:lstStyle/>
            <a:p>
              <a:pPr algn="ctr"/>
            </a:p>
          </p:txBody>
        </p:sp>
        <p:sp>
          <p:nvSpPr>
            <p:cNvPr id="70" name="cab window"/>
            <p:cNvSpPr/>
            <p:nvPr/>
          </p:nvSpPr>
          <p:spPr>
            <a:xfrm>
              <a:off x="10629900" y="3942778"/>
              <a:ext cx="123444" cy="92583"/>
            </a:xfrm>
            <a:prstGeom prst="rect">
              <a:avLst/>
            </a:prstGeom>
            <a:solidFill>
              <a:srgbClr val="1B1D21"/>
            </a:solidFill>
            <a:ln>
              <a:noFill/>
            </a:ln>
          </p:spPr>
          <p:txBody>
            <a:bodyPr rtlCol="0" anchor="ctr"/>
            <a:lstStyle/>
            <a:p>
              <a:pPr algn="ctr"/>
            </a:p>
          </p:txBody>
        </p:sp>
        <p:sp>
          <p:nvSpPr>
            <p:cNvPr id="71" name="boiler"/>
            <p:cNvSpPr/>
            <p:nvPr/>
          </p:nvSpPr>
          <p:spPr>
            <a:xfrm>
              <a:off x="10794492" y="3947922"/>
              <a:ext cx="617220" cy="226314"/>
            </a:xfrm>
            <a:prstGeom prst="roundRect">
              <a:avLst>
                <a:gd name="adj" fmla="val 27272"/>
              </a:avLst>
            </a:prstGeom>
            <a:solidFill>
              <a:srgbClr val="101418"/>
            </a:solidFill>
            <a:ln>
              <a:noFill/>
            </a:ln>
          </p:spPr>
          <p:txBody>
            <a:bodyPr rtlCol="0" anchor="ctr"/>
            <a:lstStyle/>
            <a:p>
              <a:pPr algn="ctr"/>
            </a:p>
          </p:txBody>
        </p:sp>
        <p:sp>
          <p:nvSpPr>
            <p:cNvPr id="72" name="chimney"/>
            <p:cNvSpPr/>
            <p:nvPr/>
          </p:nvSpPr>
          <p:spPr>
            <a:xfrm>
              <a:off x="11277981" y="3855339"/>
              <a:ext cx="72009" cy="97726"/>
            </a:xfrm>
            <a:prstGeom prst="rect">
              <a:avLst/>
            </a:prstGeom>
            <a:solidFill>
              <a:srgbClr val="3A3F47"/>
            </a:solidFill>
            <a:ln w="9525">
              <a:solidFill>
                <a:srgbClr val="9AA0A6"/>
              </a:solidFill>
            </a:ln>
          </p:spPr>
          <p:txBody>
            <a:bodyPr rtlCol="0" anchor="ctr"/>
            <a:lstStyle/>
            <a:p>
              <a:pPr algn="ctr"/>
            </a:p>
          </p:txBody>
        </p:sp>
        <p:sp>
          <p:nvSpPr>
            <p:cNvPr id="73" name="chimney lip"/>
            <p:cNvSpPr/>
            <p:nvPr/>
          </p:nvSpPr>
          <p:spPr>
            <a:xfrm>
              <a:off x="11262550" y="3845052"/>
              <a:ext cx="102870" cy="20574"/>
            </a:xfrm>
            <a:prstGeom prst="rect">
              <a:avLst/>
            </a:prstGeom>
            <a:solidFill>
              <a:srgbClr val="3A3F47"/>
            </a:solidFill>
            <a:ln w="9525">
              <a:solidFill>
                <a:srgbClr val="9AA0A6"/>
              </a:solidFill>
            </a:ln>
          </p:spPr>
          <p:txBody>
            <a:bodyPr rtlCol="0" anchor="ctr"/>
            <a:lstStyle/>
            <a:p>
              <a:pPr algn="ctr"/>
            </a:p>
          </p:txBody>
        </p:sp>
        <p:sp>
          <p:nvSpPr>
            <p:cNvPr id="74" name="dome"/>
            <p:cNvSpPr/>
            <p:nvPr/>
          </p:nvSpPr>
          <p:spPr>
            <a:xfrm>
              <a:off x="10969371" y="3901630"/>
              <a:ext cx="102870" cy="51435"/>
            </a:xfrm>
            <a:prstGeom prst="roundRect">
              <a:avLst>
                <a:gd name="adj" fmla="val 40000"/>
              </a:avLst>
            </a:prstGeom>
            <a:solidFill>
              <a:srgbClr val="101418"/>
            </a:solidFill>
            <a:ln>
              <a:noFill/>
            </a:ln>
          </p:spPr>
          <p:txBody>
            <a:bodyPr rtlCol="0" anchor="ctr"/>
            <a:lstStyle/>
            <a:p>
              <a:pPr algn="ctr"/>
            </a:p>
          </p:txBody>
        </p:sp>
        <p:sp>
          <p:nvSpPr>
            <p:cNvPr id="75" name="frame"/>
            <p:cNvSpPr/>
            <p:nvPr/>
          </p:nvSpPr>
          <p:spPr>
            <a:xfrm>
              <a:off x="10588752" y="4174236"/>
              <a:ext cx="822960" cy="30861"/>
            </a:xfrm>
            <a:prstGeom prst="rect">
              <a:avLst/>
            </a:prstGeom>
            <a:solidFill>
              <a:srgbClr val="3A3F47"/>
            </a:solidFill>
            <a:ln w="9525">
              <a:solidFill>
                <a:srgbClr val="9AA0A6"/>
              </a:solidFill>
            </a:ln>
          </p:spPr>
          <p:txBody>
            <a:bodyPr rtlCol="0" anchor="ctr"/>
            <a:lstStyle/>
            <a:p>
              <a:pPr algn="ctr"/>
            </a:p>
          </p:txBody>
        </p:sp>
        <p:sp>
          <p:nvSpPr>
            <p:cNvPr id="76" name="wheel"/>
            <p:cNvSpPr/>
            <p:nvPr/>
          </p:nvSpPr>
          <p:spPr>
            <a:xfrm>
              <a:off x="10737913" y="4143375"/>
              <a:ext cx="154305" cy="154305"/>
            </a:xfrm>
            <a:prstGeom prst="ellipse">
              <a:avLst/>
            </a:prstGeom>
            <a:solidFill>
              <a:srgbClr val="1B1D21"/>
            </a:solidFill>
            <a:ln w="19050">
              <a:solidFill>
                <a:srgbClr val="9AA0A6"/>
              </a:solidFill>
            </a:ln>
          </p:spPr>
          <p:txBody>
            <a:bodyPr rtlCol="0" anchor="ctr"/>
            <a:lstStyle/>
            <a:p>
              <a:pPr algn="ctr"/>
            </a:p>
          </p:txBody>
        </p:sp>
        <p:sp>
          <p:nvSpPr>
            <p:cNvPr id="77" name="hub"/>
            <p:cNvSpPr/>
            <p:nvPr/>
          </p:nvSpPr>
          <p:spPr>
            <a:xfrm>
              <a:off x="10796549" y="4202010"/>
              <a:ext cx="37033" cy="37033"/>
            </a:xfrm>
            <a:prstGeom prst="ellipse">
              <a:avLst/>
            </a:prstGeom>
            <a:solidFill>
              <a:srgbClr val="9AA0A6"/>
            </a:solidFill>
            <a:ln>
              <a:noFill/>
            </a:ln>
          </p:spPr>
          <p:txBody>
            <a:bodyPr rtlCol="0" anchor="ctr"/>
            <a:lstStyle/>
            <a:p>
              <a:pPr algn="ctr"/>
            </a:p>
          </p:txBody>
        </p:sp>
        <p:sp>
          <p:nvSpPr>
            <p:cNvPr id="78" name="wheel"/>
            <p:cNvSpPr/>
            <p:nvPr/>
          </p:nvSpPr>
          <p:spPr>
            <a:xfrm>
              <a:off x="10943653" y="4143375"/>
              <a:ext cx="154305" cy="154305"/>
            </a:xfrm>
            <a:prstGeom prst="ellipse">
              <a:avLst/>
            </a:prstGeom>
            <a:solidFill>
              <a:srgbClr val="1B1D21"/>
            </a:solidFill>
            <a:ln w="19050">
              <a:solidFill>
                <a:srgbClr val="9AA0A6"/>
              </a:solidFill>
            </a:ln>
          </p:spPr>
          <p:txBody>
            <a:bodyPr rtlCol="0" anchor="ctr"/>
            <a:lstStyle/>
            <a:p>
              <a:pPr algn="ctr"/>
            </a:p>
          </p:txBody>
        </p:sp>
        <p:sp>
          <p:nvSpPr>
            <p:cNvPr id="79" name="hub"/>
            <p:cNvSpPr/>
            <p:nvPr/>
          </p:nvSpPr>
          <p:spPr>
            <a:xfrm>
              <a:off x="11002289" y="4202010"/>
              <a:ext cx="37033" cy="37033"/>
            </a:xfrm>
            <a:prstGeom prst="ellipse">
              <a:avLst/>
            </a:prstGeom>
            <a:solidFill>
              <a:srgbClr val="9AA0A6"/>
            </a:solidFill>
            <a:ln>
              <a:noFill/>
            </a:ln>
          </p:spPr>
          <p:txBody>
            <a:bodyPr rtlCol="0" anchor="ctr"/>
            <a:lstStyle/>
            <a:p>
              <a:pPr algn="ctr"/>
            </a:p>
          </p:txBody>
        </p:sp>
        <p:sp>
          <p:nvSpPr>
            <p:cNvPr id="80" name="wheel"/>
            <p:cNvSpPr/>
            <p:nvPr/>
          </p:nvSpPr>
          <p:spPr>
            <a:xfrm>
              <a:off x="11149393" y="4143375"/>
              <a:ext cx="154305" cy="154305"/>
            </a:xfrm>
            <a:prstGeom prst="ellipse">
              <a:avLst/>
            </a:prstGeom>
            <a:solidFill>
              <a:srgbClr val="1B1D21"/>
            </a:solidFill>
            <a:ln w="19050">
              <a:solidFill>
                <a:srgbClr val="9AA0A6"/>
              </a:solidFill>
            </a:ln>
          </p:spPr>
          <p:txBody>
            <a:bodyPr rtlCol="0" anchor="ctr"/>
            <a:lstStyle/>
            <a:p>
              <a:pPr algn="ctr"/>
            </a:p>
          </p:txBody>
        </p:sp>
        <p:sp>
          <p:nvSpPr>
            <p:cNvPr id="81" name="hub"/>
            <p:cNvSpPr/>
            <p:nvPr/>
          </p:nvSpPr>
          <p:spPr>
            <a:xfrm>
              <a:off x="11208029" y="4202010"/>
              <a:ext cx="37033" cy="37033"/>
            </a:xfrm>
            <a:prstGeom prst="ellipse">
              <a:avLst/>
            </a:prstGeom>
            <a:solidFill>
              <a:srgbClr val="9AA0A6"/>
            </a:solidFill>
            <a:ln>
              <a:noFill/>
            </a:ln>
          </p:spPr>
          <p:txBody>
            <a:bodyPr rtlCol="0" anchor="ctr"/>
            <a:lstStyle/>
            <a:p>
              <a:pPr algn="ctr"/>
            </a:p>
          </p:txBody>
        </p:sp>
        <p:sp>
          <p:nvSpPr>
            <p:cNvPr id="82" name="answer label"/>
            <p:cNvSpPr txBox="1"/>
            <p:nvPr/>
          </p:nvSpPr>
          <p:spPr>
            <a:xfrm>
              <a:off x="9171432" y="4572000"/>
              <a:ext cx="2377440" cy="457200"/>
            </a:xfrm>
            <a:prstGeom prst="rect">
              <a:avLst/>
            </a:prstGeom>
            <a:noFill/>
          </p:spPr>
          <p:txBody>
            <a:bodyPr wrap="square" anchor="ctr" lIns="18288" tIns="9144" rIns="18288" bIns="9144">
              <a:noAutofit/>
            </a:bodyPr>
            <a:lstStyle/>
            <a:p>
              <a:pPr algn="ctr"/>
              <a:r>
                <a:rPr sz="2000" b="1" i="0" lang="en-GB">
                  <a:solidFill>
                    <a:srgbClr val="101418"/>
                  </a:solidFill>
                  <a:latin typeface="Arial"/>
                </a:rPr>
                <a:t>Bigger engine</a:t>
              </a:r>
            </a:p>
          </p:txBody>
        </p:sp>
      </p:grpSp>
      <p:sp>
        <p:nvSpPr>
          <p:cNvPr id="8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5"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Add a tender. Add a water stop. Build a service point. Or pick a bigger engine.</a:t>
            </a:r>
          </a:p>
        </p:txBody>
      </p:sp>
      <p:sp>
        <p:nvSpPr>
          <p:cNvPr id="8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3"/>
                                        </p:tgtEl>
                                        <p:attrNameLst>
                                          <p:attrName>style.visibility</p:attrName>
                                        </p:attrNameLst>
                                      </p:cBhvr>
                                      <p:to>
                                        <p:strVal val="visible"/>
                                      </p:to>
                                    </p:set>
                                    <p:animEffect transition="in" filter="fade">
                                      <p:cBhvr>
                                        <p:cTn id="10" dur="500"/>
                                        <p:tgtEl>
                                          <p:spTgt spid="83"/>
                                        </p:tgtEl>
                                      </p:cBhvr>
                                    </p:animEffect>
                                  </p:childTnLst>
                                </p:cTn>
                              </p:par>
                              <p:par>
                                <p:cTn id="11" presetID="10" presetClass="entr" presetSubtype="0" fill="hold" nodeType="withEffect">
                                  <p:stCondLst>
                                    <p:cond delay="60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500"/>
                                        <p:tgtEl>
                                          <p:spTgt spid="84"/>
                                        </p:tgtEl>
                                      </p:cBhvr>
                                    </p:animEffect>
                                  </p:childTnLst>
                                </p:cTn>
                              </p:par>
                              <p:par>
                                <p:cTn id="14" presetID="10" presetClass="entr" presetSubtype="0" fill="hold" nodeType="withEffect">
                                  <p:stCondLst>
                                    <p:cond delay="900"/>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Where this stands</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pic>
        <p:nvPicPr>
          <p:cNvPr id="4" name="R01_pannier_visual_probe_v004" descr="Early test model of a tank engine (a yellow 'visual probe') on a short length of track. Not final art."/>
          <p:cNvPicPr>
            <a:picLocks noChangeAspect="1"/>
          </p:cNvPicPr>
          <p:nvPr/>
        </p:nvPicPr>
        <p:blipFill>
          <a:blip r:embed="rId2"/>
          <a:srcRect l="625" r="625"/>
          <a:stretch>
            <a:fillRect/>
          </a:stretch>
        </p:blipFill>
        <p:spPr>
          <a:xfrm>
            <a:off x="548640" y="1371600"/>
            <a:ext cx="2194560" cy="1234440"/>
          </a:xfrm>
          <a:prstGeom prst="roundRect">
            <a:avLst>
              <a:gd name="adj" fmla="val 5925"/>
            </a:avLst>
          </a:prstGeom>
        </p:spPr>
      </p:pic>
      <p:sp>
        <p:nvSpPr>
          <p:cNvPr id="5" name="CREDIT"/>
          <p:cNvSpPr txBox="1"/>
          <p:nvPr/>
        </p:nvSpPr>
        <p:spPr>
          <a:xfrm>
            <a:off x="548640" y="2633472"/>
            <a:ext cx="2377440" cy="219456"/>
          </a:xfrm>
          <a:prstGeom prst="rect">
            <a:avLst/>
          </a:prstGeom>
          <a:noFill/>
        </p:spPr>
        <p:txBody>
          <a:bodyPr wrap="square" anchor="t" lIns="0" tIns="0" rIns="0" bIns="0">
            <a:noAutofit/>
          </a:bodyPr>
          <a:lstStyle/>
          <a:p>
            <a:pPr algn="l"/>
            <a:r>
              <a:rPr sz="1000" b="0" i="0" lang="en-GB">
                <a:solidFill>
                  <a:srgbClr val="A9B0B8"/>
                </a:solidFill>
                <a:latin typeface="Arial"/>
              </a:rPr>
              <a:t>Early test model, not final art.</a:t>
            </a:r>
          </a:p>
        </p:txBody>
      </p:sp>
      <p:grpSp>
        <p:nvGrpSpPr>
          <p:cNvPr id="6" name="Five steps" descr="Five steps in a row. Test engine on the game's rails is under way. Coal and water, station servicing, service points and tenders are planned."/>
          <p:cNvGrpSpPr/>
          <p:nvPr/>
        </p:nvGrpSpPr>
        <p:grpSpPr>
          <a:xfrm>
            <a:off x="548640" y="1783080"/>
            <a:ext cx="11091672" cy="3246120"/>
            <a:chOff x="548640" y="1783080"/>
            <a:chExt cx="11091672" cy="3246120"/>
          </a:xfrm>
        </p:grpSpPr>
        <p:cxnSp>
          <p:nvCxnSpPr>
            <p:cNvPr id="7" name="step line"/>
            <p:cNvCxnSpPr/>
            <p:nvPr/>
          </p:nvCxnSpPr>
          <p:spPr>
            <a:xfrm>
              <a:off x="1595628" y="3154680"/>
              <a:ext cx="8997696" cy="0"/>
            </a:xfrm>
            <a:prstGeom prst="line">
              <a:avLst/>
            </a:prstGeom>
            <a:ln w="38100">
              <a:solidFill>
                <a:srgbClr val="4A515B"/>
              </a:solidFill>
            </a:ln>
          </p:spPr>
        </p:cxnSp>
        <p:sp>
          <p:nvSpPr>
            <p:cNvPr id="8" name="step marker"/>
            <p:cNvSpPr/>
            <p:nvPr/>
          </p:nvSpPr>
          <p:spPr>
            <a:xfrm>
              <a:off x="1367028" y="2926080"/>
              <a:ext cx="457200" cy="457200"/>
            </a:xfrm>
            <a:prstGeom prst="ellipse">
              <a:avLst/>
            </a:prstGeom>
            <a:solidFill>
              <a:srgbClr val="F28C28"/>
            </a:solidFill>
            <a:ln w="31750">
              <a:solidFill>
                <a:srgbClr val="F28C28"/>
              </a:solidFill>
            </a:ln>
          </p:spPr>
          <p:txBody>
            <a:bodyPr rtlCol="0" anchor="ctr"/>
            <a:lstStyle/>
            <a:p>
              <a:pPr algn="ctr"/>
            </a:p>
          </p:txBody>
        </p:sp>
        <p:sp>
          <p:nvSpPr>
            <p:cNvPr id="9" name="step card"/>
            <p:cNvSpPr/>
            <p:nvPr/>
          </p:nvSpPr>
          <p:spPr>
            <a:xfrm>
              <a:off x="548640" y="3566160"/>
              <a:ext cx="2093976" cy="1463040"/>
            </a:xfrm>
            <a:prstGeom prst="roundRect">
              <a:avLst>
                <a:gd name="adj" fmla="val 6250"/>
              </a:avLst>
            </a:prstGeom>
            <a:solidFill>
              <a:srgbClr val="2B2F36"/>
            </a:solidFill>
            <a:ln w="25400">
              <a:solidFill>
                <a:srgbClr val="F28C28"/>
              </a:solidFill>
            </a:ln>
          </p:spPr>
          <p:txBody>
            <a:bodyPr rtlCol="0" anchor="t" wrap="square" lIns="137160" tIns="137160" bIns="91440">
              <a:noAutofit/>
            </a:bodyPr>
            <a:lstStyle/>
            <a:p>
              <a:pPr algn="l"/>
              <a:r>
                <a:rPr sz="1800" b="0" i="0" lang="en-GB">
                  <a:solidFill>
                    <a:srgbClr val="F2F2F2"/>
                  </a:solidFill>
                  <a:latin typeface="Arial"/>
                </a:rPr>
                <a:t>Test engine on the game's rails</a:t>
              </a:r>
            </a:p>
            <a:p>
              <a:pPr algn="l"/>
              <a:r>
                <a:rPr sz="1800" b="1" i="0" lang="en-GB">
                  <a:solidFill>
                    <a:srgbClr val="F28C28"/>
                  </a:solidFill>
                  <a:latin typeface="Arial"/>
                </a:rPr>
                <a:t>Under way</a:t>
              </a:r>
            </a:p>
          </p:txBody>
        </p:sp>
        <p:sp>
          <p:nvSpPr>
            <p:cNvPr id="10" name="step marker"/>
            <p:cNvSpPr/>
            <p:nvPr/>
          </p:nvSpPr>
          <p:spPr>
            <a:xfrm>
              <a:off x="3616452" y="2926080"/>
              <a:ext cx="457200" cy="457200"/>
            </a:xfrm>
            <a:prstGeom prst="ellipse">
              <a:avLst/>
            </a:prstGeom>
            <a:solidFill>
              <a:srgbClr val="1E2126"/>
            </a:solidFill>
            <a:ln w="31750">
              <a:solidFill>
                <a:srgbClr val="A9B0B8"/>
              </a:solidFill>
            </a:ln>
          </p:spPr>
          <p:txBody>
            <a:bodyPr rtlCol="0" anchor="ctr"/>
            <a:lstStyle/>
            <a:p>
              <a:pPr algn="ctr"/>
            </a:p>
          </p:txBody>
        </p:sp>
        <p:sp>
          <p:nvSpPr>
            <p:cNvPr id="11" name="step card"/>
            <p:cNvSpPr/>
            <p:nvPr/>
          </p:nvSpPr>
          <p:spPr>
            <a:xfrm>
              <a:off x="2798064" y="3566160"/>
              <a:ext cx="2093976" cy="1463040"/>
            </a:xfrm>
            <a:prstGeom prst="roundRect">
              <a:avLst>
                <a:gd name="adj" fmla="val 6250"/>
              </a:avLst>
            </a:prstGeom>
            <a:solidFill>
              <a:srgbClr val="2B2F36"/>
            </a:solidFill>
            <a:ln w="12700">
              <a:solidFill>
                <a:srgbClr val="4A515B"/>
              </a:solidFill>
            </a:ln>
          </p:spPr>
          <p:txBody>
            <a:bodyPr rtlCol="0" anchor="t" wrap="square" lIns="137160" tIns="137160" bIns="91440">
              <a:noAutofit/>
            </a:bodyPr>
            <a:lstStyle/>
            <a:p>
              <a:pPr algn="l"/>
              <a:r>
                <a:rPr sz="1800" b="0" i="0" lang="en-GB">
                  <a:solidFill>
                    <a:srgbClr val="F2F2F2"/>
                  </a:solidFill>
                  <a:latin typeface="Arial"/>
                </a:rPr>
                <a:t>Coal and water</a:t>
              </a:r>
            </a:p>
            <a:p>
              <a:pPr algn="l"/>
              <a:r>
                <a:rPr sz="1800" b="1" i="0" lang="en-GB">
                  <a:solidFill>
                    <a:srgbClr val="A9B0B8"/>
                  </a:solidFill>
                  <a:latin typeface="Arial"/>
                </a:rPr>
                <a:t>Planned</a:t>
              </a:r>
            </a:p>
          </p:txBody>
        </p:sp>
        <p:sp>
          <p:nvSpPr>
            <p:cNvPr id="12" name="step marker"/>
            <p:cNvSpPr/>
            <p:nvPr/>
          </p:nvSpPr>
          <p:spPr>
            <a:xfrm>
              <a:off x="5865875" y="2926080"/>
              <a:ext cx="457200" cy="457200"/>
            </a:xfrm>
            <a:prstGeom prst="ellipse">
              <a:avLst/>
            </a:prstGeom>
            <a:solidFill>
              <a:srgbClr val="1E2126"/>
            </a:solidFill>
            <a:ln w="31750">
              <a:solidFill>
                <a:srgbClr val="A9B0B8"/>
              </a:solidFill>
            </a:ln>
          </p:spPr>
          <p:txBody>
            <a:bodyPr rtlCol="0" anchor="ctr"/>
            <a:lstStyle/>
            <a:p>
              <a:pPr algn="ctr"/>
            </a:p>
          </p:txBody>
        </p:sp>
        <p:sp>
          <p:nvSpPr>
            <p:cNvPr id="13" name="step card"/>
            <p:cNvSpPr/>
            <p:nvPr/>
          </p:nvSpPr>
          <p:spPr>
            <a:xfrm>
              <a:off x="5047488" y="3566160"/>
              <a:ext cx="2093976" cy="1463040"/>
            </a:xfrm>
            <a:prstGeom prst="roundRect">
              <a:avLst>
                <a:gd name="adj" fmla="val 6250"/>
              </a:avLst>
            </a:prstGeom>
            <a:solidFill>
              <a:srgbClr val="2B2F36"/>
            </a:solidFill>
            <a:ln w="12700">
              <a:solidFill>
                <a:srgbClr val="4A515B"/>
              </a:solidFill>
            </a:ln>
          </p:spPr>
          <p:txBody>
            <a:bodyPr rtlCol="0" anchor="t" wrap="square" lIns="137160" tIns="137160" bIns="91440">
              <a:noAutofit/>
            </a:bodyPr>
            <a:lstStyle/>
            <a:p>
              <a:pPr algn="l"/>
              <a:r>
                <a:rPr sz="1800" b="0" i="0" lang="en-GB">
                  <a:solidFill>
                    <a:srgbClr val="F2F2F2"/>
                  </a:solidFill>
                  <a:latin typeface="Arial"/>
                </a:rPr>
                <a:t>Station servicing</a:t>
              </a:r>
            </a:p>
            <a:p>
              <a:pPr algn="l"/>
              <a:r>
                <a:rPr sz="1800" b="1" i="0" lang="en-GB">
                  <a:solidFill>
                    <a:srgbClr val="A9B0B8"/>
                  </a:solidFill>
                  <a:latin typeface="Arial"/>
                </a:rPr>
                <a:t>Planned</a:t>
              </a:r>
            </a:p>
          </p:txBody>
        </p:sp>
        <p:sp>
          <p:nvSpPr>
            <p:cNvPr id="14" name="step marker"/>
            <p:cNvSpPr/>
            <p:nvPr/>
          </p:nvSpPr>
          <p:spPr>
            <a:xfrm>
              <a:off x="8115300" y="2926080"/>
              <a:ext cx="457200" cy="457200"/>
            </a:xfrm>
            <a:prstGeom prst="ellipse">
              <a:avLst/>
            </a:prstGeom>
            <a:solidFill>
              <a:srgbClr val="1E2126"/>
            </a:solidFill>
            <a:ln w="31750">
              <a:solidFill>
                <a:srgbClr val="A9B0B8"/>
              </a:solidFill>
            </a:ln>
          </p:spPr>
          <p:txBody>
            <a:bodyPr rtlCol="0" anchor="ctr"/>
            <a:lstStyle/>
            <a:p>
              <a:pPr algn="ctr"/>
            </a:p>
          </p:txBody>
        </p:sp>
        <p:sp>
          <p:nvSpPr>
            <p:cNvPr id="15" name="step card"/>
            <p:cNvSpPr/>
            <p:nvPr/>
          </p:nvSpPr>
          <p:spPr>
            <a:xfrm>
              <a:off x="7296912" y="3566160"/>
              <a:ext cx="2093976" cy="1463040"/>
            </a:xfrm>
            <a:prstGeom prst="roundRect">
              <a:avLst>
                <a:gd name="adj" fmla="val 6250"/>
              </a:avLst>
            </a:prstGeom>
            <a:solidFill>
              <a:srgbClr val="2B2F36"/>
            </a:solidFill>
            <a:ln w="12700">
              <a:solidFill>
                <a:srgbClr val="4A515B"/>
              </a:solidFill>
            </a:ln>
          </p:spPr>
          <p:txBody>
            <a:bodyPr rtlCol="0" anchor="t" wrap="square" lIns="137160" tIns="137160" bIns="91440">
              <a:noAutofit/>
            </a:bodyPr>
            <a:lstStyle/>
            <a:p>
              <a:pPr algn="l"/>
              <a:r>
                <a:rPr sz="1800" b="0" i="0" lang="en-GB">
                  <a:solidFill>
                    <a:srgbClr val="F2F2F2"/>
                  </a:solidFill>
                  <a:latin typeface="Arial"/>
                </a:rPr>
                <a:t>Service points</a:t>
              </a:r>
            </a:p>
            <a:p>
              <a:pPr algn="l"/>
              <a:r>
                <a:rPr sz="1800" b="1" i="0" lang="en-GB">
                  <a:solidFill>
                    <a:srgbClr val="A9B0B8"/>
                  </a:solidFill>
                  <a:latin typeface="Arial"/>
                </a:rPr>
                <a:t>Planned</a:t>
              </a:r>
            </a:p>
          </p:txBody>
        </p:sp>
        <p:sp>
          <p:nvSpPr>
            <p:cNvPr id="16" name="step marker"/>
            <p:cNvSpPr/>
            <p:nvPr/>
          </p:nvSpPr>
          <p:spPr>
            <a:xfrm>
              <a:off x="10364724" y="2926080"/>
              <a:ext cx="457200" cy="457200"/>
            </a:xfrm>
            <a:prstGeom prst="ellipse">
              <a:avLst/>
            </a:prstGeom>
            <a:solidFill>
              <a:srgbClr val="1E2126"/>
            </a:solidFill>
            <a:ln w="31750">
              <a:solidFill>
                <a:srgbClr val="A9B0B8"/>
              </a:solidFill>
            </a:ln>
          </p:spPr>
          <p:txBody>
            <a:bodyPr rtlCol="0" anchor="ctr"/>
            <a:lstStyle/>
            <a:p>
              <a:pPr algn="ctr"/>
            </a:p>
          </p:txBody>
        </p:sp>
        <p:sp>
          <p:nvSpPr>
            <p:cNvPr id="17" name="step card"/>
            <p:cNvSpPr/>
            <p:nvPr/>
          </p:nvSpPr>
          <p:spPr>
            <a:xfrm>
              <a:off x="9546336" y="3566160"/>
              <a:ext cx="2093976" cy="1463040"/>
            </a:xfrm>
            <a:prstGeom prst="roundRect">
              <a:avLst>
                <a:gd name="adj" fmla="val 6250"/>
              </a:avLst>
            </a:prstGeom>
            <a:solidFill>
              <a:srgbClr val="2B2F36"/>
            </a:solidFill>
            <a:ln w="12700">
              <a:solidFill>
                <a:srgbClr val="4A515B"/>
              </a:solidFill>
            </a:ln>
          </p:spPr>
          <p:txBody>
            <a:bodyPr rtlCol="0" anchor="t" wrap="square" lIns="137160" tIns="137160" bIns="91440">
              <a:noAutofit/>
            </a:bodyPr>
            <a:lstStyle/>
            <a:p>
              <a:pPr algn="l"/>
              <a:r>
                <a:rPr sz="1800" b="0" i="0" lang="en-GB">
                  <a:solidFill>
                    <a:srgbClr val="F2F2F2"/>
                  </a:solidFill>
                  <a:latin typeface="Arial"/>
                </a:rPr>
                <a:t>Tenders</a:t>
              </a:r>
            </a:p>
            <a:p>
              <a:pPr algn="l"/>
              <a:r>
                <a:rPr sz="1800" b="1" i="0" lang="en-GB">
                  <a:solidFill>
                    <a:srgbClr val="A9B0B8"/>
                  </a:solidFill>
                  <a:latin typeface="Arial"/>
                </a:rPr>
                <a:t>Planned</a:t>
              </a:r>
            </a:p>
          </p:txBody>
        </p:sp>
        <p:sp>
          <p:nvSpPr>
            <p:cNvPr id="18" name="ICHIP TEXT"/>
            <p:cNvSpPr/>
            <p:nvPr/>
          </p:nvSpPr>
          <p:spPr>
            <a:xfrm>
              <a:off x="9235440" y="1783080"/>
              <a:ext cx="2377440" cy="411480"/>
            </a:xfrm>
            <a:prstGeom prst="roundRect">
              <a:avLst>
                <a:gd name="adj" fmla="val 26666"/>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Plans can change.</a:t>
              </a:r>
            </a:p>
          </p:txBody>
        </p:sp>
      </p:grpSp>
      <p:sp>
        <p:nvSpPr>
          <p:cNvPr id="1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1"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Coal, water and servicing are planned. They are not built yet.</a:t>
            </a:r>
          </a:p>
        </p:txBody>
      </p:sp>
      <p:sp>
        <p:nvSpPr>
          <p:cNvPr id="2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9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12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Still undecided</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grpSp>
        <p:nvGrpSpPr>
          <p:cNvPr id="4" name="Eight open questions" descr="Eight cards, each marked undecided, with an open question and its open-question number. No answers are given."/>
          <p:cNvGrpSpPr/>
          <p:nvPr/>
        </p:nvGrpSpPr>
        <p:grpSpPr>
          <a:xfrm>
            <a:off x="548640" y="1508760"/>
            <a:ext cx="11100816" cy="3474719"/>
            <a:chOff x="548640" y="1508760"/>
            <a:chExt cx="11100816" cy="3474719"/>
          </a:xfrm>
        </p:grpSpPr>
        <p:sp>
          <p:nvSpPr>
            <p:cNvPr id="5" name="question card"/>
            <p:cNvSpPr/>
            <p:nvPr/>
          </p:nvSpPr>
          <p:spPr>
            <a:xfrm>
              <a:off x="548640" y="1508760"/>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6" name="ICHIP"/>
            <p:cNvSpPr/>
            <p:nvPr/>
          </p:nvSpPr>
          <p:spPr>
            <a:xfrm>
              <a:off x="685800" y="164591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OQ08</a:t>
              </a:r>
            </a:p>
          </p:txBody>
        </p:sp>
        <p:sp>
          <p:nvSpPr>
            <p:cNvPr id="7" name="question"/>
            <p:cNvSpPr txBox="1"/>
            <p:nvPr/>
          </p:nvSpPr>
          <p:spPr>
            <a:xfrm>
              <a:off x="685800" y="205740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Which fuels work?</a:t>
              </a:r>
            </a:p>
          </p:txBody>
        </p:sp>
        <p:sp>
          <p:nvSpPr>
            <p:cNvPr id="8" name="question card"/>
            <p:cNvSpPr/>
            <p:nvPr/>
          </p:nvSpPr>
          <p:spPr>
            <a:xfrm>
              <a:off x="3364992" y="1508760"/>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9" name="ICHIP"/>
            <p:cNvSpPr/>
            <p:nvPr/>
          </p:nvSpPr>
          <p:spPr>
            <a:xfrm>
              <a:off x="3502152" y="164591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OQ08</a:t>
              </a:r>
            </a:p>
          </p:txBody>
        </p:sp>
        <p:sp>
          <p:nvSpPr>
            <p:cNvPr id="10" name="question"/>
            <p:cNvSpPr txBox="1"/>
            <p:nvPr/>
          </p:nvSpPr>
          <p:spPr>
            <a:xfrm>
              <a:off x="3502152" y="205740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What happens when supplies run out?</a:t>
              </a:r>
            </a:p>
          </p:txBody>
        </p:sp>
        <p:sp>
          <p:nvSpPr>
            <p:cNvPr id="11" name="question card"/>
            <p:cNvSpPr/>
            <p:nvPr/>
          </p:nvSpPr>
          <p:spPr>
            <a:xfrm>
              <a:off x="6181344" y="1508760"/>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12" name="ICHIP"/>
            <p:cNvSpPr/>
            <p:nvPr/>
          </p:nvSpPr>
          <p:spPr>
            <a:xfrm>
              <a:off x="6318504" y="164591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OQ08</a:t>
              </a:r>
            </a:p>
          </p:txBody>
        </p:sp>
        <p:sp>
          <p:nvSpPr>
            <p:cNvPr id="13" name="question"/>
            <p:cNvSpPr txBox="1"/>
            <p:nvPr/>
          </p:nvSpPr>
          <p:spPr>
            <a:xfrm>
              <a:off x="6318504" y="205740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Station buffers and transfer rates</a:t>
              </a:r>
            </a:p>
          </p:txBody>
        </p:sp>
        <p:sp>
          <p:nvSpPr>
            <p:cNvPr id="14" name="question card"/>
            <p:cNvSpPr/>
            <p:nvPr/>
          </p:nvSpPr>
          <p:spPr>
            <a:xfrm>
              <a:off x="8997696" y="1508760"/>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15" name="ICHIP"/>
            <p:cNvSpPr/>
            <p:nvPr/>
          </p:nvSpPr>
          <p:spPr>
            <a:xfrm>
              <a:off x="9134856" y="164591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OQ09</a:t>
              </a:r>
            </a:p>
          </p:txBody>
        </p:sp>
        <p:sp>
          <p:nvSpPr>
            <p:cNvPr id="16" name="question"/>
            <p:cNvSpPr txBox="1"/>
            <p:nvPr/>
          </p:nvSpPr>
          <p:spPr>
            <a:xfrm>
              <a:off x="9134856" y="205740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Station size and reach</a:t>
              </a:r>
            </a:p>
          </p:txBody>
        </p:sp>
        <p:sp>
          <p:nvSpPr>
            <p:cNvPr id="17" name="question card"/>
            <p:cNvSpPr/>
            <p:nvPr/>
          </p:nvSpPr>
          <p:spPr>
            <a:xfrm>
              <a:off x="548640" y="3383279"/>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18" name="ICHIP"/>
            <p:cNvSpPr/>
            <p:nvPr/>
          </p:nvSpPr>
          <p:spPr>
            <a:xfrm>
              <a:off x="685800" y="352043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OQ09</a:t>
              </a:r>
            </a:p>
          </p:txBody>
        </p:sp>
        <p:sp>
          <p:nvSpPr>
            <p:cNvPr id="19" name="question"/>
            <p:cNvSpPr txBox="1"/>
            <p:nvPr/>
          </p:nvSpPr>
          <p:spPr>
            <a:xfrm>
              <a:off x="685800" y="393192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Two engines at one station</a:t>
              </a:r>
            </a:p>
          </p:txBody>
        </p:sp>
        <p:sp>
          <p:nvSpPr>
            <p:cNvPr id="20" name="question card"/>
            <p:cNvSpPr/>
            <p:nvPr/>
          </p:nvSpPr>
          <p:spPr>
            <a:xfrm>
              <a:off x="3364992" y="3383279"/>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21" name="ICHIP"/>
            <p:cNvSpPr/>
            <p:nvPr/>
          </p:nvSpPr>
          <p:spPr>
            <a:xfrm>
              <a:off x="3502152" y="352043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OQ10</a:t>
              </a:r>
            </a:p>
          </p:txBody>
        </p:sp>
        <p:sp>
          <p:nvSpPr>
            <p:cNvPr id="22" name="question"/>
            <p:cNvSpPr txBox="1"/>
            <p:nvPr/>
          </p:nvSpPr>
          <p:spPr>
            <a:xfrm>
              <a:off x="3502152" y="393192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Tender types and rules</a:t>
              </a:r>
            </a:p>
          </p:txBody>
        </p:sp>
        <p:sp>
          <p:nvSpPr>
            <p:cNvPr id="23" name="question card"/>
            <p:cNvSpPr/>
            <p:nvPr/>
          </p:nvSpPr>
          <p:spPr>
            <a:xfrm>
              <a:off x="6181344" y="3383279"/>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24" name="ICHIP"/>
            <p:cNvSpPr/>
            <p:nvPr/>
          </p:nvSpPr>
          <p:spPr>
            <a:xfrm>
              <a:off x="6318504" y="352043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OQ11</a:t>
              </a:r>
            </a:p>
          </p:txBody>
        </p:sp>
        <p:sp>
          <p:nvSpPr>
            <p:cNvPr id="25" name="question"/>
            <p:cNvSpPr txBox="1"/>
            <p:nvPr/>
          </p:nvSpPr>
          <p:spPr>
            <a:xfrm>
              <a:off x="6318504" y="393192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Which service buildings?</a:t>
              </a:r>
            </a:p>
          </p:txBody>
        </p:sp>
        <p:sp>
          <p:nvSpPr>
            <p:cNvPr id="26" name="question card"/>
            <p:cNvSpPr/>
            <p:nvPr/>
          </p:nvSpPr>
          <p:spPr>
            <a:xfrm>
              <a:off x="8997696" y="3383279"/>
              <a:ext cx="2651760" cy="1600200"/>
            </a:xfrm>
            <a:prstGeom prst="roundRect">
              <a:avLst>
                <a:gd name="adj" fmla="val 5714"/>
              </a:avLst>
            </a:prstGeom>
            <a:solidFill>
              <a:srgbClr val="2B2F36"/>
            </a:solidFill>
            <a:ln w="12700">
              <a:solidFill>
                <a:srgbClr val="4A515B"/>
              </a:solidFill>
            </a:ln>
          </p:spPr>
          <p:txBody>
            <a:bodyPr rtlCol="0" anchor="ctr"/>
            <a:lstStyle/>
            <a:p>
              <a:pPr algn="ctr"/>
            </a:p>
          </p:txBody>
        </p:sp>
        <p:sp>
          <p:nvSpPr>
            <p:cNvPr id="27" name="ICHIP"/>
            <p:cNvSpPr/>
            <p:nvPr/>
          </p:nvSpPr>
          <p:spPr>
            <a:xfrm>
              <a:off x="9134856" y="3520439"/>
              <a:ext cx="2286000"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OQ11</a:t>
              </a:r>
            </a:p>
          </p:txBody>
        </p:sp>
        <p:sp>
          <p:nvSpPr>
            <p:cNvPr id="28" name="question"/>
            <p:cNvSpPr txBox="1"/>
            <p:nvPr/>
          </p:nvSpPr>
          <p:spPr>
            <a:xfrm>
              <a:off x="9134856" y="3931920"/>
              <a:ext cx="2377440" cy="960120"/>
            </a:xfrm>
            <a:prstGeom prst="rect">
              <a:avLst/>
            </a:prstGeom>
            <a:noFill/>
          </p:spPr>
          <p:txBody>
            <a:bodyPr wrap="square" anchor="t" lIns="18288" tIns="9144" rIns="18288" bIns="9144">
              <a:noAutofit/>
            </a:bodyPr>
            <a:lstStyle/>
            <a:p>
              <a:pPr algn="l"/>
              <a:r>
                <a:rPr sz="1800" b="0" i="0" lang="en-GB">
                  <a:solidFill>
                    <a:srgbClr val="F2F2F2"/>
                  </a:solidFill>
                  <a:latin typeface="Arial"/>
                </a:rPr>
                <a:t>Timetable controls for service stops</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1"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These questions are open. Nothing here has been chosen yet.</a:t>
            </a:r>
          </a:p>
        </p:txBody>
      </p:sp>
      <p:sp>
        <p:nvSpPr>
          <p:cNvPr id="3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Image credits</a:t>
            </a:r>
          </a:p>
        </p:txBody>
      </p:sp>
      <p:graphicFrame>
        <p:nvGraphicFramePr>
          <p:cNvPr id="3" name="TABLE" descr="Table of image credits: slot, slide, author and licence, and a link to the source on Wikimedia Commons. The final row credits the mod render on slide 22."/>
          <p:cNvGraphicFramePr>
            <a:graphicFrameLocks noGrp="1"/>
          </p:cNvGraphicFramePr>
          <p:nvPr/>
        </p:nvGraphicFramePr>
        <p:xfrm>
          <a:off x="548640" y="1325880"/>
          <a:ext cx="11091672" cy="3474720"/>
        </p:xfrm>
        <a:graphic>
          <a:graphicData uri="http://schemas.openxmlformats.org/drawingml/2006/table">
            <a:tbl>
              <a:tblPr firstRow="1" bandRow="0">
                <a:tableStyleId>{5C22544A-7EE6-4342-B048-85BDC9FD1C3A}</a:tableStyleId>
              </a:tblPr>
              <a:tblGrid>
                <a:gridCol w="914400"/>
                <a:gridCol w="1188720"/>
                <a:gridCol w="6766560"/>
                <a:gridCol w="2221992"/>
              </a:tblGrid>
              <a:tr h="347472">
                <a:tc>
                  <a:txBody>
                    <a:bodyPr wrap="square"/>
                    <a:lstStyle/>
                    <a:p>
                      <a:pPr algn="l"/>
                      <a:r>
                        <a:rPr sz="1100" b="1" i="0" lang="en-GB">
                          <a:solidFill>
                            <a:srgbClr val="F2F2F2"/>
                          </a:solidFill>
                          <a:latin typeface="Arial"/>
                        </a:rPr>
                        <a:t>Slot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Slide</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Author and licence</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Source link</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r>
              <a:tr h="347472">
                <a:tc>
                  <a:txBody>
                    <a:bodyPr wrap="square"/>
                    <a:lstStyle/>
                    <a:p>
                      <a:pPr algn="l"/>
                      <a:r>
                        <a:rPr sz="1100" b="1" i="0" lang="en-GB">
                          <a:solidFill>
                            <a:srgbClr val="F28C28"/>
                          </a:solidFill>
                          <a:latin typeface="Arial"/>
                        </a:rPr>
                        <a:t>P04</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5</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www.mgaylard.co.uk, CC BY 2.0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8FC7FF"/>
                          </a:solidFill>
                          <a:latin typeface="Arial"/>
                          <a:hlinkClick r:id="rId2"/>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347472">
                <a:tc>
                  <a:txBody>
                    <a:bodyPr wrap="square"/>
                    <a:lstStyle/>
                    <a:p>
                      <a:pPr algn="l"/>
                      <a:r>
                        <a:rPr sz="1100" b="1" i="0" lang="en-GB">
                          <a:solidFill>
                            <a:srgbClr val="F28C28"/>
                          </a:solidFill>
                          <a:latin typeface="Arial"/>
                        </a:rPr>
                        <a:t>P05</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5</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www.mgaylard.co.uk, CC BY 2.0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8FC7FF"/>
                          </a:solidFill>
                          <a:latin typeface="Arial"/>
                          <a:hlinkClick r:id="rId3"/>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r>
              <a:tr h="347472">
                <a:tc>
                  <a:txBody>
                    <a:bodyPr wrap="square"/>
                    <a:lstStyle/>
                    <a:p>
                      <a:pPr algn="l"/>
                      <a:r>
                        <a:rPr sz="1100" b="1" i="0" lang="en-GB">
                          <a:solidFill>
                            <a:srgbClr val="F28C28"/>
                          </a:solidFill>
                          <a:latin typeface="Arial"/>
                        </a:rPr>
                        <a:t>P06</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6</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Barry Skeates, CC BY 2.0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8FC7FF"/>
                          </a:solidFill>
                          <a:latin typeface="Arial"/>
                          <a:hlinkClick r:id="rId4"/>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347472">
                <a:tc>
                  <a:txBody>
                    <a:bodyPr wrap="square"/>
                    <a:lstStyle/>
                    <a:p>
                      <a:pPr algn="l"/>
                      <a:r>
                        <a:rPr sz="1100" b="1" i="0" lang="en-GB">
                          <a:solidFill>
                            <a:srgbClr val="F28C28"/>
                          </a:solidFill>
                          <a:latin typeface="Arial"/>
                        </a:rPr>
                        <a:t>P07</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6</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David Merrett, CC BY 2.0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8FC7FF"/>
                          </a:solidFill>
                          <a:latin typeface="Arial"/>
                          <a:hlinkClick r:id="rId5"/>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r>
              <a:tr h="347472">
                <a:tc>
                  <a:txBody>
                    <a:bodyPr wrap="square"/>
                    <a:lstStyle/>
                    <a:p>
                      <a:pPr algn="l"/>
                      <a:r>
                        <a:rPr sz="1100" b="1" i="0" lang="en-GB">
                          <a:solidFill>
                            <a:srgbClr val="F28C28"/>
                          </a:solidFill>
                          <a:latin typeface="Arial"/>
                        </a:rPr>
                        <a:t>P08</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7</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Gillett's Crossing, CC BY 2.0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8FC7FF"/>
                          </a:solidFill>
                          <a:latin typeface="Arial"/>
                          <a:hlinkClick r:id="rId6"/>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347472">
                <a:tc>
                  <a:txBody>
                    <a:bodyPr wrap="square"/>
                    <a:lstStyle/>
                    <a:p>
                      <a:pPr algn="l"/>
                      <a:r>
                        <a:rPr sz="1100" b="1" i="0" lang="en-GB">
                          <a:solidFill>
                            <a:srgbClr val="F28C28"/>
                          </a:solidFill>
                          <a:latin typeface="Arial"/>
                        </a:rPr>
                        <a:t>P09</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7</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kitmasterbloke, CC BY 4.0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8FC7FF"/>
                          </a:solidFill>
                          <a:latin typeface="Arial"/>
                          <a:hlinkClick r:id="rId7"/>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r>
              <a:tr h="347472">
                <a:tc>
                  <a:txBody>
                    <a:bodyPr wrap="square"/>
                    <a:lstStyle/>
                    <a:p>
                      <a:pPr algn="l"/>
                      <a:r>
                        <a:rPr sz="1100" b="1" i="0" lang="en-GB">
                          <a:solidFill>
                            <a:srgbClr val="F28C28"/>
                          </a:solidFill>
                          <a:latin typeface="Arial"/>
                        </a:rPr>
                        <a:t>P17</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1, 12</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Rosser1954, CC BY-SA 4.0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8FC7FF"/>
                          </a:solidFill>
                          <a:latin typeface="Arial"/>
                          <a:hlinkClick r:id="rId8"/>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r h="347472">
                <a:tc>
                  <a:txBody>
                    <a:bodyPr wrap="square"/>
                    <a:lstStyle/>
                    <a:p>
                      <a:pPr algn="l"/>
                      <a:r>
                        <a:rPr sz="1100" b="1" i="0" lang="en-GB">
                          <a:solidFill>
                            <a:srgbClr val="F28C28"/>
                          </a:solidFill>
                          <a:latin typeface="Arial"/>
                        </a:rPr>
                        <a:t>P18</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19</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F2F2F2"/>
                          </a:solidFill>
                          <a:latin typeface="Arial"/>
                        </a:rPr>
                        <a:t>Geof Sheppard, CC BY-SA 4.0</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wrap="square"/>
                    <a:lstStyle/>
                    <a:p>
                      <a:pPr algn="l"/>
                      <a:r>
                        <a:rPr sz="1100" b="0" i="0" lang="en-GB">
                          <a:solidFill>
                            <a:srgbClr val="8FC7FF"/>
                          </a:solidFill>
                          <a:latin typeface="Arial"/>
                          <a:hlinkClick r:id="rId9"/>
                        </a:rPr>
                        <a:t>Commons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r>
              <a:tr h="347472">
                <a:tc>
                  <a:txBody>
                    <a:bodyPr wrap="square"/>
                    <a:lstStyle/>
                    <a:p>
                      <a:pPr algn="l"/>
                      <a:r>
                        <a:rPr sz="1100" b="1" i="0" lang="en-GB">
                          <a:solidFill>
                            <a:srgbClr val="F28C28"/>
                          </a:solidFill>
                          <a:latin typeface="Arial"/>
                        </a:rPr>
                        <a:t>R01</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22</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Early Locomotion project (test model, not final art).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Project render</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bl>
          </a:graphicData>
        </a:graphic>
      </p:graphicFrame>
      <p:sp>
        <p:nvSpPr>
          <p:cNvPr id="4" name="credit note"/>
          <p:cNvSpPr txBox="1"/>
          <p:nvPr/>
        </p:nvSpPr>
        <p:spPr>
          <a:xfrm>
            <a:off x="548640" y="4983480"/>
            <a:ext cx="11091672" cy="365760"/>
          </a:xfrm>
          <a:prstGeom prst="rect">
            <a:avLst/>
          </a:prstGeom>
          <a:noFill/>
        </p:spPr>
        <p:txBody>
          <a:bodyPr wrap="square" anchor="ctr" lIns="18288" tIns="9144" rIns="18288" bIns="9144">
            <a:noAutofit/>
          </a:bodyPr>
          <a:lstStyle/>
          <a:p>
            <a:pPr algn="l"/>
            <a:r>
              <a:rPr sz="1400" b="0" i="0" lang="en-GB">
                <a:solidFill>
                  <a:srgbClr val="A9B0B8"/>
                </a:solidFill>
                <a:latin typeface="Arial"/>
              </a:rPr>
              <a:t>CC BY-SA photos are shown unmodified except for resizing.</a:t>
            </a:r>
          </a:p>
        </p:txBody>
      </p:sp>
      <p:sp>
        <p:nvSpPr>
          <p:cNvPr id="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7" name="CAPTION"/>
          <p:cNvSpPr txBox="1"/>
          <p:nvPr/>
        </p:nvSpPr>
        <p:spPr>
          <a:xfrm>
            <a:off x="777240" y="5760720"/>
            <a:ext cx="1074420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Photographs come from Wikimedia Commons under Creative Commons licences.</a:t>
            </a:r>
          </a:p>
        </p:txBody>
      </p:sp>
      <p:sp>
        <p:nvSpPr>
          <p:cNvPr id="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C7FF"/>
      </a:hlink>
      <a:folHlink>
        <a:srgbClr val="C9B2F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 Water and Servicing, Explained</dc:title>
  <dc:subject>Read-alone explainer deck 3 for the Early Locomotion mod for Satisfactory</dc:subject>
  <dc:creator>Claude (Early Locomotion project)</dc:creator>
  <cp:keywords>Satisfactory; Early Locomotion; steam; coal; water; servicing</cp:keywords>
  <dc:description>generated using python-pptx</dc:description>
  <cp:lastModifiedBy>Claude (Early Locomotion project)</cp:lastModifiedBy>
  <cp:revision>1</cp:revision>
  <dcterms:created xsi:type="dcterms:W3CDTF">2013-01-27T09:14:16Z</dcterms:created>
  <dcterms:modified xsi:type="dcterms:W3CDTF">2013-01-27T09:15:58Z</dcterms:modified>
  <cp:category/>
  <dc:language>en-GB</dc:language>
</cp:coreProperties>
</file>