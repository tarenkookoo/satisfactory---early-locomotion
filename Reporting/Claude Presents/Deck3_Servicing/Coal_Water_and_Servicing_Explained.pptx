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1417320"/>
            <a:ext cx="6035040" cy="1828800"/>
          </a:xfrm>
        </p:spPr>
        <p:txBody>
          <a:bodyPr wrap="square" anchor="b" lIns="0" rIns="0" tIns="0" bIns="0">
            <a:noAutofit/>
          </a:bodyPr>
          <a:lstStyle/>
          <a:p>
            <a:pPr algn="l"/>
            <a:r>
              <a:rPr sz="5400" b="1" i="0" lang="en-GB">
                <a:solidFill>
                  <a:srgbClr val="F2F2F2"/>
                </a:solidFill>
                <a:latin typeface="Arial"/>
              </a:rPr>
              <a:t>Coal, Water and Servicing</a:t>
            </a:r>
          </a:p>
        </p:txBody>
      </p:sp>
      <p:pic>
        <p:nvPicPr>
          <p:cNvPr id="3" name="P17_coal_stage_water_tank_didcot" descr="A coal stage and a water tank at Didcot Railway Centre."/>
          <p:cNvPicPr>
            <a:picLocks noChangeAspect="1"/>
          </p:cNvPicPr>
          <p:nvPr/>
        </p:nvPicPr>
        <p:blipFill>
          <a:blip r:embed="rId2"/>
          <a:srcRect l="33812" r="20724"/>
          <a:stretch>
            <a:fillRect/>
          </a:stretch>
        </p:blipFill>
        <p:spPr>
          <a:xfrm>
            <a:off x="6903720" y="457200"/>
            <a:ext cx="4736592" cy="5852160"/>
          </a:xfrm>
          <a:prstGeom prst="roundRect">
            <a:avLst>
              <a:gd name="adj" fmla="val 1544"/>
            </a:avLst>
          </a:prstGeom>
        </p:spPr>
      </p:pic>
      <p:sp>
        <p:nvSpPr>
          <p:cNvPr id="4" name="CREDIT"/>
          <p:cNvSpPr txBox="1"/>
          <p:nvPr/>
        </p:nvSpPr>
        <p:spPr>
          <a:xfrm>
            <a:off x="6903720" y="6364224"/>
            <a:ext cx="4736592" cy="201168"/>
          </a:xfrm>
          <a:prstGeom prst="rect">
            <a:avLst/>
          </a:prstGeom>
          <a:noFill/>
        </p:spPr>
        <p:txBody>
          <a:bodyPr wrap="square" anchor="t" lIns="0" tIns="0" rIns="0" bIns="0">
            <a:noAutofit/>
          </a:bodyPr>
          <a:lstStyle/>
          <a:p>
            <a:pPr algn="l"/>
            <a:r>
              <a:rPr sz="1000" b="0" i="0" lang="en-GB">
                <a:solidFill>
                  <a:srgbClr val="A9B0B8"/>
                </a:solidFill>
                <a:latin typeface="Arial"/>
              </a:rPr>
              <a:t>Rosser1954, CC BY-SA 4.0. Coal stage and water tank, Didcot.</a:t>
            </a:r>
          </a:p>
        </p:txBody>
      </p:sp>
      <p:sp>
        <p:nvSpPr>
          <p:cNvPr id="5" name="orange rule"/>
          <p:cNvSpPr/>
          <p:nvPr/>
        </p:nvSpPr>
        <p:spPr>
          <a:xfrm>
            <a:off x="548640" y="3429000"/>
            <a:ext cx="1645920" cy="73152"/>
          </a:xfrm>
          <a:prstGeom prst="rect">
            <a:avLst/>
          </a:prstGeom>
          <a:solidFill>
            <a:srgbClr val="F28C28"/>
          </a:solidFill>
          <a:ln>
            <a:noFill/>
          </a:ln>
        </p:spPr>
        <p:txBody>
          <a:bodyPr rtlCol="0" anchor="ctr"/>
          <a:lstStyle/>
          <a:p>
            <a:pPr algn="ctr"/>
          </a:p>
        </p:txBody>
      </p:sp>
      <p:sp>
        <p:nvSpPr>
          <p:cNvPr id="6" name="CAPTION"/>
          <p:cNvSpPr txBox="1"/>
          <p:nvPr/>
        </p:nvSpPr>
        <p:spPr>
          <a:xfrm>
            <a:off x="548640" y="3703320"/>
            <a:ext cx="5943600" cy="1188720"/>
          </a:xfrm>
          <a:prstGeom prst="rect">
            <a:avLst/>
          </a:prstGeom>
          <a:noFill/>
        </p:spPr>
        <p:txBody>
          <a:bodyPr wrap="square" anchor="t" lIns="0" tIns="0" rIns="0" bIns="0">
            <a:noAutofit/>
          </a:bodyPr>
          <a:lstStyle/>
          <a:p>
            <a:pPr algn="l"/>
            <a:r>
              <a:rPr sz="2000" b="0" i="0" lang="en-GB">
                <a:solidFill>
                  <a:srgbClr val="F2F2F2"/>
                </a:solidFill>
                <a:latin typeface="Arial"/>
              </a:rPr>
              <a:t>How steam locomotives eat, drink and get serviced, and how the mod plans to do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to read this guide</a:t>
            </a:r>
          </a:p>
        </p:txBody>
      </p:sp>
      <p:grpSp>
        <p:nvGrpSpPr>
          <p:cNvPr id="3" name="Tag legend" descr="Legend: five tags and what each means. Agreed is decided, Proposed is suggested, Provisional is a test number, Undecided is an open question, Background is a real-world fact."/>
          <p:cNvGrpSpPr/>
          <p:nvPr/>
        </p:nvGrpSpPr>
        <p:grpSpPr>
          <a:xfrm>
            <a:off x="548640" y="1371600"/>
            <a:ext cx="7315200" cy="4206240"/>
            <a:chOff x="548640" y="1371600"/>
            <a:chExt cx="7315200" cy="4206240"/>
          </a:xfrm>
        </p:grpSpPr>
        <p:sp>
          <p:nvSpPr>
            <p:cNvPr id="4" name="legend panel"/>
            <p:cNvSpPr/>
            <p:nvPr/>
          </p:nvSpPr>
          <p:spPr>
            <a:xfrm>
              <a:off x="548640" y="1371600"/>
              <a:ext cx="7315200" cy="4206240"/>
            </a:xfrm>
            <a:prstGeom prst="roundRect">
              <a:avLst>
                <a:gd name="adj" fmla="val 1739"/>
              </a:avLst>
            </a:prstGeom>
            <a:solidFill>
              <a:srgbClr val="2B2F36"/>
            </a:solidFill>
            <a:ln>
              <a:noFill/>
            </a:ln>
          </p:spPr>
          <p:txBody>
            <a:bodyPr rtlCol="0" anchor="ctr"/>
            <a:lstStyle/>
            <a:p>
              <a:pPr algn="ctr"/>
            </a:p>
          </p:txBody>
        </p:sp>
        <p:sp>
          <p:nvSpPr>
            <p:cNvPr id="5" name="CHIP LEGEND"/>
            <p:cNvSpPr/>
            <p:nvPr/>
          </p:nvSpPr>
          <p:spPr>
            <a:xfrm>
              <a:off x="868680" y="1572768"/>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 name="LEGEND TEXT"/>
            <p:cNvSpPr txBox="1"/>
            <p:nvPr/>
          </p:nvSpPr>
          <p:spPr>
            <a:xfrm>
              <a:off x="2743200" y="1481328"/>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Decided.</a:t>
              </a:r>
            </a:p>
          </p:txBody>
        </p:sp>
        <p:sp>
          <p:nvSpPr>
            <p:cNvPr id="7" name="CHIP LEGEND"/>
            <p:cNvSpPr/>
            <p:nvPr/>
          </p:nvSpPr>
          <p:spPr>
            <a:xfrm>
              <a:off x="868680" y="23591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LEGEND TEXT"/>
            <p:cNvSpPr txBox="1"/>
            <p:nvPr/>
          </p:nvSpPr>
          <p:spPr>
            <a:xfrm>
              <a:off x="2743200" y="2267712"/>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Suggested, not confirmed.</a:t>
              </a:r>
            </a:p>
          </p:txBody>
        </p:sp>
        <p:sp>
          <p:nvSpPr>
            <p:cNvPr id="9" name="CHIP LEGEND"/>
            <p:cNvSpPr/>
            <p:nvPr/>
          </p:nvSpPr>
          <p:spPr>
            <a:xfrm>
              <a:off x="868680" y="3145536"/>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0" name="LEGEND TEXT"/>
            <p:cNvSpPr txBox="1"/>
            <p:nvPr/>
          </p:nvSpPr>
          <p:spPr>
            <a:xfrm>
              <a:off x="2743200" y="3054096"/>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test number that may change.</a:t>
              </a:r>
            </a:p>
          </p:txBody>
        </p:sp>
        <p:sp>
          <p:nvSpPr>
            <p:cNvPr id="11" name="CHIP LEGEND"/>
            <p:cNvSpPr/>
            <p:nvPr/>
          </p:nvSpPr>
          <p:spPr>
            <a:xfrm>
              <a:off x="868680" y="393192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12" name="LEGEND TEXT"/>
            <p:cNvSpPr txBox="1"/>
            <p:nvPr/>
          </p:nvSpPr>
          <p:spPr>
            <a:xfrm>
              <a:off x="2743200" y="3840480"/>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Still an open question.</a:t>
              </a:r>
            </a:p>
          </p:txBody>
        </p:sp>
        <p:sp>
          <p:nvSpPr>
            <p:cNvPr id="13" name="CHIP LEGEND"/>
            <p:cNvSpPr/>
            <p:nvPr/>
          </p:nvSpPr>
          <p:spPr>
            <a:xfrm>
              <a:off x="868680" y="4718304"/>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sp>
          <p:nvSpPr>
            <p:cNvPr id="14" name="LEGEND TEXT"/>
            <p:cNvSpPr txBox="1"/>
            <p:nvPr/>
          </p:nvSpPr>
          <p:spPr>
            <a:xfrm>
              <a:off x="2743200" y="4626864"/>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real-world fact.</a:t>
              </a:r>
            </a:p>
          </p:txBody>
        </p:sp>
      </p:grpSp>
      <p:grpSp>
        <p:nvGrpSpPr>
          <p:cNvPr id="15" name="Corner sketch" descr="Sketch of a slide with a tag in its top-right corner."/>
          <p:cNvGrpSpPr/>
          <p:nvPr/>
        </p:nvGrpSpPr>
        <p:grpSpPr>
          <a:xfrm>
            <a:off x="8412480" y="1737360"/>
            <a:ext cx="3200400" cy="1801368"/>
            <a:chOff x="8412480" y="1737360"/>
            <a:chExt cx="3200400" cy="1801368"/>
          </a:xfrm>
        </p:grpSpPr>
        <p:sp>
          <p:nvSpPr>
            <p:cNvPr id="16" name="slide sketch"/>
            <p:cNvSpPr/>
            <p:nvPr/>
          </p:nvSpPr>
          <p:spPr>
            <a:xfrm>
              <a:off x="8412480" y="1737360"/>
              <a:ext cx="3200400" cy="1801368"/>
            </a:xfrm>
            <a:prstGeom prst="roundRect">
              <a:avLst>
                <a:gd name="adj" fmla="val 4060"/>
              </a:avLst>
            </a:prstGeom>
            <a:solidFill>
              <a:srgbClr val="1E2126"/>
            </a:solidFill>
            <a:ln w="25400">
              <a:solidFill>
                <a:srgbClr val="9AA0A6"/>
              </a:solidFill>
            </a:ln>
          </p:spPr>
          <p:txBody>
            <a:bodyPr rtlCol="0" anchor="ctr"/>
            <a:lstStyle/>
            <a:p>
              <a:pPr algn="ctr"/>
            </a:p>
          </p:txBody>
        </p:sp>
        <p:sp>
          <p:nvSpPr>
            <p:cNvPr id="17" name="title line"/>
            <p:cNvSpPr/>
            <p:nvPr/>
          </p:nvSpPr>
          <p:spPr>
            <a:xfrm>
              <a:off x="8641080" y="1965960"/>
              <a:ext cx="1371600" cy="109728"/>
            </a:xfrm>
            <a:prstGeom prst="rect">
              <a:avLst/>
            </a:prstGeom>
            <a:solidFill>
              <a:srgbClr val="4A515B"/>
            </a:solidFill>
            <a:ln>
              <a:noFill/>
            </a:ln>
          </p:spPr>
          <p:txBody>
            <a:bodyPr rtlCol="0" anchor="ctr"/>
            <a:lstStyle/>
            <a:p>
              <a:pPr algn="ctr"/>
            </a:p>
          </p:txBody>
        </p:sp>
        <p:sp>
          <p:nvSpPr>
            <p:cNvPr id="18" name="body line"/>
            <p:cNvSpPr/>
            <p:nvPr/>
          </p:nvSpPr>
          <p:spPr>
            <a:xfrm>
              <a:off x="8641080" y="2286000"/>
              <a:ext cx="2011680" cy="73152"/>
            </a:xfrm>
            <a:prstGeom prst="rect">
              <a:avLst/>
            </a:prstGeom>
            <a:solidFill>
              <a:srgbClr val="4A515B"/>
            </a:solidFill>
            <a:ln>
              <a:noFill/>
            </a:ln>
          </p:spPr>
          <p:txBody>
            <a:bodyPr rtlCol="0" anchor="ctr"/>
            <a:lstStyle/>
            <a:p>
              <a:pPr algn="ctr"/>
            </a:p>
          </p:txBody>
        </p:sp>
        <p:sp>
          <p:nvSpPr>
            <p:cNvPr id="19" name="body line"/>
            <p:cNvSpPr/>
            <p:nvPr/>
          </p:nvSpPr>
          <p:spPr>
            <a:xfrm>
              <a:off x="8641080" y="2468880"/>
              <a:ext cx="1645920" cy="73152"/>
            </a:xfrm>
            <a:prstGeom prst="rect">
              <a:avLst/>
            </a:prstGeom>
            <a:solidFill>
              <a:srgbClr val="4A515B"/>
            </a:solidFill>
            <a:ln>
              <a:noFill/>
            </a:ln>
          </p:spPr>
          <p:txBody>
            <a:bodyPr rtlCol="0" anchor="ctr"/>
            <a:lstStyle/>
            <a:p>
              <a:pPr algn="ctr"/>
            </a:p>
          </p:txBody>
        </p:sp>
        <p:sp>
          <p:nvSpPr>
            <p:cNvPr id="20" name="tag sketch"/>
            <p:cNvSpPr/>
            <p:nvPr/>
          </p:nvSpPr>
          <p:spPr>
            <a:xfrm>
              <a:off x="10698480" y="1920240"/>
              <a:ext cx="731520" cy="237744"/>
            </a:xfrm>
            <a:prstGeom prst="roundRect">
              <a:avLst>
                <a:gd name="adj" fmla="val 30769"/>
              </a:avLst>
            </a:prstGeom>
            <a:solidFill>
              <a:srgbClr val="3FB950"/>
            </a:solidFill>
            <a:ln>
              <a:noFill/>
            </a:ln>
          </p:spPr>
          <p:txBody>
            <a:bodyPr rtlCol="0" anchor="ctr"/>
            <a:lstStyle/>
            <a:p>
              <a:pPr algn="ctr"/>
            </a:p>
          </p:txBody>
        </p:sp>
        <p:cxnSp>
          <p:nvCxnSpPr>
            <p:cNvPr id="21" name="pointer"/>
            <p:cNvCxnSpPr/>
            <p:nvPr/>
          </p:nvCxnSpPr>
          <p:spPr>
            <a:xfrm flipV="1">
              <a:off x="10058400" y="2194560"/>
              <a:ext cx="822960" cy="548640"/>
            </a:xfrm>
            <a:prstGeom prst="line">
              <a:avLst/>
            </a:prstGeom>
            <a:ln w="28575">
              <a:solidFill>
                <a:srgbClr val="F28C28"/>
              </a:solidFill>
              <a:tailEnd type="triangle" w="med" len="med"/>
            </a:ln>
          </p:spPr>
        </p:cxnSp>
      </p:grpSp>
      <p:sp>
        <p:nvSpPr>
          <p:cNvPr id="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4"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idea carries a tag in the top-right corner.</a:t>
            </a:r>
          </a:p>
        </p:txBody>
      </p:sp>
      <p:sp>
        <p:nvSpPr>
          <p:cNvPr id="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an engine needs</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grpSp>
        <p:nvGrpSpPr>
          <p:cNvPr id="4" name="Engine cutaway" descr="Side cutaway of a steam engine. Coal burns in the firebox and heats water in the boiler. Steam drives a piston and rods turn the wheels. Water is fed into the boiler."/>
          <p:cNvGrpSpPr/>
          <p:nvPr/>
        </p:nvGrpSpPr>
        <p:grpSpPr>
          <a:xfrm>
            <a:off x="1097280" y="850392"/>
            <a:ext cx="9509760" cy="4590288"/>
            <a:chOff x="1097280" y="850392"/>
            <a:chExt cx="9509760" cy="4590288"/>
          </a:xfrm>
        </p:grpSpPr>
        <p:sp>
          <p:nvSpPr>
            <p:cNvPr id="5" name="rail"/>
            <p:cNvSpPr/>
            <p:nvPr/>
          </p:nvSpPr>
          <p:spPr>
            <a:xfrm>
              <a:off x="1097280" y="5285232"/>
              <a:ext cx="9144000" cy="64008"/>
            </a:xfrm>
            <a:prstGeom prst="rect">
              <a:avLst/>
            </a:prstGeom>
            <a:solidFill>
              <a:srgbClr val="9AA0A6"/>
            </a:solidFill>
            <a:ln>
              <a:noFill/>
            </a:ln>
          </p:spPr>
          <p:txBody>
            <a:bodyPr rtlCol="0" anchor="ctr"/>
            <a:lstStyle/>
            <a:p>
              <a:pPr algn="ctr"/>
            </a:p>
          </p:txBody>
        </p:sp>
        <p:sp>
          <p:nvSpPr>
            <p:cNvPr id="6" name="sleeper"/>
            <p:cNvSpPr/>
            <p:nvPr/>
          </p:nvSpPr>
          <p:spPr>
            <a:xfrm>
              <a:off x="1188720" y="5349240"/>
              <a:ext cx="109728" cy="91440"/>
            </a:xfrm>
            <a:prstGeom prst="rect">
              <a:avLst/>
            </a:prstGeom>
            <a:solidFill>
              <a:srgbClr val="6B5B4B"/>
            </a:solidFill>
            <a:ln>
              <a:noFill/>
            </a:ln>
          </p:spPr>
          <p:txBody>
            <a:bodyPr rtlCol="0" anchor="ctr"/>
            <a:lstStyle/>
            <a:p>
              <a:pPr algn="ctr"/>
            </a:p>
          </p:txBody>
        </p:sp>
        <p:sp>
          <p:nvSpPr>
            <p:cNvPr id="7" name="sleeper"/>
            <p:cNvSpPr/>
            <p:nvPr/>
          </p:nvSpPr>
          <p:spPr>
            <a:xfrm>
              <a:off x="1554480" y="5349240"/>
              <a:ext cx="109728" cy="91440"/>
            </a:xfrm>
            <a:prstGeom prst="rect">
              <a:avLst/>
            </a:prstGeom>
            <a:solidFill>
              <a:srgbClr val="6B5B4B"/>
            </a:solidFill>
            <a:ln>
              <a:noFill/>
            </a:ln>
          </p:spPr>
          <p:txBody>
            <a:bodyPr rtlCol="0" anchor="ctr"/>
            <a:lstStyle/>
            <a:p>
              <a:pPr algn="ctr"/>
            </a:p>
          </p:txBody>
        </p:sp>
        <p:sp>
          <p:nvSpPr>
            <p:cNvPr id="8" name="sleeper"/>
            <p:cNvSpPr/>
            <p:nvPr/>
          </p:nvSpPr>
          <p:spPr>
            <a:xfrm>
              <a:off x="1920240" y="5349240"/>
              <a:ext cx="109728" cy="91440"/>
            </a:xfrm>
            <a:prstGeom prst="rect">
              <a:avLst/>
            </a:prstGeom>
            <a:solidFill>
              <a:srgbClr val="6B5B4B"/>
            </a:solidFill>
            <a:ln>
              <a:noFill/>
            </a:ln>
          </p:spPr>
          <p:txBody>
            <a:bodyPr rtlCol="0" anchor="ctr"/>
            <a:lstStyle/>
            <a:p>
              <a:pPr algn="ctr"/>
            </a:p>
          </p:txBody>
        </p:sp>
        <p:sp>
          <p:nvSpPr>
            <p:cNvPr id="9" name="sleeper"/>
            <p:cNvSpPr/>
            <p:nvPr/>
          </p:nvSpPr>
          <p:spPr>
            <a:xfrm>
              <a:off x="2286000" y="5349240"/>
              <a:ext cx="109728" cy="91440"/>
            </a:xfrm>
            <a:prstGeom prst="rect">
              <a:avLst/>
            </a:prstGeom>
            <a:solidFill>
              <a:srgbClr val="6B5B4B"/>
            </a:solidFill>
            <a:ln>
              <a:noFill/>
            </a:ln>
          </p:spPr>
          <p:txBody>
            <a:bodyPr rtlCol="0" anchor="ctr"/>
            <a:lstStyle/>
            <a:p>
              <a:pPr algn="ctr"/>
            </a:p>
          </p:txBody>
        </p:sp>
        <p:sp>
          <p:nvSpPr>
            <p:cNvPr id="10" name="sleeper"/>
            <p:cNvSpPr/>
            <p:nvPr/>
          </p:nvSpPr>
          <p:spPr>
            <a:xfrm>
              <a:off x="2651760" y="5349240"/>
              <a:ext cx="109728" cy="91440"/>
            </a:xfrm>
            <a:prstGeom prst="rect">
              <a:avLst/>
            </a:prstGeom>
            <a:solidFill>
              <a:srgbClr val="6B5B4B"/>
            </a:solidFill>
            <a:ln>
              <a:noFill/>
            </a:ln>
          </p:spPr>
          <p:txBody>
            <a:bodyPr rtlCol="0" anchor="ctr"/>
            <a:lstStyle/>
            <a:p>
              <a:pPr algn="ctr"/>
            </a:p>
          </p:txBody>
        </p:sp>
        <p:sp>
          <p:nvSpPr>
            <p:cNvPr id="11" name="sleeper"/>
            <p:cNvSpPr/>
            <p:nvPr/>
          </p:nvSpPr>
          <p:spPr>
            <a:xfrm>
              <a:off x="3017520" y="5349240"/>
              <a:ext cx="109728" cy="91440"/>
            </a:xfrm>
            <a:prstGeom prst="rect">
              <a:avLst/>
            </a:prstGeom>
            <a:solidFill>
              <a:srgbClr val="6B5B4B"/>
            </a:solidFill>
            <a:ln>
              <a:noFill/>
            </a:ln>
          </p:spPr>
          <p:txBody>
            <a:bodyPr rtlCol="0" anchor="ctr"/>
            <a:lstStyle/>
            <a:p>
              <a:pPr algn="ctr"/>
            </a:p>
          </p:txBody>
        </p:sp>
        <p:sp>
          <p:nvSpPr>
            <p:cNvPr id="12" name="sleeper"/>
            <p:cNvSpPr/>
            <p:nvPr/>
          </p:nvSpPr>
          <p:spPr>
            <a:xfrm>
              <a:off x="3383280" y="5349240"/>
              <a:ext cx="109728" cy="91440"/>
            </a:xfrm>
            <a:prstGeom prst="rect">
              <a:avLst/>
            </a:prstGeom>
            <a:solidFill>
              <a:srgbClr val="6B5B4B"/>
            </a:solidFill>
            <a:ln>
              <a:noFill/>
            </a:ln>
          </p:spPr>
          <p:txBody>
            <a:bodyPr rtlCol="0" anchor="ctr"/>
            <a:lstStyle/>
            <a:p>
              <a:pPr algn="ctr"/>
            </a:p>
          </p:txBody>
        </p:sp>
        <p:sp>
          <p:nvSpPr>
            <p:cNvPr id="13" name="sleeper"/>
            <p:cNvSpPr/>
            <p:nvPr/>
          </p:nvSpPr>
          <p:spPr>
            <a:xfrm>
              <a:off x="3749040" y="5349240"/>
              <a:ext cx="109728" cy="91440"/>
            </a:xfrm>
            <a:prstGeom prst="rect">
              <a:avLst/>
            </a:prstGeom>
            <a:solidFill>
              <a:srgbClr val="6B5B4B"/>
            </a:solidFill>
            <a:ln>
              <a:noFill/>
            </a:ln>
          </p:spPr>
          <p:txBody>
            <a:bodyPr rtlCol="0" anchor="ctr"/>
            <a:lstStyle/>
            <a:p>
              <a:pPr algn="ctr"/>
            </a:p>
          </p:txBody>
        </p:sp>
        <p:sp>
          <p:nvSpPr>
            <p:cNvPr id="14" name="sleeper"/>
            <p:cNvSpPr/>
            <p:nvPr/>
          </p:nvSpPr>
          <p:spPr>
            <a:xfrm>
              <a:off x="4114800" y="5349240"/>
              <a:ext cx="109728" cy="91440"/>
            </a:xfrm>
            <a:prstGeom prst="rect">
              <a:avLst/>
            </a:prstGeom>
            <a:solidFill>
              <a:srgbClr val="6B5B4B"/>
            </a:solidFill>
            <a:ln>
              <a:noFill/>
            </a:ln>
          </p:spPr>
          <p:txBody>
            <a:bodyPr rtlCol="0" anchor="ctr"/>
            <a:lstStyle/>
            <a:p>
              <a:pPr algn="ctr"/>
            </a:p>
          </p:txBody>
        </p:sp>
        <p:sp>
          <p:nvSpPr>
            <p:cNvPr id="15" name="sleeper"/>
            <p:cNvSpPr/>
            <p:nvPr/>
          </p:nvSpPr>
          <p:spPr>
            <a:xfrm>
              <a:off x="4480560" y="5349240"/>
              <a:ext cx="109728" cy="91440"/>
            </a:xfrm>
            <a:prstGeom prst="rect">
              <a:avLst/>
            </a:prstGeom>
            <a:solidFill>
              <a:srgbClr val="6B5B4B"/>
            </a:solidFill>
            <a:ln>
              <a:noFill/>
            </a:ln>
          </p:spPr>
          <p:txBody>
            <a:bodyPr rtlCol="0" anchor="ctr"/>
            <a:lstStyle/>
            <a:p>
              <a:pPr algn="ctr"/>
            </a:p>
          </p:txBody>
        </p:sp>
        <p:sp>
          <p:nvSpPr>
            <p:cNvPr id="16" name="sleeper"/>
            <p:cNvSpPr/>
            <p:nvPr/>
          </p:nvSpPr>
          <p:spPr>
            <a:xfrm>
              <a:off x="4846320" y="5349240"/>
              <a:ext cx="109728" cy="91440"/>
            </a:xfrm>
            <a:prstGeom prst="rect">
              <a:avLst/>
            </a:prstGeom>
            <a:solidFill>
              <a:srgbClr val="6B5B4B"/>
            </a:solidFill>
            <a:ln>
              <a:noFill/>
            </a:ln>
          </p:spPr>
          <p:txBody>
            <a:bodyPr rtlCol="0" anchor="ctr"/>
            <a:lstStyle/>
            <a:p>
              <a:pPr algn="ctr"/>
            </a:p>
          </p:txBody>
        </p:sp>
        <p:sp>
          <p:nvSpPr>
            <p:cNvPr id="17" name="sleeper"/>
            <p:cNvSpPr/>
            <p:nvPr/>
          </p:nvSpPr>
          <p:spPr>
            <a:xfrm>
              <a:off x="5212080" y="5349240"/>
              <a:ext cx="109728" cy="91440"/>
            </a:xfrm>
            <a:prstGeom prst="rect">
              <a:avLst/>
            </a:prstGeom>
            <a:solidFill>
              <a:srgbClr val="6B5B4B"/>
            </a:solidFill>
            <a:ln>
              <a:noFill/>
            </a:ln>
          </p:spPr>
          <p:txBody>
            <a:bodyPr rtlCol="0" anchor="ctr"/>
            <a:lstStyle/>
            <a:p>
              <a:pPr algn="ctr"/>
            </a:p>
          </p:txBody>
        </p:sp>
        <p:sp>
          <p:nvSpPr>
            <p:cNvPr id="18" name="sleeper"/>
            <p:cNvSpPr/>
            <p:nvPr/>
          </p:nvSpPr>
          <p:spPr>
            <a:xfrm>
              <a:off x="5577840" y="5349240"/>
              <a:ext cx="109728" cy="91440"/>
            </a:xfrm>
            <a:prstGeom prst="rect">
              <a:avLst/>
            </a:prstGeom>
            <a:solidFill>
              <a:srgbClr val="6B5B4B"/>
            </a:solidFill>
            <a:ln>
              <a:noFill/>
            </a:ln>
          </p:spPr>
          <p:txBody>
            <a:bodyPr rtlCol="0" anchor="ctr"/>
            <a:lstStyle/>
            <a:p>
              <a:pPr algn="ctr"/>
            </a:p>
          </p:txBody>
        </p:sp>
        <p:sp>
          <p:nvSpPr>
            <p:cNvPr id="19" name="sleeper"/>
            <p:cNvSpPr/>
            <p:nvPr/>
          </p:nvSpPr>
          <p:spPr>
            <a:xfrm>
              <a:off x="5943600" y="5349240"/>
              <a:ext cx="109728" cy="91440"/>
            </a:xfrm>
            <a:prstGeom prst="rect">
              <a:avLst/>
            </a:prstGeom>
            <a:solidFill>
              <a:srgbClr val="6B5B4B"/>
            </a:solidFill>
            <a:ln>
              <a:noFill/>
            </a:ln>
          </p:spPr>
          <p:txBody>
            <a:bodyPr rtlCol="0" anchor="ctr"/>
            <a:lstStyle/>
            <a:p>
              <a:pPr algn="ctr"/>
            </a:p>
          </p:txBody>
        </p:sp>
        <p:sp>
          <p:nvSpPr>
            <p:cNvPr id="20" name="sleeper"/>
            <p:cNvSpPr/>
            <p:nvPr/>
          </p:nvSpPr>
          <p:spPr>
            <a:xfrm>
              <a:off x="6309360" y="5349240"/>
              <a:ext cx="109728" cy="91440"/>
            </a:xfrm>
            <a:prstGeom prst="rect">
              <a:avLst/>
            </a:prstGeom>
            <a:solidFill>
              <a:srgbClr val="6B5B4B"/>
            </a:solidFill>
            <a:ln>
              <a:noFill/>
            </a:ln>
          </p:spPr>
          <p:txBody>
            <a:bodyPr rtlCol="0" anchor="ctr"/>
            <a:lstStyle/>
            <a:p>
              <a:pPr algn="ctr"/>
            </a:p>
          </p:txBody>
        </p:sp>
        <p:sp>
          <p:nvSpPr>
            <p:cNvPr id="21" name="sleeper"/>
            <p:cNvSpPr/>
            <p:nvPr/>
          </p:nvSpPr>
          <p:spPr>
            <a:xfrm>
              <a:off x="6675120" y="5349240"/>
              <a:ext cx="109728" cy="91440"/>
            </a:xfrm>
            <a:prstGeom prst="rect">
              <a:avLst/>
            </a:prstGeom>
            <a:solidFill>
              <a:srgbClr val="6B5B4B"/>
            </a:solidFill>
            <a:ln>
              <a:noFill/>
            </a:ln>
          </p:spPr>
          <p:txBody>
            <a:bodyPr rtlCol="0" anchor="ctr"/>
            <a:lstStyle/>
            <a:p>
              <a:pPr algn="ctr"/>
            </a:p>
          </p:txBody>
        </p:sp>
        <p:sp>
          <p:nvSpPr>
            <p:cNvPr id="22" name="sleeper"/>
            <p:cNvSpPr/>
            <p:nvPr/>
          </p:nvSpPr>
          <p:spPr>
            <a:xfrm>
              <a:off x="7040880" y="5349240"/>
              <a:ext cx="109728" cy="91440"/>
            </a:xfrm>
            <a:prstGeom prst="rect">
              <a:avLst/>
            </a:prstGeom>
            <a:solidFill>
              <a:srgbClr val="6B5B4B"/>
            </a:solidFill>
            <a:ln>
              <a:noFill/>
            </a:ln>
          </p:spPr>
          <p:txBody>
            <a:bodyPr rtlCol="0" anchor="ctr"/>
            <a:lstStyle/>
            <a:p>
              <a:pPr algn="ctr"/>
            </a:p>
          </p:txBody>
        </p:sp>
        <p:sp>
          <p:nvSpPr>
            <p:cNvPr id="23" name="sleeper"/>
            <p:cNvSpPr/>
            <p:nvPr/>
          </p:nvSpPr>
          <p:spPr>
            <a:xfrm>
              <a:off x="7406640" y="5349240"/>
              <a:ext cx="109728" cy="91440"/>
            </a:xfrm>
            <a:prstGeom prst="rect">
              <a:avLst/>
            </a:prstGeom>
            <a:solidFill>
              <a:srgbClr val="6B5B4B"/>
            </a:solidFill>
            <a:ln>
              <a:noFill/>
            </a:ln>
          </p:spPr>
          <p:txBody>
            <a:bodyPr rtlCol="0" anchor="ctr"/>
            <a:lstStyle/>
            <a:p>
              <a:pPr algn="ctr"/>
            </a:p>
          </p:txBody>
        </p:sp>
        <p:sp>
          <p:nvSpPr>
            <p:cNvPr id="24" name="sleeper"/>
            <p:cNvSpPr/>
            <p:nvPr/>
          </p:nvSpPr>
          <p:spPr>
            <a:xfrm>
              <a:off x="7772400" y="5349240"/>
              <a:ext cx="109728" cy="91440"/>
            </a:xfrm>
            <a:prstGeom prst="rect">
              <a:avLst/>
            </a:prstGeom>
            <a:solidFill>
              <a:srgbClr val="6B5B4B"/>
            </a:solidFill>
            <a:ln>
              <a:noFill/>
            </a:ln>
          </p:spPr>
          <p:txBody>
            <a:bodyPr rtlCol="0" anchor="ctr"/>
            <a:lstStyle/>
            <a:p>
              <a:pPr algn="ctr"/>
            </a:p>
          </p:txBody>
        </p:sp>
        <p:sp>
          <p:nvSpPr>
            <p:cNvPr id="25" name="sleeper"/>
            <p:cNvSpPr/>
            <p:nvPr/>
          </p:nvSpPr>
          <p:spPr>
            <a:xfrm>
              <a:off x="8138160" y="5349240"/>
              <a:ext cx="109728" cy="91440"/>
            </a:xfrm>
            <a:prstGeom prst="rect">
              <a:avLst/>
            </a:prstGeom>
            <a:solidFill>
              <a:srgbClr val="6B5B4B"/>
            </a:solidFill>
            <a:ln>
              <a:noFill/>
            </a:ln>
          </p:spPr>
          <p:txBody>
            <a:bodyPr rtlCol="0" anchor="ctr"/>
            <a:lstStyle/>
            <a:p>
              <a:pPr algn="ctr"/>
            </a:p>
          </p:txBody>
        </p:sp>
        <p:sp>
          <p:nvSpPr>
            <p:cNvPr id="26" name="sleeper"/>
            <p:cNvSpPr/>
            <p:nvPr/>
          </p:nvSpPr>
          <p:spPr>
            <a:xfrm>
              <a:off x="8503920" y="5349240"/>
              <a:ext cx="109728" cy="91440"/>
            </a:xfrm>
            <a:prstGeom prst="rect">
              <a:avLst/>
            </a:prstGeom>
            <a:solidFill>
              <a:srgbClr val="6B5B4B"/>
            </a:solidFill>
            <a:ln>
              <a:noFill/>
            </a:ln>
          </p:spPr>
          <p:txBody>
            <a:bodyPr rtlCol="0" anchor="ctr"/>
            <a:lstStyle/>
            <a:p>
              <a:pPr algn="ctr"/>
            </a:p>
          </p:txBody>
        </p:sp>
        <p:sp>
          <p:nvSpPr>
            <p:cNvPr id="27" name="sleeper"/>
            <p:cNvSpPr/>
            <p:nvPr/>
          </p:nvSpPr>
          <p:spPr>
            <a:xfrm>
              <a:off x="8869680" y="5349240"/>
              <a:ext cx="109728" cy="91440"/>
            </a:xfrm>
            <a:prstGeom prst="rect">
              <a:avLst/>
            </a:prstGeom>
            <a:solidFill>
              <a:srgbClr val="6B5B4B"/>
            </a:solidFill>
            <a:ln>
              <a:noFill/>
            </a:ln>
          </p:spPr>
          <p:txBody>
            <a:bodyPr rtlCol="0" anchor="ctr"/>
            <a:lstStyle/>
            <a:p>
              <a:pPr algn="ctr"/>
            </a:p>
          </p:txBody>
        </p:sp>
        <p:sp>
          <p:nvSpPr>
            <p:cNvPr id="28" name="sleeper"/>
            <p:cNvSpPr/>
            <p:nvPr/>
          </p:nvSpPr>
          <p:spPr>
            <a:xfrm>
              <a:off x="9235440" y="5349240"/>
              <a:ext cx="109728" cy="91440"/>
            </a:xfrm>
            <a:prstGeom prst="rect">
              <a:avLst/>
            </a:prstGeom>
            <a:solidFill>
              <a:srgbClr val="6B5B4B"/>
            </a:solidFill>
            <a:ln>
              <a:noFill/>
            </a:ln>
          </p:spPr>
          <p:txBody>
            <a:bodyPr rtlCol="0" anchor="ctr"/>
            <a:lstStyle/>
            <a:p>
              <a:pPr algn="ctr"/>
            </a:p>
          </p:txBody>
        </p:sp>
        <p:sp>
          <p:nvSpPr>
            <p:cNvPr id="29" name="sleeper"/>
            <p:cNvSpPr/>
            <p:nvPr/>
          </p:nvSpPr>
          <p:spPr>
            <a:xfrm>
              <a:off x="9601200" y="5349240"/>
              <a:ext cx="109728" cy="91440"/>
            </a:xfrm>
            <a:prstGeom prst="rect">
              <a:avLst/>
            </a:prstGeom>
            <a:solidFill>
              <a:srgbClr val="6B5B4B"/>
            </a:solidFill>
            <a:ln>
              <a:noFill/>
            </a:ln>
          </p:spPr>
          <p:txBody>
            <a:bodyPr rtlCol="0" anchor="ctr"/>
            <a:lstStyle/>
            <a:p>
              <a:pPr algn="ctr"/>
            </a:p>
          </p:txBody>
        </p:sp>
        <p:sp>
          <p:nvSpPr>
            <p:cNvPr id="30" name="sleeper"/>
            <p:cNvSpPr/>
            <p:nvPr/>
          </p:nvSpPr>
          <p:spPr>
            <a:xfrm>
              <a:off x="9966960" y="5349240"/>
              <a:ext cx="109728" cy="91440"/>
            </a:xfrm>
            <a:prstGeom prst="rect">
              <a:avLst/>
            </a:prstGeom>
            <a:solidFill>
              <a:srgbClr val="6B5B4B"/>
            </a:solidFill>
            <a:ln>
              <a:noFill/>
            </a:ln>
          </p:spPr>
          <p:txBody>
            <a:bodyPr rtlCol="0" anchor="ctr"/>
            <a:lstStyle/>
            <a:p>
              <a:pPr algn="ctr"/>
            </a:p>
          </p:txBody>
        </p:sp>
        <p:sp>
          <p:nvSpPr>
            <p:cNvPr id="31" name="cab"/>
            <p:cNvSpPr/>
            <p:nvPr/>
          </p:nvSpPr>
          <p:spPr>
            <a:xfrm>
              <a:off x="1371600" y="1993391"/>
              <a:ext cx="1371600" cy="1737360"/>
            </a:xfrm>
            <a:prstGeom prst="rect">
              <a:avLst/>
            </a:prstGeom>
            <a:solidFill>
              <a:srgbClr val="343A43"/>
            </a:solidFill>
            <a:ln w="25400">
              <a:solidFill>
                <a:srgbClr val="9AA0A6"/>
              </a:solidFill>
            </a:ln>
          </p:spPr>
          <p:txBody>
            <a:bodyPr rtlCol="0" anchor="ctr"/>
            <a:lstStyle/>
            <a:p>
              <a:pPr algn="ctr"/>
            </a:p>
          </p:txBody>
        </p:sp>
        <p:sp>
          <p:nvSpPr>
            <p:cNvPr id="32" name="cab roof"/>
            <p:cNvSpPr/>
            <p:nvPr/>
          </p:nvSpPr>
          <p:spPr>
            <a:xfrm>
              <a:off x="1261872" y="1883664"/>
              <a:ext cx="1591056" cy="128016"/>
            </a:xfrm>
            <a:prstGeom prst="rect">
              <a:avLst/>
            </a:prstGeom>
            <a:solidFill>
              <a:srgbClr val="9AA0A6"/>
            </a:solidFill>
            <a:ln>
              <a:noFill/>
            </a:ln>
          </p:spPr>
          <p:txBody>
            <a:bodyPr rtlCol="0" anchor="ctr"/>
            <a:lstStyle/>
            <a:p>
              <a:pPr algn="ctr"/>
            </a:p>
          </p:txBody>
        </p:sp>
        <p:sp>
          <p:nvSpPr>
            <p:cNvPr id="33" name="cab window"/>
            <p:cNvSpPr/>
            <p:nvPr/>
          </p:nvSpPr>
          <p:spPr>
            <a:xfrm>
              <a:off x="1600200" y="2267712"/>
              <a:ext cx="502920" cy="502920"/>
            </a:xfrm>
            <a:prstGeom prst="rect">
              <a:avLst/>
            </a:prstGeom>
            <a:solidFill>
              <a:srgbClr val="1B1D21"/>
            </a:solidFill>
            <a:ln w="12700">
              <a:solidFill>
                <a:srgbClr val="6B7078"/>
              </a:solidFill>
            </a:ln>
          </p:spPr>
          <p:txBody>
            <a:bodyPr rtlCol="0" anchor="ctr"/>
            <a:lstStyle/>
            <a:p>
              <a:pPr algn="ctr"/>
            </a:p>
          </p:txBody>
        </p:sp>
        <p:sp>
          <p:nvSpPr>
            <p:cNvPr id="34" name="boiler shell"/>
            <p:cNvSpPr/>
            <p:nvPr/>
          </p:nvSpPr>
          <p:spPr>
            <a:xfrm>
              <a:off x="2743200" y="2450591"/>
              <a:ext cx="6035040" cy="1280160"/>
            </a:xfrm>
            <a:prstGeom prst="roundRect">
              <a:avLst>
                <a:gd name="adj" fmla="val 17857"/>
              </a:avLst>
            </a:prstGeom>
            <a:solidFill>
              <a:srgbClr val="4F5762"/>
            </a:solidFill>
            <a:ln w="31750">
              <a:solidFill>
                <a:srgbClr val="9AA0A6"/>
              </a:solidFill>
            </a:ln>
          </p:spPr>
          <p:txBody>
            <a:bodyPr rtlCol="0" anchor="ctr"/>
            <a:lstStyle/>
            <a:p>
              <a:pPr algn="ctr"/>
            </a:p>
          </p:txBody>
        </p:sp>
        <p:sp>
          <p:nvSpPr>
            <p:cNvPr id="35" name="water"/>
            <p:cNvSpPr/>
            <p:nvPr/>
          </p:nvSpPr>
          <p:spPr>
            <a:xfrm>
              <a:off x="3291840" y="2999232"/>
              <a:ext cx="5394960" cy="640080"/>
            </a:xfrm>
            <a:prstGeom prst="roundRect">
              <a:avLst>
                <a:gd name="adj" fmla="val 21428"/>
              </a:avLst>
            </a:prstGeom>
            <a:solidFill>
              <a:srgbClr val="4DA3FF"/>
            </a:solidFill>
            <a:ln>
              <a:noFill/>
            </a:ln>
          </p:spPr>
          <p:txBody>
            <a:bodyPr rtlCol="0" anchor="ctr"/>
            <a:lstStyle/>
            <a:p>
              <a:pPr algn="ctr"/>
            </a:p>
          </p:txBody>
        </p:sp>
        <p:sp>
          <p:nvSpPr>
            <p:cNvPr id="36" name="smokebox"/>
            <p:cNvSpPr/>
            <p:nvPr/>
          </p:nvSpPr>
          <p:spPr>
            <a:xfrm>
              <a:off x="8686800" y="2450591"/>
              <a:ext cx="822960" cy="1280160"/>
            </a:xfrm>
            <a:prstGeom prst="roundRect">
              <a:avLst>
                <a:gd name="adj" fmla="val 13333"/>
              </a:avLst>
            </a:prstGeom>
            <a:solidFill>
              <a:srgbClr val="6B7078"/>
            </a:solidFill>
            <a:ln w="25400">
              <a:solidFill>
                <a:srgbClr val="9AA0A6"/>
              </a:solidFill>
            </a:ln>
          </p:spPr>
          <p:txBody>
            <a:bodyPr rtlCol="0" anchor="ctr"/>
            <a:lstStyle/>
            <a:p>
              <a:pPr algn="ctr"/>
            </a:p>
          </p:txBody>
        </p:sp>
        <p:sp>
          <p:nvSpPr>
            <p:cNvPr id="37" name="chimney"/>
            <p:cNvSpPr/>
            <p:nvPr/>
          </p:nvSpPr>
          <p:spPr>
            <a:xfrm>
              <a:off x="8732520" y="1581912"/>
              <a:ext cx="731520" cy="868679"/>
            </a:xfrm>
            <a:custGeom>
              <a:avLst/>
              <a:gdLst/>
              <a:ahLst/>
              <a:cxnLst/>
              <a:rect l="l" t="t" r="r" b="b"/>
              <a:pathLst>
                <a:path w="731520" h="868679">
                  <a:moveTo>
                    <a:pt x="137160" y="868679"/>
                  </a:moveTo>
                  <a:lnTo>
                    <a:pt x="137160" y="274320"/>
                  </a:lnTo>
                  <a:lnTo>
                    <a:pt x="0" y="0"/>
                  </a:lnTo>
                  <a:lnTo>
                    <a:pt x="731520" y="0"/>
                  </a:lnTo>
                  <a:lnTo>
                    <a:pt x="594360" y="274320"/>
                  </a:lnTo>
                  <a:lnTo>
                    <a:pt x="594360" y="868679"/>
                  </a:lnTo>
                  <a:close/>
                </a:path>
              </a:pathLst>
            </a:custGeom>
            <a:solidFill>
              <a:srgbClr val="3A3F47"/>
            </a:solidFill>
            <a:ln w="25400">
              <a:solidFill>
                <a:srgbClr val="9AA0A6"/>
              </a:solidFill>
            </a:ln>
          </p:spPr>
          <p:txBody>
            <a:bodyPr rtlCol="0" anchor="ctr"/>
            <a:lstStyle/>
            <a:p>
              <a:pPr algn="ctr"/>
            </a:p>
          </p:txBody>
        </p:sp>
        <p:sp>
          <p:nvSpPr>
            <p:cNvPr id="38" name="dome"/>
            <p:cNvSpPr/>
            <p:nvPr/>
          </p:nvSpPr>
          <p:spPr>
            <a:xfrm>
              <a:off x="4937760" y="2249424"/>
              <a:ext cx="822960" cy="237744"/>
            </a:xfrm>
            <a:prstGeom prst="roundRect">
              <a:avLst>
                <a:gd name="adj" fmla="val 38461"/>
              </a:avLst>
            </a:prstGeom>
            <a:solidFill>
              <a:srgbClr val="9AA0A6"/>
            </a:solidFill>
            <a:ln>
              <a:noFill/>
            </a:ln>
          </p:spPr>
          <p:txBody>
            <a:bodyPr rtlCol="0" anchor="ctr"/>
            <a:lstStyle/>
            <a:p>
              <a:pPr algn="ctr"/>
            </a:p>
          </p:txBody>
        </p:sp>
        <p:sp>
          <p:nvSpPr>
            <p:cNvPr id="39" name="puff"/>
            <p:cNvSpPr/>
            <p:nvPr/>
          </p:nvSpPr>
          <p:spPr>
            <a:xfrm>
              <a:off x="8961120" y="1216152"/>
              <a:ext cx="502920" cy="274320"/>
            </a:xfrm>
            <a:prstGeom prst="ellipse">
              <a:avLst/>
            </a:prstGeom>
            <a:solidFill>
              <a:srgbClr val="F2F2F2">
                <a:alpha val="85000"/>
              </a:srgbClr>
            </a:solidFill>
            <a:ln>
              <a:noFill/>
            </a:ln>
          </p:spPr>
          <p:txBody>
            <a:bodyPr rtlCol="0" anchor="ctr"/>
            <a:lstStyle/>
            <a:p>
              <a:pPr algn="ctr"/>
            </a:p>
          </p:txBody>
        </p:sp>
        <p:sp>
          <p:nvSpPr>
            <p:cNvPr id="40" name="puff"/>
            <p:cNvSpPr/>
            <p:nvPr/>
          </p:nvSpPr>
          <p:spPr>
            <a:xfrm>
              <a:off x="9189720" y="850392"/>
              <a:ext cx="685800" cy="347472"/>
            </a:xfrm>
            <a:prstGeom prst="ellipse">
              <a:avLst/>
            </a:prstGeom>
            <a:solidFill>
              <a:srgbClr val="F2F2F2">
                <a:alpha val="85000"/>
              </a:srgbClr>
            </a:solidFill>
            <a:ln>
              <a:noFill/>
            </a:ln>
          </p:spPr>
          <p:txBody>
            <a:bodyPr rtlCol="0" anchor="ctr"/>
            <a:lstStyle/>
            <a:p>
              <a:pPr algn="ctr"/>
            </a:p>
          </p:txBody>
        </p:sp>
        <p:sp>
          <p:nvSpPr>
            <p:cNvPr id="41" name="firebox"/>
            <p:cNvSpPr/>
            <p:nvPr/>
          </p:nvSpPr>
          <p:spPr>
            <a:xfrm>
              <a:off x="1554480" y="2724912"/>
              <a:ext cx="1645920" cy="1005840"/>
            </a:xfrm>
            <a:prstGeom prst="roundRect">
              <a:avLst>
                <a:gd name="adj" fmla="val 7272"/>
              </a:avLst>
            </a:prstGeom>
            <a:solidFill>
              <a:srgbClr val="F28C28"/>
            </a:solidFill>
            <a:ln>
              <a:noFill/>
            </a:ln>
          </p:spPr>
          <p:txBody>
            <a:bodyPr rtlCol="0" anchor="ctr"/>
            <a:lstStyle/>
            <a:p>
              <a:pPr algn="ctr"/>
            </a:p>
          </p:txBody>
        </p:sp>
        <p:sp>
          <p:nvSpPr>
            <p:cNvPr id="42" name="coal on grate"/>
            <p:cNvSpPr/>
            <p:nvPr/>
          </p:nvSpPr>
          <p:spPr>
            <a:xfrm>
              <a:off x="1737360" y="3328415"/>
              <a:ext cx="1325880" cy="402337"/>
            </a:xfrm>
            <a:custGeom>
              <a:avLst/>
              <a:gdLst/>
              <a:ahLst/>
              <a:cxnLst/>
              <a:rect l="l" t="t" r="r" b="b"/>
              <a:pathLst>
                <a:path w="1325880" h="402337">
                  <a:moveTo>
                    <a:pt x="0" y="402337"/>
                  </a:moveTo>
                  <a:lnTo>
                    <a:pt x="228600" y="109729"/>
                  </a:lnTo>
                  <a:lnTo>
                    <a:pt x="502920" y="0"/>
                  </a:lnTo>
                  <a:lnTo>
                    <a:pt x="777240" y="109729"/>
                  </a:lnTo>
                  <a:lnTo>
                    <a:pt x="1051560" y="54865"/>
                  </a:lnTo>
                  <a:lnTo>
                    <a:pt x="1325880" y="402337"/>
                  </a:lnTo>
                  <a:close/>
                </a:path>
              </a:pathLst>
            </a:custGeom>
            <a:solidFill>
              <a:srgbClr val="1B1D21"/>
            </a:solidFill>
            <a:ln w="15875">
              <a:solidFill>
                <a:srgbClr val="6B7078"/>
              </a:solidFill>
            </a:ln>
          </p:spPr>
          <p:txBody>
            <a:bodyPr rtlCol="0" anchor="ctr"/>
            <a:lstStyle/>
            <a:p>
              <a:pPr algn="ctr"/>
            </a:p>
          </p:txBody>
        </p:sp>
        <p:sp>
          <p:nvSpPr>
            <p:cNvPr id="43" name="steam path"/>
            <p:cNvSpPr/>
            <p:nvPr/>
          </p:nvSpPr>
          <p:spPr>
            <a:xfrm>
              <a:off x="5943600" y="2724912"/>
              <a:ext cx="3154680" cy="1188720"/>
            </a:xfrm>
            <a:custGeom>
              <a:avLst/>
              <a:gdLst/>
              <a:ahLst/>
              <a:cxnLst/>
              <a:rect l="l" t="t" r="r" b="b"/>
              <a:pathLst>
                <a:path w="3154680" h="1188720">
                  <a:moveTo>
                    <a:pt x="0" y="0"/>
                  </a:moveTo>
                  <a:lnTo>
                    <a:pt x="3154680" y="0"/>
                  </a:lnTo>
                  <a:lnTo>
                    <a:pt x="3154680" y="1188720"/>
                  </a:lnTo>
                </a:path>
              </a:pathLst>
            </a:custGeom>
            <a:noFill/>
            <a:ln w="38100">
              <a:solidFill>
                <a:srgbClr val="F2F2F2"/>
              </a:solidFill>
              <a:tailEnd type="triangle" w="med" len="med"/>
            </a:ln>
          </p:spPr>
          <p:txBody>
            <a:bodyPr rtlCol="0" anchor="ctr"/>
            <a:lstStyle/>
            <a:p>
              <a:pPr algn="ctr"/>
            </a:p>
          </p:txBody>
        </p:sp>
        <p:sp>
          <p:nvSpPr>
            <p:cNvPr id="44" name="cylinder"/>
            <p:cNvSpPr/>
            <p:nvPr/>
          </p:nvSpPr>
          <p:spPr>
            <a:xfrm>
              <a:off x="8503920" y="3959352"/>
              <a:ext cx="1005840" cy="502920"/>
            </a:xfrm>
            <a:prstGeom prst="roundRect">
              <a:avLst>
                <a:gd name="adj" fmla="val 18181"/>
              </a:avLst>
            </a:prstGeom>
            <a:solidFill>
              <a:srgbClr val="9AA0A6"/>
            </a:solidFill>
            <a:ln>
              <a:noFill/>
            </a:ln>
          </p:spPr>
          <p:txBody>
            <a:bodyPr rtlCol="0" anchor="ctr"/>
            <a:lstStyle/>
            <a:p>
              <a:pPr algn="ctr"/>
            </a:p>
          </p:txBody>
        </p:sp>
        <p:sp>
          <p:nvSpPr>
            <p:cNvPr id="45" name="piston head"/>
            <p:cNvSpPr/>
            <p:nvPr/>
          </p:nvSpPr>
          <p:spPr>
            <a:xfrm>
              <a:off x="8686800" y="4023360"/>
              <a:ext cx="128016" cy="374904"/>
            </a:xfrm>
            <a:prstGeom prst="rect">
              <a:avLst/>
            </a:prstGeom>
            <a:solidFill>
              <a:srgbClr val="F2F2F2"/>
            </a:solidFill>
            <a:ln>
              <a:noFill/>
            </a:ln>
          </p:spPr>
          <p:txBody>
            <a:bodyPr rtlCol="0" anchor="ctr"/>
            <a:lstStyle/>
            <a:p>
              <a:pPr algn="ctr"/>
            </a:p>
          </p:txBody>
        </p:sp>
        <p:sp>
          <p:nvSpPr>
            <p:cNvPr id="46" name="piston rod"/>
            <p:cNvSpPr/>
            <p:nvPr/>
          </p:nvSpPr>
          <p:spPr>
            <a:xfrm>
              <a:off x="7589520" y="4187952"/>
              <a:ext cx="1097280" cy="91440"/>
            </a:xfrm>
            <a:prstGeom prst="rect">
              <a:avLst/>
            </a:prstGeom>
            <a:solidFill>
              <a:srgbClr val="D0D4D8"/>
            </a:solidFill>
            <a:ln>
              <a:noFill/>
            </a:ln>
          </p:spPr>
          <p:txBody>
            <a:bodyPr rtlCol="0" anchor="ctr"/>
            <a:lstStyle/>
            <a:p>
              <a:pPr algn="ctr"/>
            </a:p>
          </p:txBody>
        </p:sp>
        <p:sp>
          <p:nvSpPr>
            <p:cNvPr id="47" name="crosshead"/>
            <p:cNvSpPr/>
            <p:nvPr/>
          </p:nvSpPr>
          <p:spPr>
            <a:xfrm>
              <a:off x="7516367" y="4096512"/>
              <a:ext cx="146304" cy="274320"/>
            </a:xfrm>
            <a:prstGeom prst="rect">
              <a:avLst/>
            </a:prstGeom>
            <a:solidFill>
              <a:srgbClr val="9AA0A6"/>
            </a:solidFill>
            <a:ln>
              <a:noFill/>
            </a:ln>
          </p:spPr>
          <p:txBody>
            <a:bodyPr rtlCol="0" anchor="ctr"/>
            <a:lstStyle/>
            <a:p>
              <a:pPr algn="ctr"/>
            </a:p>
          </p:txBody>
        </p:sp>
        <p:sp>
          <p:nvSpPr>
            <p:cNvPr id="48" name="wheel"/>
            <p:cNvSpPr/>
            <p:nvPr/>
          </p:nvSpPr>
          <p:spPr>
            <a:xfrm>
              <a:off x="29718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49" name="hub"/>
            <p:cNvSpPr/>
            <p:nvPr/>
          </p:nvSpPr>
          <p:spPr>
            <a:xfrm>
              <a:off x="3383279" y="4690872"/>
              <a:ext cx="182880" cy="182880"/>
            </a:xfrm>
            <a:prstGeom prst="ellipse">
              <a:avLst/>
            </a:prstGeom>
            <a:solidFill>
              <a:srgbClr val="9AA0A6"/>
            </a:solidFill>
            <a:ln>
              <a:noFill/>
            </a:ln>
          </p:spPr>
          <p:txBody>
            <a:bodyPr rtlCol="0" anchor="ctr"/>
            <a:lstStyle/>
            <a:p>
              <a:pPr algn="ctr"/>
            </a:p>
          </p:txBody>
        </p:sp>
        <p:sp>
          <p:nvSpPr>
            <p:cNvPr id="50" name="wheel"/>
            <p:cNvSpPr/>
            <p:nvPr/>
          </p:nvSpPr>
          <p:spPr>
            <a:xfrm>
              <a:off x="43434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1" name="hub"/>
            <p:cNvSpPr/>
            <p:nvPr/>
          </p:nvSpPr>
          <p:spPr>
            <a:xfrm>
              <a:off x="4754880" y="4690872"/>
              <a:ext cx="182880" cy="182880"/>
            </a:xfrm>
            <a:prstGeom prst="ellipse">
              <a:avLst/>
            </a:prstGeom>
            <a:solidFill>
              <a:srgbClr val="9AA0A6"/>
            </a:solidFill>
            <a:ln>
              <a:noFill/>
            </a:ln>
          </p:spPr>
          <p:txBody>
            <a:bodyPr rtlCol="0" anchor="ctr"/>
            <a:lstStyle/>
            <a:p>
              <a:pPr algn="ctr"/>
            </a:p>
          </p:txBody>
        </p:sp>
        <p:sp>
          <p:nvSpPr>
            <p:cNvPr id="52" name="wheel"/>
            <p:cNvSpPr/>
            <p:nvPr/>
          </p:nvSpPr>
          <p:spPr>
            <a:xfrm>
              <a:off x="57150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3" name="hub"/>
            <p:cNvSpPr/>
            <p:nvPr/>
          </p:nvSpPr>
          <p:spPr>
            <a:xfrm>
              <a:off x="6126480" y="4690872"/>
              <a:ext cx="182880" cy="182880"/>
            </a:xfrm>
            <a:prstGeom prst="ellipse">
              <a:avLst/>
            </a:prstGeom>
            <a:solidFill>
              <a:srgbClr val="9AA0A6"/>
            </a:solidFill>
            <a:ln>
              <a:noFill/>
            </a:ln>
          </p:spPr>
          <p:txBody>
            <a:bodyPr rtlCol="0" anchor="ctr"/>
            <a:lstStyle/>
            <a:p>
              <a:pPr algn="ctr"/>
            </a:p>
          </p:txBody>
        </p:sp>
        <p:sp>
          <p:nvSpPr>
            <p:cNvPr id="54" name="coupling rod"/>
            <p:cNvSpPr/>
            <p:nvPr/>
          </p:nvSpPr>
          <p:spPr>
            <a:xfrm>
              <a:off x="3474720" y="4407408"/>
              <a:ext cx="2743200" cy="91440"/>
            </a:xfrm>
            <a:prstGeom prst="rect">
              <a:avLst/>
            </a:prstGeom>
            <a:solidFill>
              <a:srgbClr val="D0D4D8"/>
            </a:solidFill>
            <a:ln>
              <a:noFill/>
            </a:ln>
          </p:spPr>
          <p:txBody>
            <a:bodyPr rtlCol="0" anchor="ctr"/>
            <a:lstStyle/>
            <a:p>
              <a:pPr algn="ctr"/>
            </a:p>
          </p:txBody>
        </p:sp>
        <p:cxnSp>
          <p:nvCxnSpPr>
            <p:cNvPr id="55" name="connecting rod"/>
            <p:cNvCxnSpPr/>
            <p:nvPr/>
          </p:nvCxnSpPr>
          <p:spPr>
            <a:xfrm flipH="1">
              <a:off x="6217920" y="4233672"/>
              <a:ext cx="1371600" cy="219456"/>
            </a:xfrm>
            <a:prstGeom prst="line">
              <a:avLst/>
            </a:prstGeom>
            <a:ln w="76200">
              <a:solidFill>
                <a:srgbClr val="D0D4D8"/>
              </a:solidFill>
            </a:ln>
          </p:spPr>
        </p:cxnSp>
        <p:sp>
          <p:nvSpPr>
            <p:cNvPr id="56" name="crank pin"/>
            <p:cNvSpPr/>
            <p:nvPr/>
          </p:nvSpPr>
          <p:spPr>
            <a:xfrm>
              <a:off x="3392424" y="4370832"/>
              <a:ext cx="164592" cy="164592"/>
            </a:xfrm>
            <a:prstGeom prst="ellipse">
              <a:avLst/>
            </a:prstGeom>
            <a:solidFill>
              <a:srgbClr val="F28C28"/>
            </a:solidFill>
            <a:ln>
              <a:noFill/>
            </a:ln>
          </p:spPr>
          <p:txBody>
            <a:bodyPr rtlCol="0" anchor="ctr"/>
            <a:lstStyle/>
            <a:p>
              <a:pPr algn="ctr"/>
            </a:p>
          </p:txBody>
        </p:sp>
        <p:sp>
          <p:nvSpPr>
            <p:cNvPr id="57" name="crank pin"/>
            <p:cNvSpPr/>
            <p:nvPr/>
          </p:nvSpPr>
          <p:spPr>
            <a:xfrm>
              <a:off x="4764024" y="4370832"/>
              <a:ext cx="164592" cy="164592"/>
            </a:xfrm>
            <a:prstGeom prst="ellipse">
              <a:avLst/>
            </a:prstGeom>
            <a:solidFill>
              <a:srgbClr val="F28C28"/>
            </a:solidFill>
            <a:ln>
              <a:noFill/>
            </a:ln>
          </p:spPr>
          <p:txBody>
            <a:bodyPr rtlCol="0" anchor="ctr"/>
            <a:lstStyle/>
            <a:p>
              <a:pPr algn="ctr"/>
            </a:p>
          </p:txBody>
        </p:sp>
        <p:sp>
          <p:nvSpPr>
            <p:cNvPr id="58" name="crank pin"/>
            <p:cNvSpPr/>
            <p:nvPr/>
          </p:nvSpPr>
          <p:spPr>
            <a:xfrm>
              <a:off x="6135624" y="4370832"/>
              <a:ext cx="164592" cy="164592"/>
            </a:xfrm>
            <a:prstGeom prst="ellipse">
              <a:avLst/>
            </a:prstGeom>
            <a:solidFill>
              <a:srgbClr val="F28C28"/>
            </a:solidFill>
            <a:ln>
              <a:noFill/>
            </a:ln>
          </p:spPr>
          <p:txBody>
            <a:bodyPr rtlCol="0" anchor="ctr"/>
            <a:lstStyle/>
            <a:p>
              <a:pPr algn="ctr"/>
            </a:p>
          </p:txBody>
        </p:sp>
        <p:cxnSp>
          <p:nvCxnSpPr>
            <p:cNvPr id="59" name="water arrow"/>
            <p:cNvCxnSpPr/>
            <p:nvPr/>
          </p:nvCxnSpPr>
          <p:spPr>
            <a:xfrm>
              <a:off x="5029200" y="1261872"/>
              <a:ext cx="0" cy="1143000"/>
            </a:xfrm>
            <a:prstGeom prst="line">
              <a:avLst/>
            </a:prstGeom>
            <a:ln w="57150">
              <a:solidFill>
                <a:srgbClr val="4DA3FF"/>
              </a:solidFill>
              <a:tailEnd type="triangle" w="med" len="med"/>
            </a:ln>
          </p:spPr>
        </p:cxnSp>
        <p:sp>
          <p:nvSpPr>
            <p:cNvPr id="60" name="water label"/>
            <p:cNvSpPr txBox="1"/>
            <p:nvPr/>
          </p:nvSpPr>
          <p:spPr>
            <a:xfrm>
              <a:off x="3383280" y="1216152"/>
              <a:ext cx="1508760" cy="365760"/>
            </a:xfrm>
            <a:prstGeom prst="rect">
              <a:avLst/>
            </a:prstGeom>
            <a:noFill/>
          </p:spPr>
          <p:txBody>
            <a:bodyPr wrap="square" anchor="ctr" lIns="18288" tIns="9144" rIns="18288" bIns="9144">
              <a:noAutofit/>
            </a:bodyPr>
            <a:lstStyle/>
            <a:p>
              <a:pPr algn="r"/>
              <a:r>
                <a:rPr sz="1800" b="1" i="0" lang="en-GB">
                  <a:solidFill>
                    <a:srgbClr val="4DA3FF"/>
                  </a:solidFill>
                  <a:latin typeface="Arial"/>
                </a:rPr>
                <a:t>Water</a:t>
              </a:r>
            </a:p>
          </p:txBody>
        </p:sp>
        <p:sp>
          <p:nvSpPr>
            <p:cNvPr id="61" name="badge"/>
            <p:cNvSpPr/>
            <p:nvPr/>
          </p:nvSpPr>
          <p:spPr>
            <a:xfrm>
              <a:off x="1668779" y="421081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cxnSp>
          <p:nvCxnSpPr>
            <p:cNvPr id="62" name="leader"/>
            <p:cNvCxnSpPr/>
            <p:nvPr/>
          </p:nvCxnSpPr>
          <p:spPr>
            <a:xfrm flipV="1">
              <a:off x="1874519" y="3547872"/>
              <a:ext cx="320041" cy="667512"/>
            </a:xfrm>
            <a:prstGeom prst="line">
              <a:avLst/>
            </a:prstGeom>
            <a:ln w="25400">
              <a:solidFill>
                <a:srgbClr val="F28C28"/>
              </a:solidFill>
            </a:ln>
          </p:spPr>
        </p:cxnSp>
        <p:sp>
          <p:nvSpPr>
            <p:cNvPr id="63" name="badge label"/>
            <p:cNvSpPr txBox="1"/>
            <p:nvPr/>
          </p:nvSpPr>
          <p:spPr>
            <a:xfrm>
              <a:off x="2148840" y="4206240"/>
              <a:ext cx="91440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Coal</a:t>
              </a:r>
            </a:p>
          </p:txBody>
        </p:sp>
        <p:sp>
          <p:nvSpPr>
            <p:cNvPr id="64" name="badge"/>
            <p:cNvSpPr/>
            <p:nvPr/>
          </p:nvSpPr>
          <p:spPr>
            <a:xfrm>
              <a:off x="6560820" y="160477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cxnSp>
          <p:nvCxnSpPr>
            <p:cNvPr id="65" name="leader"/>
            <p:cNvCxnSpPr/>
            <p:nvPr/>
          </p:nvCxnSpPr>
          <p:spPr>
            <a:xfrm>
              <a:off x="6766560" y="2020824"/>
              <a:ext cx="0" cy="658367"/>
            </a:xfrm>
            <a:prstGeom prst="line">
              <a:avLst/>
            </a:prstGeom>
            <a:ln w="25400">
              <a:solidFill>
                <a:srgbClr val="F28C28"/>
              </a:solidFill>
            </a:ln>
          </p:spPr>
        </p:cxnSp>
        <p:sp>
          <p:nvSpPr>
            <p:cNvPr id="66" name="badge label"/>
            <p:cNvSpPr txBox="1"/>
            <p:nvPr/>
          </p:nvSpPr>
          <p:spPr>
            <a:xfrm>
              <a:off x="7040880" y="1609344"/>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Steam</a:t>
              </a:r>
            </a:p>
          </p:txBody>
        </p:sp>
        <p:sp>
          <p:nvSpPr>
            <p:cNvPr id="67" name="badge"/>
            <p:cNvSpPr/>
            <p:nvPr/>
          </p:nvSpPr>
          <p:spPr>
            <a:xfrm>
              <a:off x="902970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cxnSp>
          <p:nvCxnSpPr>
            <p:cNvPr id="68" name="leader"/>
            <p:cNvCxnSpPr/>
            <p:nvPr/>
          </p:nvCxnSpPr>
          <p:spPr>
            <a:xfrm flipV="1">
              <a:off x="9235440" y="4462272"/>
              <a:ext cx="0" cy="256032"/>
            </a:xfrm>
            <a:prstGeom prst="line">
              <a:avLst/>
            </a:prstGeom>
            <a:ln w="25400">
              <a:solidFill>
                <a:srgbClr val="F28C28"/>
              </a:solidFill>
            </a:ln>
          </p:spPr>
        </p:cxnSp>
        <p:sp>
          <p:nvSpPr>
            <p:cNvPr id="69" name="badge label"/>
            <p:cNvSpPr txBox="1"/>
            <p:nvPr/>
          </p:nvSpPr>
          <p:spPr>
            <a:xfrm>
              <a:off x="950976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Piston</a:t>
              </a:r>
            </a:p>
          </p:txBody>
        </p:sp>
        <p:sp>
          <p:nvSpPr>
            <p:cNvPr id="70" name="badge"/>
            <p:cNvSpPr/>
            <p:nvPr/>
          </p:nvSpPr>
          <p:spPr>
            <a:xfrm>
              <a:off x="733806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4</a:t>
              </a:r>
            </a:p>
          </p:txBody>
        </p:sp>
        <p:cxnSp>
          <p:nvCxnSpPr>
            <p:cNvPr id="71" name="leader"/>
            <p:cNvCxnSpPr/>
            <p:nvPr/>
          </p:nvCxnSpPr>
          <p:spPr>
            <a:xfrm flipH="1">
              <a:off x="6766560" y="4919472"/>
              <a:ext cx="576072" cy="0"/>
            </a:xfrm>
            <a:prstGeom prst="line">
              <a:avLst/>
            </a:prstGeom>
            <a:ln w="25400">
              <a:solidFill>
                <a:srgbClr val="F28C28"/>
              </a:solidFill>
            </a:ln>
          </p:spPr>
        </p:cxnSp>
        <p:sp>
          <p:nvSpPr>
            <p:cNvPr id="72" name="badge label"/>
            <p:cNvSpPr txBox="1"/>
            <p:nvPr/>
          </p:nvSpPr>
          <p:spPr>
            <a:xfrm>
              <a:off x="781812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Wheels</a:t>
              </a:r>
            </a:p>
          </p:txBody>
        </p:sp>
      </p:grpSp>
      <p:sp>
        <p:nvSpPr>
          <p:cNvPr id="7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heats water. Steam pushes pistons. The engine needs both coal and water.</a:t>
            </a:r>
          </a:p>
        </p:txBody>
      </p:sp>
      <p:sp>
        <p:nvSpPr>
          <p:cNvPr id="7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Steam is used once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anks before and after" descr="Before a long trip the coal tank and water tank are both nearly full. After it, coal is about half full and water is almost empty. Steam leaves the chimney and is not used again."/>
          <p:cNvGrpSpPr/>
          <p:nvPr/>
        </p:nvGrpSpPr>
        <p:grpSpPr>
          <a:xfrm>
            <a:off x="822960" y="1371600"/>
            <a:ext cx="10835640" cy="4114800"/>
            <a:chOff x="822960" y="1371600"/>
            <a:chExt cx="10835640" cy="4114800"/>
          </a:xfrm>
        </p:grpSpPr>
        <p:sp>
          <p:nvSpPr>
            <p:cNvPr id="5" name="state label"/>
            <p:cNvSpPr txBox="1"/>
            <p:nvPr/>
          </p:nvSpPr>
          <p:spPr>
            <a:xfrm>
              <a:off x="82296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Before</a:t>
              </a:r>
            </a:p>
          </p:txBody>
        </p:sp>
        <p:sp>
          <p:nvSpPr>
            <p:cNvPr id="6" name="state label"/>
            <p:cNvSpPr txBox="1"/>
            <p:nvPr/>
          </p:nvSpPr>
          <p:spPr>
            <a:xfrm>
              <a:off x="640080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After</a:t>
              </a:r>
            </a:p>
          </p:txBody>
        </p:sp>
        <p:sp>
          <p:nvSpPr>
            <p:cNvPr id="7" name="coal tank before"/>
            <p:cNvSpPr/>
            <p:nvPr/>
          </p:nvSpPr>
          <p:spPr>
            <a:xfrm>
              <a:off x="82296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8" name="coal tank before fill"/>
            <p:cNvSpPr/>
            <p:nvPr/>
          </p:nvSpPr>
          <p:spPr>
            <a:xfrm>
              <a:off x="877824" y="2337206"/>
              <a:ext cx="1353312" cy="1814169"/>
            </a:xfrm>
            <a:prstGeom prst="rect">
              <a:avLst/>
            </a:prstGeom>
            <a:solidFill>
              <a:srgbClr val="1B1D21"/>
            </a:solidFill>
            <a:ln w="15875">
              <a:solidFill>
                <a:srgbClr val="8A9099"/>
              </a:solidFill>
            </a:ln>
          </p:spPr>
          <p:txBody>
            <a:bodyPr rtlCol="0" anchor="ctr"/>
            <a:lstStyle/>
            <a:p>
              <a:pPr algn="ctr"/>
            </a:p>
          </p:txBody>
        </p:sp>
        <p:sp>
          <p:nvSpPr>
            <p:cNvPr id="9" name="water tank before"/>
            <p:cNvSpPr/>
            <p:nvPr/>
          </p:nvSpPr>
          <p:spPr>
            <a:xfrm>
              <a:off x="27432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0" name="water tank before fill"/>
            <p:cNvSpPr/>
            <p:nvPr/>
          </p:nvSpPr>
          <p:spPr>
            <a:xfrm>
              <a:off x="2798064" y="2337206"/>
              <a:ext cx="1353312" cy="1814169"/>
            </a:xfrm>
            <a:prstGeom prst="rect">
              <a:avLst/>
            </a:prstGeom>
            <a:solidFill>
              <a:srgbClr val="4DA3FF"/>
            </a:solidFill>
            <a:ln>
              <a:noFill/>
            </a:ln>
          </p:spPr>
          <p:txBody>
            <a:bodyPr rtlCol="0" anchor="ctr"/>
            <a:lstStyle/>
            <a:p>
              <a:pPr algn="ctr"/>
            </a:p>
          </p:txBody>
        </p:sp>
        <p:sp>
          <p:nvSpPr>
            <p:cNvPr id="11" name="tank label"/>
            <p:cNvSpPr txBox="1"/>
            <p:nvPr/>
          </p:nvSpPr>
          <p:spPr>
            <a:xfrm>
              <a:off x="82296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2" name="tank label"/>
            <p:cNvSpPr txBox="1"/>
            <p:nvPr/>
          </p:nvSpPr>
          <p:spPr>
            <a:xfrm>
              <a:off x="27432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3" name="trip arrow"/>
            <p:cNvCxnSpPr/>
            <p:nvPr/>
          </p:nvCxnSpPr>
          <p:spPr>
            <a:xfrm>
              <a:off x="4526280" y="3017520"/>
              <a:ext cx="1600200" cy="0"/>
            </a:xfrm>
            <a:prstGeom prst="line">
              <a:avLst/>
            </a:prstGeom>
            <a:ln w="57150">
              <a:solidFill>
                <a:srgbClr val="F28C28"/>
              </a:solidFill>
              <a:tailEnd type="triangle" w="med" len="med"/>
            </a:ln>
          </p:spPr>
        </p:cxnSp>
        <p:sp>
          <p:nvSpPr>
            <p:cNvPr id="14" name="trip label"/>
            <p:cNvSpPr txBox="1"/>
            <p:nvPr/>
          </p:nvSpPr>
          <p:spPr>
            <a:xfrm>
              <a:off x="4389120" y="2514600"/>
              <a:ext cx="1874519" cy="411480"/>
            </a:xfrm>
            <a:prstGeom prst="rect">
              <a:avLst/>
            </a:prstGeom>
            <a:noFill/>
          </p:spPr>
          <p:txBody>
            <a:bodyPr wrap="square" anchor="ctr" lIns="18288" tIns="9144" rIns="18288" bIns="9144">
              <a:noAutofit/>
            </a:bodyPr>
            <a:lstStyle/>
            <a:p>
              <a:pPr algn="ctr"/>
              <a:r>
                <a:rPr sz="1800" b="1" i="0" lang="en-GB">
                  <a:solidFill>
                    <a:srgbClr val="F28C28"/>
                  </a:solidFill>
                  <a:latin typeface="Arial"/>
                </a:rPr>
                <a:t>One long trip</a:t>
              </a:r>
            </a:p>
          </p:txBody>
        </p:sp>
        <p:sp>
          <p:nvSpPr>
            <p:cNvPr id="15" name="coal tank after"/>
            <p:cNvSpPr/>
            <p:nvPr/>
          </p:nvSpPr>
          <p:spPr>
            <a:xfrm>
              <a:off x="64008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6" name="coal tank after fill"/>
            <p:cNvSpPr/>
            <p:nvPr/>
          </p:nvSpPr>
          <p:spPr>
            <a:xfrm>
              <a:off x="6455664" y="3130905"/>
              <a:ext cx="1353312" cy="1020470"/>
            </a:xfrm>
            <a:prstGeom prst="rect">
              <a:avLst/>
            </a:prstGeom>
            <a:solidFill>
              <a:srgbClr val="1B1D21"/>
            </a:solidFill>
            <a:ln w="15875">
              <a:solidFill>
                <a:srgbClr val="8A9099"/>
              </a:solidFill>
            </a:ln>
          </p:spPr>
          <p:txBody>
            <a:bodyPr rtlCol="0" anchor="ctr"/>
            <a:lstStyle/>
            <a:p>
              <a:pPr algn="ctr"/>
            </a:p>
          </p:txBody>
        </p:sp>
        <p:sp>
          <p:nvSpPr>
            <p:cNvPr id="17" name="water tank after"/>
            <p:cNvSpPr/>
            <p:nvPr/>
          </p:nvSpPr>
          <p:spPr>
            <a:xfrm>
              <a:off x="832104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8" name="water tank after fill"/>
            <p:cNvSpPr/>
            <p:nvPr/>
          </p:nvSpPr>
          <p:spPr>
            <a:xfrm>
              <a:off x="8375904" y="3811219"/>
              <a:ext cx="1353312" cy="340156"/>
            </a:xfrm>
            <a:prstGeom prst="rect">
              <a:avLst/>
            </a:prstGeom>
            <a:solidFill>
              <a:srgbClr val="4DA3FF"/>
            </a:solidFill>
            <a:ln>
              <a:noFill/>
            </a:ln>
          </p:spPr>
          <p:txBody>
            <a:bodyPr rtlCol="0" anchor="ctr"/>
            <a:lstStyle/>
            <a:p>
              <a:pPr algn="ctr"/>
            </a:p>
          </p:txBody>
        </p:sp>
        <p:sp>
          <p:nvSpPr>
            <p:cNvPr id="19" name="tank label"/>
            <p:cNvSpPr txBox="1"/>
            <p:nvPr/>
          </p:nvSpPr>
          <p:spPr>
            <a:xfrm>
              <a:off x="64008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20" name="tank label"/>
            <p:cNvSpPr txBox="1"/>
            <p:nvPr/>
          </p:nvSpPr>
          <p:spPr>
            <a:xfrm>
              <a:off x="832104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sp>
          <p:nvSpPr>
            <p:cNvPr id="21" name="empty tag"/>
            <p:cNvSpPr/>
            <p:nvPr/>
          </p:nvSpPr>
          <p:spPr>
            <a:xfrm>
              <a:off x="8458200" y="2103120"/>
              <a:ext cx="1188720" cy="365760"/>
            </a:xfrm>
            <a:prstGeom prst="roundRect">
              <a:avLst>
                <a:gd name="adj" fmla="val 25000"/>
              </a:avLst>
            </a:prstGeom>
            <a:solidFill>
              <a:srgbClr val="E5484D"/>
            </a:solidFill>
            <a:ln>
              <a:noFill/>
            </a:ln>
          </p:spPr>
          <p:txBody>
            <a:bodyPr rtlCol="0" anchor="ctr" wrap="square" lIns="54864" tIns="27432" rIns="54864" bIns="27432">
              <a:noAutofit/>
            </a:bodyPr>
            <a:lstStyle/>
            <a:p>
              <a:pPr algn="ctr"/>
              <a:r>
                <a:rPr sz="1400" b="1" i="0" lang="en-GB">
                  <a:solidFill>
                    <a:srgbClr val="101418"/>
                  </a:solidFill>
                  <a:latin typeface="Arial"/>
                </a:rPr>
                <a:t>Empty first</a:t>
              </a:r>
            </a:p>
          </p:txBody>
        </p:sp>
        <p:cxnSp>
          <p:nvCxnSpPr>
            <p:cNvPr id="22" name="tag pointer"/>
            <p:cNvCxnSpPr/>
            <p:nvPr/>
          </p:nvCxnSpPr>
          <p:spPr>
            <a:xfrm>
              <a:off x="9052560" y="2487168"/>
              <a:ext cx="0" cy="1124712"/>
            </a:xfrm>
            <a:prstGeom prst="line">
              <a:avLst/>
            </a:prstGeom>
            <a:ln w="28575">
              <a:solidFill>
                <a:srgbClr val="E5484D"/>
              </a:solidFill>
              <a:tailEnd type="triangle" w="med" len="med"/>
            </a:ln>
          </p:spPr>
        </p:cxnSp>
        <p:sp>
          <p:nvSpPr>
            <p:cNvPr id="23" name="chimney"/>
            <p:cNvSpPr/>
            <p:nvPr/>
          </p:nvSpPr>
          <p:spPr>
            <a:xfrm>
              <a:off x="10561320" y="3246120"/>
              <a:ext cx="457200" cy="960120"/>
            </a:xfrm>
            <a:prstGeom prst="rect">
              <a:avLst/>
            </a:prstGeom>
            <a:solidFill>
              <a:srgbClr val="9AA0A6"/>
            </a:solidFill>
            <a:ln>
              <a:noFill/>
            </a:ln>
          </p:spPr>
          <p:txBody>
            <a:bodyPr rtlCol="0" anchor="ctr"/>
            <a:lstStyle/>
            <a:p>
              <a:pPr algn="ctr"/>
            </a:p>
          </p:txBody>
        </p:sp>
        <p:sp>
          <p:nvSpPr>
            <p:cNvPr id="24" name="chimney lip"/>
            <p:cNvSpPr/>
            <p:nvPr/>
          </p:nvSpPr>
          <p:spPr>
            <a:xfrm>
              <a:off x="10424160" y="3154680"/>
              <a:ext cx="731520" cy="128016"/>
            </a:xfrm>
            <a:prstGeom prst="rect">
              <a:avLst/>
            </a:prstGeom>
            <a:solidFill>
              <a:srgbClr val="9AA0A6"/>
            </a:solidFill>
            <a:ln>
              <a:noFill/>
            </a:ln>
          </p:spPr>
          <p:txBody>
            <a:bodyPr rtlCol="0" anchor="ctr"/>
            <a:lstStyle/>
            <a:p>
              <a:pPr algn="ctr"/>
            </a:p>
          </p:txBody>
        </p:sp>
        <p:sp>
          <p:nvSpPr>
            <p:cNvPr id="25" name="steam"/>
            <p:cNvSpPr/>
            <p:nvPr/>
          </p:nvSpPr>
          <p:spPr>
            <a:xfrm>
              <a:off x="10561320" y="2743200"/>
              <a:ext cx="457200" cy="256032"/>
            </a:xfrm>
            <a:prstGeom prst="ellipse">
              <a:avLst/>
            </a:prstGeom>
            <a:solidFill>
              <a:srgbClr val="F2F2F2">
                <a:alpha val="85000"/>
              </a:srgbClr>
            </a:solidFill>
            <a:ln>
              <a:noFill/>
            </a:ln>
          </p:spPr>
          <p:txBody>
            <a:bodyPr rtlCol="0" anchor="ctr"/>
            <a:lstStyle/>
            <a:p>
              <a:pPr algn="ctr"/>
            </a:p>
          </p:txBody>
        </p:sp>
        <p:sp>
          <p:nvSpPr>
            <p:cNvPr id="26" name="steam"/>
            <p:cNvSpPr/>
            <p:nvPr/>
          </p:nvSpPr>
          <p:spPr>
            <a:xfrm>
              <a:off x="10652760" y="2331720"/>
              <a:ext cx="640080" cy="329184"/>
            </a:xfrm>
            <a:prstGeom prst="ellipse">
              <a:avLst/>
            </a:prstGeom>
            <a:solidFill>
              <a:srgbClr val="F2F2F2">
                <a:alpha val="85000"/>
              </a:srgbClr>
            </a:solidFill>
            <a:ln>
              <a:noFill/>
            </a:ln>
          </p:spPr>
          <p:txBody>
            <a:bodyPr rtlCol="0" anchor="ctr"/>
            <a:lstStyle/>
            <a:p>
              <a:pPr algn="ctr"/>
            </a:p>
          </p:txBody>
        </p:sp>
        <p:sp>
          <p:nvSpPr>
            <p:cNvPr id="27" name="steam"/>
            <p:cNvSpPr/>
            <p:nvPr/>
          </p:nvSpPr>
          <p:spPr>
            <a:xfrm>
              <a:off x="10744200" y="1828800"/>
              <a:ext cx="822960" cy="420624"/>
            </a:xfrm>
            <a:prstGeom prst="ellipse">
              <a:avLst/>
            </a:prstGeom>
            <a:solidFill>
              <a:srgbClr val="F2F2F2">
                <a:alpha val="85000"/>
              </a:srgbClr>
            </a:solidFill>
            <a:ln>
              <a:noFill/>
            </a:ln>
          </p:spPr>
          <p:txBody>
            <a:bodyPr rtlCol="0" anchor="ctr"/>
            <a:lstStyle/>
            <a:p>
              <a:pPr algn="ctr"/>
            </a:p>
          </p:txBody>
        </p:sp>
        <p:sp>
          <p:nvSpPr>
            <p:cNvPr id="28" name="steam label"/>
            <p:cNvSpPr txBox="1"/>
            <p:nvPr/>
          </p:nvSpPr>
          <p:spPr>
            <a:xfrm>
              <a:off x="9966960" y="4279392"/>
              <a:ext cx="1691640" cy="1005840"/>
            </a:xfrm>
            <a:prstGeom prst="rect">
              <a:avLst/>
            </a:prstGeom>
            <a:noFill/>
          </p:spPr>
          <p:txBody>
            <a:bodyPr wrap="square" anchor="t" lIns="18288" tIns="9144" rIns="18288" bIns="9144">
              <a:noAutofit/>
            </a:bodyPr>
            <a:lstStyle/>
            <a:p>
              <a:pPr algn="ctr"/>
              <a:r>
                <a:rPr sz="1400" b="0" i="0" lang="en-GB">
                  <a:solidFill>
                    <a:srgbClr val="F2F2F2"/>
                  </a:solidFill>
                  <a:latin typeface="Arial"/>
                </a:rPr>
                <a:t>Steam leaves the chimney. It is not used again.</a:t>
              </a:r>
            </a:p>
          </p:txBody>
        </p:sp>
        <p:sp>
          <p:nvSpPr>
            <p:cNvPr id="29" name="note"/>
            <p:cNvSpPr/>
            <p:nvPr/>
          </p:nvSpPr>
          <p:spPr>
            <a:xfrm>
              <a:off x="1371600" y="4983480"/>
              <a:ext cx="7132320" cy="502920"/>
            </a:xfrm>
            <a:prstGeom prst="roundRect">
              <a:avLst>
                <a:gd name="adj" fmla="val 18181"/>
              </a:avLst>
            </a:prstGeom>
            <a:solidFill>
              <a:srgbClr val="2B2F36"/>
            </a:solidFill>
            <a:ln w="19050">
              <a:solidFill>
                <a:srgbClr val="F28C28"/>
              </a:solidFill>
            </a:ln>
          </p:spPr>
          <p:txBody>
            <a:bodyPr rtlCol="0" anchor="ctr" wrap="square" lIns="54864" tIns="27432" rIns="54864" bIns="27432">
              <a:noAutofit/>
            </a:bodyPr>
            <a:lstStyle/>
            <a:p>
              <a:pPr algn="ctr"/>
              <a:r>
                <a:rPr sz="1800" b="0" i="0" lang="en-GB">
                  <a:solidFill>
                    <a:srgbClr val="F2F2F2"/>
                  </a:solidFill>
                  <a:latin typeface="Arial"/>
                </a:rPr>
                <a:t>In the mod, water is usually the tighter limit.</a:t>
              </a:r>
            </a:p>
          </p:txBody>
        </p:sp>
      </p:grpSp>
      <p:sp>
        <p:nvSpPr>
          <p:cNvPr id="3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2"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Steam is used once and lost. So water runs out first. Coal lasts longer.</a:t>
            </a:r>
          </a:p>
        </p:txBody>
      </p:sp>
      <p:sp>
        <p:nvSpPr>
          <p:cNvPr id="3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Tender or tank?</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4_tender_engine_73082" descr="BR Standard Class 5 No. 73082 'Camelot', a tender engine, seen from the side."/>
          <p:cNvPicPr>
            <a:picLocks noChangeAspect="1"/>
          </p:cNvPicPr>
          <p:nvPr/>
        </p:nvPicPr>
        <p:blipFill>
          <a:blip r:embed="rId2"/>
          <a:srcRect l="505" r="505"/>
          <a:stretch>
            <a:fillRect/>
          </a:stretch>
        </p:blipFill>
        <p:spPr>
          <a:xfrm>
            <a:off x="548640" y="1325880"/>
            <a:ext cx="5303520" cy="3566160"/>
          </a:xfrm>
          <a:prstGeom prst="roundRect">
            <a:avLst>
              <a:gd name="adj" fmla="val 2051"/>
            </a:avLst>
          </a:prstGeom>
        </p:spPr>
      </p:pic>
      <p:pic>
        <p:nvPicPr>
          <p:cNvPr id="5" name="P05_tank_engine_80151" descr="BR Standard Class 4 tank engine No. 80151 from the side, showing side tanks and rear bunker."/>
          <p:cNvPicPr>
            <a:picLocks noChangeAspect="1"/>
          </p:cNvPicPr>
          <p:nvPr/>
        </p:nvPicPr>
        <p:blipFill>
          <a:blip r:embed="rId3"/>
          <a:srcRect l="505" r="505"/>
          <a:stretch>
            <a:fillRect/>
          </a:stretch>
        </p:blipFill>
        <p:spPr>
          <a:xfrm>
            <a:off x="6336792" y="1325880"/>
            <a:ext cx="5303520" cy="3566160"/>
          </a:xfrm>
          <a:prstGeom prst="roundRect">
            <a:avLst>
              <a:gd name="adj" fmla="val 2051"/>
            </a:avLst>
          </a:prstGeom>
        </p:spPr>
      </p:pic>
      <p:grpSp>
        <p:nvGrpSpPr>
          <p:cNvPr id="6" name="Photo labels" descr="Labels pointing at the tender behind the cab, and at the side tanks and bunker."/>
          <p:cNvGrpSpPr/>
          <p:nvPr/>
        </p:nvGrpSpPr>
        <p:grpSpPr>
          <a:xfrm>
            <a:off x="731520" y="1463039"/>
            <a:ext cx="9418320" cy="3291841"/>
            <a:chOff x="731520" y="1463039"/>
            <a:chExt cx="9418320" cy="3291841"/>
          </a:xfrm>
        </p:grpSpPr>
        <p:sp>
          <p:nvSpPr>
            <p:cNvPr id="7" name="card name"/>
            <p:cNvSpPr/>
            <p:nvPr/>
          </p:nvSpPr>
          <p:spPr>
            <a:xfrm>
              <a:off x="731520" y="1463039"/>
              <a:ext cx="219456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Tender engine</a:t>
              </a:r>
            </a:p>
          </p:txBody>
        </p:sp>
        <p:sp>
          <p:nvSpPr>
            <p:cNvPr id="8" name="card name"/>
            <p:cNvSpPr/>
            <p:nvPr/>
          </p:nvSpPr>
          <p:spPr>
            <a:xfrm>
              <a:off x="6519672" y="1463039"/>
              <a:ext cx="201168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Tank engine</a:t>
              </a:r>
            </a:p>
          </p:txBody>
        </p:sp>
        <p:sp>
          <p:nvSpPr>
            <p:cNvPr id="9" name="callout"/>
            <p:cNvSpPr/>
            <p:nvPr/>
          </p:nvSpPr>
          <p:spPr>
            <a:xfrm>
              <a:off x="777240" y="4069080"/>
              <a:ext cx="283464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Tender: coal and water behind the cab</a:t>
              </a:r>
            </a:p>
          </p:txBody>
        </p:sp>
        <p:cxnSp>
          <p:nvCxnSpPr>
            <p:cNvPr id="10" name="leader"/>
            <p:cNvCxnSpPr/>
            <p:nvPr/>
          </p:nvCxnSpPr>
          <p:spPr>
            <a:xfrm flipH="1" flipV="1">
              <a:off x="1417320" y="3246120"/>
              <a:ext cx="320040" cy="822960"/>
            </a:xfrm>
            <a:prstGeom prst="line">
              <a:avLst/>
            </a:prstGeom>
            <a:ln w="28575">
              <a:solidFill>
                <a:srgbClr val="F28C28"/>
              </a:solidFill>
            </a:ln>
          </p:spPr>
        </p:cxnSp>
        <p:sp>
          <p:nvSpPr>
            <p:cNvPr id="11" name="leader dot"/>
            <p:cNvSpPr/>
            <p:nvPr/>
          </p:nvSpPr>
          <p:spPr>
            <a:xfrm>
              <a:off x="1344168" y="3172968"/>
              <a:ext cx="146304" cy="146304"/>
            </a:xfrm>
            <a:prstGeom prst="ellipse">
              <a:avLst/>
            </a:prstGeom>
            <a:solidFill>
              <a:srgbClr val="F28C28"/>
            </a:solidFill>
            <a:ln>
              <a:noFill/>
            </a:ln>
          </p:spPr>
          <p:txBody>
            <a:bodyPr rtlCol="0" anchor="ctr"/>
            <a:lstStyle/>
            <a:p>
              <a:pPr algn="ctr"/>
            </a:p>
          </p:txBody>
        </p:sp>
        <p:sp>
          <p:nvSpPr>
            <p:cNvPr id="12" name="callout"/>
            <p:cNvSpPr/>
            <p:nvPr/>
          </p:nvSpPr>
          <p:spPr>
            <a:xfrm>
              <a:off x="6492240" y="4069080"/>
              <a:ext cx="365760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Side tanks: water. Bunker: coal.</a:t>
              </a:r>
            </a:p>
          </p:txBody>
        </p:sp>
        <p:cxnSp>
          <p:nvCxnSpPr>
            <p:cNvPr id="13" name="leader"/>
            <p:cNvCxnSpPr/>
            <p:nvPr/>
          </p:nvCxnSpPr>
          <p:spPr>
            <a:xfrm flipV="1">
              <a:off x="7680960" y="3200400"/>
              <a:ext cx="822960" cy="868680"/>
            </a:xfrm>
            <a:prstGeom prst="line">
              <a:avLst/>
            </a:prstGeom>
            <a:ln w="28575">
              <a:solidFill>
                <a:srgbClr val="F28C28"/>
              </a:solidFill>
            </a:ln>
          </p:spPr>
        </p:cxnSp>
        <p:sp>
          <p:nvSpPr>
            <p:cNvPr id="14" name="leader dot"/>
            <p:cNvSpPr/>
            <p:nvPr/>
          </p:nvSpPr>
          <p:spPr>
            <a:xfrm>
              <a:off x="8430768" y="3127248"/>
              <a:ext cx="146304" cy="146304"/>
            </a:xfrm>
            <a:prstGeom prst="ellipse">
              <a:avLst/>
            </a:prstGeom>
            <a:solidFill>
              <a:srgbClr val="F28C28"/>
            </a:solidFill>
            <a:ln>
              <a:noFill/>
            </a:ln>
          </p:spPr>
          <p:txBody>
            <a:bodyPr rtlCol="0" anchor="ctr"/>
            <a:lstStyle/>
            <a:p>
              <a:pPr algn="ctr"/>
            </a:p>
          </p:txBody>
        </p:sp>
        <p:cxnSp>
          <p:nvCxnSpPr>
            <p:cNvPr id="15" name="leader"/>
            <p:cNvCxnSpPr/>
            <p:nvPr/>
          </p:nvCxnSpPr>
          <p:spPr>
            <a:xfrm flipV="1">
              <a:off x="9509760" y="3200400"/>
              <a:ext cx="502920" cy="868680"/>
            </a:xfrm>
            <a:prstGeom prst="line">
              <a:avLst/>
            </a:prstGeom>
            <a:ln w="28575">
              <a:solidFill>
                <a:srgbClr val="F28C28"/>
              </a:solidFill>
            </a:ln>
          </p:spPr>
        </p:cxnSp>
        <p:sp>
          <p:nvSpPr>
            <p:cNvPr id="16" name="leader dot"/>
            <p:cNvSpPr/>
            <p:nvPr/>
          </p:nvSpPr>
          <p:spPr>
            <a:xfrm>
              <a:off x="9939528" y="3127248"/>
              <a:ext cx="146304" cy="146304"/>
            </a:xfrm>
            <a:prstGeom prst="ellipse">
              <a:avLst/>
            </a:prstGeom>
            <a:solidFill>
              <a:srgbClr val="F28C28"/>
            </a:solidFill>
            <a:ln>
              <a:noFill/>
            </a:ln>
          </p:spPr>
          <p:txBody>
            <a:bodyPr rtlCol="0" anchor="ctr"/>
            <a:lstStyle/>
            <a:p>
              <a:pPr algn="ctr"/>
            </a:p>
          </p:txBody>
        </p:sp>
      </p:grpSp>
      <p:sp>
        <p:nvSpPr>
          <p:cNvPr id="17" name="CREDIT"/>
          <p:cNvSpPr txBox="1"/>
          <p:nvPr/>
        </p:nvSpPr>
        <p:spPr>
          <a:xfrm>
            <a:off x="548640"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5 No. 73082.</a:t>
            </a:r>
          </a:p>
        </p:txBody>
      </p:sp>
      <p:sp>
        <p:nvSpPr>
          <p:cNvPr id="18" name="CREDIT"/>
          <p:cNvSpPr txBox="1"/>
          <p:nvPr/>
        </p:nvSpPr>
        <p:spPr>
          <a:xfrm>
            <a:off x="6336792"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4 No. 80151.</a:t>
            </a:r>
          </a:p>
        </p:txBody>
      </p:sp>
      <p:sp>
        <p:nvSpPr>
          <p:cNvPr id="1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1"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tender engine pulls a coal and water wagon. A tank engine carries both itself.</a:t>
            </a:r>
          </a:p>
        </p:txBody>
      </p:sp>
      <p:sp>
        <p:nvSpPr>
          <p:cNvPr id="2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water</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6_water_crane_didcot" descr="A water crane at Didcot Railway Centre."/>
          <p:cNvPicPr>
            <a:picLocks noChangeAspect="1"/>
          </p:cNvPicPr>
          <p:nvPr/>
        </p:nvPicPr>
        <p:blipFill>
          <a:blip r:embed="rId2"/>
          <a:srcRect b="34037"/>
          <a:stretch>
            <a:fillRect/>
          </a:stretch>
        </p:blipFill>
        <p:spPr>
          <a:xfrm>
            <a:off x="548640" y="1325880"/>
            <a:ext cx="3383280" cy="4023360"/>
          </a:xfrm>
          <a:prstGeom prst="roundRect">
            <a:avLst>
              <a:gd name="adj" fmla="val 2162"/>
            </a:avLst>
          </a:prstGeom>
        </p:spPr>
      </p:pic>
      <p:sp>
        <p:nvSpPr>
          <p:cNvPr id="5" name="CREDIT"/>
          <p:cNvSpPr txBox="1"/>
          <p:nvPr/>
        </p:nvSpPr>
        <p:spPr>
          <a:xfrm>
            <a:off x="548640" y="5394960"/>
            <a:ext cx="3383280" cy="219456"/>
          </a:xfrm>
          <a:prstGeom prst="rect">
            <a:avLst/>
          </a:prstGeom>
          <a:noFill/>
        </p:spPr>
        <p:txBody>
          <a:bodyPr wrap="square" anchor="t" lIns="0" tIns="0" rIns="0" bIns="0">
            <a:noAutofit/>
          </a:bodyPr>
          <a:lstStyle/>
          <a:p>
            <a:pPr algn="l"/>
            <a:r>
              <a:rPr sz="1000" b="0" i="0" lang="en-GB">
                <a:solidFill>
                  <a:srgbClr val="A9B0B8"/>
                </a:solidFill>
                <a:latin typeface="Arial"/>
              </a:rPr>
              <a:t>Barry Skeates, CC BY 2.0. A water crane, Didcot.</a:t>
            </a:r>
          </a:p>
        </p:txBody>
      </p:sp>
      <p:grpSp>
        <p:nvGrpSpPr>
          <p:cNvPr id="6" name="Water tower and crane" descr="A water tank on legs feeds a pipe down to a crane. The crane arm swings over the tender hatch and water flows down by gravity."/>
          <p:cNvGrpSpPr/>
          <p:nvPr/>
        </p:nvGrpSpPr>
        <p:grpSpPr>
          <a:xfrm>
            <a:off x="4480560" y="1325880"/>
            <a:ext cx="5303520" cy="3447288"/>
            <a:chOff x="4480560" y="1325880"/>
            <a:chExt cx="5303520" cy="3447288"/>
          </a:xfrm>
        </p:grpSpPr>
        <p:sp>
          <p:nvSpPr>
            <p:cNvPr id="7" name="tank"/>
            <p:cNvSpPr/>
            <p:nvPr/>
          </p:nvSpPr>
          <p:spPr>
            <a:xfrm>
              <a:off x="4480560" y="1554480"/>
              <a:ext cx="1737360" cy="1097280"/>
            </a:xfrm>
            <a:prstGeom prst="roundRect">
              <a:avLst>
                <a:gd name="adj" fmla="val 10000"/>
              </a:avLst>
            </a:prstGeom>
            <a:solidFill>
              <a:srgbClr val="4DA3FF"/>
            </a:solidFill>
            <a:ln w="25400">
              <a:solidFill>
                <a:srgbClr val="FFFFFF"/>
              </a:solidFill>
            </a:ln>
          </p:spPr>
          <p:txBody>
            <a:bodyPr rtlCol="0" anchor="ctr" wrap="square" lIns="54864" tIns="27432" rIns="54864" bIns="27432">
              <a:noAutofit/>
            </a:bodyPr>
            <a:lstStyle/>
            <a:p>
              <a:pPr algn="ctr"/>
              <a:r>
                <a:rPr sz="1400" b="1" i="0" lang="en-GB">
                  <a:solidFill>
                    <a:srgbClr val="101418"/>
                  </a:solidFill>
                  <a:latin typeface="Arial"/>
                </a:rPr>
                <a:t>Water tank</a:t>
              </a:r>
            </a:p>
          </p:txBody>
        </p:sp>
        <p:sp>
          <p:nvSpPr>
            <p:cNvPr id="8" name="leg"/>
            <p:cNvSpPr/>
            <p:nvPr/>
          </p:nvSpPr>
          <p:spPr>
            <a:xfrm>
              <a:off x="4572000" y="2651760"/>
              <a:ext cx="91440" cy="1463040"/>
            </a:xfrm>
            <a:prstGeom prst="rect">
              <a:avLst/>
            </a:prstGeom>
            <a:solidFill>
              <a:srgbClr val="9AA0A6"/>
            </a:solidFill>
            <a:ln>
              <a:noFill/>
            </a:ln>
          </p:spPr>
          <p:txBody>
            <a:bodyPr rtlCol="0" anchor="ctr"/>
            <a:lstStyle/>
            <a:p>
              <a:pPr algn="ctr"/>
            </a:p>
          </p:txBody>
        </p:sp>
        <p:sp>
          <p:nvSpPr>
            <p:cNvPr id="9" name="leg"/>
            <p:cNvSpPr/>
            <p:nvPr/>
          </p:nvSpPr>
          <p:spPr>
            <a:xfrm>
              <a:off x="4937760" y="2651760"/>
              <a:ext cx="91440" cy="1463040"/>
            </a:xfrm>
            <a:prstGeom prst="rect">
              <a:avLst/>
            </a:prstGeom>
            <a:solidFill>
              <a:srgbClr val="9AA0A6"/>
            </a:solidFill>
            <a:ln>
              <a:noFill/>
            </a:ln>
          </p:spPr>
          <p:txBody>
            <a:bodyPr rtlCol="0" anchor="ctr"/>
            <a:lstStyle/>
            <a:p>
              <a:pPr algn="ctr"/>
            </a:p>
          </p:txBody>
        </p:sp>
        <p:sp>
          <p:nvSpPr>
            <p:cNvPr id="10" name="leg"/>
            <p:cNvSpPr/>
            <p:nvPr/>
          </p:nvSpPr>
          <p:spPr>
            <a:xfrm>
              <a:off x="5669280" y="2651760"/>
              <a:ext cx="91440" cy="1463040"/>
            </a:xfrm>
            <a:prstGeom prst="rect">
              <a:avLst/>
            </a:prstGeom>
            <a:solidFill>
              <a:srgbClr val="9AA0A6"/>
            </a:solidFill>
            <a:ln>
              <a:noFill/>
            </a:ln>
          </p:spPr>
          <p:txBody>
            <a:bodyPr rtlCol="0" anchor="ctr"/>
            <a:lstStyle/>
            <a:p>
              <a:pPr algn="ctr"/>
            </a:p>
          </p:txBody>
        </p:sp>
        <p:sp>
          <p:nvSpPr>
            <p:cNvPr id="11" name="leg"/>
            <p:cNvSpPr/>
            <p:nvPr/>
          </p:nvSpPr>
          <p:spPr>
            <a:xfrm>
              <a:off x="6035040" y="2651760"/>
              <a:ext cx="91440" cy="1463040"/>
            </a:xfrm>
            <a:prstGeom prst="rect">
              <a:avLst/>
            </a:prstGeom>
            <a:solidFill>
              <a:srgbClr val="9AA0A6"/>
            </a:solidFill>
            <a:ln>
              <a:noFill/>
            </a:ln>
          </p:spPr>
          <p:txBody>
            <a:bodyPr rtlCol="0" anchor="ctr"/>
            <a:lstStyle/>
            <a:p>
              <a:pPr algn="ctr"/>
            </a:p>
          </p:txBody>
        </p:sp>
        <p:cxnSp>
          <p:nvCxnSpPr>
            <p:cNvPr id="12" name="brace"/>
            <p:cNvCxnSpPr/>
            <p:nvPr/>
          </p:nvCxnSpPr>
          <p:spPr>
            <a:xfrm>
              <a:off x="4617720" y="2743200"/>
              <a:ext cx="1463040" cy="1280160"/>
            </a:xfrm>
            <a:prstGeom prst="line">
              <a:avLst/>
            </a:prstGeom>
            <a:ln w="19050">
              <a:solidFill>
                <a:srgbClr val="9AA0A6"/>
              </a:solidFill>
            </a:ln>
          </p:spPr>
        </p:cxnSp>
        <p:cxnSp>
          <p:nvCxnSpPr>
            <p:cNvPr id="13" name="brace"/>
            <p:cNvCxnSpPr/>
            <p:nvPr/>
          </p:nvCxnSpPr>
          <p:spPr>
            <a:xfrm flipH="1">
              <a:off x="4617720" y="2743200"/>
              <a:ext cx="1463040" cy="1280160"/>
            </a:xfrm>
            <a:prstGeom prst="line">
              <a:avLst/>
            </a:prstGeom>
            <a:ln w="19050">
              <a:solidFill>
                <a:srgbClr val="9AA0A6"/>
              </a:solidFill>
            </a:ln>
          </p:spPr>
        </p:cxnSp>
        <p:sp>
          <p:nvSpPr>
            <p:cNvPr id="14" name="pipe"/>
            <p:cNvSpPr/>
            <p:nvPr/>
          </p:nvSpPr>
          <p:spPr>
            <a:xfrm>
              <a:off x="6217920" y="2359152"/>
              <a:ext cx="822960" cy="109728"/>
            </a:xfrm>
            <a:prstGeom prst="rect">
              <a:avLst/>
            </a:prstGeom>
            <a:solidFill>
              <a:srgbClr val="4DA3FF"/>
            </a:solidFill>
            <a:ln>
              <a:noFill/>
            </a:ln>
          </p:spPr>
          <p:txBody>
            <a:bodyPr rtlCol="0" anchor="ctr"/>
            <a:lstStyle/>
            <a:p>
              <a:pPr algn="ctr"/>
            </a:p>
          </p:txBody>
        </p:sp>
        <p:sp>
          <p:nvSpPr>
            <p:cNvPr id="15" name="crane column"/>
            <p:cNvSpPr/>
            <p:nvPr/>
          </p:nvSpPr>
          <p:spPr>
            <a:xfrm>
              <a:off x="6903720" y="2359152"/>
              <a:ext cx="137160" cy="2331720"/>
            </a:xfrm>
            <a:prstGeom prst="rect">
              <a:avLst/>
            </a:prstGeom>
            <a:solidFill>
              <a:srgbClr val="4DA3FF"/>
            </a:solidFill>
            <a:ln>
              <a:noFill/>
            </a:ln>
          </p:spPr>
          <p:txBody>
            <a:bodyPr rtlCol="0" anchor="ctr"/>
            <a:lstStyle/>
            <a:p>
              <a:pPr algn="ctr"/>
            </a:p>
          </p:txBody>
        </p:sp>
        <p:sp>
          <p:nvSpPr>
            <p:cNvPr id="16" name="swing arm"/>
            <p:cNvSpPr/>
            <p:nvPr/>
          </p:nvSpPr>
          <p:spPr>
            <a:xfrm>
              <a:off x="6903720" y="2743200"/>
              <a:ext cx="1463040" cy="128016"/>
            </a:xfrm>
            <a:prstGeom prst="rect">
              <a:avLst/>
            </a:prstGeom>
            <a:solidFill>
              <a:srgbClr val="4DA3FF"/>
            </a:solidFill>
            <a:ln>
              <a:noFill/>
            </a:ln>
          </p:spPr>
          <p:txBody>
            <a:bodyPr rtlCol="0" anchor="ctr"/>
            <a:lstStyle/>
            <a:p>
              <a:pPr algn="ctr"/>
            </a:p>
          </p:txBody>
        </p:sp>
        <p:sp>
          <p:nvSpPr>
            <p:cNvPr id="17" name="spout"/>
            <p:cNvSpPr/>
            <p:nvPr/>
          </p:nvSpPr>
          <p:spPr>
            <a:xfrm>
              <a:off x="8275320" y="2743200"/>
              <a:ext cx="109728" cy="566928"/>
            </a:xfrm>
            <a:prstGeom prst="rect">
              <a:avLst/>
            </a:prstGeom>
            <a:solidFill>
              <a:srgbClr val="4DA3FF"/>
            </a:solidFill>
            <a:ln>
              <a:noFill/>
            </a:ln>
          </p:spPr>
          <p:txBody>
            <a:bodyPr rtlCol="0" anchor="ctr"/>
            <a:lstStyle/>
            <a:p>
              <a:pPr algn="ctr"/>
            </a:p>
          </p:txBody>
        </p:sp>
        <p:sp>
          <p:nvSpPr>
            <p:cNvPr id="18" name="tender"/>
            <p:cNvSpPr/>
            <p:nvPr/>
          </p:nvSpPr>
          <p:spPr>
            <a:xfrm>
              <a:off x="7269480" y="3611880"/>
              <a:ext cx="2194560" cy="731520"/>
            </a:xfrm>
            <a:prstGeom prst="roundRect">
              <a:avLst>
                <a:gd name="adj" fmla="val 5000"/>
              </a:avLst>
            </a:prstGeom>
            <a:solidFill>
              <a:srgbClr val="9AA0A6"/>
            </a:solidFill>
            <a:ln>
              <a:noFill/>
            </a:ln>
          </p:spPr>
          <p:txBody>
            <a:bodyPr rtlCol="0" anchor="ctr"/>
            <a:lstStyle/>
            <a:p>
              <a:pPr algn="ctr"/>
            </a:p>
          </p:txBody>
        </p:sp>
        <p:sp>
          <p:nvSpPr>
            <p:cNvPr id="19" name="tender label"/>
            <p:cNvSpPr txBox="1"/>
            <p:nvPr/>
          </p:nvSpPr>
          <p:spPr>
            <a:xfrm>
              <a:off x="7269480" y="3977639"/>
              <a:ext cx="914400" cy="320040"/>
            </a:xfrm>
            <a:prstGeom prst="rect">
              <a:avLst/>
            </a:prstGeom>
            <a:noFill/>
          </p:spPr>
          <p:txBody>
            <a:bodyPr wrap="square" anchor="ctr" lIns="18288" tIns="9144" rIns="18288" bIns="9144">
              <a:noAutofit/>
            </a:bodyPr>
            <a:lstStyle/>
            <a:p>
              <a:pPr algn="ctr"/>
              <a:r>
                <a:rPr sz="1400" b="1" i="0" lang="en-GB">
                  <a:solidFill>
                    <a:srgbClr val="101418"/>
                  </a:solidFill>
                  <a:latin typeface="Arial"/>
                </a:rPr>
                <a:t>Tender</a:t>
              </a:r>
            </a:p>
          </p:txBody>
        </p:sp>
        <p:sp>
          <p:nvSpPr>
            <p:cNvPr id="20" name="hatch"/>
            <p:cNvSpPr/>
            <p:nvPr/>
          </p:nvSpPr>
          <p:spPr>
            <a:xfrm>
              <a:off x="8129016" y="3456432"/>
              <a:ext cx="320040" cy="320040"/>
            </a:xfrm>
            <a:prstGeom prst="ellipse">
              <a:avLst/>
            </a:prstGeom>
            <a:solidFill>
              <a:srgbClr val="1B1D21"/>
            </a:solidFill>
            <a:ln w="25400">
              <a:solidFill>
                <a:srgbClr val="F2F2F2"/>
              </a:solidFill>
            </a:ln>
          </p:spPr>
          <p:txBody>
            <a:bodyPr rtlCol="0" anchor="ctr"/>
            <a:lstStyle/>
            <a:p>
              <a:pPr algn="ctr"/>
            </a:p>
          </p:txBody>
        </p:sp>
        <p:sp>
          <p:nvSpPr>
            <p:cNvPr id="21" name="rail"/>
            <p:cNvSpPr/>
            <p:nvPr/>
          </p:nvSpPr>
          <p:spPr>
            <a:xfrm>
              <a:off x="7040880" y="4709160"/>
              <a:ext cx="2743200" cy="64008"/>
            </a:xfrm>
            <a:prstGeom prst="rect">
              <a:avLst/>
            </a:prstGeom>
            <a:solidFill>
              <a:srgbClr val="9AA0A6"/>
            </a:solidFill>
            <a:ln>
              <a:noFill/>
            </a:ln>
          </p:spPr>
          <p:txBody>
            <a:bodyPr rtlCol="0" anchor="ctr"/>
            <a:lstStyle/>
            <a:p>
              <a:pPr algn="ctr"/>
            </a:p>
          </p:txBody>
        </p:sp>
        <p:sp>
          <p:nvSpPr>
            <p:cNvPr id="22" name="wheel"/>
            <p:cNvSpPr/>
            <p:nvPr/>
          </p:nvSpPr>
          <p:spPr>
            <a:xfrm>
              <a:off x="7589520" y="4343400"/>
              <a:ext cx="365760" cy="365760"/>
            </a:xfrm>
            <a:prstGeom prst="ellipse">
              <a:avLst/>
            </a:prstGeom>
            <a:solidFill>
              <a:srgbClr val="1B1D21"/>
            </a:solidFill>
            <a:ln w="25400">
              <a:solidFill>
                <a:srgbClr val="9AA0A6"/>
              </a:solidFill>
            </a:ln>
          </p:spPr>
          <p:txBody>
            <a:bodyPr rtlCol="0" anchor="ctr"/>
            <a:lstStyle/>
            <a:p>
              <a:pPr algn="ctr"/>
            </a:p>
          </p:txBody>
        </p:sp>
        <p:sp>
          <p:nvSpPr>
            <p:cNvPr id="23" name="wheel"/>
            <p:cNvSpPr/>
            <p:nvPr/>
          </p:nvSpPr>
          <p:spPr>
            <a:xfrm>
              <a:off x="8778240" y="4343400"/>
              <a:ext cx="365760" cy="365760"/>
            </a:xfrm>
            <a:prstGeom prst="ellipse">
              <a:avLst/>
            </a:prstGeom>
            <a:solidFill>
              <a:srgbClr val="1B1D21"/>
            </a:solidFill>
            <a:ln w="25400">
              <a:solidFill>
                <a:srgbClr val="9AA0A6"/>
              </a:solidFill>
            </a:ln>
          </p:spPr>
          <p:txBody>
            <a:bodyPr rtlCol="0" anchor="ctr"/>
            <a:lstStyle/>
            <a:p>
              <a:pPr algn="ctr"/>
            </a:p>
          </p:txBody>
        </p:sp>
        <p:cxnSp>
          <p:nvCxnSpPr>
            <p:cNvPr id="24" name="gravity arrow"/>
            <p:cNvCxnSpPr/>
            <p:nvPr/>
          </p:nvCxnSpPr>
          <p:spPr>
            <a:xfrm>
              <a:off x="6629400" y="2926080"/>
              <a:ext cx="0" cy="685800"/>
            </a:xfrm>
            <a:prstGeom prst="line">
              <a:avLst/>
            </a:prstGeom>
            <a:ln w="28575">
              <a:solidFill>
                <a:srgbClr val="F2F2F2"/>
              </a:solidFill>
              <a:tailEnd type="triangle" w="med" len="med"/>
            </a:ln>
          </p:spPr>
        </p:cxnSp>
        <p:cxnSp>
          <p:nvCxnSpPr>
            <p:cNvPr id="25" name="gravity arrow"/>
            <p:cNvCxnSpPr/>
            <p:nvPr/>
          </p:nvCxnSpPr>
          <p:spPr>
            <a:xfrm>
              <a:off x="6766560" y="2926080"/>
              <a:ext cx="0" cy="685800"/>
            </a:xfrm>
            <a:prstGeom prst="line">
              <a:avLst/>
            </a:prstGeom>
            <a:ln w="28575">
              <a:solidFill>
                <a:srgbClr val="F2F2F2"/>
              </a:solidFill>
              <a:tailEnd type="triangle" w="med" len="med"/>
            </a:ln>
          </p:spPr>
        </p:cxnSp>
        <p:sp>
          <p:nvSpPr>
            <p:cNvPr id="26" name="gravity label"/>
            <p:cNvSpPr txBox="1"/>
            <p:nvPr/>
          </p:nvSpPr>
          <p:spPr>
            <a:xfrm>
              <a:off x="5852160" y="3703320"/>
              <a:ext cx="128016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7" name="swing arrow"/>
            <p:cNvSpPr/>
            <p:nvPr/>
          </p:nvSpPr>
          <p:spPr>
            <a:xfrm>
              <a:off x="6858000" y="1783080"/>
              <a:ext cx="1554480" cy="411480"/>
            </a:xfrm>
            <a:custGeom>
              <a:avLst/>
              <a:gdLst/>
              <a:ahLst/>
              <a:cxnLst/>
              <a:rect l="l" t="t" r="r" b="b"/>
              <a:pathLst>
                <a:path w="1554480" h="411480">
                  <a:moveTo>
                    <a:pt x="0" y="411480"/>
                  </a:moveTo>
                  <a:lnTo>
                    <a:pt x="55517" y="354796"/>
                  </a:lnTo>
                  <a:lnTo>
                    <a:pt x="111034" y="302311"/>
                  </a:lnTo>
                  <a:lnTo>
                    <a:pt x="166551" y="254025"/>
                  </a:lnTo>
                  <a:lnTo>
                    <a:pt x="222068" y="209938"/>
                  </a:lnTo>
                  <a:lnTo>
                    <a:pt x="277585" y="170050"/>
                  </a:lnTo>
                  <a:lnTo>
                    <a:pt x="333102" y="134360"/>
                  </a:lnTo>
                  <a:lnTo>
                    <a:pt x="388620" y="102870"/>
                  </a:lnTo>
                  <a:lnTo>
                    <a:pt x="444137" y="75577"/>
                  </a:lnTo>
                  <a:lnTo>
                    <a:pt x="499654" y="52484"/>
                  </a:lnTo>
                  <a:lnTo>
                    <a:pt x="555171" y="33590"/>
                  </a:lnTo>
                  <a:lnTo>
                    <a:pt x="610688" y="18894"/>
                  </a:lnTo>
                  <a:lnTo>
                    <a:pt x="666205" y="8397"/>
                  </a:lnTo>
                  <a:lnTo>
                    <a:pt x="721722" y="2099"/>
                  </a:lnTo>
                  <a:lnTo>
                    <a:pt x="777240" y="0"/>
                  </a:lnTo>
                  <a:lnTo>
                    <a:pt x="832757" y="2099"/>
                  </a:lnTo>
                  <a:lnTo>
                    <a:pt x="888274" y="8397"/>
                  </a:lnTo>
                  <a:lnTo>
                    <a:pt x="943791" y="18894"/>
                  </a:lnTo>
                  <a:lnTo>
                    <a:pt x="999308" y="33590"/>
                  </a:lnTo>
                  <a:lnTo>
                    <a:pt x="1054825" y="52484"/>
                  </a:lnTo>
                  <a:lnTo>
                    <a:pt x="1110342" y="75577"/>
                  </a:lnTo>
                  <a:lnTo>
                    <a:pt x="1165859" y="102870"/>
                  </a:lnTo>
                  <a:lnTo>
                    <a:pt x="1221377" y="134360"/>
                  </a:lnTo>
                  <a:lnTo>
                    <a:pt x="1276894" y="170050"/>
                  </a:lnTo>
                  <a:lnTo>
                    <a:pt x="1332411" y="209938"/>
                  </a:lnTo>
                  <a:lnTo>
                    <a:pt x="1387928" y="254025"/>
                  </a:lnTo>
                  <a:lnTo>
                    <a:pt x="1443445" y="302311"/>
                  </a:lnTo>
                  <a:lnTo>
                    <a:pt x="1498962" y="354796"/>
                  </a:lnTo>
                  <a:lnTo>
                    <a:pt x="1554480" y="411480"/>
                  </a:lnTo>
                </a:path>
              </a:pathLst>
            </a:custGeom>
            <a:noFill/>
            <a:ln w="31750">
              <a:solidFill>
                <a:srgbClr val="F28C28"/>
              </a:solidFill>
              <a:tailEnd type="triangle" w="med" len="med"/>
            </a:ln>
          </p:spPr>
          <p:txBody>
            <a:bodyPr rtlCol="0" anchor="ctr"/>
            <a:lstStyle/>
            <a:p>
              <a:pPr algn="ctr"/>
            </a:p>
          </p:txBody>
        </p:sp>
        <p:sp>
          <p:nvSpPr>
            <p:cNvPr id="28" name="swing label"/>
            <p:cNvSpPr txBox="1"/>
            <p:nvPr/>
          </p:nvSpPr>
          <p:spPr>
            <a:xfrm>
              <a:off x="6583680" y="1325880"/>
              <a:ext cx="301752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Arm swings over the hatch</a:t>
              </a:r>
            </a:p>
          </p:txBody>
        </p:sp>
      </p:grpSp>
      <p:pic>
        <p:nvPicPr>
          <p:cNvPr id="29" name="P07_water_tower_signal" descr="A water tower with a signal beside it."/>
          <p:cNvPicPr>
            <a:picLocks noChangeAspect="1"/>
          </p:cNvPicPr>
          <p:nvPr/>
        </p:nvPicPr>
        <p:blipFill>
          <a:blip r:embed="rId3"/>
          <a:srcRect t="17258" b="35040"/>
          <a:stretch>
            <a:fillRect/>
          </a:stretch>
        </p:blipFill>
        <p:spPr>
          <a:xfrm>
            <a:off x="9601200" y="3566160"/>
            <a:ext cx="2039112" cy="1463040"/>
          </a:xfrm>
          <a:prstGeom prst="roundRect">
            <a:avLst>
              <a:gd name="adj" fmla="val 5000"/>
            </a:avLst>
          </a:prstGeom>
        </p:spPr>
      </p:pic>
      <p:sp>
        <p:nvSpPr>
          <p:cNvPr id="30" name="CREDIT"/>
          <p:cNvSpPr txBox="1"/>
          <p:nvPr/>
        </p:nvSpPr>
        <p:spPr>
          <a:xfrm>
            <a:off x="9601200" y="5056632"/>
            <a:ext cx="2039112" cy="219456"/>
          </a:xfrm>
          <a:prstGeom prst="rect">
            <a:avLst/>
          </a:prstGeom>
          <a:noFill/>
        </p:spPr>
        <p:txBody>
          <a:bodyPr wrap="square" anchor="t" lIns="0" tIns="0" rIns="0" bIns="0">
            <a:noAutofit/>
          </a:bodyPr>
          <a:lstStyle/>
          <a:p>
            <a:pPr algn="l"/>
            <a:r>
              <a:rPr sz="1000" b="0" i="0" lang="en-GB">
                <a:solidFill>
                  <a:srgbClr val="A9B0B8"/>
                </a:solidFill>
                <a:latin typeface="Arial"/>
              </a:rPr>
              <a:t>David Merrett, CC BY 2.0</a:t>
            </a:r>
          </a:p>
        </p:txBody>
      </p:sp>
      <p:sp>
        <p:nvSpPr>
          <p:cNvPr id="3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3"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water crane swings over the engine. Water flows down from a tank above.</a:t>
            </a:r>
          </a:p>
        </p:txBody>
      </p:sp>
      <p:sp>
        <p:nvSpPr>
          <p:cNvPr id="3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coal</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8_coaling_stage_didcot" descr="A raised coaling stage at the Great Western Society site, Didcot."/>
          <p:cNvPicPr>
            <a:picLocks noChangeAspect="1"/>
          </p:cNvPicPr>
          <p:nvPr/>
        </p:nvPicPr>
        <p:blipFill>
          <a:blip r:embed="rId2"/>
          <a:srcRect l="8636" r="12955"/>
          <a:stretch>
            <a:fillRect/>
          </a:stretch>
        </p:blipFill>
        <p:spPr>
          <a:xfrm>
            <a:off x="548640" y="1325880"/>
            <a:ext cx="4206240" cy="4023360"/>
          </a:xfrm>
          <a:prstGeom prst="roundRect">
            <a:avLst>
              <a:gd name="adj" fmla="val 1818"/>
            </a:avLst>
          </a:prstGeom>
        </p:spPr>
      </p:pic>
      <p:sp>
        <p:nvSpPr>
          <p:cNvPr id="5" name="CREDIT"/>
          <p:cNvSpPr txBox="1"/>
          <p:nvPr/>
        </p:nvSpPr>
        <p:spPr>
          <a:xfrm>
            <a:off x="548640" y="5394960"/>
            <a:ext cx="4206240" cy="219456"/>
          </a:xfrm>
          <a:prstGeom prst="rect">
            <a:avLst/>
          </a:prstGeom>
          <a:noFill/>
        </p:spPr>
        <p:txBody>
          <a:bodyPr wrap="square" anchor="t" lIns="0" tIns="0" rIns="0" bIns="0">
            <a:noAutofit/>
          </a:bodyPr>
          <a:lstStyle/>
          <a:p>
            <a:pPr algn="l"/>
            <a:r>
              <a:rPr sz="1000" b="0" i="0" lang="en-GB">
                <a:solidFill>
                  <a:srgbClr val="A9B0B8"/>
                </a:solidFill>
                <a:latin typeface="Arial"/>
              </a:rPr>
              <a:t>Gillett's Crossing, CC BY 2.0. A coaling stage, Didcot.</a:t>
            </a:r>
          </a:p>
        </p:txBody>
      </p:sp>
      <p:grpSp>
        <p:nvGrpSpPr>
          <p:cNvPr id="6" name="Coal stage and coaling tower" descr="Two ways to fill a tender with coal. A coal stage is a raised platform with a chute. A coaling tower has a hopper above the tender. Gravity does the work."/>
          <p:cNvGrpSpPr/>
          <p:nvPr/>
        </p:nvGrpSpPr>
        <p:grpSpPr>
          <a:xfrm>
            <a:off x="5029200" y="1280160"/>
            <a:ext cx="6583680" cy="4297680"/>
            <a:chOff x="5029200" y="1280160"/>
            <a:chExt cx="6583680" cy="4297680"/>
          </a:xfrm>
        </p:grpSpPr>
        <p:sp>
          <p:nvSpPr>
            <p:cNvPr id="7" name="diagram title"/>
            <p:cNvSpPr txBox="1"/>
            <p:nvPr/>
          </p:nvSpPr>
          <p:spPr>
            <a:xfrm>
              <a:off x="5029200" y="128016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 stage</a:t>
              </a:r>
            </a:p>
          </p:txBody>
        </p:sp>
        <p:sp>
          <p:nvSpPr>
            <p:cNvPr id="8" name="rail"/>
            <p:cNvSpPr/>
            <p:nvPr/>
          </p:nvSpPr>
          <p:spPr>
            <a:xfrm>
              <a:off x="5029200" y="2971800"/>
              <a:ext cx="6583680" cy="64008"/>
            </a:xfrm>
            <a:prstGeom prst="rect">
              <a:avLst/>
            </a:prstGeom>
            <a:solidFill>
              <a:srgbClr val="9AA0A6"/>
            </a:solidFill>
            <a:ln>
              <a:noFill/>
            </a:ln>
          </p:spPr>
          <p:txBody>
            <a:bodyPr rtlCol="0" anchor="ctr"/>
            <a:lstStyle/>
            <a:p>
              <a:pPr algn="ctr"/>
            </a:p>
          </p:txBody>
        </p:sp>
        <p:sp>
          <p:nvSpPr>
            <p:cNvPr id="9" name="coal heap"/>
            <p:cNvSpPr/>
            <p:nvPr/>
          </p:nvSpPr>
          <p:spPr>
            <a:xfrm>
              <a:off x="5486400" y="1645920"/>
              <a:ext cx="1920240" cy="365760"/>
            </a:xfrm>
            <a:custGeom>
              <a:avLst/>
              <a:gdLst/>
              <a:ahLst/>
              <a:cxnLst/>
              <a:rect l="l" t="t" r="r" b="b"/>
              <a:pathLst>
                <a:path w="1920240" h="365760">
                  <a:moveTo>
                    <a:pt x="0" y="365760"/>
                  </a:moveTo>
                  <a:lnTo>
                    <a:pt x="457200" y="137160"/>
                  </a:lnTo>
                  <a:lnTo>
                    <a:pt x="822960" y="0"/>
                  </a:lnTo>
                  <a:lnTo>
                    <a:pt x="1188720" y="91440"/>
                  </a:lnTo>
                  <a:lnTo>
                    <a:pt x="1554480" y="45720"/>
                  </a:lnTo>
                  <a:lnTo>
                    <a:pt x="1920240" y="365760"/>
                  </a:lnTo>
                  <a:close/>
                </a:path>
              </a:pathLst>
            </a:custGeom>
            <a:solidFill>
              <a:srgbClr val="1B1D21"/>
            </a:solidFill>
            <a:ln w="25400">
              <a:solidFill>
                <a:srgbClr val="B5BBC2"/>
              </a:solidFill>
            </a:ln>
          </p:spPr>
          <p:txBody>
            <a:bodyPr rtlCol="0" anchor="ctr"/>
            <a:lstStyle/>
            <a:p>
              <a:pPr algn="ctr"/>
            </a:p>
          </p:txBody>
        </p:sp>
        <p:sp>
          <p:nvSpPr>
            <p:cNvPr id="10" name="platform"/>
            <p:cNvSpPr/>
            <p:nvPr/>
          </p:nvSpPr>
          <p:spPr>
            <a:xfrm>
              <a:off x="5120640" y="2011680"/>
              <a:ext cx="2926080" cy="128016"/>
            </a:xfrm>
            <a:prstGeom prst="rect">
              <a:avLst/>
            </a:prstGeom>
            <a:solidFill>
              <a:srgbClr val="9AA0A6"/>
            </a:solidFill>
            <a:ln>
              <a:noFill/>
            </a:ln>
          </p:spPr>
          <p:txBody>
            <a:bodyPr rtlCol="0" anchor="ctr"/>
            <a:lstStyle/>
            <a:p>
              <a:pPr algn="ctr"/>
            </a:p>
          </p:txBody>
        </p:sp>
        <p:sp>
          <p:nvSpPr>
            <p:cNvPr id="11" name="post"/>
            <p:cNvSpPr/>
            <p:nvPr/>
          </p:nvSpPr>
          <p:spPr>
            <a:xfrm>
              <a:off x="5212080" y="2139696"/>
              <a:ext cx="91440" cy="832104"/>
            </a:xfrm>
            <a:prstGeom prst="rect">
              <a:avLst/>
            </a:prstGeom>
            <a:solidFill>
              <a:srgbClr val="9AA0A6"/>
            </a:solidFill>
            <a:ln>
              <a:noFill/>
            </a:ln>
          </p:spPr>
          <p:txBody>
            <a:bodyPr rtlCol="0" anchor="ctr"/>
            <a:lstStyle/>
            <a:p>
              <a:pPr algn="ctr"/>
            </a:p>
          </p:txBody>
        </p:sp>
        <p:sp>
          <p:nvSpPr>
            <p:cNvPr id="12" name="post"/>
            <p:cNvSpPr/>
            <p:nvPr/>
          </p:nvSpPr>
          <p:spPr>
            <a:xfrm>
              <a:off x="6126480" y="2139696"/>
              <a:ext cx="91440" cy="832104"/>
            </a:xfrm>
            <a:prstGeom prst="rect">
              <a:avLst/>
            </a:prstGeom>
            <a:solidFill>
              <a:srgbClr val="9AA0A6"/>
            </a:solidFill>
            <a:ln>
              <a:noFill/>
            </a:ln>
          </p:spPr>
          <p:txBody>
            <a:bodyPr rtlCol="0" anchor="ctr"/>
            <a:lstStyle/>
            <a:p>
              <a:pPr algn="ctr"/>
            </a:p>
          </p:txBody>
        </p:sp>
        <p:sp>
          <p:nvSpPr>
            <p:cNvPr id="13" name="post"/>
            <p:cNvSpPr/>
            <p:nvPr/>
          </p:nvSpPr>
          <p:spPr>
            <a:xfrm>
              <a:off x="7040880" y="2139696"/>
              <a:ext cx="91440" cy="832104"/>
            </a:xfrm>
            <a:prstGeom prst="rect">
              <a:avLst/>
            </a:prstGeom>
            <a:solidFill>
              <a:srgbClr val="9AA0A6"/>
            </a:solidFill>
            <a:ln>
              <a:noFill/>
            </a:ln>
          </p:spPr>
          <p:txBody>
            <a:bodyPr rtlCol="0" anchor="ctr"/>
            <a:lstStyle/>
            <a:p>
              <a:pPr algn="ctr"/>
            </a:p>
          </p:txBody>
        </p:sp>
        <p:sp>
          <p:nvSpPr>
            <p:cNvPr id="14" name="post"/>
            <p:cNvSpPr/>
            <p:nvPr/>
          </p:nvSpPr>
          <p:spPr>
            <a:xfrm>
              <a:off x="7863840" y="2139696"/>
              <a:ext cx="91440" cy="832104"/>
            </a:xfrm>
            <a:prstGeom prst="rect">
              <a:avLst/>
            </a:prstGeom>
            <a:solidFill>
              <a:srgbClr val="9AA0A6"/>
            </a:solidFill>
            <a:ln>
              <a:noFill/>
            </a:ln>
          </p:spPr>
          <p:txBody>
            <a:bodyPr rtlCol="0" anchor="ctr"/>
            <a:lstStyle/>
            <a:p>
              <a:pPr algn="ctr"/>
            </a:p>
          </p:txBody>
        </p:sp>
        <p:sp>
          <p:nvSpPr>
            <p:cNvPr id="15" name="chute"/>
            <p:cNvSpPr/>
            <p:nvPr/>
          </p:nvSpPr>
          <p:spPr>
            <a:xfrm>
              <a:off x="8046720" y="2011680"/>
              <a:ext cx="1280160" cy="493776"/>
            </a:xfrm>
            <a:custGeom>
              <a:avLst/>
              <a:gdLst/>
              <a:ahLst/>
              <a:cxnLst/>
              <a:rect l="l" t="t" r="r" b="b"/>
              <a:pathLst>
                <a:path w="1280160" h="493776">
                  <a:moveTo>
                    <a:pt x="0" y="0"/>
                  </a:moveTo>
                  <a:lnTo>
                    <a:pt x="1280160" y="365760"/>
                  </a:lnTo>
                  <a:lnTo>
                    <a:pt x="1280160" y="493776"/>
                  </a:lnTo>
                  <a:lnTo>
                    <a:pt x="0" y="128016"/>
                  </a:lnTo>
                  <a:close/>
                </a:path>
              </a:pathLst>
            </a:custGeom>
            <a:solidFill>
              <a:srgbClr val="6C7480"/>
            </a:solidFill>
            <a:ln w="19050">
              <a:solidFill>
                <a:srgbClr val="9AA0A6"/>
              </a:solidFill>
            </a:ln>
          </p:spPr>
          <p:txBody>
            <a:bodyPr rtlCol="0" anchor="ctr"/>
            <a:lstStyle/>
            <a:p>
              <a:pPr algn="ctr"/>
            </a:p>
          </p:txBody>
        </p:sp>
        <p:sp>
          <p:nvSpPr>
            <p:cNvPr id="16" name="tender"/>
            <p:cNvSpPr/>
            <p:nvPr/>
          </p:nvSpPr>
          <p:spPr>
            <a:xfrm>
              <a:off x="8412480" y="2560320"/>
              <a:ext cx="2011680" cy="411480"/>
            </a:xfrm>
            <a:prstGeom prst="roundRect">
              <a:avLst>
                <a:gd name="adj" fmla="val 8888"/>
              </a:avLst>
            </a:prstGeom>
            <a:solidFill>
              <a:srgbClr val="9AA0A6"/>
            </a:solidFill>
            <a:ln>
              <a:noFill/>
            </a:ln>
          </p:spPr>
          <p:txBody>
            <a:bodyPr rtlCol="0" anchor="ctr"/>
            <a:lstStyle/>
            <a:p>
              <a:pPr algn="ctr"/>
            </a:p>
          </p:txBody>
        </p:sp>
        <p:sp>
          <p:nvSpPr>
            <p:cNvPr id="17" name="coal in tender"/>
            <p:cNvSpPr/>
            <p:nvPr/>
          </p:nvSpPr>
          <p:spPr>
            <a:xfrm>
              <a:off x="8503920" y="2514600"/>
              <a:ext cx="1828800" cy="73152"/>
            </a:xfrm>
            <a:prstGeom prst="rect">
              <a:avLst/>
            </a:prstGeom>
            <a:solidFill>
              <a:srgbClr val="1B1D21"/>
            </a:solidFill>
            <a:ln w="12700">
              <a:solidFill>
                <a:srgbClr val="6B7078"/>
              </a:solidFill>
            </a:ln>
          </p:spPr>
          <p:txBody>
            <a:bodyPr rtlCol="0" anchor="ctr"/>
            <a:lstStyle/>
            <a:p>
              <a:pPr algn="ctr"/>
            </a:p>
          </p:txBody>
        </p:sp>
        <p:sp>
          <p:nvSpPr>
            <p:cNvPr id="18" name="wheel"/>
            <p:cNvSpPr/>
            <p:nvPr/>
          </p:nvSpPr>
          <p:spPr>
            <a:xfrm>
              <a:off x="8631936" y="2834640"/>
              <a:ext cx="292608" cy="292608"/>
            </a:xfrm>
            <a:prstGeom prst="ellipse">
              <a:avLst/>
            </a:prstGeom>
            <a:solidFill>
              <a:srgbClr val="1B1D21"/>
            </a:solidFill>
            <a:ln w="19050">
              <a:solidFill>
                <a:srgbClr val="9AA0A6"/>
              </a:solidFill>
            </a:ln>
          </p:spPr>
          <p:txBody>
            <a:bodyPr rtlCol="0" anchor="ctr"/>
            <a:lstStyle/>
            <a:p>
              <a:pPr algn="ctr"/>
            </a:p>
          </p:txBody>
        </p:sp>
        <p:sp>
          <p:nvSpPr>
            <p:cNvPr id="19" name="wheel"/>
            <p:cNvSpPr/>
            <p:nvPr/>
          </p:nvSpPr>
          <p:spPr>
            <a:xfrm>
              <a:off x="9912096" y="2834640"/>
              <a:ext cx="292608" cy="292608"/>
            </a:xfrm>
            <a:prstGeom prst="ellipse">
              <a:avLst/>
            </a:prstGeom>
            <a:solidFill>
              <a:srgbClr val="1B1D21"/>
            </a:solidFill>
            <a:ln w="19050">
              <a:solidFill>
                <a:srgbClr val="9AA0A6"/>
              </a:solidFill>
            </a:ln>
          </p:spPr>
          <p:txBody>
            <a:bodyPr rtlCol="0" anchor="ctr"/>
            <a:lstStyle/>
            <a:p>
              <a:pPr algn="ctr"/>
            </a:p>
          </p:txBody>
        </p:sp>
        <p:cxnSp>
          <p:nvCxnSpPr>
            <p:cNvPr id="20" name="gravity arrow"/>
            <p:cNvCxnSpPr/>
            <p:nvPr/>
          </p:nvCxnSpPr>
          <p:spPr>
            <a:xfrm>
              <a:off x="8366760" y="1828800"/>
              <a:ext cx="685800" cy="201168"/>
            </a:xfrm>
            <a:prstGeom prst="line">
              <a:avLst/>
            </a:prstGeom>
            <a:ln w="28575">
              <a:solidFill>
                <a:srgbClr val="F2F2F2"/>
              </a:solidFill>
              <a:tailEnd type="triangle" w="med" len="med"/>
            </a:ln>
          </p:spPr>
        </p:cxnSp>
        <p:sp>
          <p:nvSpPr>
            <p:cNvPr id="21" name="gravity label"/>
            <p:cNvSpPr txBox="1"/>
            <p:nvPr/>
          </p:nvSpPr>
          <p:spPr>
            <a:xfrm>
              <a:off x="7863840" y="1371600"/>
              <a:ext cx="1463040" cy="36576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2" name="diagram title"/>
            <p:cNvSpPr txBox="1"/>
            <p:nvPr/>
          </p:nvSpPr>
          <p:spPr>
            <a:xfrm>
              <a:off x="5029200" y="320040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Coaling tower</a:t>
              </a:r>
            </a:p>
          </p:txBody>
        </p:sp>
        <p:sp>
          <p:nvSpPr>
            <p:cNvPr id="23" name="rail"/>
            <p:cNvSpPr/>
            <p:nvPr/>
          </p:nvSpPr>
          <p:spPr>
            <a:xfrm>
              <a:off x="5029200" y="5468112"/>
              <a:ext cx="3840480" cy="64008"/>
            </a:xfrm>
            <a:prstGeom prst="rect">
              <a:avLst/>
            </a:prstGeom>
            <a:solidFill>
              <a:srgbClr val="9AA0A6"/>
            </a:solidFill>
            <a:ln>
              <a:noFill/>
            </a:ln>
          </p:spPr>
          <p:txBody>
            <a:bodyPr rtlCol="0" anchor="ctr"/>
            <a:lstStyle/>
            <a:p>
              <a:pPr algn="ctr"/>
            </a:p>
          </p:txBody>
        </p:sp>
        <p:sp>
          <p:nvSpPr>
            <p:cNvPr id="24" name="tower"/>
            <p:cNvSpPr/>
            <p:nvPr/>
          </p:nvSpPr>
          <p:spPr>
            <a:xfrm>
              <a:off x="5806440" y="3566160"/>
              <a:ext cx="914400" cy="1188720"/>
            </a:xfrm>
            <a:prstGeom prst="rect">
              <a:avLst/>
            </a:prstGeom>
            <a:solidFill>
              <a:srgbClr val="9AA0A6"/>
            </a:solidFill>
            <a:ln>
              <a:noFill/>
            </a:ln>
          </p:spPr>
          <p:txBody>
            <a:bodyPr rtlCol="0" anchor="ctr"/>
            <a:lstStyle/>
            <a:p>
              <a:pPr algn="ctr"/>
            </a:p>
          </p:txBody>
        </p:sp>
        <p:sp>
          <p:nvSpPr>
            <p:cNvPr id="25" name="tower cap"/>
            <p:cNvSpPr/>
            <p:nvPr/>
          </p:nvSpPr>
          <p:spPr>
            <a:xfrm>
              <a:off x="5897880" y="3474720"/>
              <a:ext cx="731520" cy="109728"/>
            </a:xfrm>
            <a:prstGeom prst="rect">
              <a:avLst/>
            </a:prstGeom>
            <a:solidFill>
              <a:srgbClr val="6B7078"/>
            </a:solidFill>
            <a:ln>
              <a:noFill/>
            </a:ln>
          </p:spPr>
          <p:txBody>
            <a:bodyPr rtlCol="0" anchor="ctr"/>
            <a:lstStyle/>
            <a:p>
              <a:pPr algn="ctr"/>
            </a:p>
          </p:txBody>
        </p:sp>
        <p:sp>
          <p:nvSpPr>
            <p:cNvPr id="26" name="tower window"/>
            <p:cNvSpPr/>
            <p:nvPr/>
          </p:nvSpPr>
          <p:spPr>
            <a:xfrm>
              <a:off x="5989320" y="3749039"/>
              <a:ext cx="228600" cy="274320"/>
            </a:xfrm>
            <a:prstGeom prst="rect">
              <a:avLst/>
            </a:prstGeom>
            <a:solidFill>
              <a:srgbClr val="1B1D21"/>
            </a:solidFill>
            <a:ln w="12700">
              <a:solidFill>
                <a:srgbClr val="6B7078"/>
              </a:solidFill>
            </a:ln>
          </p:spPr>
          <p:txBody>
            <a:bodyPr rtlCol="0" anchor="ctr"/>
            <a:lstStyle/>
            <a:p>
              <a:pPr algn="ctr"/>
            </a:p>
          </p:txBody>
        </p:sp>
        <p:sp>
          <p:nvSpPr>
            <p:cNvPr id="27" name="hopper"/>
            <p:cNvSpPr/>
            <p:nvPr/>
          </p:nvSpPr>
          <p:spPr>
            <a:xfrm>
              <a:off x="5806440" y="4754880"/>
              <a:ext cx="914400" cy="320040"/>
            </a:xfrm>
            <a:custGeom>
              <a:avLst/>
              <a:gdLst/>
              <a:ahLst/>
              <a:cxnLst/>
              <a:rect l="l" t="t" r="r" b="b"/>
              <a:pathLst>
                <a:path w="914400" h="320040">
                  <a:moveTo>
                    <a:pt x="0" y="0"/>
                  </a:moveTo>
                  <a:lnTo>
                    <a:pt x="914400" y="0"/>
                  </a:lnTo>
                  <a:lnTo>
                    <a:pt x="594360" y="320040"/>
                  </a:lnTo>
                  <a:lnTo>
                    <a:pt x="320040" y="320040"/>
                  </a:lnTo>
                  <a:close/>
                </a:path>
              </a:pathLst>
            </a:custGeom>
            <a:solidFill>
              <a:srgbClr val="6B7078"/>
            </a:solidFill>
            <a:ln w="19050">
              <a:solidFill>
                <a:srgbClr val="9AA0A6"/>
              </a:solidFill>
            </a:ln>
          </p:spPr>
          <p:txBody>
            <a:bodyPr rtlCol="0" anchor="ctr"/>
            <a:lstStyle/>
            <a:p>
              <a:pPr algn="ctr"/>
            </a:p>
          </p:txBody>
        </p:sp>
        <p:sp>
          <p:nvSpPr>
            <p:cNvPr id="28" name="tender"/>
            <p:cNvSpPr/>
            <p:nvPr/>
          </p:nvSpPr>
          <p:spPr>
            <a:xfrm>
              <a:off x="5257800" y="5120640"/>
              <a:ext cx="2011680" cy="347472"/>
            </a:xfrm>
            <a:prstGeom prst="roundRect">
              <a:avLst>
                <a:gd name="adj" fmla="val 10526"/>
              </a:avLst>
            </a:prstGeom>
            <a:solidFill>
              <a:srgbClr val="9AA0A6"/>
            </a:solidFill>
            <a:ln>
              <a:noFill/>
            </a:ln>
          </p:spPr>
          <p:txBody>
            <a:bodyPr rtlCol="0" anchor="ctr"/>
            <a:lstStyle/>
            <a:p>
              <a:pPr algn="ctr"/>
            </a:p>
          </p:txBody>
        </p:sp>
        <p:sp>
          <p:nvSpPr>
            <p:cNvPr id="29" name="coal in tender"/>
            <p:cNvSpPr/>
            <p:nvPr/>
          </p:nvSpPr>
          <p:spPr>
            <a:xfrm>
              <a:off x="5349240" y="5074920"/>
              <a:ext cx="1828800" cy="64008"/>
            </a:xfrm>
            <a:prstGeom prst="rect">
              <a:avLst/>
            </a:prstGeom>
            <a:solidFill>
              <a:srgbClr val="1B1D21"/>
            </a:solidFill>
            <a:ln w="12700">
              <a:solidFill>
                <a:srgbClr val="6B7078"/>
              </a:solidFill>
            </a:ln>
          </p:spPr>
          <p:txBody>
            <a:bodyPr rtlCol="0" anchor="ctr"/>
            <a:lstStyle/>
            <a:p>
              <a:pPr algn="ctr"/>
            </a:p>
          </p:txBody>
        </p:sp>
        <p:sp>
          <p:nvSpPr>
            <p:cNvPr id="30" name="wheel"/>
            <p:cNvSpPr/>
            <p:nvPr/>
          </p:nvSpPr>
          <p:spPr>
            <a:xfrm>
              <a:off x="5449824" y="5321808"/>
              <a:ext cx="256032" cy="256032"/>
            </a:xfrm>
            <a:prstGeom prst="ellipse">
              <a:avLst/>
            </a:prstGeom>
            <a:solidFill>
              <a:srgbClr val="1B1D21"/>
            </a:solidFill>
            <a:ln w="19050">
              <a:solidFill>
                <a:srgbClr val="9AA0A6"/>
              </a:solidFill>
            </a:ln>
          </p:spPr>
          <p:txBody>
            <a:bodyPr rtlCol="0" anchor="ctr"/>
            <a:lstStyle/>
            <a:p>
              <a:pPr algn="ctr"/>
            </a:p>
          </p:txBody>
        </p:sp>
        <p:sp>
          <p:nvSpPr>
            <p:cNvPr id="31" name="wheel"/>
            <p:cNvSpPr/>
            <p:nvPr/>
          </p:nvSpPr>
          <p:spPr>
            <a:xfrm>
              <a:off x="6775704" y="5321808"/>
              <a:ext cx="256032" cy="256032"/>
            </a:xfrm>
            <a:prstGeom prst="ellipse">
              <a:avLst/>
            </a:prstGeom>
            <a:solidFill>
              <a:srgbClr val="1B1D21"/>
            </a:solidFill>
            <a:ln w="19050">
              <a:solidFill>
                <a:srgbClr val="9AA0A6"/>
              </a:solidFill>
            </a:ln>
          </p:spPr>
          <p:txBody>
            <a:bodyPr rtlCol="0" anchor="ctr"/>
            <a:lstStyle/>
            <a:p>
              <a:pPr algn="ctr"/>
            </a:p>
          </p:txBody>
        </p:sp>
      </p:grpSp>
      <p:pic>
        <p:nvPicPr>
          <p:cNvPr id="32" name="P09_coaling_tower_carnforth" descr="A tall coaling tower and a water tower at Carnforth."/>
          <p:cNvPicPr>
            <a:picLocks noChangeAspect="1"/>
          </p:cNvPicPr>
          <p:nvPr/>
        </p:nvPicPr>
        <p:blipFill>
          <a:blip r:embed="rId3"/>
          <a:srcRect t="143" b="143"/>
          <a:stretch>
            <a:fillRect/>
          </a:stretch>
        </p:blipFill>
        <p:spPr>
          <a:xfrm>
            <a:off x="9418320" y="4343400"/>
            <a:ext cx="2221992" cy="841248"/>
          </a:xfrm>
          <a:prstGeom prst="roundRect">
            <a:avLst>
              <a:gd name="adj" fmla="val 8695"/>
            </a:avLst>
          </a:prstGeom>
        </p:spPr>
      </p:pic>
      <p:sp>
        <p:nvSpPr>
          <p:cNvPr id="33" name="CREDIT"/>
          <p:cNvSpPr txBox="1"/>
          <p:nvPr/>
        </p:nvSpPr>
        <p:spPr>
          <a:xfrm>
            <a:off x="9418320" y="5212080"/>
            <a:ext cx="2221992" cy="219456"/>
          </a:xfrm>
          <a:prstGeom prst="rect">
            <a:avLst/>
          </a:prstGeom>
          <a:noFill/>
        </p:spPr>
        <p:txBody>
          <a:bodyPr wrap="square" anchor="t" lIns="0" tIns="0" rIns="0" bIns="0">
            <a:noAutofit/>
          </a:bodyPr>
          <a:lstStyle/>
          <a:p>
            <a:pPr algn="l"/>
            <a:r>
              <a:rPr sz="1000" b="0" i="0" lang="en-GB">
                <a:solidFill>
                  <a:srgbClr val="A9B0B8"/>
                </a:solidFill>
                <a:latin typeface="Arial"/>
              </a:rPr>
              <a:t>kitmasterbloke, CC BY 4.0</a:t>
            </a:r>
          </a:p>
        </p:txBody>
      </p:sp>
      <p:sp>
        <p:nvSpPr>
          <p:cNvPr id="3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6"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starts higher than the tender. A ramp or tower lets gravity fill it.</a:t>
            </a:r>
          </a:p>
        </p:txBody>
      </p:sp>
      <p:sp>
        <p:nvSpPr>
          <p:cNvPr id="3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far can an engine go?</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Gauges and range card" descr="A coal gauge and a water gauge for one engine feed a card called Range left, shown as a dial with no number."/>
          <p:cNvGrpSpPr/>
          <p:nvPr/>
        </p:nvGrpSpPr>
        <p:grpSpPr>
          <a:xfrm>
            <a:off x="1097280" y="1554480"/>
            <a:ext cx="10332720" cy="3566160"/>
            <a:chOff x="1097280" y="1554480"/>
            <a:chExt cx="10332720" cy="3566160"/>
          </a:xfrm>
        </p:grpSpPr>
        <p:sp>
          <p:nvSpPr>
            <p:cNvPr id="5" name="coal gauge"/>
            <p:cNvSpPr/>
            <p:nvPr/>
          </p:nvSpPr>
          <p:spPr>
            <a:xfrm>
              <a:off x="109728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6" name="coal gauge fill"/>
            <p:cNvSpPr/>
            <p:nvPr/>
          </p:nvSpPr>
          <p:spPr>
            <a:xfrm>
              <a:off x="1152144" y="2699308"/>
              <a:ext cx="1261872" cy="1634947"/>
            </a:xfrm>
            <a:prstGeom prst="rect">
              <a:avLst/>
            </a:prstGeom>
            <a:solidFill>
              <a:srgbClr val="1B1D21"/>
            </a:solidFill>
            <a:ln w="15875">
              <a:solidFill>
                <a:srgbClr val="8A9099"/>
              </a:solidFill>
            </a:ln>
          </p:spPr>
          <p:txBody>
            <a:bodyPr rtlCol="0" anchor="ctr"/>
            <a:lstStyle/>
            <a:p>
              <a:pPr algn="ctr"/>
            </a:p>
          </p:txBody>
        </p:sp>
        <p:sp>
          <p:nvSpPr>
            <p:cNvPr id="7" name="water gauge"/>
            <p:cNvSpPr/>
            <p:nvPr/>
          </p:nvSpPr>
          <p:spPr>
            <a:xfrm>
              <a:off x="310896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8" name="water gauge fill"/>
            <p:cNvSpPr/>
            <p:nvPr/>
          </p:nvSpPr>
          <p:spPr>
            <a:xfrm>
              <a:off x="3163824" y="3244291"/>
              <a:ext cx="1261872" cy="1089964"/>
            </a:xfrm>
            <a:prstGeom prst="rect">
              <a:avLst/>
            </a:prstGeom>
            <a:solidFill>
              <a:srgbClr val="4DA3FF"/>
            </a:solidFill>
            <a:ln>
              <a:noFill/>
            </a:ln>
          </p:spPr>
          <p:txBody>
            <a:bodyPr rtlCol="0" anchor="ctr"/>
            <a:lstStyle/>
            <a:p>
              <a:pPr algn="ctr"/>
            </a:p>
          </p:txBody>
        </p:sp>
        <p:sp>
          <p:nvSpPr>
            <p:cNvPr id="9" name="gauge label"/>
            <p:cNvSpPr txBox="1"/>
            <p:nvPr/>
          </p:nvSpPr>
          <p:spPr>
            <a:xfrm>
              <a:off x="109728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0" name="gauge label"/>
            <p:cNvSpPr txBox="1"/>
            <p:nvPr/>
          </p:nvSpPr>
          <p:spPr>
            <a:xfrm>
              <a:off x="310896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1" name="flow arrow"/>
            <p:cNvCxnSpPr/>
            <p:nvPr/>
          </p:nvCxnSpPr>
          <p:spPr>
            <a:xfrm>
              <a:off x="4800600" y="2971800"/>
              <a:ext cx="1188720" cy="0"/>
            </a:xfrm>
            <a:prstGeom prst="line">
              <a:avLst/>
            </a:prstGeom>
            <a:ln w="57150">
              <a:solidFill>
                <a:srgbClr val="F28C28"/>
              </a:solidFill>
              <a:tailEnd type="triangle" w="med" len="med"/>
            </a:ln>
          </p:spPr>
        </p:cxnSp>
        <p:sp>
          <p:nvSpPr>
            <p:cNvPr id="12" name="card"/>
            <p:cNvSpPr/>
            <p:nvPr/>
          </p:nvSpPr>
          <p:spPr>
            <a:xfrm>
              <a:off x="6217920" y="1554480"/>
              <a:ext cx="5212080" cy="3566160"/>
            </a:xfrm>
            <a:prstGeom prst="roundRect">
              <a:avLst>
                <a:gd name="adj" fmla="val 2564"/>
              </a:avLst>
            </a:prstGeom>
            <a:solidFill>
              <a:srgbClr val="2B2F36"/>
            </a:solidFill>
            <a:ln w="25400">
              <a:solidFill>
                <a:srgbClr val="F28C28"/>
              </a:solidFill>
            </a:ln>
          </p:spPr>
          <p:txBody>
            <a:bodyPr rtlCol="0" anchor="ctr"/>
            <a:lstStyle/>
            <a:p>
              <a:pPr algn="ctr"/>
            </a:p>
          </p:txBody>
        </p:sp>
        <p:sp>
          <p:nvSpPr>
            <p:cNvPr id="13" name="card title"/>
            <p:cNvSpPr txBox="1"/>
            <p:nvPr/>
          </p:nvSpPr>
          <p:spPr>
            <a:xfrm>
              <a:off x="6492240" y="1691640"/>
              <a:ext cx="4663440" cy="502920"/>
            </a:xfrm>
            <a:prstGeom prst="rect">
              <a:avLst/>
            </a:prstGeom>
            <a:noFill/>
          </p:spPr>
          <p:txBody>
            <a:bodyPr wrap="square" anchor="ctr" lIns="18288" tIns="9144" rIns="18288" bIns="9144">
              <a:noAutofit/>
            </a:bodyPr>
            <a:lstStyle/>
            <a:p>
              <a:pPr algn="l"/>
              <a:r>
                <a:rPr sz="2400" b="1" i="0" lang="en-GB">
                  <a:solidFill>
                    <a:srgbClr val="F2F2F2"/>
                  </a:solidFill>
                  <a:latin typeface="Arial"/>
                </a:rPr>
                <a:t>Range left</a:t>
              </a:r>
            </a:p>
          </p:txBody>
        </p:sp>
        <p:sp>
          <p:nvSpPr>
            <p:cNvPr id="14" name="dial ring"/>
            <p:cNvSpPr/>
            <p:nvPr/>
          </p:nvSpPr>
          <p:spPr>
            <a:xfrm>
              <a:off x="7406640" y="2377440"/>
              <a:ext cx="2834640" cy="1417320"/>
            </a:xfrm>
            <a:custGeom>
              <a:avLst/>
              <a:gdLst/>
              <a:ahLst/>
              <a:cxnLst/>
              <a:rect l="l" t="t" r="r" b="b"/>
              <a:pathLst>
                <a:path w="2834640" h="1417320">
                  <a:moveTo>
                    <a:pt x="2834640" y="1417320"/>
                  </a:moveTo>
                  <a:lnTo>
                    <a:pt x="2822514" y="1232322"/>
                  </a:lnTo>
                  <a:lnTo>
                    <a:pt x="2786345" y="1050490"/>
                  </a:lnTo>
                  <a:lnTo>
                    <a:pt x="2726752" y="874935"/>
                  </a:lnTo>
                  <a:lnTo>
                    <a:pt x="2644755" y="708660"/>
                  </a:lnTo>
                  <a:lnTo>
                    <a:pt x="2541755" y="554510"/>
                  </a:lnTo>
                  <a:lnTo>
                    <a:pt x="2419516" y="415123"/>
                  </a:lnTo>
                  <a:lnTo>
                    <a:pt x="2280129" y="292884"/>
                  </a:lnTo>
                  <a:lnTo>
                    <a:pt x="2125980" y="189884"/>
                  </a:lnTo>
                  <a:lnTo>
                    <a:pt x="1959704" y="107887"/>
                  </a:lnTo>
                  <a:lnTo>
                    <a:pt x="1784149" y="48294"/>
                  </a:lnTo>
                  <a:lnTo>
                    <a:pt x="1602317" y="12125"/>
                  </a:lnTo>
                  <a:lnTo>
                    <a:pt x="1417320" y="0"/>
                  </a:lnTo>
                  <a:lnTo>
                    <a:pt x="1232322" y="12125"/>
                  </a:lnTo>
                  <a:lnTo>
                    <a:pt x="1050490" y="48294"/>
                  </a:lnTo>
                  <a:lnTo>
                    <a:pt x="874935" y="107887"/>
                  </a:lnTo>
                  <a:lnTo>
                    <a:pt x="708660" y="189884"/>
                  </a:lnTo>
                  <a:lnTo>
                    <a:pt x="554510" y="292884"/>
                  </a:lnTo>
                  <a:lnTo>
                    <a:pt x="415123" y="415123"/>
                  </a:lnTo>
                  <a:lnTo>
                    <a:pt x="292884" y="554510"/>
                  </a:lnTo>
                  <a:lnTo>
                    <a:pt x="189884" y="708660"/>
                  </a:lnTo>
                  <a:lnTo>
                    <a:pt x="107887" y="874935"/>
                  </a:lnTo>
                  <a:lnTo>
                    <a:pt x="48294" y="1050490"/>
                  </a:lnTo>
                  <a:lnTo>
                    <a:pt x="12125" y="1232322"/>
                  </a:lnTo>
                  <a:lnTo>
                    <a:pt x="0" y="1417320"/>
                  </a:lnTo>
                  <a:lnTo>
                    <a:pt x="320040" y="1417320"/>
                  </a:lnTo>
                  <a:lnTo>
                    <a:pt x="329427" y="1274096"/>
                  </a:lnTo>
                  <a:lnTo>
                    <a:pt x="357428" y="1133323"/>
                  </a:lnTo>
                  <a:lnTo>
                    <a:pt x="403565" y="997409"/>
                  </a:lnTo>
                  <a:lnTo>
                    <a:pt x="467047" y="868680"/>
                  </a:lnTo>
                  <a:lnTo>
                    <a:pt x="546789" y="749338"/>
                  </a:lnTo>
                  <a:lnTo>
                    <a:pt x="641425" y="641425"/>
                  </a:lnTo>
                  <a:lnTo>
                    <a:pt x="749338" y="546789"/>
                  </a:lnTo>
                  <a:lnTo>
                    <a:pt x="868680" y="467047"/>
                  </a:lnTo>
                  <a:lnTo>
                    <a:pt x="997409" y="403565"/>
                  </a:lnTo>
                  <a:lnTo>
                    <a:pt x="1133323" y="357428"/>
                  </a:lnTo>
                  <a:lnTo>
                    <a:pt x="1274096" y="329427"/>
                  </a:lnTo>
                  <a:lnTo>
                    <a:pt x="1417320" y="320040"/>
                  </a:lnTo>
                  <a:lnTo>
                    <a:pt x="1560543" y="329427"/>
                  </a:lnTo>
                  <a:lnTo>
                    <a:pt x="1701316" y="357428"/>
                  </a:lnTo>
                  <a:lnTo>
                    <a:pt x="1837230" y="403565"/>
                  </a:lnTo>
                  <a:lnTo>
                    <a:pt x="1965960" y="467047"/>
                  </a:lnTo>
                  <a:lnTo>
                    <a:pt x="2085301" y="546789"/>
                  </a:lnTo>
                  <a:lnTo>
                    <a:pt x="2193214" y="641425"/>
                  </a:lnTo>
                  <a:lnTo>
                    <a:pt x="2287850" y="749338"/>
                  </a:lnTo>
                  <a:lnTo>
                    <a:pt x="2367592" y="868680"/>
                  </a:lnTo>
                  <a:lnTo>
                    <a:pt x="2431074" y="997409"/>
                  </a:lnTo>
                  <a:lnTo>
                    <a:pt x="2477211" y="1133323"/>
                  </a:lnTo>
                  <a:lnTo>
                    <a:pt x="2505212" y="1274096"/>
                  </a:lnTo>
                  <a:lnTo>
                    <a:pt x="2514600" y="1417320"/>
                  </a:lnTo>
                  <a:close/>
                </a:path>
              </a:pathLst>
            </a:custGeom>
            <a:solidFill>
              <a:srgbClr val="9AA0A6"/>
            </a:solidFill>
            <a:ln>
              <a:noFill/>
            </a:ln>
          </p:spPr>
          <p:txBody>
            <a:bodyPr rtlCol="0" anchor="ctr"/>
            <a:lstStyle/>
            <a:p>
              <a:pPr algn="ctr"/>
            </a:p>
          </p:txBody>
        </p:sp>
        <p:cxnSp>
          <p:nvCxnSpPr>
            <p:cNvPr id="15" name="tick"/>
            <p:cNvCxnSpPr/>
            <p:nvPr/>
          </p:nvCxnSpPr>
          <p:spPr>
            <a:xfrm flipH="1">
              <a:off x="7744968" y="3794760"/>
              <a:ext cx="146304" cy="0"/>
            </a:xfrm>
            <a:prstGeom prst="line">
              <a:avLst/>
            </a:prstGeom>
            <a:ln w="31750">
              <a:solidFill>
                <a:srgbClr val="F2F2F2"/>
              </a:solidFill>
            </a:ln>
          </p:spPr>
        </p:cxnSp>
        <p:cxnSp>
          <p:nvCxnSpPr>
            <p:cNvPr id="16" name="tick"/>
            <p:cNvCxnSpPr/>
            <p:nvPr/>
          </p:nvCxnSpPr>
          <p:spPr>
            <a:xfrm flipH="1" flipV="1">
              <a:off x="8060997" y="3031797"/>
              <a:ext cx="103452" cy="103452"/>
            </a:xfrm>
            <a:prstGeom prst="line">
              <a:avLst/>
            </a:prstGeom>
            <a:ln w="31750">
              <a:solidFill>
                <a:srgbClr val="F2F2F2"/>
              </a:solidFill>
            </a:ln>
          </p:spPr>
        </p:cxnSp>
        <p:cxnSp>
          <p:nvCxnSpPr>
            <p:cNvPr id="17" name="tick"/>
            <p:cNvCxnSpPr/>
            <p:nvPr/>
          </p:nvCxnSpPr>
          <p:spPr>
            <a:xfrm flipV="1">
              <a:off x="8823960" y="2715768"/>
              <a:ext cx="0" cy="146304"/>
            </a:xfrm>
            <a:prstGeom prst="line">
              <a:avLst/>
            </a:prstGeom>
            <a:ln w="31750">
              <a:solidFill>
                <a:srgbClr val="F2F2F2"/>
              </a:solidFill>
            </a:ln>
          </p:spPr>
        </p:cxnSp>
        <p:cxnSp>
          <p:nvCxnSpPr>
            <p:cNvPr id="18" name="tick"/>
            <p:cNvCxnSpPr/>
            <p:nvPr/>
          </p:nvCxnSpPr>
          <p:spPr>
            <a:xfrm flipV="1">
              <a:off x="9483470" y="3031797"/>
              <a:ext cx="103452" cy="103452"/>
            </a:xfrm>
            <a:prstGeom prst="line">
              <a:avLst/>
            </a:prstGeom>
            <a:ln w="31750">
              <a:solidFill>
                <a:srgbClr val="F2F2F2"/>
              </a:solidFill>
            </a:ln>
          </p:spPr>
        </p:cxnSp>
        <p:cxnSp>
          <p:nvCxnSpPr>
            <p:cNvPr id="19" name="tick"/>
            <p:cNvCxnSpPr/>
            <p:nvPr/>
          </p:nvCxnSpPr>
          <p:spPr>
            <a:xfrm>
              <a:off x="9756648" y="3794760"/>
              <a:ext cx="146304" cy="0"/>
            </a:xfrm>
            <a:prstGeom prst="line">
              <a:avLst/>
            </a:prstGeom>
            <a:ln w="31750">
              <a:solidFill>
                <a:srgbClr val="F2F2F2"/>
              </a:solidFill>
            </a:ln>
          </p:spPr>
        </p:cxnSp>
        <p:cxnSp>
          <p:nvCxnSpPr>
            <p:cNvPr id="20" name="needle"/>
            <p:cNvCxnSpPr/>
            <p:nvPr/>
          </p:nvCxnSpPr>
          <p:spPr>
            <a:xfrm flipV="1">
              <a:off x="8823960" y="3002866"/>
              <a:ext cx="457200" cy="791894"/>
            </a:xfrm>
            <a:prstGeom prst="line">
              <a:avLst/>
            </a:prstGeom>
            <a:ln w="63500">
              <a:solidFill>
                <a:srgbClr val="F28C28"/>
              </a:solidFill>
            </a:ln>
          </p:spPr>
        </p:cxnSp>
        <p:sp>
          <p:nvSpPr>
            <p:cNvPr id="21" name="hub"/>
            <p:cNvSpPr/>
            <p:nvPr/>
          </p:nvSpPr>
          <p:spPr>
            <a:xfrm>
              <a:off x="8695944" y="3666744"/>
              <a:ext cx="256032" cy="256032"/>
            </a:xfrm>
            <a:prstGeom prst="ellipse">
              <a:avLst/>
            </a:prstGeom>
            <a:solidFill>
              <a:srgbClr val="F28C28"/>
            </a:solidFill>
            <a:ln>
              <a:noFill/>
            </a:ln>
          </p:spPr>
          <p:txBody>
            <a:bodyPr rtlCol="0" anchor="ctr"/>
            <a:lstStyle/>
            <a:p>
              <a:pPr algn="ctr"/>
            </a:p>
          </p:txBody>
        </p:sp>
        <p:sp>
          <p:nvSpPr>
            <p:cNvPr id="22" name="ICHIP"/>
            <p:cNvSpPr/>
            <p:nvPr/>
          </p:nvSpPr>
          <p:spPr>
            <a:xfrm>
              <a:off x="6720840" y="4434840"/>
              <a:ext cx="420624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Range estimate: Agreed direction</a:t>
              </a:r>
            </a:p>
          </p:txBody>
        </p:sp>
      </p:grpSp>
      <p:sp>
        <p:nvSpPr>
          <p:cNvPr id="2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Range comes from real tank sizes and real use, not a distance countdown.</a:t>
            </a:r>
          </a:p>
        </p:txBody>
      </p:sp>
      <p:sp>
        <p:nvSpPr>
          <p:cNvPr id="2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C7FF"/>
      </a:hlink>
      <a:folHlink>
        <a:srgbClr val="C9B2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Coal, Water and Servicing, Explained</dc:title>
  <dc:subject>Read-alone explainer deck 3 for the Early Locomotion mod for Satisfactory</dc:subject>
  <dc:creator>Claude (Early Locomotion project)</dc:creator>
  <cp:keywords>Satisfactory; Early Locomotion; steam; coal; water; servicing</cp:keywords>
  <dc:description>generated using python-pptx</dc:description>
  <cp:lastModifiedBy>Claude (Early Locomotion project)</cp:lastModifiedBy>
  <cp:revision>1</cp:revision>
  <dcterms:created xsi:type="dcterms:W3CDTF">2013-01-27T09:14:16Z</dcterms:created>
  <dcterms:modified xsi:type="dcterms:W3CDTF">2013-01-27T09:15:58Z</dcterms:modified>
  <cp:category/>
  <dc:language>en-GB</dc:language>
</cp:coreProperties>
</file>