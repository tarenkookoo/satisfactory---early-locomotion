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1417320"/>
            <a:ext cx="6035040" cy="1828800"/>
          </a:xfrm>
        </p:spPr>
        <p:txBody>
          <a:bodyPr wrap="square" anchor="b" lIns="0" rIns="0" tIns="0" bIns="0">
            <a:noAutofit/>
          </a:bodyPr>
          <a:lstStyle/>
          <a:p>
            <a:pPr algn="l"/>
            <a:r>
              <a:rPr sz="5400" b="1" i="0" lang="en-GB">
                <a:solidFill>
                  <a:srgbClr val="F2F2F2"/>
                </a:solidFill>
                <a:latin typeface="Arial"/>
              </a:rPr>
              <a:t>Coal, Water and Servicing</a:t>
            </a:r>
          </a:p>
        </p:txBody>
      </p:sp>
      <p:pic>
        <p:nvPicPr>
          <p:cNvPr id="3" name="P17_coal_stage_water_tank_didcot" descr="A coal stage and a water tank at Didcot Railway Centre."/>
          <p:cNvPicPr>
            <a:picLocks noChangeAspect="1"/>
          </p:cNvPicPr>
          <p:nvPr/>
        </p:nvPicPr>
        <p:blipFill>
          <a:blip r:embed="rId2"/>
          <a:srcRect l="33812" r="20724"/>
          <a:stretch>
            <a:fillRect/>
          </a:stretch>
        </p:blipFill>
        <p:spPr>
          <a:xfrm>
            <a:off x="6903720" y="457200"/>
            <a:ext cx="4736592" cy="5852160"/>
          </a:xfrm>
          <a:prstGeom prst="roundRect">
            <a:avLst>
              <a:gd name="adj" fmla="val 1544"/>
            </a:avLst>
          </a:prstGeom>
        </p:spPr>
      </p:pic>
      <p:sp>
        <p:nvSpPr>
          <p:cNvPr id="4" name="CREDIT"/>
          <p:cNvSpPr txBox="1"/>
          <p:nvPr/>
        </p:nvSpPr>
        <p:spPr>
          <a:xfrm>
            <a:off x="6903720" y="6364224"/>
            <a:ext cx="4736592" cy="201168"/>
          </a:xfrm>
          <a:prstGeom prst="rect">
            <a:avLst/>
          </a:prstGeom>
          <a:noFill/>
        </p:spPr>
        <p:txBody>
          <a:bodyPr wrap="square" anchor="t" lIns="0" tIns="0" rIns="0" bIns="0">
            <a:noAutofit/>
          </a:bodyPr>
          <a:lstStyle/>
          <a:p>
            <a:pPr algn="l"/>
            <a:r>
              <a:rPr sz="1000" b="0" i="0" lang="en-GB">
                <a:solidFill>
                  <a:srgbClr val="A9B0B8"/>
                </a:solidFill>
                <a:latin typeface="Arial"/>
              </a:rPr>
              <a:t>Rosser1954, CC BY-SA 4.0. Coal stage and water tank, Didcot.</a:t>
            </a:r>
          </a:p>
        </p:txBody>
      </p:sp>
      <p:sp>
        <p:nvSpPr>
          <p:cNvPr id="5" name="orange rule"/>
          <p:cNvSpPr/>
          <p:nvPr/>
        </p:nvSpPr>
        <p:spPr>
          <a:xfrm>
            <a:off x="548640" y="3429000"/>
            <a:ext cx="1645920" cy="73152"/>
          </a:xfrm>
          <a:prstGeom prst="rect">
            <a:avLst/>
          </a:prstGeom>
          <a:solidFill>
            <a:srgbClr val="F28C28"/>
          </a:solidFill>
          <a:ln>
            <a:noFill/>
          </a:ln>
        </p:spPr>
        <p:txBody>
          <a:bodyPr rtlCol="0" anchor="ctr"/>
          <a:lstStyle/>
          <a:p>
            <a:pPr algn="ctr"/>
          </a:p>
        </p:txBody>
      </p:sp>
      <p:sp>
        <p:nvSpPr>
          <p:cNvPr id="6" name="CAPTION"/>
          <p:cNvSpPr txBox="1"/>
          <p:nvPr/>
        </p:nvSpPr>
        <p:spPr>
          <a:xfrm>
            <a:off x="548640" y="3703320"/>
            <a:ext cx="5943600" cy="1188720"/>
          </a:xfrm>
          <a:prstGeom prst="rect">
            <a:avLst/>
          </a:prstGeom>
          <a:noFill/>
        </p:spPr>
        <p:txBody>
          <a:bodyPr wrap="square" anchor="t" lIns="0" tIns="0" rIns="0" bIns="0">
            <a:noAutofit/>
          </a:bodyPr>
          <a:lstStyle/>
          <a:p>
            <a:pPr algn="l"/>
            <a:r>
              <a:rPr sz="2000" b="0" i="0" lang="en-GB">
                <a:solidFill>
                  <a:srgbClr val="F2F2F2"/>
                </a:solidFill>
                <a:latin typeface="Arial"/>
              </a:rPr>
              <a:t>How steam locomotives eat, drink and get serviced, and how the mod plans to do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to read this guide</a:t>
            </a:r>
          </a:p>
        </p:txBody>
      </p:sp>
      <p:grpSp>
        <p:nvGrpSpPr>
          <p:cNvPr id="3" name="Tag legend" descr="Legend: five tags and what each means. Agreed is decided, Proposed is suggested, Provisional is a test number, Undecided is an open question, Background is a real-world fact."/>
          <p:cNvGrpSpPr/>
          <p:nvPr/>
        </p:nvGrpSpPr>
        <p:grpSpPr>
          <a:xfrm>
            <a:off x="548640" y="1371600"/>
            <a:ext cx="7315200" cy="4206240"/>
            <a:chOff x="548640" y="1371600"/>
            <a:chExt cx="7315200" cy="4206240"/>
          </a:xfrm>
        </p:grpSpPr>
        <p:sp>
          <p:nvSpPr>
            <p:cNvPr id="4" name="legend panel"/>
            <p:cNvSpPr/>
            <p:nvPr/>
          </p:nvSpPr>
          <p:spPr>
            <a:xfrm>
              <a:off x="548640" y="1371600"/>
              <a:ext cx="7315200" cy="4206240"/>
            </a:xfrm>
            <a:prstGeom prst="roundRect">
              <a:avLst>
                <a:gd name="adj" fmla="val 1739"/>
              </a:avLst>
            </a:prstGeom>
            <a:solidFill>
              <a:srgbClr val="2B2F36"/>
            </a:solidFill>
            <a:ln>
              <a:noFill/>
            </a:ln>
          </p:spPr>
          <p:txBody>
            <a:bodyPr rtlCol="0" anchor="ctr"/>
            <a:lstStyle/>
            <a:p>
              <a:pPr algn="ctr"/>
            </a:p>
          </p:txBody>
        </p:sp>
        <p:sp>
          <p:nvSpPr>
            <p:cNvPr id="5" name="CHIP LEGEND"/>
            <p:cNvSpPr/>
            <p:nvPr/>
          </p:nvSpPr>
          <p:spPr>
            <a:xfrm>
              <a:off x="868680" y="1572768"/>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sp>
          <p:nvSpPr>
            <p:cNvPr id="6" name="LEGEND TEXT"/>
            <p:cNvSpPr txBox="1"/>
            <p:nvPr/>
          </p:nvSpPr>
          <p:spPr>
            <a:xfrm>
              <a:off x="2743200" y="1481328"/>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Decided.</a:t>
              </a:r>
            </a:p>
          </p:txBody>
        </p:sp>
        <p:sp>
          <p:nvSpPr>
            <p:cNvPr id="7" name="CHIP LEGEND"/>
            <p:cNvSpPr/>
            <p:nvPr/>
          </p:nvSpPr>
          <p:spPr>
            <a:xfrm>
              <a:off x="868680" y="2359152"/>
              <a:ext cx="1554480" cy="365760"/>
            </a:xfrm>
            <a:prstGeom prst="roundRect">
              <a:avLst>
                <a:gd name="adj" fmla="val 300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8" name="LEGEND TEXT"/>
            <p:cNvSpPr txBox="1"/>
            <p:nvPr/>
          </p:nvSpPr>
          <p:spPr>
            <a:xfrm>
              <a:off x="2743200" y="2267712"/>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Suggested, not confirmed.</a:t>
              </a:r>
            </a:p>
          </p:txBody>
        </p:sp>
        <p:sp>
          <p:nvSpPr>
            <p:cNvPr id="9" name="CHIP LEGEND"/>
            <p:cNvSpPr/>
            <p:nvPr/>
          </p:nvSpPr>
          <p:spPr>
            <a:xfrm>
              <a:off x="868680" y="3145536"/>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10" name="LEGEND TEXT"/>
            <p:cNvSpPr txBox="1"/>
            <p:nvPr/>
          </p:nvSpPr>
          <p:spPr>
            <a:xfrm>
              <a:off x="2743200" y="3054096"/>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test number that may change.</a:t>
              </a:r>
            </a:p>
          </p:txBody>
        </p:sp>
        <p:sp>
          <p:nvSpPr>
            <p:cNvPr id="11" name="CHIP LEGEND"/>
            <p:cNvSpPr/>
            <p:nvPr/>
          </p:nvSpPr>
          <p:spPr>
            <a:xfrm>
              <a:off x="868680" y="3931920"/>
              <a:ext cx="1554480" cy="365760"/>
            </a:xfrm>
            <a:prstGeom prst="roundRect">
              <a:avLst>
                <a:gd name="adj" fmla="val 30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sp>
          <p:nvSpPr>
            <p:cNvPr id="12" name="LEGEND TEXT"/>
            <p:cNvSpPr txBox="1"/>
            <p:nvPr/>
          </p:nvSpPr>
          <p:spPr>
            <a:xfrm>
              <a:off x="2743200" y="3840480"/>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Still an open question.</a:t>
              </a:r>
            </a:p>
          </p:txBody>
        </p:sp>
        <p:sp>
          <p:nvSpPr>
            <p:cNvPr id="13" name="CHIP LEGEND"/>
            <p:cNvSpPr/>
            <p:nvPr/>
          </p:nvSpPr>
          <p:spPr>
            <a:xfrm>
              <a:off x="868680" y="4718304"/>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sp>
          <p:nvSpPr>
            <p:cNvPr id="14" name="LEGEND TEXT"/>
            <p:cNvSpPr txBox="1"/>
            <p:nvPr/>
          </p:nvSpPr>
          <p:spPr>
            <a:xfrm>
              <a:off x="2743200" y="4626864"/>
              <a:ext cx="4937760" cy="548640"/>
            </a:xfrm>
            <a:prstGeom prst="rect">
              <a:avLst/>
            </a:prstGeom>
            <a:noFill/>
          </p:spPr>
          <p:txBody>
            <a:bodyPr wrap="square" anchor="ctr" lIns="18288" tIns="9144" rIns="18288" bIns="9144">
              <a:noAutofit/>
            </a:bodyPr>
            <a:lstStyle/>
            <a:p>
              <a:pPr algn="l"/>
              <a:r>
                <a:rPr sz="2000" b="0" i="0" lang="en-GB">
                  <a:solidFill>
                    <a:srgbClr val="F2F2F2"/>
                  </a:solidFill>
                  <a:latin typeface="Arial"/>
                </a:rPr>
                <a:t>A real-world fact.</a:t>
              </a:r>
            </a:p>
          </p:txBody>
        </p:sp>
      </p:grpSp>
      <p:grpSp>
        <p:nvGrpSpPr>
          <p:cNvPr id="15" name="Corner sketch" descr="Sketch of a slide with a tag in its top-right corner."/>
          <p:cNvGrpSpPr/>
          <p:nvPr/>
        </p:nvGrpSpPr>
        <p:grpSpPr>
          <a:xfrm>
            <a:off x="8412480" y="1737360"/>
            <a:ext cx="3200400" cy="1801368"/>
            <a:chOff x="8412480" y="1737360"/>
            <a:chExt cx="3200400" cy="1801368"/>
          </a:xfrm>
        </p:grpSpPr>
        <p:sp>
          <p:nvSpPr>
            <p:cNvPr id="16" name="slide sketch"/>
            <p:cNvSpPr/>
            <p:nvPr/>
          </p:nvSpPr>
          <p:spPr>
            <a:xfrm>
              <a:off x="8412480" y="1737360"/>
              <a:ext cx="3200400" cy="1801368"/>
            </a:xfrm>
            <a:prstGeom prst="roundRect">
              <a:avLst>
                <a:gd name="adj" fmla="val 4060"/>
              </a:avLst>
            </a:prstGeom>
            <a:solidFill>
              <a:srgbClr val="1E2126"/>
            </a:solidFill>
            <a:ln w="25400">
              <a:solidFill>
                <a:srgbClr val="9AA0A6"/>
              </a:solidFill>
            </a:ln>
          </p:spPr>
          <p:txBody>
            <a:bodyPr rtlCol="0" anchor="ctr"/>
            <a:lstStyle/>
            <a:p>
              <a:pPr algn="ctr"/>
            </a:p>
          </p:txBody>
        </p:sp>
        <p:sp>
          <p:nvSpPr>
            <p:cNvPr id="17" name="title line"/>
            <p:cNvSpPr/>
            <p:nvPr/>
          </p:nvSpPr>
          <p:spPr>
            <a:xfrm>
              <a:off x="8641080" y="1965960"/>
              <a:ext cx="1371600" cy="109728"/>
            </a:xfrm>
            <a:prstGeom prst="rect">
              <a:avLst/>
            </a:prstGeom>
            <a:solidFill>
              <a:srgbClr val="4A515B"/>
            </a:solidFill>
            <a:ln>
              <a:noFill/>
            </a:ln>
          </p:spPr>
          <p:txBody>
            <a:bodyPr rtlCol="0" anchor="ctr"/>
            <a:lstStyle/>
            <a:p>
              <a:pPr algn="ctr"/>
            </a:p>
          </p:txBody>
        </p:sp>
        <p:sp>
          <p:nvSpPr>
            <p:cNvPr id="18" name="body line"/>
            <p:cNvSpPr/>
            <p:nvPr/>
          </p:nvSpPr>
          <p:spPr>
            <a:xfrm>
              <a:off x="8641080" y="2286000"/>
              <a:ext cx="2011680" cy="73152"/>
            </a:xfrm>
            <a:prstGeom prst="rect">
              <a:avLst/>
            </a:prstGeom>
            <a:solidFill>
              <a:srgbClr val="4A515B"/>
            </a:solidFill>
            <a:ln>
              <a:noFill/>
            </a:ln>
          </p:spPr>
          <p:txBody>
            <a:bodyPr rtlCol="0" anchor="ctr"/>
            <a:lstStyle/>
            <a:p>
              <a:pPr algn="ctr"/>
            </a:p>
          </p:txBody>
        </p:sp>
        <p:sp>
          <p:nvSpPr>
            <p:cNvPr id="19" name="body line"/>
            <p:cNvSpPr/>
            <p:nvPr/>
          </p:nvSpPr>
          <p:spPr>
            <a:xfrm>
              <a:off x="8641080" y="2468880"/>
              <a:ext cx="1645920" cy="73152"/>
            </a:xfrm>
            <a:prstGeom prst="rect">
              <a:avLst/>
            </a:prstGeom>
            <a:solidFill>
              <a:srgbClr val="4A515B"/>
            </a:solidFill>
            <a:ln>
              <a:noFill/>
            </a:ln>
          </p:spPr>
          <p:txBody>
            <a:bodyPr rtlCol="0" anchor="ctr"/>
            <a:lstStyle/>
            <a:p>
              <a:pPr algn="ctr"/>
            </a:p>
          </p:txBody>
        </p:sp>
        <p:sp>
          <p:nvSpPr>
            <p:cNvPr id="20" name="tag sketch"/>
            <p:cNvSpPr/>
            <p:nvPr/>
          </p:nvSpPr>
          <p:spPr>
            <a:xfrm>
              <a:off x="10698480" y="1920240"/>
              <a:ext cx="731520" cy="237744"/>
            </a:xfrm>
            <a:prstGeom prst="roundRect">
              <a:avLst>
                <a:gd name="adj" fmla="val 30769"/>
              </a:avLst>
            </a:prstGeom>
            <a:solidFill>
              <a:srgbClr val="3FB950"/>
            </a:solidFill>
            <a:ln>
              <a:noFill/>
            </a:ln>
          </p:spPr>
          <p:txBody>
            <a:bodyPr rtlCol="0" anchor="ctr"/>
            <a:lstStyle/>
            <a:p>
              <a:pPr algn="ctr"/>
            </a:p>
          </p:txBody>
        </p:sp>
        <p:cxnSp>
          <p:nvCxnSpPr>
            <p:cNvPr id="21" name="pointer"/>
            <p:cNvCxnSpPr/>
            <p:nvPr/>
          </p:nvCxnSpPr>
          <p:spPr>
            <a:xfrm flipV="1">
              <a:off x="10058400" y="2194560"/>
              <a:ext cx="822960" cy="548640"/>
            </a:xfrm>
            <a:prstGeom prst="line">
              <a:avLst/>
            </a:prstGeom>
            <a:ln w="28575">
              <a:solidFill>
                <a:srgbClr val="F28C28"/>
              </a:solidFill>
              <a:tailEnd type="triangle" w="med" len="med"/>
            </a:ln>
          </p:spPr>
        </p:cxnSp>
      </p:grpSp>
      <p:sp>
        <p:nvSpPr>
          <p:cNvPr id="22"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3"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4"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idea carries a tag in the top-right corner.</a:t>
            </a:r>
          </a:p>
        </p:txBody>
      </p:sp>
      <p:sp>
        <p:nvSpPr>
          <p:cNvPr id="25"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What an engine needs</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grpSp>
        <p:nvGrpSpPr>
          <p:cNvPr id="4" name="Engine cutaway" descr="Side cutaway of a steam engine. Coal burns in the firebox and heats water in the boiler. Steam drives a piston and rods turn the wheels. Water is fed into the boiler."/>
          <p:cNvGrpSpPr/>
          <p:nvPr/>
        </p:nvGrpSpPr>
        <p:grpSpPr>
          <a:xfrm>
            <a:off x="1097280" y="850392"/>
            <a:ext cx="9509760" cy="4590288"/>
            <a:chOff x="1097280" y="850392"/>
            <a:chExt cx="9509760" cy="4590288"/>
          </a:xfrm>
        </p:grpSpPr>
        <p:sp>
          <p:nvSpPr>
            <p:cNvPr id="5" name="rail"/>
            <p:cNvSpPr/>
            <p:nvPr/>
          </p:nvSpPr>
          <p:spPr>
            <a:xfrm>
              <a:off x="1097280" y="5285232"/>
              <a:ext cx="9144000" cy="64008"/>
            </a:xfrm>
            <a:prstGeom prst="rect">
              <a:avLst/>
            </a:prstGeom>
            <a:solidFill>
              <a:srgbClr val="9AA0A6"/>
            </a:solidFill>
            <a:ln>
              <a:noFill/>
            </a:ln>
          </p:spPr>
          <p:txBody>
            <a:bodyPr rtlCol="0" anchor="ctr"/>
            <a:lstStyle/>
            <a:p>
              <a:pPr algn="ctr"/>
            </a:p>
          </p:txBody>
        </p:sp>
        <p:sp>
          <p:nvSpPr>
            <p:cNvPr id="6" name="sleeper"/>
            <p:cNvSpPr/>
            <p:nvPr/>
          </p:nvSpPr>
          <p:spPr>
            <a:xfrm>
              <a:off x="1188720" y="5349240"/>
              <a:ext cx="109728" cy="91440"/>
            </a:xfrm>
            <a:prstGeom prst="rect">
              <a:avLst/>
            </a:prstGeom>
            <a:solidFill>
              <a:srgbClr val="6B5B4B"/>
            </a:solidFill>
            <a:ln>
              <a:noFill/>
            </a:ln>
          </p:spPr>
          <p:txBody>
            <a:bodyPr rtlCol="0" anchor="ctr"/>
            <a:lstStyle/>
            <a:p>
              <a:pPr algn="ctr"/>
            </a:p>
          </p:txBody>
        </p:sp>
        <p:sp>
          <p:nvSpPr>
            <p:cNvPr id="7" name="sleeper"/>
            <p:cNvSpPr/>
            <p:nvPr/>
          </p:nvSpPr>
          <p:spPr>
            <a:xfrm>
              <a:off x="1554480" y="5349240"/>
              <a:ext cx="109728" cy="91440"/>
            </a:xfrm>
            <a:prstGeom prst="rect">
              <a:avLst/>
            </a:prstGeom>
            <a:solidFill>
              <a:srgbClr val="6B5B4B"/>
            </a:solidFill>
            <a:ln>
              <a:noFill/>
            </a:ln>
          </p:spPr>
          <p:txBody>
            <a:bodyPr rtlCol="0" anchor="ctr"/>
            <a:lstStyle/>
            <a:p>
              <a:pPr algn="ctr"/>
            </a:p>
          </p:txBody>
        </p:sp>
        <p:sp>
          <p:nvSpPr>
            <p:cNvPr id="8" name="sleeper"/>
            <p:cNvSpPr/>
            <p:nvPr/>
          </p:nvSpPr>
          <p:spPr>
            <a:xfrm>
              <a:off x="1920240" y="5349240"/>
              <a:ext cx="109728" cy="91440"/>
            </a:xfrm>
            <a:prstGeom prst="rect">
              <a:avLst/>
            </a:prstGeom>
            <a:solidFill>
              <a:srgbClr val="6B5B4B"/>
            </a:solidFill>
            <a:ln>
              <a:noFill/>
            </a:ln>
          </p:spPr>
          <p:txBody>
            <a:bodyPr rtlCol="0" anchor="ctr"/>
            <a:lstStyle/>
            <a:p>
              <a:pPr algn="ctr"/>
            </a:p>
          </p:txBody>
        </p:sp>
        <p:sp>
          <p:nvSpPr>
            <p:cNvPr id="9" name="sleeper"/>
            <p:cNvSpPr/>
            <p:nvPr/>
          </p:nvSpPr>
          <p:spPr>
            <a:xfrm>
              <a:off x="2286000" y="5349240"/>
              <a:ext cx="109728" cy="91440"/>
            </a:xfrm>
            <a:prstGeom prst="rect">
              <a:avLst/>
            </a:prstGeom>
            <a:solidFill>
              <a:srgbClr val="6B5B4B"/>
            </a:solidFill>
            <a:ln>
              <a:noFill/>
            </a:ln>
          </p:spPr>
          <p:txBody>
            <a:bodyPr rtlCol="0" anchor="ctr"/>
            <a:lstStyle/>
            <a:p>
              <a:pPr algn="ctr"/>
            </a:p>
          </p:txBody>
        </p:sp>
        <p:sp>
          <p:nvSpPr>
            <p:cNvPr id="10" name="sleeper"/>
            <p:cNvSpPr/>
            <p:nvPr/>
          </p:nvSpPr>
          <p:spPr>
            <a:xfrm>
              <a:off x="2651760" y="5349240"/>
              <a:ext cx="109728" cy="91440"/>
            </a:xfrm>
            <a:prstGeom prst="rect">
              <a:avLst/>
            </a:prstGeom>
            <a:solidFill>
              <a:srgbClr val="6B5B4B"/>
            </a:solidFill>
            <a:ln>
              <a:noFill/>
            </a:ln>
          </p:spPr>
          <p:txBody>
            <a:bodyPr rtlCol="0" anchor="ctr"/>
            <a:lstStyle/>
            <a:p>
              <a:pPr algn="ctr"/>
            </a:p>
          </p:txBody>
        </p:sp>
        <p:sp>
          <p:nvSpPr>
            <p:cNvPr id="11" name="sleeper"/>
            <p:cNvSpPr/>
            <p:nvPr/>
          </p:nvSpPr>
          <p:spPr>
            <a:xfrm>
              <a:off x="3017520" y="5349240"/>
              <a:ext cx="109728" cy="91440"/>
            </a:xfrm>
            <a:prstGeom prst="rect">
              <a:avLst/>
            </a:prstGeom>
            <a:solidFill>
              <a:srgbClr val="6B5B4B"/>
            </a:solidFill>
            <a:ln>
              <a:noFill/>
            </a:ln>
          </p:spPr>
          <p:txBody>
            <a:bodyPr rtlCol="0" anchor="ctr"/>
            <a:lstStyle/>
            <a:p>
              <a:pPr algn="ctr"/>
            </a:p>
          </p:txBody>
        </p:sp>
        <p:sp>
          <p:nvSpPr>
            <p:cNvPr id="12" name="sleeper"/>
            <p:cNvSpPr/>
            <p:nvPr/>
          </p:nvSpPr>
          <p:spPr>
            <a:xfrm>
              <a:off x="3383280" y="5349240"/>
              <a:ext cx="109728" cy="91440"/>
            </a:xfrm>
            <a:prstGeom prst="rect">
              <a:avLst/>
            </a:prstGeom>
            <a:solidFill>
              <a:srgbClr val="6B5B4B"/>
            </a:solidFill>
            <a:ln>
              <a:noFill/>
            </a:ln>
          </p:spPr>
          <p:txBody>
            <a:bodyPr rtlCol="0" anchor="ctr"/>
            <a:lstStyle/>
            <a:p>
              <a:pPr algn="ctr"/>
            </a:p>
          </p:txBody>
        </p:sp>
        <p:sp>
          <p:nvSpPr>
            <p:cNvPr id="13" name="sleeper"/>
            <p:cNvSpPr/>
            <p:nvPr/>
          </p:nvSpPr>
          <p:spPr>
            <a:xfrm>
              <a:off x="3749040" y="5349240"/>
              <a:ext cx="109728" cy="91440"/>
            </a:xfrm>
            <a:prstGeom prst="rect">
              <a:avLst/>
            </a:prstGeom>
            <a:solidFill>
              <a:srgbClr val="6B5B4B"/>
            </a:solidFill>
            <a:ln>
              <a:noFill/>
            </a:ln>
          </p:spPr>
          <p:txBody>
            <a:bodyPr rtlCol="0" anchor="ctr"/>
            <a:lstStyle/>
            <a:p>
              <a:pPr algn="ctr"/>
            </a:p>
          </p:txBody>
        </p:sp>
        <p:sp>
          <p:nvSpPr>
            <p:cNvPr id="14" name="sleeper"/>
            <p:cNvSpPr/>
            <p:nvPr/>
          </p:nvSpPr>
          <p:spPr>
            <a:xfrm>
              <a:off x="4114800" y="5349240"/>
              <a:ext cx="109728" cy="91440"/>
            </a:xfrm>
            <a:prstGeom prst="rect">
              <a:avLst/>
            </a:prstGeom>
            <a:solidFill>
              <a:srgbClr val="6B5B4B"/>
            </a:solidFill>
            <a:ln>
              <a:noFill/>
            </a:ln>
          </p:spPr>
          <p:txBody>
            <a:bodyPr rtlCol="0" anchor="ctr"/>
            <a:lstStyle/>
            <a:p>
              <a:pPr algn="ctr"/>
            </a:p>
          </p:txBody>
        </p:sp>
        <p:sp>
          <p:nvSpPr>
            <p:cNvPr id="15" name="sleeper"/>
            <p:cNvSpPr/>
            <p:nvPr/>
          </p:nvSpPr>
          <p:spPr>
            <a:xfrm>
              <a:off x="4480560" y="5349240"/>
              <a:ext cx="109728" cy="91440"/>
            </a:xfrm>
            <a:prstGeom prst="rect">
              <a:avLst/>
            </a:prstGeom>
            <a:solidFill>
              <a:srgbClr val="6B5B4B"/>
            </a:solidFill>
            <a:ln>
              <a:noFill/>
            </a:ln>
          </p:spPr>
          <p:txBody>
            <a:bodyPr rtlCol="0" anchor="ctr"/>
            <a:lstStyle/>
            <a:p>
              <a:pPr algn="ctr"/>
            </a:p>
          </p:txBody>
        </p:sp>
        <p:sp>
          <p:nvSpPr>
            <p:cNvPr id="16" name="sleeper"/>
            <p:cNvSpPr/>
            <p:nvPr/>
          </p:nvSpPr>
          <p:spPr>
            <a:xfrm>
              <a:off x="4846320" y="5349240"/>
              <a:ext cx="109728" cy="91440"/>
            </a:xfrm>
            <a:prstGeom prst="rect">
              <a:avLst/>
            </a:prstGeom>
            <a:solidFill>
              <a:srgbClr val="6B5B4B"/>
            </a:solidFill>
            <a:ln>
              <a:noFill/>
            </a:ln>
          </p:spPr>
          <p:txBody>
            <a:bodyPr rtlCol="0" anchor="ctr"/>
            <a:lstStyle/>
            <a:p>
              <a:pPr algn="ctr"/>
            </a:p>
          </p:txBody>
        </p:sp>
        <p:sp>
          <p:nvSpPr>
            <p:cNvPr id="17" name="sleeper"/>
            <p:cNvSpPr/>
            <p:nvPr/>
          </p:nvSpPr>
          <p:spPr>
            <a:xfrm>
              <a:off x="5212080" y="5349240"/>
              <a:ext cx="109728" cy="91440"/>
            </a:xfrm>
            <a:prstGeom prst="rect">
              <a:avLst/>
            </a:prstGeom>
            <a:solidFill>
              <a:srgbClr val="6B5B4B"/>
            </a:solidFill>
            <a:ln>
              <a:noFill/>
            </a:ln>
          </p:spPr>
          <p:txBody>
            <a:bodyPr rtlCol="0" anchor="ctr"/>
            <a:lstStyle/>
            <a:p>
              <a:pPr algn="ctr"/>
            </a:p>
          </p:txBody>
        </p:sp>
        <p:sp>
          <p:nvSpPr>
            <p:cNvPr id="18" name="sleeper"/>
            <p:cNvSpPr/>
            <p:nvPr/>
          </p:nvSpPr>
          <p:spPr>
            <a:xfrm>
              <a:off x="5577840" y="5349240"/>
              <a:ext cx="109728" cy="91440"/>
            </a:xfrm>
            <a:prstGeom prst="rect">
              <a:avLst/>
            </a:prstGeom>
            <a:solidFill>
              <a:srgbClr val="6B5B4B"/>
            </a:solidFill>
            <a:ln>
              <a:noFill/>
            </a:ln>
          </p:spPr>
          <p:txBody>
            <a:bodyPr rtlCol="0" anchor="ctr"/>
            <a:lstStyle/>
            <a:p>
              <a:pPr algn="ctr"/>
            </a:p>
          </p:txBody>
        </p:sp>
        <p:sp>
          <p:nvSpPr>
            <p:cNvPr id="19" name="sleeper"/>
            <p:cNvSpPr/>
            <p:nvPr/>
          </p:nvSpPr>
          <p:spPr>
            <a:xfrm>
              <a:off x="5943600" y="5349240"/>
              <a:ext cx="109728" cy="91440"/>
            </a:xfrm>
            <a:prstGeom prst="rect">
              <a:avLst/>
            </a:prstGeom>
            <a:solidFill>
              <a:srgbClr val="6B5B4B"/>
            </a:solidFill>
            <a:ln>
              <a:noFill/>
            </a:ln>
          </p:spPr>
          <p:txBody>
            <a:bodyPr rtlCol="0" anchor="ctr"/>
            <a:lstStyle/>
            <a:p>
              <a:pPr algn="ctr"/>
            </a:p>
          </p:txBody>
        </p:sp>
        <p:sp>
          <p:nvSpPr>
            <p:cNvPr id="20" name="sleeper"/>
            <p:cNvSpPr/>
            <p:nvPr/>
          </p:nvSpPr>
          <p:spPr>
            <a:xfrm>
              <a:off x="6309360" y="5349240"/>
              <a:ext cx="109728" cy="91440"/>
            </a:xfrm>
            <a:prstGeom prst="rect">
              <a:avLst/>
            </a:prstGeom>
            <a:solidFill>
              <a:srgbClr val="6B5B4B"/>
            </a:solidFill>
            <a:ln>
              <a:noFill/>
            </a:ln>
          </p:spPr>
          <p:txBody>
            <a:bodyPr rtlCol="0" anchor="ctr"/>
            <a:lstStyle/>
            <a:p>
              <a:pPr algn="ctr"/>
            </a:p>
          </p:txBody>
        </p:sp>
        <p:sp>
          <p:nvSpPr>
            <p:cNvPr id="21" name="sleeper"/>
            <p:cNvSpPr/>
            <p:nvPr/>
          </p:nvSpPr>
          <p:spPr>
            <a:xfrm>
              <a:off x="6675120" y="5349240"/>
              <a:ext cx="109728" cy="91440"/>
            </a:xfrm>
            <a:prstGeom prst="rect">
              <a:avLst/>
            </a:prstGeom>
            <a:solidFill>
              <a:srgbClr val="6B5B4B"/>
            </a:solidFill>
            <a:ln>
              <a:noFill/>
            </a:ln>
          </p:spPr>
          <p:txBody>
            <a:bodyPr rtlCol="0" anchor="ctr"/>
            <a:lstStyle/>
            <a:p>
              <a:pPr algn="ctr"/>
            </a:p>
          </p:txBody>
        </p:sp>
        <p:sp>
          <p:nvSpPr>
            <p:cNvPr id="22" name="sleeper"/>
            <p:cNvSpPr/>
            <p:nvPr/>
          </p:nvSpPr>
          <p:spPr>
            <a:xfrm>
              <a:off x="7040880" y="5349240"/>
              <a:ext cx="109728" cy="91440"/>
            </a:xfrm>
            <a:prstGeom prst="rect">
              <a:avLst/>
            </a:prstGeom>
            <a:solidFill>
              <a:srgbClr val="6B5B4B"/>
            </a:solidFill>
            <a:ln>
              <a:noFill/>
            </a:ln>
          </p:spPr>
          <p:txBody>
            <a:bodyPr rtlCol="0" anchor="ctr"/>
            <a:lstStyle/>
            <a:p>
              <a:pPr algn="ctr"/>
            </a:p>
          </p:txBody>
        </p:sp>
        <p:sp>
          <p:nvSpPr>
            <p:cNvPr id="23" name="sleeper"/>
            <p:cNvSpPr/>
            <p:nvPr/>
          </p:nvSpPr>
          <p:spPr>
            <a:xfrm>
              <a:off x="7406640" y="5349240"/>
              <a:ext cx="109728" cy="91440"/>
            </a:xfrm>
            <a:prstGeom prst="rect">
              <a:avLst/>
            </a:prstGeom>
            <a:solidFill>
              <a:srgbClr val="6B5B4B"/>
            </a:solidFill>
            <a:ln>
              <a:noFill/>
            </a:ln>
          </p:spPr>
          <p:txBody>
            <a:bodyPr rtlCol="0" anchor="ctr"/>
            <a:lstStyle/>
            <a:p>
              <a:pPr algn="ctr"/>
            </a:p>
          </p:txBody>
        </p:sp>
        <p:sp>
          <p:nvSpPr>
            <p:cNvPr id="24" name="sleeper"/>
            <p:cNvSpPr/>
            <p:nvPr/>
          </p:nvSpPr>
          <p:spPr>
            <a:xfrm>
              <a:off x="7772400" y="5349240"/>
              <a:ext cx="109728" cy="91440"/>
            </a:xfrm>
            <a:prstGeom prst="rect">
              <a:avLst/>
            </a:prstGeom>
            <a:solidFill>
              <a:srgbClr val="6B5B4B"/>
            </a:solidFill>
            <a:ln>
              <a:noFill/>
            </a:ln>
          </p:spPr>
          <p:txBody>
            <a:bodyPr rtlCol="0" anchor="ctr"/>
            <a:lstStyle/>
            <a:p>
              <a:pPr algn="ctr"/>
            </a:p>
          </p:txBody>
        </p:sp>
        <p:sp>
          <p:nvSpPr>
            <p:cNvPr id="25" name="sleeper"/>
            <p:cNvSpPr/>
            <p:nvPr/>
          </p:nvSpPr>
          <p:spPr>
            <a:xfrm>
              <a:off x="8138160" y="5349240"/>
              <a:ext cx="109728" cy="91440"/>
            </a:xfrm>
            <a:prstGeom prst="rect">
              <a:avLst/>
            </a:prstGeom>
            <a:solidFill>
              <a:srgbClr val="6B5B4B"/>
            </a:solidFill>
            <a:ln>
              <a:noFill/>
            </a:ln>
          </p:spPr>
          <p:txBody>
            <a:bodyPr rtlCol="0" anchor="ctr"/>
            <a:lstStyle/>
            <a:p>
              <a:pPr algn="ctr"/>
            </a:p>
          </p:txBody>
        </p:sp>
        <p:sp>
          <p:nvSpPr>
            <p:cNvPr id="26" name="sleeper"/>
            <p:cNvSpPr/>
            <p:nvPr/>
          </p:nvSpPr>
          <p:spPr>
            <a:xfrm>
              <a:off x="8503920" y="5349240"/>
              <a:ext cx="109728" cy="91440"/>
            </a:xfrm>
            <a:prstGeom prst="rect">
              <a:avLst/>
            </a:prstGeom>
            <a:solidFill>
              <a:srgbClr val="6B5B4B"/>
            </a:solidFill>
            <a:ln>
              <a:noFill/>
            </a:ln>
          </p:spPr>
          <p:txBody>
            <a:bodyPr rtlCol="0" anchor="ctr"/>
            <a:lstStyle/>
            <a:p>
              <a:pPr algn="ctr"/>
            </a:p>
          </p:txBody>
        </p:sp>
        <p:sp>
          <p:nvSpPr>
            <p:cNvPr id="27" name="sleeper"/>
            <p:cNvSpPr/>
            <p:nvPr/>
          </p:nvSpPr>
          <p:spPr>
            <a:xfrm>
              <a:off x="8869680" y="5349240"/>
              <a:ext cx="109728" cy="91440"/>
            </a:xfrm>
            <a:prstGeom prst="rect">
              <a:avLst/>
            </a:prstGeom>
            <a:solidFill>
              <a:srgbClr val="6B5B4B"/>
            </a:solidFill>
            <a:ln>
              <a:noFill/>
            </a:ln>
          </p:spPr>
          <p:txBody>
            <a:bodyPr rtlCol="0" anchor="ctr"/>
            <a:lstStyle/>
            <a:p>
              <a:pPr algn="ctr"/>
            </a:p>
          </p:txBody>
        </p:sp>
        <p:sp>
          <p:nvSpPr>
            <p:cNvPr id="28" name="sleeper"/>
            <p:cNvSpPr/>
            <p:nvPr/>
          </p:nvSpPr>
          <p:spPr>
            <a:xfrm>
              <a:off x="9235440" y="5349240"/>
              <a:ext cx="109728" cy="91440"/>
            </a:xfrm>
            <a:prstGeom prst="rect">
              <a:avLst/>
            </a:prstGeom>
            <a:solidFill>
              <a:srgbClr val="6B5B4B"/>
            </a:solidFill>
            <a:ln>
              <a:noFill/>
            </a:ln>
          </p:spPr>
          <p:txBody>
            <a:bodyPr rtlCol="0" anchor="ctr"/>
            <a:lstStyle/>
            <a:p>
              <a:pPr algn="ctr"/>
            </a:p>
          </p:txBody>
        </p:sp>
        <p:sp>
          <p:nvSpPr>
            <p:cNvPr id="29" name="sleeper"/>
            <p:cNvSpPr/>
            <p:nvPr/>
          </p:nvSpPr>
          <p:spPr>
            <a:xfrm>
              <a:off x="9601200" y="5349240"/>
              <a:ext cx="109728" cy="91440"/>
            </a:xfrm>
            <a:prstGeom prst="rect">
              <a:avLst/>
            </a:prstGeom>
            <a:solidFill>
              <a:srgbClr val="6B5B4B"/>
            </a:solidFill>
            <a:ln>
              <a:noFill/>
            </a:ln>
          </p:spPr>
          <p:txBody>
            <a:bodyPr rtlCol="0" anchor="ctr"/>
            <a:lstStyle/>
            <a:p>
              <a:pPr algn="ctr"/>
            </a:p>
          </p:txBody>
        </p:sp>
        <p:sp>
          <p:nvSpPr>
            <p:cNvPr id="30" name="sleeper"/>
            <p:cNvSpPr/>
            <p:nvPr/>
          </p:nvSpPr>
          <p:spPr>
            <a:xfrm>
              <a:off x="9966960" y="5349240"/>
              <a:ext cx="109728" cy="91440"/>
            </a:xfrm>
            <a:prstGeom prst="rect">
              <a:avLst/>
            </a:prstGeom>
            <a:solidFill>
              <a:srgbClr val="6B5B4B"/>
            </a:solidFill>
            <a:ln>
              <a:noFill/>
            </a:ln>
          </p:spPr>
          <p:txBody>
            <a:bodyPr rtlCol="0" anchor="ctr"/>
            <a:lstStyle/>
            <a:p>
              <a:pPr algn="ctr"/>
            </a:p>
          </p:txBody>
        </p:sp>
        <p:sp>
          <p:nvSpPr>
            <p:cNvPr id="31" name="cab"/>
            <p:cNvSpPr/>
            <p:nvPr/>
          </p:nvSpPr>
          <p:spPr>
            <a:xfrm>
              <a:off x="1371600" y="1993391"/>
              <a:ext cx="1371600" cy="1737360"/>
            </a:xfrm>
            <a:prstGeom prst="rect">
              <a:avLst/>
            </a:prstGeom>
            <a:solidFill>
              <a:srgbClr val="343A43"/>
            </a:solidFill>
            <a:ln w="25400">
              <a:solidFill>
                <a:srgbClr val="9AA0A6"/>
              </a:solidFill>
            </a:ln>
          </p:spPr>
          <p:txBody>
            <a:bodyPr rtlCol="0" anchor="ctr"/>
            <a:lstStyle/>
            <a:p>
              <a:pPr algn="ctr"/>
            </a:p>
          </p:txBody>
        </p:sp>
        <p:sp>
          <p:nvSpPr>
            <p:cNvPr id="32" name="cab roof"/>
            <p:cNvSpPr/>
            <p:nvPr/>
          </p:nvSpPr>
          <p:spPr>
            <a:xfrm>
              <a:off x="1261872" y="1883664"/>
              <a:ext cx="1591056" cy="128016"/>
            </a:xfrm>
            <a:prstGeom prst="rect">
              <a:avLst/>
            </a:prstGeom>
            <a:solidFill>
              <a:srgbClr val="9AA0A6"/>
            </a:solidFill>
            <a:ln>
              <a:noFill/>
            </a:ln>
          </p:spPr>
          <p:txBody>
            <a:bodyPr rtlCol="0" anchor="ctr"/>
            <a:lstStyle/>
            <a:p>
              <a:pPr algn="ctr"/>
            </a:p>
          </p:txBody>
        </p:sp>
        <p:sp>
          <p:nvSpPr>
            <p:cNvPr id="33" name="cab window"/>
            <p:cNvSpPr/>
            <p:nvPr/>
          </p:nvSpPr>
          <p:spPr>
            <a:xfrm>
              <a:off x="1600200" y="2267712"/>
              <a:ext cx="502920" cy="502920"/>
            </a:xfrm>
            <a:prstGeom prst="rect">
              <a:avLst/>
            </a:prstGeom>
            <a:solidFill>
              <a:srgbClr val="1B1D21"/>
            </a:solidFill>
            <a:ln w="12700">
              <a:solidFill>
                <a:srgbClr val="6B7078"/>
              </a:solidFill>
            </a:ln>
          </p:spPr>
          <p:txBody>
            <a:bodyPr rtlCol="0" anchor="ctr"/>
            <a:lstStyle/>
            <a:p>
              <a:pPr algn="ctr"/>
            </a:p>
          </p:txBody>
        </p:sp>
        <p:sp>
          <p:nvSpPr>
            <p:cNvPr id="34" name="boiler shell"/>
            <p:cNvSpPr/>
            <p:nvPr/>
          </p:nvSpPr>
          <p:spPr>
            <a:xfrm>
              <a:off x="2743200" y="2450591"/>
              <a:ext cx="6035040" cy="1280160"/>
            </a:xfrm>
            <a:prstGeom prst="roundRect">
              <a:avLst>
                <a:gd name="adj" fmla="val 17857"/>
              </a:avLst>
            </a:prstGeom>
            <a:solidFill>
              <a:srgbClr val="4F5762"/>
            </a:solidFill>
            <a:ln w="31750">
              <a:solidFill>
                <a:srgbClr val="9AA0A6"/>
              </a:solidFill>
            </a:ln>
          </p:spPr>
          <p:txBody>
            <a:bodyPr rtlCol="0" anchor="ctr"/>
            <a:lstStyle/>
            <a:p>
              <a:pPr algn="ctr"/>
            </a:p>
          </p:txBody>
        </p:sp>
        <p:sp>
          <p:nvSpPr>
            <p:cNvPr id="35" name="water"/>
            <p:cNvSpPr/>
            <p:nvPr/>
          </p:nvSpPr>
          <p:spPr>
            <a:xfrm>
              <a:off x="3291840" y="2999232"/>
              <a:ext cx="5394960" cy="640080"/>
            </a:xfrm>
            <a:prstGeom prst="roundRect">
              <a:avLst>
                <a:gd name="adj" fmla="val 21428"/>
              </a:avLst>
            </a:prstGeom>
            <a:solidFill>
              <a:srgbClr val="4DA3FF"/>
            </a:solidFill>
            <a:ln>
              <a:noFill/>
            </a:ln>
          </p:spPr>
          <p:txBody>
            <a:bodyPr rtlCol="0" anchor="ctr"/>
            <a:lstStyle/>
            <a:p>
              <a:pPr algn="ctr"/>
            </a:p>
          </p:txBody>
        </p:sp>
        <p:sp>
          <p:nvSpPr>
            <p:cNvPr id="36" name="smokebox"/>
            <p:cNvSpPr/>
            <p:nvPr/>
          </p:nvSpPr>
          <p:spPr>
            <a:xfrm>
              <a:off x="8686800" y="2450591"/>
              <a:ext cx="822960" cy="1280160"/>
            </a:xfrm>
            <a:prstGeom prst="roundRect">
              <a:avLst>
                <a:gd name="adj" fmla="val 13333"/>
              </a:avLst>
            </a:prstGeom>
            <a:solidFill>
              <a:srgbClr val="6B7078"/>
            </a:solidFill>
            <a:ln w="25400">
              <a:solidFill>
                <a:srgbClr val="9AA0A6"/>
              </a:solidFill>
            </a:ln>
          </p:spPr>
          <p:txBody>
            <a:bodyPr rtlCol="0" anchor="ctr"/>
            <a:lstStyle/>
            <a:p>
              <a:pPr algn="ctr"/>
            </a:p>
          </p:txBody>
        </p:sp>
        <p:sp>
          <p:nvSpPr>
            <p:cNvPr id="37" name="chimney"/>
            <p:cNvSpPr/>
            <p:nvPr/>
          </p:nvSpPr>
          <p:spPr>
            <a:xfrm>
              <a:off x="8732520" y="1581912"/>
              <a:ext cx="731520" cy="868679"/>
            </a:xfrm>
            <a:custGeom>
              <a:avLst/>
              <a:gdLst/>
              <a:ahLst/>
              <a:cxnLst/>
              <a:rect l="l" t="t" r="r" b="b"/>
              <a:pathLst>
                <a:path w="731520" h="868679">
                  <a:moveTo>
                    <a:pt x="137160" y="868679"/>
                  </a:moveTo>
                  <a:lnTo>
                    <a:pt x="137160" y="274320"/>
                  </a:lnTo>
                  <a:lnTo>
                    <a:pt x="0" y="0"/>
                  </a:lnTo>
                  <a:lnTo>
                    <a:pt x="731520" y="0"/>
                  </a:lnTo>
                  <a:lnTo>
                    <a:pt x="594360" y="274320"/>
                  </a:lnTo>
                  <a:lnTo>
                    <a:pt x="594360" y="868679"/>
                  </a:lnTo>
                  <a:close/>
                </a:path>
              </a:pathLst>
            </a:custGeom>
            <a:solidFill>
              <a:srgbClr val="3A3F47"/>
            </a:solidFill>
            <a:ln w="25400">
              <a:solidFill>
                <a:srgbClr val="9AA0A6"/>
              </a:solidFill>
            </a:ln>
          </p:spPr>
          <p:txBody>
            <a:bodyPr rtlCol="0" anchor="ctr"/>
            <a:lstStyle/>
            <a:p>
              <a:pPr algn="ctr"/>
            </a:p>
          </p:txBody>
        </p:sp>
        <p:sp>
          <p:nvSpPr>
            <p:cNvPr id="38" name="dome"/>
            <p:cNvSpPr/>
            <p:nvPr/>
          </p:nvSpPr>
          <p:spPr>
            <a:xfrm>
              <a:off x="4937760" y="2249424"/>
              <a:ext cx="822960" cy="237744"/>
            </a:xfrm>
            <a:prstGeom prst="roundRect">
              <a:avLst>
                <a:gd name="adj" fmla="val 38461"/>
              </a:avLst>
            </a:prstGeom>
            <a:solidFill>
              <a:srgbClr val="9AA0A6"/>
            </a:solidFill>
            <a:ln>
              <a:noFill/>
            </a:ln>
          </p:spPr>
          <p:txBody>
            <a:bodyPr rtlCol="0" anchor="ctr"/>
            <a:lstStyle/>
            <a:p>
              <a:pPr algn="ctr"/>
            </a:p>
          </p:txBody>
        </p:sp>
        <p:sp>
          <p:nvSpPr>
            <p:cNvPr id="39" name="puff"/>
            <p:cNvSpPr/>
            <p:nvPr/>
          </p:nvSpPr>
          <p:spPr>
            <a:xfrm>
              <a:off x="8961120" y="1216152"/>
              <a:ext cx="502920" cy="274320"/>
            </a:xfrm>
            <a:prstGeom prst="ellipse">
              <a:avLst/>
            </a:prstGeom>
            <a:solidFill>
              <a:srgbClr val="F2F2F2">
                <a:alpha val="85000"/>
              </a:srgbClr>
            </a:solidFill>
            <a:ln>
              <a:noFill/>
            </a:ln>
          </p:spPr>
          <p:txBody>
            <a:bodyPr rtlCol="0" anchor="ctr"/>
            <a:lstStyle/>
            <a:p>
              <a:pPr algn="ctr"/>
            </a:p>
          </p:txBody>
        </p:sp>
        <p:sp>
          <p:nvSpPr>
            <p:cNvPr id="40" name="puff"/>
            <p:cNvSpPr/>
            <p:nvPr/>
          </p:nvSpPr>
          <p:spPr>
            <a:xfrm>
              <a:off x="9189720" y="850392"/>
              <a:ext cx="685800" cy="347472"/>
            </a:xfrm>
            <a:prstGeom prst="ellipse">
              <a:avLst/>
            </a:prstGeom>
            <a:solidFill>
              <a:srgbClr val="F2F2F2">
                <a:alpha val="85000"/>
              </a:srgbClr>
            </a:solidFill>
            <a:ln>
              <a:noFill/>
            </a:ln>
          </p:spPr>
          <p:txBody>
            <a:bodyPr rtlCol="0" anchor="ctr"/>
            <a:lstStyle/>
            <a:p>
              <a:pPr algn="ctr"/>
            </a:p>
          </p:txBody>
        </p:sp>
        <p:sp>
          <p:nvSpPr>
            <p:cNvPr id="41" name="firebox"/>
            <p:cNvSpPr/>
            <p:nvPr/>
          </p:nvSpPr>
          <p:spPr>
            <a:xfrm>
              <a:off x="1554480" y="2724912"/>
              <a:ext cx="1645920" cy="1005840"/>
            </a:xfrm>
            <a:prstGeom prst="roundRect">
              <a:avLst>
                <a:gd name="adj" fmla="val 7272"/>
              </a:avLst>
            </a:prstGeom>
            <a:solidFill>
              <a:srgbClr val="F28C28"/>
            </a:solidFill>
            <a:ln>
              <a:noFill/>
            </a:ln>
          </p:spPr>
          <p:txBody>
            <a:bodyPr rtlCol="0" anchor="ctr"/>
            <a:lstStyle/>
            <a:p>
              <a:pPr algn="ctr"/>
            </a:p>
          </p:txBody>
        </p:sp>
        <p:sp>
          <p:nvSpPr>
            <p:cNvPr id="42" name="coal on grate"/>
            <p:cNvSpPr/>
            <p:nvPr/>
          </p:nvSpPr>
          <p:spPr>
            <a:xfrm>
              <a:off x="1737360" y="3328415"/>
              <a:ext cx="1325880" cy="402337"/>
            </a:xfrm>
            <a:custGeom>
              <a:avLst/>
              <a:gdLst/>
              <a:ahLst/>
              <a:cxnLst/>
              <a:rect l="l" t="t" r="r" b="b"/>
              <a:pathLst>
                <a:path w="1325880" h="402337">
                  <a:moveTo>
                    <a:pt x="0" y="402337"/>
                  </a:moveTo>
                  <a:lnTo>
                    <a:pt x="228600" y="109729"/>
                  </a:lnTo>
                  <a:lnTo>
                    <a:pt x="502920" y="0"/>
                  </a:lnTo>
                  <a:lnTo>
                    <a:pt x="777240" y="109729"/>
                  </a:lnTo>
                  <a:lnTo>
                    <a:pt x="1051560" y="54865"/>
                  </a:lnTo>
                  <a:lnTo>
                    <a:pt x="1325880" y="402337"/>
                  </a:lnTo>
                  <a:close/>
                </a:path>
              </a:pathLst>
            </a:custGeom>
            <a:solidFill>
              <a:srgbClr val="1B1D21"/>
            </a:solidFill>
            <a:ln w="15875">
              <a:solidFill>
                <a:srgbClr val="6B7078"/>
              </a:solidFill>
            </a:ln>
          </p:spPr>
          <p:txBody>
            <a:bodyPr rtlCol="0" anchor="ctr"/>
            <a:lstStyle/>
            <a:p>
              <a:pPr algn="ctr"/>
            </a:p>
          </p:txBody>
        </p:sp>
        <p:sp>
          <p:nvSpPr>
            <p:cNvPr id="43" name="steam path"/>
            <p:cNvSpPr/>
            <p:nvPr/>
          </p:nvSpPr>
          <p:spPr>
            <a:xfrm>
              <a:off x="5943600" y="2724912"/>
              <a:ext cx="3154680" cy="1188720"/>
            </a:xfrm>
            <a:custGeom>
              <a:avLst/>
              <a:gdLst/>
              <a:ahLst/>
              <a:cxnLst/>
              <a:rect l="l" t="t" r="r" b="b"/>
              <a:pathLst>
                <a:path w="3154680" h="1188720">
                  <a:moveTo>
                    <a:pt x="0" y="0"/>
                  </a:moveTo>
                  <a:lnTo>
                    <a:pt x="3154680" y="0"/>
                  </a:lnTo>
                  <a:lnTo>
                    <a:pt x="3154680" y="1188720"/>
                  </a:lnTo>
                </a:path>
              </a:pathLst>
            </a:custGeom>
            <a:noFill/>
            <a:ln w="38100">
              <a:solidFill>
                <a:srgbClr val="F2F2F2"/>
              </a:solidFill>
              <a:tailEnd type="triangle" w="med" len="med"/>
            </a:ln>
          </p:spPr>
          <p:txBody>
            <a:bodyPr rtlCol="0" anchor="ctr"/>
            <a:lstStyle/>
            <a:p>
              <a:pPr algn="ctr"/>
            </a:p>
          </p:txBody>
        </p:sp>
        <p:sp>
          <p:nvSpPr>
            <p:cNvPr id="44" name="cylinder"/>
            <p:cNvSpPr/>
            <p:nvPr/>
          </p:nvSpPr>
          <p:spPr>
            <a:xfrm>
              <a:off x="8503920" y="3959352"/>
              <a:ext cx="1005840" cy="502920"/>
            </a:xfrm>
            <a:prstGeom prst="roundRect">
              <a:avLst>
                <a:gd name="adj" fmla="val 18181"/>
              </a:avLst>
            </a:prstGeom>
            <a:solidFill>
              <a:srgbClr val="9AA0A6"/>
            </a:solidFill>
            <a:ln>
              <a:noFill/>
            </a:ln>
          </p:spPr>
          <p:txBody>
            <a:bodyPr rtlCol="0" anchor="ctr"/>
            <a:lstStyle/>
            <a:p>
              <a:pPr algn="ctr"/>
            </a:p>
          </p:txBody>
        </p:sp>
        <p:sp>
          <p:nvSpPr>
            <p:cNvPr id="45" name="piston head"/>
            <p:cNvSpPr/>
            <p:nvPr/>
          </p:nvSpPr>
          <p:spPr>
            <a:xfrm>
              <a:off x="8686800" y="4023360"/>
              <a:ext cx="128016" cy="374904"/>
            </a:xfrm>
            <a:prstGeom prst="rect">
              <a:avLst/>
            </a:prstGeom>
            <a:solidFill>
              <a:srgbClr val="F2F2F2"/>
            </a:solidFill>
            <a:ln>
              <a:noFill/>
            </a:ln>
          </p:spPr>
          <p:txBody>
            <a:bodyPr rtlCol="0" anchor="ctr"/>
            <a:lstStyle/>
            <a:p>
              <a:pPr algn="ctr"/>
            </a:p>
          </p:txBody>
        </p:sp>
        <p:sp>
          <p:nvSpPr>
            <p:cNvPr id="46" name="piston rod"/>
            <p:cNvSpPr/>
            <p:nvPr/>
          </p:nvSpPr>
          <p:spPr>
            <a:xfrm>
              <a:off x="7589520" y="4187952"/>
              <a:ext cx="1097280" cy="91440"/>
            </a:xfrm>
            <a:prstGeom prst="rect">
              <a:avLst/>
            </a:prstGeom>
            <a:solidFill>
              <a:srgbClr val="D0D4D8"/>
            </a:solidFill>
            <a:ln>
              <a:noFill/>
            </a:ln>
          </p:spPr>
          <p:txBody>
            <a:bodyPr rtlCol="0" anchor="ctr"/>
            <a:lstStyle/>
            <a:p>
              <a:pPr algn="ctr"/>
            </a:p>
          </p:txBody>
        </p:sp>
        <p:sp>
          <p:nvSpPr>
            <p:cNvPr id="47" name="crosshead"/>
            <p:cNvSpPr/>
            <p:nvPr/>
          </p:nvSpPr>
          <p:spPr>
            <a:xfrm>
              <a:off x="7516367" y="4096512"/>
              <a:ext cx="146304" cy="274320"/>
            </a:xfrm>
            <a:prstGeom prst="rect">
              <a:avLst/>
            </a:prstGeom>
            <a:solidFill>
              <a:srgbClr val="9AA0A6"/>
            </a:solidFill>
            <a:ln>
              <a:noFill/>
            </a:ln>
          </p:spPr>
          <p:txBody>
            <a:bodyPr rtlCol="0" anchor="ctr"/>
            <a:lstStyle/>
            <a:p>
              <a:pPr algn="ctr"/>
            </a:p>
          </p:txBody>
        </p:sp>
        <p:sp>
          <p:nvSpPr>
            <p:cNvPr id="48" name="wheel"/>
            <p:cNvSpPr/>
            <p:nvPr/>
          </p:nvSpPr>
          <p:spPr>
            <a:xfrm>
              <a:off x="29718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49" name="hub"/>
            <p:cNvSpPr/>
            <p:nvPr/>
          </p:nvSpPr>
          <p:spPr>
            <a:xfrm>
              <a:off x="3383279" y="4690872"/>
              <a:ext cx="182880" cy="182880"/>
            </a:xfrm>
            <a:prstGeom prst="ellipse">
              <a:avLst/>
            </a:prstGeom>
            <a:solidFill>
              <a:srgbClr val="9AA0A6"/>
            </a:solidFill>
            <a:ln>
              <a:noFill/>
            </a:ln>
          </p:spPr>
          <p:txBody>
            <a:bodyPr rtlCol="0" anchor="ctr"/>
            <a:lstStyle/>
            <a:p>
              <a:pPr algn="ctr"/>
            </a:p>
          </p:txBody>
        </p:sp>
        <p:sp>
          <p:nvSpPr>
            <p:cNvPr id="50" name="wheel"/>
            <p:cNvSpPr/>
            <p:nvPr/>
          </p:nvSpPr>
          <p:spPr>
            <a:xfrm>
              <a:off x="43434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51" name="hub"/>
            <p:cNvSpPr/>
            <p:nvPr/>
          </p:nvSpPr>
          <p:spPr>
            <a:xfrm>
              <a:off x="4754880" y="4690872"/>
              <a:ext cx="182880" cy="182880"/>
            </a:xfrm>
            <a:prstGeom prst="ellipse">
              <a:avLst/>
            </a:prstGeom>
            <a:solidFill>
              <a:srgbClr val="9AA0A6"/>
            </a:solidFill>
            <a:ln>
              <a:noFill/>
            </a:ln>
          </p:spPr>
          <p:txBody>
            <a:bodyPr rtlCol="0" anchor="ctr"/>
            <a:lstStyle/>
            <a:p>
              <a:pPr algn="ctr"/>
            </a:p>
          </p:txBody>
        </p:sp>
        <p:sp>
          <p:nvSpPr>
            <p:cNvPr id="52" name="wheel"/>
            <p:cNvSpPr/>
            <p:nvPr/>
          </p:nvSpPr>
          <p:spPr>
            <a:xfrm>
              <a:off x="5715000" y="4279392"/>
              <a:ext cx="1005840" cy="1005840"/>
            </a:xfrm>
            <a:prstGeom prst="ellipse">
              <a:avLst/>
            </a:prstGeom>
            <a:solidFill>
              <a:srgbClr val="1B1D21"/>
            </a:solidFill>
            <a:ln w="38100">
              <a:solidFill>
                <a:srgbClr val="9AA0A6"/>
              </a:solidFill>
            </a:ln>
          </p:spPr>
          <p:txBody>
            <a:bodyPr rtlCol="0" anchor="ctr"/>
            <a:lstStyle/>
            <a:p>
              <a:pPr algn="ctr"/>
            </a:p>
          </p:txBody>
        </p:sp>
        <p:sp>
          <p:nvSpPr>
            <p:cNvPr id="53" name="hub"/>
            <p:cNvSpPr/>
            <p:nvPr/>
          </p:nvSpPr>
          <p:spPr>
            <a:xfrm>
              <a:off x="6126480" y="4690872"/>
              <a:ext cx="182880" cy="182880"/>
            </a:xfrm>
            <a:prstGeom prst="ellipse">
              <a:avLst/>
            </a:prstGeom>
            <a:solidFill>
              <a:srgbClr val="9AA0A6"/>
            </a:solidFill>
            <a:ln>
              <a:noFill/>
            </a:ln>
          </p:spPr>
          <p:txBody>
            <a:bodyPr rtlCol="0" anchor="ctr"/>
            <a:lstStyle/>
            <a:p>
              <a:pPr algn="ctr"/>
            </a:p>
          </p:txBody>
        </p:sp>
        <p:sp>
          <p:nvSpPr>
            <p:cNvPr id="54" name="coupling rod"/>
            <p:cNvSpPr/>
            <p:nvPr/>
          </p:nvSpPr>
          <p:spPr>
            <a:xfrm>
              <a:off x="3474720" y="4407408"/>
              <a:ext cx="2743200" cy="91440"/>
            </a:xfrm>
            <a:prstGeom prst="rect">
              <a:avLst/>
            </a:prstGeom>
            <a:solidFill>
              <a:srgbClr val="D0D4D8"/>
            </a:solidFill>
            <a:ln>
              <a:noFill/>
            </a:ln>
          </p:spPr>
          <p:txBody>
            <a:bodyPr rtlCol="0" anchor="ctr"/>
            <a:lstStyle/>
            <a:p>
              <a:pPr algn="ctr"/>
            </a:p>
          </p:txBody>
        </p:sp>
        <p:cxnSp>
          <p:nvCxnSpPr>
            <p:cNvPr id="55" name="connecting rod"/>
            <p:cNvCxnSpPr/>
            <p:nvPr/>
          </p:nvCxnSpPr>
          <p:spPr>
            <a:xfrm flipH="1">
              <a:off x="6217920" y="4233672"/>
              <a:ext cx="1371600" cy="219456"/>
            </a:xfrm>
            <a:prstGeom prst="line">
              <a:avLst/>
            </a:prstGeom>
            <a:ln w="76200">
              <a:solidFill>
                <a:srgbClr val="D0D4D8"/>
              </a:solidFill>
            </a:ln>
          </p:spPr>
        </p:cxnSp>
        <p:sp>
          <p:nvSpPr>
            <p:cNvPr id="56" name="crank pin"/>
            <p:cNvSpPr/>
            <p:nvPr/>
          </p:nvSpPr>
          <p:spPr>
            <a:xfrm>
              <a:off x="3392424" y="4370832"/>
              <a:ext cx="164592" cy="164592"/>
            </a:xfrm>
            <a:prstGeom prst="ellipse">
              <a:avLst/>
            </a:prstGeom>
            <a:solidFill>
              <a:srgbClr val="F28C28"/>
            </a:solidFill>
            <a:ln>
              <a:noFill/>
            </a:ln>
          </p:spPr>
          <p:txBody>
            <a:bodyPr rtlCol="0" anchor="ctr"/>
            <a:lstStyle/>
            <a:p>
              <a:pPr algn="ctr"/>
            </a:p>
          </p:txBody>
        </p:sp>
        <p:sp>
          <p:nvSpPr>
            <p:cNvPr id="57" name="crank pin"/>
            <p:cNvSpPr/>
            <p:nvPr/>
          </p:nvSpPr>
          <p:spPr>
            <a:xfrm>
              <a:off x="4764024" y="4370832"/>
              <a:ext cx="164592" cy="164592"/>
            </a:xfrm>
            <a:prstGeom prst="ellipse">
              <a:avLst/>
            </a:prstGeom>
            <a:solidFill>
              <a:srgbClr val="F28C28"/>
            </a:solidFill>
            <a:ln>
              <a:noFill/>
            </a:ln>
          </p:spPr>
          <p:txBody>
            <a:bodyPr rtlCol="0" anchor="ctr"/>
            <a:lstStyle/>
            <a:p>
              <a:pPr algn="ctr"/>
            </a:p>
          </p:txBody>
        </p:sp>
        <p:sp>
          <p:nvSpPr>
            <p:cNvPr id="58" name="crank pin"/>
            <p:cNvSpPr/>
            <p:nvPr/>
          </p:nvSpPr>
          <p:spPr>
            <a:xfrm>
              <a:off x="6135624" y="4370832"/>
              <a:ext cx="164592" cy="164592"/>
            </a:xfrm>
            <a:prstGeom prst="ellipse">
              <a:avLst/>
            </a:prstGeom>
            <a:solidFill>
              <a:srgbClr val="F28C28"/>
            </a:solidFill>
            <a:ln>
              <a:noFill/>
            </a:ln>
          </p:spPr>
          <p:txBody>
            <a:bodyPr rtlCol="0" anchor="ctr"/>
            <a:lstStyle/>
            <a:p>
              <a:pPr algn="ctr"/>
            </a:p>
          </p:txBody>
        </p:sp>
        <p:cxnSp>
          <p:nvCxnSpPr>
            <p:cNvPr id="59" name="water arrow"/>
            <p:cNvCxnSpPr/>
            <p:nvPr/>
          </p:nvCxnSpPr>
          <p:spPr>
            <a:xfrm>
              <a:off x="5029200" y="1261872"/>
              <a:ext cx="0" cy="1143000"/>
            </a:xfrm>
            <a:prstGeom prst="line">
              <a:avLst/>
            </a:prstGeom>
            <a:ln w="57150">
              <a:solidFill>
                <a:srgbClr val="4DA3FF"/>
              </a:solidFill>
              <a:tailEnd type="triangle" w="med" len="med"/>
            </a:ln>
          </p:spPr>
        </p:cxnSp>
        <p:sp>
          <p:nvSpPr>
            <p:cNvPr id="60" name="water label"/>
            <p:cNvSpPr txBox="1"/>
            <p:nvPr/>
          </p:nvSpPr>
          <p:spPr>
            <a:xfrm>
              <a:off x="3383280" y="1216152"/>
              <a:ext cx="1508760" cy="365760"/>
            </a:xfrm>
            <a:prstGeom prst="rect">
              <a:avLst/>
            </a:prstGeom>
            <a:noFill/>
          </p:spPr>
          <p:txBody>
            <a:bodyPr wrap="square" anchor="ctr" lIns="18288" tIns="9144" rIns="18288" bIns="9144">
              <a:noAutofit/>
            </a:bodyPr>
            <a:lstStyle/>
            <a:p>
              <a:pPr algn="r"/>
              <a:r>
                <a:rPr sz="1800" b="1" i="0" lang="en-GB">
                  <a:solidFill>
                    <a:srgbClr val="4DA3FF"/>
                  </a:solidFill>
                  <a:latin typeface="Arial"/>
                </a:rPr>
                <a:t>Water</a:t>
              </a:r>
            </a:p>
          </p:txBody>
        </p:sp>
        <p:sp>
          <p:nvSpPr>
            <p:cNvPr id="61" name="badge"/>
            <p:cNvSpPr/>
            <p:nvPr/>
          </p:nvSpPr>
          <p:spPr>
            <a:xfrm>
              <a:off x="1668779" y="421081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cxnSp>
          <p:nvCxnSpPr>
            <p:cNvPr id="62" name="leader"/>
            <p:cNvCxnSpPr/>
            <p:nvPr/>
          </p:nvCxnSpPr>
          <p:spPr>
            <a:xfrm flipV="1">
              <a:off x="1874519" y="3547872"/>
              <a:ext cx="320041" cy="667512"/>
            </a:xfrm>
            <a:prstGeom prst="line">
              <a:avLst/>
            </a:prstGeom>
            <a:ln w="25400">
              <a:solidFill>
                <a:srgbClr val="F28C28"/>
              </a:solidFill>
            </a:ln>
          </p:spPr>
        </p:cxnSp>
        <p:sp>
          <p:nvSpPr>
            <p:cNvPr id="63" name="badge label"/>
            <p:cNvSpPr txBox="1"/>
            <p:nvPr/>
          </p:nvSpPr>
          <p:spPr>
            <a:xfrm>
              <a:off x="2148840" y="4206240"/>
              <a:ext cx="91440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Coal</a:t>
              </a:r>
            </a:p>
          </p:txBody>
        </p:sp>
        <p:sp>
          <p:nvSpPr>
            <p:cNvPr id="64" name="badge"/>
            <p:cNvSpPr/>
            <p:nvPr/>
          </p:nvSpPr>
          <p:spPr>
            <a:xfrm>
              <a:off x="6560820" y="160477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cxnSp>
          <p:nvCxnSpPr>
            <p:cNvPr id="65" name="leader"/>
            <p:cNvCxnSpPr/>
            <p:nvPr/>
          </p:nvCxnSpPr>
          <p:spPr>
            <a:xfrm>
              <a:off x="6766560" y="2020824"/>
              <a:ext cx="0" cy="658367"/>
            </a:xfrm>
            <a:prstGeom prst="line">
              <a:avLst/>
            </a:prstGeom>
            <a:ln w="25400">
              <a:solidFill>
                <a:srgbClr val="F28C28"/>
              </a:solidFill>
            </a:ln>
          </p:spPr>
        </p:cxnSp>
        <p:sp>
          <p:nvSpPr>
            <p:cNvPr id="66" name="badge label"/>
            <p:cNvSpPr txBox="1"/>
            <p:nvPr/>
          </p:nvSpPr>
          <p:spPr>
            <a:xfrm>
              <a:off x="7040880" y="1609344"/>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Steam</a:t>
              </a:r>
            </a:p>
          </p:txBody>
        </p:sp>
        <p:sp>
          <p:nvSpPr>
            <p:cNvPr id="67" name="badge"/>
            <p:cNvSpPr/>
            <p:nvPr/>
          </p:nvSpPr>
          <p:spPr>
            <a:xfrm>
              <a:off x="9029700" y="471373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cxnSp>
          <p:nvCxnSpPr>
            <p:cNvPr id="68" name="leader"/>
            <p:cNvCxnSpPr/>
            <p:nvPr/>
          </p:nvCxnSpPr>
          <p:spPr>
            <a:xfrm flipV="1">
              <a:off x="9235440" y="4462272"/>
              <a:ext cx="0" cy="256032"/>
            </a:xfrm>
            <a:prstGeom prst="line">
              <a:avLst/>
            </a:prstGeom>
            <a:ln w="25400">
              <a:solidFill>
                <a:srgbClr val="F28C28"/>
              </a:solidFill>
            </a:ln>
          </p:spPr>
        </p:cxnSp>
        <p:sp>
          <p:nvSpPr>
            <p:cNvPr id="69" name="badge label"/>
            <p:cNvSpPr txBox="1"/>
            <p:nvPr/>
          </p:nvSpPr>
          <p:spPr>
            <a:xfrm>
              <a:off x="9509760" y="4709160"/>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Piston</a:t>
              </a:r>
            </a:p>
          </p:txBody>
        </p:sp>
        <p:sp>
          <p:nvSpPr>
            <p:cNvPr id="70" name="badge"/>
            <p:cNvSpPr/>
            <p:nvPr/>
          </p:nvSpPr>
          <p:spPr>
            <a:xfrm>
              <a:off x="7338060" y="4713732"/>
              <a:ext cx="411480" cy="41148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4</a:t>
              </a:r>
            </a:p>
          </p:txBody>
        </p:sp>
        <p:cxnSp>
          <p:nvCxnSpPr>
            <p:cNvPr id="71" name="leader"/>
            <p:cNvCxnSpPr/>
            <p:nvPr/>
          </p:nvCxnSpPr>
          <p:spPr>
            <a:xfrm flipH="1">
              <a:off x="6766560" y="4919472"/>
              <a:ext cx="576072" cy="0"/>
            </a:xfrm>
            <a:prstGeom prst="line">
              <a:avLst/>
            </a:prstGeom>
            <a:ln w="25400">
              <a:solidFill>
                <a:srgbClr val="F28C28"/>
              </a:solidFill>
            </a:ln>
          </p:spPr>
        </p:cxnSp>
        <p:sp>
          <p:nvSpPr>
            <p:cNvPr id="72" name="badge label"/>
            <p:cNvSpPr txBox="1"/>
            <p:nvPr/>
          </p:nvSpPr>
          <p:spPr>
            <a:xfrm>
              <a:off x="7818120" y="4709160"/>
              <a:ext cx="1097280" cy="411480"/>
            </a:xfrm>
            <a:prstGeom prst="rect">
              <a:avLst/>
            </a:prstGeom>
            <a:noFill/>
          </p:spPr>
          <p:txBody>
            <a:bodyPr wrap="square" anchor="ctr" lIns="18288" tIns="9144" rIns="18288" bIns="9144">
              <a:noAutofit/>
            </a:bodyPr>
            <a:lstStyle/>
            <a:p>
              <a:pPr algn="l"/>
              <a:r>
                <a:rPr sz="1800" b="1" i="0" lang="en-GB">
                  <a:solidFill>
                    <a:srgbClr val="F2F2F2"/>
                  </a:solidFill>
                  <a:latin typeface="Arial"/>
                </a:rPr>
                <a:t>Wheels</a:t>
              </a:r>
            </a:p>
          </p:txBody>
        </p:sp>
      </p:grpSp>
      <p:sp>
        <p:nvSpPr>
          <p:cNvPr id="7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7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7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Coal heats water. Steam pushes pistons. The engine needs both coal and water.</a:t>
            </a:r>
          </a:p>
        </p:txBody>
      </p:sp>
      <p:sp>
        <p:nvSpPr>
          <p:cNvPr id="7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Steam is used once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anks before and after" descr="Before a long trip the coal tank and water tank are both nearly full. After it, coal is about half full and water is almost empty. Steam leaves the chimney and is not used again."/>
          <p:cNvGrpSpPr/>
          <p:nvPr/>
        </p:nvGrpSpPr>
        <p:grpSpPr>
          <a:xfrm>
            <a:off x="822960" y="1371600"/>
            <a:ext cx="10835640" cy="4114800"/>
            <a:chOff x="822960" y="1371600"/>
            <a:chExt cx="10835640" cy="4114800"/>
          </a:xfrm>
        </p:grpSpPr>
        <p:sp>
          <p:nvSpPr>
            <p:cNvPr id="5" name="state label"/>
            <p:cNvSpPr txBox="1"/>
            <p:nvPr/>
          </p:nvSpPr>
          <p:spPr>
            <a:xfrm>
              <a:off x="822960" y="1371600"/>
              <a:ext cx="3383280" cy="365760"/>
            </a:xfrm>
            <a:prstGeom prst="rect">
              <a:avLst/>
            </a:prstGeom>
            <a:noFill/>
          </p:spPr>
          <p:txBody>
            <a:bodyPr wrap="square" anchor="ctr" lIns="18288" tIns="9144" rIns="18288" bIns="9144">
              <a:noAutofit/>
            </a:bodyPr>
            <a:lstStyle/>
            <a:p>
              <a:pPr algn="ctr"/>
              <a:r>
                <a:rPr sz="1400" b="1" i="0" lang="en-GB">
                  <a:solidFill>
                    <a:srgbClr val="A9B0B8"/>
                  </a:solidFill>
                  <a:latin typeface="Arial"/>
                </a:rPr>
                <a:t>Before</a:t>
              </a:r>
            </a:p>
          </p:txBody>
        </p:sp>
        <p:sp>
          <p:nvSpPr>
            <p:cNvPr id="6" name="state label"/>
            <p:cNvSpPr txBox="1"/>
            <p:nvPr/>
          </p:nvSpPr>
          <p:spPr>
            <a:xfrm>
              <a:off x="6400800" y="1371600"/>
              <a:ext cx="3383280" cy="365760"/>
            </a:xfrm>
            <a:prstGeom prst="rect">
              <a:avLst/>
            </a:prstGeom>
            <a:noFill/>
          </p:spPr>
          <p:txBody>
            <a:bodyPr wrap="square" anchor="ctr" lIns="18288" tIns="9144" rIns="18288" bIns="9144">
              <a:noAutofit/>
            </a:bodyPr>
            <a:lstStyle/>
            <a:p>
              <a:pPr algn="ctr"/>
              <a:r>
                <a:rPr sz="1400" b="1" i="0" lang="en-GB">
                  <a:solidFill>
                    <a:srgbClr val="A9B0B8"/>
                  </a:solidFill>
                  <a:latin typeface="Arial"/>
                </a:rPr>
                <a:t>After</a:t>
              </a:r>
            </a:p>
          </p:txBody>
        </p:sp>
        <p:sp>
          <p:nvSpPr>
            <p:cNvPr id="7" name="coal tank before"/>
            <p:cNvSpPr/>
            <p:nvPr/>
          </p:nvSpPr>
          <p:spPr>
            <a:xfrm>
              <a:off x="82296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8" name="coal tank before fill"/>
            <p:cNvSpPr/>
            <p:nvPr/>
          </p:nvSpPr>
          <p:spPr>
            <a:xfrm>
              <a:off x="877824" y="2337206"/>
              <a:ext cx="1353312" cy="1814169"/>
            </a:xfrm>
            <a:prstGeom prst="rect">
              <a:avLst/>
            </a:prstGeom>
            <a:solidFill>
              <a:srgbClr val="1B1D21"/>
            </a:solidFill>
            <a:ln w="15875">
              <a:solidFill>
                <a:srgbClr val="8A9099"/>
              </a:solidFill>
            </a:ln>
          </p:spPr>
          <p:txBody>
            <a:bodyPr rtlCol="0" anchor="ctr"/>
            <a:lstStyle/>
            <a:p>
              <a:pPr algn="ctr"/>
            </a:p>
          </p:txBody>
        </p:sp>
        <p:sp>
          <p:nvSpPr>
            <p:cNvPr id="9" name="water tank before"/>
            <p:cNvSpPr/>
            <p:nvPr/>
          </p:nvSpPr>
          <p:spPr>
            <a:xfrm>
              <a:off x="274320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0" name="water tank before fill"/>
            <p:cNvSpPr/>
            <p:nvPr/>
          </p:nvSpPr>
          <p:spPr>
            <a:xfrm>
              <a:off x="2798064" y="2337206"/>
              <a:ext cx="1353312" cy="1814169"/>
            </a:xfrm>
            <a:prstGeom prst="rect">
              <a:avLst/>
            </a:prstGeom>
            <a:solidFill>
              <a:srgbClr val="4DA3FF"/>
            </a:solidFill>
            <a:ln>
              <a:noFill/>
            </a:ln>
          </p:spPr>
          <p:txBody>
            <a:bodyPr rtlCol="0" anchor="ctr"/>
            <a:lstStyle/>
            <a:p>
              <a:pPr algn="ctr"/>
            </a:p>
          </p:txBody>
        </p:sp>
        <p:sp>
          <p:nvSpPr>
            <p:cNvPr id="11" name="tank label"/>
            <p:cNvSpPr txBox="1"/>
            <p:nvPr/>
          </p:nvSpPr>
          <p:spPr>
            <a:xfrm>
              <a:off x="82296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12" name="tank label"/>
            <p:cNvSpPr txBox="1"/>
            <p:nvPr/>
          </p:nvSpPr>
          <p:spPr>
            <a:xfrm>
              <a:off x="274320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cxnSp>
          <p:nvCxnSpPr>
            <p:cNvPr id="13" name="trip arrow"/>
            <p:cNvCxnSpPr/>
            <p:nvPr/>
          </p:nvCxnSpPr>
          <p:spPr>
            <a:xfrm>
              <a:off x="4526280" y="3017520"/>
              <a:ext cx="1600200" cy="0"/>
            </a:xfrm>
            <a:prstGeom prst="line">
              <a:avLst/>
            </a:prstGeom>
            <a:ln w="57150">
              <a:solidFill>
                <a:srgbClr val="F28C28"/>
              </a:solidFill>
              <a:tailEnd type="triangle" w="med" len="med"/>
            </a:ln>
          </p:spPr>
        </p:cxnSp>
        <p:sp>
          <p:nvSpPr>
            <p:cNvPr id="14" name="trip label"/>
            <p:cNvSpPr txBox="1"/>
            <p:nvPr/>
          </p:nvSpPr>
          <p:spPr>
            <a:xfrm>
              <a:off x="4389120" y="2514600"/>
              <a:ext cx="1874519" cy="411480"/>
            </a:xfrm>
            <a:prstGeom prst="rect">
              <a:avLst/>
            </a:prstGeom>
            <a:noFill/>
          </p:spPr>
          <p:txBody>
            <a:bodyPr wrap="square" anchor="ctr" lIns="18288" tIns="9144" rIns="18288" bIns="9144">
              <a:noAutofit/>
            </a:bodyPr>
            <a:lstStyle/>
            <a:p>
              <a:pPr algn="ctr"/>
              <a:r>
                <a:rPr sz="1800" b="1" i="0" lang="en-GB">
                  <a:solidFill>
                    <a:srgbClr val="F28C28"/>
                  </a:solidFill>
                  <a:latin typeface="Arial"/>
                </a:rPr>
                <a:t>One long trip</a:t>
              </a:r>
            </a:p>
          </p:txBody>
        </p:sp>
        <p:sp>
          <p:nvSpPr>
            <p:cNvPr id="15" name="coal tank after"/>
            <p:cNvSpPr/>
            <p:nvPr/>
          </p:nvSpPr>
          <p:spPr>
            <a:xfrm>
              <a:off x="640080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6" name="coal tank after fill"/>
            <p:cNvSpPr/>
            <p:nvPr/>
          </p:nvSpPr>
          <p:spPr>
            <a:xfrm>
              <a:off x="6455664" y="3130905"/>
              <a:ext cx="1353312" cy="1020470"/>
            </a:xfrm>
            <a:prstGeom prst="rect">
              <a:avLst/>
            </a:prstGeom>
            <a:solidFill>
              <a:srgbClr val="1B1D21"/>
            </a:solidFill>
            <a:ln w="15875">
              <a:solidFill>
                <a:srgbClr val="8A9099"/>
              </a:solidFill>
            </a:ln>
          </p:spPr>
          <p:txBody>
            <a:bodyPr rtlCol="0" anchor="ctr"/>
            <a:lstStyle/>
            <a:p>
              <a:pPr algn="ctr"/>
            </a:p>
          </p:txBody>
        </p:sp>
        <p:sp>
          <p:nvSpPr>
            <p:cNvPr id="17" name="water tank after"/>
            <p:cNvSpPr/>
            <p:nvPr/>
          </p:nvSpPr>
          <p:spPr>
            <a:xfrm>
              <a:off x="8321040" y="1828800"/>
              <a:ext cx="1463040" cy="2377440"/>
            </a:xfrm>
            <a:prstGeom prst="roundRect">
              <a:avLst>
                <a:gd name="adj" fmla="val 6250"/>
              </a:avLst>
            </a:prstGeom>
            <a:solidFill>
              <a:srgbClr val="2B2F36"/>
            </a:solidFill>
            <a:ln w="28575">
              <a:solidFill>
                <a:srgbClr val="9AA0A6"/>
              </a:solidFill>
            </a:ln>
          </p:spPr>
          <p:txBody>
            <a:bodyPr rtlCol="0" anchor="ctr"/>
            <a:lstStyle/>
            <a:p>
              <a:pPr algn="ctr"/>
            </a:p>
          </p:txBody>
        </p:sp>
        <p:sp>
          <p:nvSpPr>
            <p:cNvPr id="18" name="water tank after fill"/>
            <p:cNvSpPr/>
            <p:nvPr/>
          </p:nvSpPr>
          <p:spPr>
            <a:xfrm>
              <a:off x="8375904" y="3811219"/>
              <a:ext cx="1353312" cy="340156"/>
            </a:xfrm>
            <a:prstGeom prst="rect">
              <a:avLst/>
            </a:prstGeom>
            <a:solidFill>
              <a:srgbClr val="4DA3FF"/>
            </a:solidFill>
            <a:ln>
              <a:noFill/>
            </a:ln>
          </p:spPr>
          <p:txBody>
            <a:bodyPr rtlCol="0" anchor="ctr"/>
            <a:lstStyle/>
            <a:p>
              <a:pPr algn="ctr"/>
            </a:p>
          </p:txBody>
        </p:sp>
        <p:sp>
          <p:nvSpPr>
            <p:cNvPr id="19" name="tank label"/>
            <p:cNvSpPr txBox="1"/>
            <p:nvPr/>
          </p:nvSpPr>
          <p:spPr>
            <a:xfrm>
              <a:off x="640080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20" name="tank label"/>
            <p:cNvSpPr txBox="1"/>
            <p:nvPr/>
          </p:nvSpPr>
          <p:spPr>
            <a:xfrm>
              <a:off x="8321040" y="4251959"/>
              <a:ext cx="146304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sp>
          <p:nvSpPr>
            <p:cNvPr id="21" name="empty tag"/>
            <p:cNvSpPr/>
            <p:nvPr/>
          </p:nvSpPr>
          <p:spPr>
            <a:xfrm>
              <a:off x="8458200" y="2103120"/>
              <a:ext cx="1188720" cy="365760"/>
            </a:xfrm>
            <a:prstGeom prst="roundRect">
              <a:avLst>
                <a:gd name="adj" fmla="val 25000"/>
              </a:avLst>
            </a:prstGeom>
            <a:solidFill>
              <a:srgbClr val="E5484D"/>
            </a:solidFill>
            <a:ln>
              <a:noFill/>
            </a:ln>
          </p:spPr>
          <p:txBody>
            <a:bodyPr rtlCol="0" anchor="ctr" wrap="square" lIns="54864" tIns="27432" rIns="54864" bIns="27432">
              <a:noAutofit/>
            </a:bodyPr>
            <a:lstStyle/>
            <a:p>
              <a:pPr algn="ctr"/>
              <a:r>
                <a:rPr sz="1400" b="1" i="0" lang="en-GB">
                  <a:solidFill>
                    <a:srgbClr val="101418"/>
                  </a:solidFill>
                  <a:latin typeface="Arial"/>
                </a:rPr>
                <a:t>Empty first</a:t>
              </a:r>
            </a:p>
          </p:txBody>
        </p:sp>
        <p:cxnSp>
          <p:nvCxnSpPr>
            <p:cNvPr id="22" name="tag pointer"/>
            <p:cNvCxnSpPr/>
            <p:nvPr/>
          </p:nvCxnSpPr>
          <p:spPr>
            <a:xfrm>
              <a:off x="9052560" y="2487168"/>
              <a:ext cx="0" cy="1124712"/>
            </a:xfrm>
            <a:prstGeom prst="line">
              <a:avLst/>
            </a:prstGeom>
            <a:ln w="28575">
              <a:solidFill>
                <a:srgbClr val="E5484D"/>
              </a:solidFill>
              <a:tailEnd type="triangle" w="med" len="med"/>
            </a:ln>
          </p:spPr>
        </p:cxnSp>
        <p:sp>
          <p:nvSpPr>
            <p:cNvPr id="23" name="chimney"/>
            <p:cNvSpPr/>
            <p:nvPr/>
          </p:nvSpPr>
          <p:spPr>
            <a:xfrm>
              <a:off x="10561320" y="3246120"/>
              <a:ext cx="457200" cy="960120"/>
            </a:xfrm>
            <a:prstGeom prst="rect">
              <a:avLst/>
            </a:prstGeom>
            <a:solidFill>
              <a:srgbClr val="9AA0A6"/>
            </a:solidFill>
            <a:ln>
              <a:noFill/>
            </a:ln>
          </p:spPr>
          <p:txBody>
            <a:bodyPr rtlCol="0" anchor="ctr"/>
            <a:lstStyle/>
            <a:p>
              <a:pPr algn="ctr"/>
            </a:p>
          </p:txBody>
        </p:sp>
        <p:sp>
          <p:nvSpPr>
            <p:cNvPr id="24" name="chimney lip"/>
            <p:cNvSpPr/>
            <p:nvPr/>
          </p:nvSpPr>
          <p:spPr>
            <a:xfrm>
              <a:off x="10424160" y="3154680"/>
              <a:ext cx="731520" cy="128016"/>
            </a:xfrm>
            <a:prstGeom prst="rect">
              <a:avLst/>
            </a:prstGeom>
            <a:solidFill>
              <a:srgbClr val="9AA0A6"/>
            </a:solidFill>
            <a:ln>
              <a:noFill/>
            </a:ln>
          </p:spPr>
          <p:txBody>
            <a:bodyPr rtlCol="0" anchor="ctr"/>
            <a:lstStyle/>
            <a:p>
              <a:pPr algn="ctr"/>
            </a:p>
          </p:txBody>
        </p:sp>
        <p:sp>
          <p:nvSpPr>
            <p:cNvPr id="25" name="steam"/>
            <p:cNvSpPr/>
            <p:nvPr/>
          </p:nvSpPr>
          <p:spPr>
            <a:xfrm>
              <a:off x="10561320" y="2743200"/>
              <a:ext cx="457200" cy="256032"/>
            </a:xfrm>
            <a:prstGeom prst="ellipse">
              <a:avLst/>
            </a:prstGeom>
            <a:solidFill>
              <a:srgbClr val="F2F2F2">
                <a:alpha val="85000"/>
              </a:srgbClr>
            </a:solidFill>
            <a:ln>
              <a:noFill/>
            </a:ln>
          </p:spPr>
          <p:txBody>
            <a:bodyPr rtlCol="0" anchor="ctr"/>
            <a:lstStyle/>
            <a:p>
              <a:pPr algn="ctr"/>
            </a:p>
          </p:txBody>
        </p:sp>
        <p:sp>
          <p:nvSpPr>
            <p:cNvPr id="26" name="steam"/>
            <p:cNvSpPr/>
            <p:nvPr/>
          </p:nvSpPr>
          <p:spPr>
            <a:xfrm>
              <a:off x="10652760" y="2331720"/>
              <a:ext cx="640080" cy="329184"/>
            </a:xfrm>
            <a:prstGeom prst="ellipse">
              <a:avLst/>
            </a:prstGeom>
            <a:solidFill>
              <a:srgbClr val="F2F2F2">
                <a:alpha val="85000"/>
              </a:srgbClr>
            </a:solidFill>
            <a:ln>
              <a:noFill/>
            </a:ln>
          </p:spPr>
          <p:txBody>
            <a:bodyPr rtlCol="0" anchor="ctr"/>
            <a:lstStyle/>
            <a:p>
              <a:pPr algn="ctr"/>
            </a:p>
          </p:txBody>
        </p:sp>
        <p:sp>
          <p:nvSpPr>
            <p:cNvPr id="27" name="steam"/>
            <p:cNvSpPr/>
            <p:nvPr/>
          </p:nvSpPr>
          <p:spPr>
            <a:xfrm>
              <a:off x="10744200" y="1828800"/>
              <a:ext cx="822960" cy="420624"/>
            </a:xfrm>
            <a:prstGeom prst="ellipse">
              <a:avLst/>
            </a:prstGeom>
            <a:solidFill>
              <a:srgbClr val="F2F2F2">
                <a:alpha val="85000"/>
              </a:srgbClr>
            </a:solidFill>
            <a:ln>
              <a:noFill/>
            </a:ln>
          </p:spPr>
          <p:txBody>
            <a:bodyPr rtlCol="0" anchor="ctr"/>
            <a:lstStyle/>
            <a:p>
              <a:pPr algn="ctr"/>
            </a:p>
          </p:txBody>
        </p:sp>
        <p:sp>
          <p:nvSpPr>
            <p:cNvPr id="28" name="steam label"/>
            <p:cNvSpPr txBox="1"/>
            <p:nvPr/>
          </p:nvSpPr>
          <p:spPr>
            <a:xfrm>
              <a:off x="9966960" y="4279392"/>
              <a:ext cx="1691640" cy="1005840"/>
            </a:xfrm>
            <a:prstGeom prst="rect">
              <a:avLst/>
            </a:prstGeom>
            <a:noFill/>
          </p:spPr>
          <p:txBody>
            <a:bodyPr wrap="square" anchor="t" lIns="18288" tIns="9144" rIns="18288" bIns="9144">
              <a:noAutofit/>
            </a:bodyPr>
            <a:lstStyle/>
            <a:p>
              <a:pPr algn="ctr"/>
              <a:r>
                <a:rPr sz="1400" b="0" i="0" lang="en-GB">
                  <a:solidFill>
                    <a:srgbClr val="F2F2F2"/>
                  </a:solidFill>
                  <a:latin typeface="Arial"/>
                </a:rPr>
                <a:t>Steam leaves the chimney. It is not used again.</a:t>
              </a:r>
            </a:p>
          </p:txBody>
        </p:sp>
        <p:sp>
          <p:nvSpPr>
            <p:cNvPr id="29" name="note"/>
            <p:cNvSpPr/>
            <p:nvPr/>
          </p:nvSpPr>
          <p:spPr>
            <a:xfrm>
              <a:off x="1371600" y="4983480"/>
              <a:ext cx="7132320" cy="502920"/>
            </a:xfrm>
            <a:prstGeom prst="roundRect">
              <a:avLst>
                <a:gd name="adj" fmla="val 18181"/>
              </a:avLst>
            </a:prstGeom>
            <a:solidFill>
              <a:srgbClr val="2B2F36"/>
            </a:solidFill>
            <a:ln w="19050">
              <a:solidFill>
                <a:srgbClr val="F28C28"/>
              </a:solidFill>
            </a:ln>
          </p:spPr>
          <p:txBody>
            <a:bodyPr rtlCol="0" anchor="ctr" wrap="square" lIns="54864" tIns="27432" rIns="54864" bIns="27432">
              <a:noAutofit/>
            </a:bodyPr>
            <a:lstStyle/>
            <a:p>
              <a:pPr algn="ctr"/>
              <a:r>
                <a:rPr sz="1800" b="0" i="0" lang="en-GB">
                  <a:solidFill>
                    <a:srgbClr val="F2F2F2"/>
                  </a:solidFill>
                  <a:latin typeface="Arial"/>
                </a:rPr>
                <a:t>In the mod, water is usually the tighter limit.</a:t>
              </a:r>
            </a:p>
          </p:txBody>
        </p:sp>
      </p:grpSp>
      <p:sp>
        <p:nvSpPr>
          <p:cNvPr id="30"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1"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2"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Steam is used once and lost. So water runs out first. Coal lasts longer.</a:t>
            </a:r>
          </a:p>
        </p:txBody>
      </p:sp>
      <p:sp>
        <p:nvSpPr>
          <p:cNvPr id="33"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Tender or tank?</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4_tender_engine_73082" descr="BR Standard Class 5 No. 73082 'Camelot', a tender engine, seen from the side."/>
          <p:cNvPicPr>
            <a:picLocks noChangeAspect="1"/>
          </p:cNvPicPr>
          <p:nvPr/>
        </p:nvPicPr>
        <p:blipFill>
          <a:blip r:embed="rId2"/>
          <a:srcRect l="505" r="505"/>
          <a:stretch>
            <a:fillRect/>
          </a:stretch>
        </p:blipFill>
        <p:spPr>
          <a:xfrm>
            <a:off x="548640" y="1325880"/>
            <a:ext cx="5303520" cy="3566160"/>
          </a:xfrm>
          <a:prstGeom prst="roundRect">
            <a:avLst>
              <a:gd name="adj" fmla="val 2051"/>
            </a:avLst>
          </a:prstGeom>
        </p:spPr>
      </p:pic>
      <p:pic>
        <p:nvPicPr>
          <p:cNvPr id="5" name="P05_tank_engine_80151" descr="BR Standard Class 4 tank engine No. 80151 from the side, showing side tanks and rear bunker."/>
          <p:cNvPicPr>
            <a:picLocks noChangeAspect="1"/>
          </p:cNvPicPr>
          <p:nvPr/>
        </p:nvPicPr>
        <p:blipFill>
          <a:blip r:embed="rId3"/>
          <a:srcRect l="505" r="505"/>
          <a:stretch>
            <a:fillRect/>
          </a:stretch>
        </p:blipFill>
        <p:spPr>
          <a:xfrm>
            <a:off x="6336792" y="1325880"/>
            <a:ext cx="5303520" cy="3566160"/>
          </a:xfrm>
          <a:prstGeom prst="roundRect">
            <a:avLst>
              <a:gd name="adj" fmla="val 2051"/>
            </a:avLst>
          </a:prstGeom>
        </p:spPr>
      </p:pic>
      <p:grpSp>
        <p:nvGrpSpPr>
          <p:cNvPr id="6" name="Photo labels" descr="Labels pointing at the tender behind the cab, and at the side tanks and bunker."/>
          <p:cNvGrpSpPr/>
          <p:nvPr/>
        </p:nvGrpSpPr>
        <p:grpSpPr>
          <a:xfrm>
            <a:off x="731520" y="1463039"/>
            <a:ext cx="9418320" cy="3291841"/>
            <a:chOff x="731520" y="1463039"/>
            <a:chExt cx="9418320" cy="3291841"/>
          </a:xfrm>
        </p:grpSpPr>
        <p:sp>
          <p:nvSpPr>
            <p:cNvPr id="7" name="card name"/>
            <p:cNvSpPr/>
            <p:nvPr/>
          </p:nvSpPr>
          <p:spPr>
            <a:xfrm>
              <a:off x="731520" y="1463039"/>
              <a:ext cx="2194560" cy="411480"/>
            </a:xfrm>
            <a:prstGeom prst="roundRect">
              <a:avLst>
                <a:gd name="adj" fmla="val 17777"/>
              </a:avLst>
            </a:prstGeom>
            <a:solidFill>
              <a:srgbClr val="2B2F36"/>
            </a:solidFill>
            <a:ln w="25400">
              <a:solidFill>
                <a:srgbClr val="F28C28"/>
              </a:solidFill>
            </a:ln>
          </p:spPr>
          <p:txBody>
            <a:bodyPr rtlCol="0" anchor="ctr" wrap="square" lIns="54864" tIns="27432" rIns="54864" bIns="27432">
              <a:noAutofit/>
            </a:bodyPr>
            <a:lstStyle/>
            <a:p>
              <a:pPr algn="ctr"/>
              <a:r>
                <a:rPr sz="1800" b="1" i="0" lang="en-GB">
                  <a:solidFill>
                    <a:srgbClr val="F2F2F2"/>
                  </a:solidFill>
                  <a:latin typeface="Arial"/>
                </a:rPr>
                <a:t>Tender engine</a:t>
              </a:r>
            </a:p>
          </p:txBody>
        </p:sp>
        <p:sp>
          <p:nvSpPr>
            <p:cNvPr id="8" name="card name"/>
            <p:cNvSpPr/>
            <p:nvPr/>
          </p:nvSpPr>
          <p:spPr>
            <a:xfrm>
              <a:off x="6519672" y="1463039"/>
              <a:ext cx="2011680" cy="411480"/>
            </a:xfrm>
            <a:prstGeom prst="roundRect">
              <a:avLst>
                <a:gd name="adj" fmla="val 17777"/>
              </a:avLst>
            </a:prstGeom>
            <a:solidFill>
              <a:srgbClr val="2B2F36"/>
            </a:solidFill>
            <a:ln w="25400">
              <a:solidFill>
                <a:srgbClr val="F28C28"/>
              </a:solidFill>
            </a:ln>
          </p:spPr>
          <p:txBody>
            <a:bodyPr rtlCol="0" anchor="ctr" wrap="square" lIns="54864" tIns="27432" rIns="54864" bIns="27432">
              <a:noAutofit/>
            </a:bodyPr>
            <a:lstStyle/>
            <a:p>
              <a:pPr algn="ctr"/>
              <a:r>
                <a:rPr sz="1800" b="1" i="0" lang="en-GB">
                  <a:solidFill>
                    <a:srgbClr val="F2F2F2"/>
                  </a:solidFill>
                  <a:latin typeface="Arial"/>
                </a:rPr>
                <a:t>Tank engine</a:t>
              </a:r>
            </a:p>
          </p:txBody>
        </p:sp>
        <p:sp>
          <p:nvSpPr>
            <p:cNvPr id="9" name="callout"/>
            <p:cNvSpPr/>
            <p:nvPr/>
          </p:nvSpPr>
          <p:spPr>
            <a:xfrm>
              <a:off x="777240" y="4069080"/>
              <a:ext cx="2834640" cy="685800"/>
            </a:xfrm>
            <a:prstGeom prst="roundRect">
              <a:avLst>
                <a:gd name="adj" fmla="val 10666"/>
              </a:avLst>
            </a:prstGeom>
            <a:solidFill>
              <a:srgbClr val="2B2F36"/>
            </a:solidFill>
            <a:ln w="25400">
              <a:solidFill>
                <a:srgbClr val="F28C28"/>
              </a:solidFill>
            </a:ln>
          </p:spPr>
          <p:txBody>
            <a:bodyPr rtlCol="0" anchor="ctr" wrap="square" lIns="54864" tIns="27432" rIns="54864" bIns="27432">
              <a:noAutofit/>
            </a:bodyPr>
            <a:lstStyle/>
            <a:p>
              <a:pPr algn="ctr"/>
              <a:r>
                <a:rPr sz="1600" b="0" i="0" lang="en-GB">
                  <a:solidFill>
                    <a:srgbClr val="F2F2F2"/>
                  </a:solidFill>
                  <a:latin typeface="Arial"/>
                </a:rPr>
                <a:t>Tender: coal and water behind the cab</a:t>
              </a:r>
            </a:p>
          </p:txBody>
        </p:sp>
        <p:cxnSp>
          <p:nvCxnSpPr>
            <p:cNvPr id="10" name="leader"/>
            <p:cNvCxnSpPr/>
            <p:nvPr/>
          </p:nvCxnSpPr>
          <p:spPr>
            <a:xfrm flipH="1" flipV="1">
              <a:off x="1417320" y="3246120"/>
              <a:ext cx="320040" cy="822960"/>
            </a:xfrm>
            <a:prstGeom prst="line">
              <a:avLst/>
            </a:prstGeom>
            <a:ln w="28575">
              <a:solidFill>
                <a:srgbClr val="F28C28"/>
              </a:solidFill>
            </a:ln>
          </p:spPr>
        </p:cxnSp>
        <p:sp>
          <p:nvSpPr>
            <p:cNvPr id="11" name="leader dot"/>
            <p:cNvSpPr/>
            <p:nvPr/>
          </p:nvSpPr>
          <p:spPr>
            <a:xfrm>
              <a:off x="1344168" y="3172968"/>
              <a:ext cx="146304" cy="146304"/>
            </a:xfrm>
            <a:prstGeom prst="ellipse">
              <a:avLst/>
            </a:prstGeom>
            <a:solidFill>
              <a:srgbClr val="F28C28"/>
            </a:solidFill>
            <a:ln>
              <a:noFill/>
            </a:ln>
          </p:spPr>
          <p:txBody>
            <a:bodyPr rtlCol="0" anchor="ctr"/>
            <a:lstStyle/>
            <a:p>
              <a:pPr algn="ctr"/>
            </a:p>
          </p:txBody>
        </p:sp>
        <p:sp>
          <p:nvSpPr>
            <p:cNvPr id="12" name="callout"/>
            <p:cNvSpPr/>
            <p:nvPr/>
          </p:nvSpPr>
          <p:spPr>
            <a:xfrm>
              <a:off x="6492240" y="4069080"/>
              <a:ext cx="3657600" cy="685800"/>
            </a:xfrm>
            <a:prstGeom prst="roundRect">
              <a:avLst>
                <a:gd name="adj" fmla="val 10666"/>
              </a:avLst>
            </a:prstGeom>
            <a:solidFill>
              <a:srgbClr val="2B2F36"/>
            </a:solidFill>
            <a:ln w="25400">
              <a:solidFill>
                <a:srgbClr val="F28C28"/>
              </a:solidFill>
            </a:ln>
          </p:spPr>
          <p:txBody>
            <a:bodyPr rtlCol="0" anchor="ctr" wrap="square" lIns="54864" tIns="27432" rIns="54864" bIns="27432">
              <a:noAutofit/>
            </a:bodyPr>
            <a:lstStyle/>
            <a:p>
              <a:pPr algn="ctr"/>
              <a:r>
                <a:rPr sz="1600" b="0" i="0" lang="en-GB">
                  <a:solidFill>
                    <a:srgbClr val="F2F2F2"/>
                  </a:solidFill>
                  <a:latin typeface="Arial"/>
                </a:rPr>
                <a:t>Side tanks: water. Bunker: coal.</a:t>
              </a:r>
            </a:p>
          </p:txBody>
        </p:sp>
        <p:cxnSp>
          <p:nvCxnSpPr>
            <p:cNvPr id="13" name="leader"/>
            <p:cNvCxnSpPr/>
            <p:nvPr/>
          </p:nvCxnSpPr>
          <p:spPr>
            <a:xfrm flipV="1">
              <a:off x="7680960" y="3200400"/>
              <a:ext cx="822960" cy="868680"/>
            </a:xfrm>
            <a:prstGeom prst="line">
              <a:avLst/>
            </a:prstGeom>
            <a:ln w="28575">
              <a:solidFill>
                <a:srgbClr val="F28C28"/>
              </a:solidFill>
            </a:ln>
          </p:spPr>
        </p:cxnSp>
        <p:sp>
          <p:nvSpPr>
            <p:cNvPr id="14" name="leader dot"/>
            <p:cNvSpPr/>
            <p:nvPr/>
          </p:nvSpPr>
          <p:spPr>
            <a:xfrm>
              <a:off x="8430768" y="3127248"/>
              <a:ext cx="146304" cy="146304"/>
            </a:xfrm>
            <a:prstGeom prst="ellipse">
              <a:avLst/>
            </a:prstGeom>
            <a:solidFill>
              <a:srgbClr val="F28C28"/>
            </a:solidFill>
            <a:ln>
              <a:noFill/>
            </a:ln>
          </p:spPr>
          <p:txBody>
            <a:bodyPr rtlCol="0" anchor="ctr"/>
            <a:lstStyle/>
            <a:p>
              <a:pPr algn="ctr"/>
            </a:p>
          </p:txBody>
        </p:sp>
        <p:cxnSp>
          <p:nvCxnSpPr>
            <p:cNvPr id="15" name="leader"/>
            <p:cNvCxnSpPr/>
            <p:nvPr/>
          </p:nvCxnSpPr>
          <p:spPr>
            <a:xfrm flipV="1">
              <a:off x="9509760" y="3200400"/>
              <a:ext cx="502920" cy="868680"/>
            </a:xfrm>
            <a:prstGeom prst="line">
              <a:avLst/>
            </a:prstGeom>
            <a:ln w="28575">
              <a:solidFill>
                <a:srgbClr val="F28C28"/>
              </a:solidFill>
            </a:ln>
          </p:spPr>
        </p:cxnSp>
        <p:sp>
          <p:nvSpPr>
            <p:cNvPr id="16" name="leader dot"/>
            <p:cNvSpPr/>
            <p:nvPr/>
          </p:nvSpPr>
          <p:spPr>
            <a:xfrm>
              <a:off x="9939528" y="3127248"/>
              <a:ext cx="146304" cy="146304"/>
            </a:xfrm>
            <a:prstGeom prst="ellipse">
              <a:avLst/>
            </a:prstGeom>
            <a:solidFill>
              <a:srgbClr val="F28C28"/>
            </a:solidFill>
            <a:ln>
              <a:noFill/>
            </a:ln>
          </p:spPr>
          <p:txBody>
            <a:bodyPr rtlCol="0" anchor="ctr"/>
            <a:lstStyle/>
            <a:p>
              <a:pPr algn="ctr"/>
            </a:p>
          </p:txBody>
        </p:sp>
      </p:grpSp>
      <p:sp>
        <p:nvSpPr>
          <p:cNvPr id="17" name="CREDIT"/>
          <p:cNvSpPr txBox="1"/>
          <p:nvPr/>
        </p:nvSpPr>
        <p:spPr>
          <a:xfrm>
            <a:off x="548640" y="4937759"/>
            <a:ext cx="5303520" cy="219456"/>
          </a:xfrm>
          <a:prstGeom prst="rect">
            <a:avLst/>
          </a:prstGeom>
          <a:noFill/>
        </p:spPr>
        <p:txBody>
          <a:bodyPr wrap="square" anchor="t" lIns="0" tIns="0" rIns="0" bIns="0">
            <a:noAutofit/>
          </a:bodyPr>
          <a:lstStyle/>
          <a:p>
            <a:pPr algn="l"/>
            <a:r>
              <a:rPr sz="1000" b="0" i="0" lang="en-GB">
                <a:solidFill>
                  <a:srgbClr val="A9B0B8"/>
                </a:solidFill>
                <a:latin typeface="Arial"/>
              </a:rPr>
              <a:t>www.mgaylard.co.uk, CC BY 2.0. BR Standard Class 5 No. 73082.</a:t>
            </a:r>
          </a:p>
        </p:txBody>
      </p:sp>
      <p:sp>
        <p:nvSpPr>
          <p:cNvPr id="18" name="CREDIT"/>
          <p:cNvSpPr txBox="1"/>
          <p:nvPr/>
        </p:nvSpPr>
        <p:spPr>
          <a:xfrm>
            <a:off x="6336792" y="4937759"/>
            <a:ext cx="5303520" cy="219456"/>
          </a:xfrm>
          <a:prstGeom prst="rect">
            <a:avLst/>
          </a:prstGeom>
          <a:noFill/>
        </p:spPr>
        <p:txBody>
          <a:bodyPr wrap="square" anchor="t" lIns="0" tIns="0" rIns="0" bIns="0">
            <a:noAutofit/>
          </a:bodyPr>
          <a:lstStyle/>
          <a:p>
            <a:pPr algn="l"/>
            <a:r>
              <a:rPr sz="1000" b="0" i="0" lang="en-GB">
                <a:solidFill>
                  <a:srgbClr val="A9B0B8"/>
                </a:solidFill>
                <a:latin typeface="Arial"/>
              </a:rPr>
              <a:t>www.mgaylard.co.uk, CC BY 2.0. BR Standard Class 4 No. 80151.</a:t>
            </a:r>
          </a:p>
        </p:txBody>
      </p:sp>
      <p:sp>
        <p:nvSpPr>
          <p:cNvPr id="19"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0"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1"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tender engine pulls a coal and water wagon. A tank engine carries both itself.</a:t>
            </a:r>
          </a:p>
        </p:txBody>
      </p:sp>
      <p:sp>
        <p:nvSpPr>
          <p:cNvPr id="22"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Taking on water</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6_water_crane_didcot" descr="A water crane at Didcot Railway Centre."/>
          <p:cNvPicPr>
            <a:picLocks noChangeAspect="1"/>
          </p:cNvPicPr>
          <p:nvPr/>
        </p:nvPicPr>
        <p:blipFill>
          <a:blip r:embed="rId2"/>
          <a:srcRect b="34037"/>
          <a:stretch>
            <a:fillRect/>
          </a:stretch>
        </p:blipFill>
        <p:spPr>
          <a:xfrm>
            <a:off x="548640" y="1325880"/>
            <a:ext cx="3383280" cy="4023360"/>
          </a:xfrm>
          <a:prstGeom prst="roundRect">
            <a:avLst>
              <a:gd name="adj" fmla="val 2162"/>
            </a:avLst>
          </a:prstGeom>
        </p:spPr>
      </p:pic>
      <p:sp>
        <p:nvSpPr>
          <p:cNvPr id="5" name="CREDIT"/>
          <p:cNvSpPr txBox="1"/>
          <p:nvPr/>
        </p:nvSpPr>
        <p:spPr>
          <a:xfrm>
            <a:off x="548640" y="5394960"/>
            <a:ext cx="3383280" cy="219456"/>
          </a:xfrm>
          <a:prstGeom prst="rect">
            <a:avLst/>
          </a:prstGeom>
          <a:noFill/>
        </p:spPr>
        <p:txBody>
          <a:bodyPr wrap="square" anchor="t" lIns="0" tIns="0" rIns="0" bIns="0">
            <a:noAutofit/>
          </a:bodyPr>
          <a:lstStyle/>
          <a:p>
            <a:pPr algn="l"/>
            <a:r>
              <a:rPr sz="1000" b="0" i="0" lang="en-GB">
                <a:solidFill>
                  <a:srgbClr val="A9B0B8"/>
                </a:solidFill>
                <a:latin typeface="Arial"/>
              </a:rPr>
              <a:t>Barry Skeates, CC BY 2.0. A water crane, Didcot.</a:t>
            </a:r>
          </a:p>
        </p:txBody>
      </p:sp>
      <p:grpSp>
        <p:nvGrpSpPr>
          <p:cNvPr id="6" name="Water tower and crane" descr="A water tank on legs feeds a pipe down to a crane. The crane arm swings over the tender hatch and water flows down by gravity."/>
          <p:cNvGrpSpPr/>
          <p:nvPr/>
        </p:nvGrpSpPr>
        <p:grpSpPr>
          <a:xfrm>
            <a:off x="4480560" y="1325880"/>
            <a:ext cx="5303520" cy="3447288"/>
            <a:chOff x="4480560" y="1325880"/>
            <a:chExt cx="5303520" cy="3447288"/>
          </a:xfrm>
        </p:grpSpPr>
        <p:sp>
          <p:nvSpPr>
            <p:cNvPr id="7" name="tank"/>
            <p:cNvSpPr/>
            <p:nvPr/>
          </p:nvSpPr>
          <p:spPr>
            <a:xfrm>
              <a:off x="4480560" y="1554480"/>
              <a:ext cx="1737360" cy="1097280"/>
            </a:xfrm>
            <a:prstGeom prst="roundRect">
              <a:avLst>
                <a:gd name="adj" fmla="val 10000"/>
              </a:avLst>
            </a:prstGeom>
            <a:solidFill>
              <a:srgbClr val="4DA3FF"/>
            </a:solidFill>
            <a:ln w="25400">
              <a:solidFill>
                <a:srgbClr val="FFFFFF"/>
              </a:solidFill>
            </a:ln>
          </p:spPr>
          <p:txBody>
            <a:bodyPr rtlCol="0" anchor="ctr" wrap="square" lIns="54864" tIns="27432" rIns="54864" bIns="27432">
              <a:noAutofit/>
            </a:bodyPr>
            <a:lstStyle/>
            <a:p>
              <a:pPr algn="ctr"/>
              <a:r>
                <a:rPr sz="1400" b="1" i="0" lang="en-GB">
                  <a:solidFill>
                    <a:srgbClr val="101418"/>
                  </a:solidFill>
                  <a:latin typeface="Arial"/>
                </a:rPr>
                <a:t>Water tank</a:t>
              </a:r>
            </a:p>
          </p:txBody>
        </p:sp>
        <p:sp>
          <p:nvSpPr>
            <p:cNvPr id="8" name="leg"/>
            <p:cNvSpPr/>
            <p:nvPr/>
          </p:nvSpPr>
          <p:spPr>
            <a:xfrm>
              <a:off x="4572000" y="2651760"/>
              <a:ext cx="91440" cy="1463040"/>
            </a:xfrm>
            <a:prstGeom prst="rect">
              <a:avLst/>
            </a:prstGeom>
            <a:solidFill>
              <a:srgbClr val="9AA0A6"/>
            </a:solidFill>
            <a:ln>
              <a:noFill/>
            </a:ln>
          </p:spPr>
          <p:txBody>
            <a:bodyPr rtlCol="0" anchor="ctr"/>
            <a:lstStyle/>
            <a:p>
              <a:pPr algn="ctr"/>
            </a:p>
          </p:txBody>
        </p:sp>
        <p:sp>
          <p:nvSpPr>
            <p:cNvPr id="9" name="leg"/>
            <p:cNvSpPr/>
            <p:nvPr/>
          </p:nvSpPr>
          <p:spPr>
            <a:xfrm>
              <a:off x="4937760" y="2651760"/>
              <a:ext cx="91440" cy="1463040"/>
            </a:xfrm>
            <a:prstGeom prst="rect">
              <a:avLst/>
            </a:prstGeom>
            <a:solidFill>
              <a:srgbClr val="9AA0A6"/>
            </a:solidFill>
            <a:ln>
              <a:noFill/>
            </a:ln>
          </p:spPr>
          <p:txBody>
            <a:bodyPr rtlCol="0" anchor="ctr"/>
            <a:lstStyle/>
            <a:p>
              <a:pPr algn="ctr"/>
            </a:p>
          </p:txBody>
        </p:sp>
        <p:sp>
          <p:nvSpPr>
            <p:cNvPr id="10" name="leg"/>
            <p:cNvSpPr/>
            <p:nvPr/>
          </p:nvSpPr>
          <p:spPr>
            <a:xfrm>
              <a:off x="5669280" y="2651760"/>
              <a:ext cx="91440" cy="1463040"/>
            </a:xfrm>
            <a:prstGeom prst="rect">
              <a:avLst/>
            </a:prstGeom>
            <a:solidFill>
              <a:srgbClr val="9AA0A6"/>
            </a:solidFill>
            <a:ln>
              <a:noFill/>
            </a:ln>
          </p:spPr>
          <p:txBody>
            <a:bodyPr rtlCol="0" anchor="ctr"/>
            <a:lstStyle/>
            <a:p>
              <a:pPr algn="ctr"/>
            </a:p>
          </p:txBody>
        </p:sp>
        <p:sp>
          <p:nvSpPr>
            <p:cNvPr id="11" name="leg"/>
            <p:cNvSpPr/>
            <p:nvPr/>
          </p:nvSpPr>
          <p:spPr>
            <a:xfrm>
              <a:off x="6035040" y="2651760"/>
              <a:ext cx="91440" cy="1463040"/>
            </a:xfrm>
            <a:prstGeom prst="rect">
              <a:avLst/>
            </a:prstGeom>
            <a:solidFill>
              <a:srgbClr val="9AA0A6"/>
            </a:solidFill>
            <a:ln>
              <a:noFill/>
            </a:ln>
          </p:spPr>
          <p:txBody>
            <a:bodyPr rtlCol="0" anchor="ctr"/>
            <a:lstStyle/>
            <a:p>
              <a:pPr algn="ctr"/>
            </a:p>
          </p:txBody>
        </p:sp>
        <p:cxnSp>
          <p:nvCxnSpPr>
            <p:cNvPr id="12" name="brace"/>
            <p:cNvCxnSpPr/>
            <p:nvPr/>
          </p:nvCxnSpPr>
          <p:spPr>
            <a:xfrm>
              <a:off x="4617720" y="2743200"/>
              <a:ext cx="1463040" cy="1280160"/>
            </a:xfrm>
            <a:prstGeom prst="line">
              <a:avLst/>
            </a:prstGeom>
            <a:ln w="19050">
              <a:solidFill>
                <a:srgbClr val="9AA0A6"/>
              </a:solidFill>
            </a:ln>
          </p:spPr>
        </p:cxnSp>
        <p:cxnSp>
          <p:nvCxnSpPr>
            <p:cNvPr id="13" name="brace"/>
            <p:cNvCxnSpPr/>
            <p:nvPr/>
          </p:nvCxnSpPr>
          <p:spPr>
            <a:xfrm flipH="1">
              <a:off x="4617720" y="2743200"/>
              <a:ext cx="1463040" cy="1280160"/>
            </a:xfrm>
            <a:prstGeom prst="line">
              <a:avLst/>
            </a:prstGeom>
            <a:ln w="19050">
              <a:solidFill>
                <a:srgbClr val="9AA0A6"/>
              </a:solidFill>
            </a:ln>
          </p:spPr>
        </p:cxnSp>
        <p:sp>
          <p:nvSpPr>
            <p:cNvPr id="14" name="pipe"/>
            <p:cNvSpPr/>
            <p:nvPr/>
          </p:nvSpPr>
          <p:spPr>
            <a:xfrm>
              <a:off x="6217920" y="2359152"/>
              <a:ext cx="822960" cy="109728"/>
            </a:xfrm>
            <a:prstGeom prst="rect">
              <a:avLst/>
            </a:prstGeom>
            <a:solidFill>
              <a:srgbClr val="4DA3FF"/>
            </a:solidFill>
            <a:ln>
              <a:noFill/>
            </a:ln>
          </p:spPr>
          <p:txBody>
            <a:bodyPr rtlCol="0" anchor="ctr"/>
            <a:lstStyle/>
            <a:p>
              <a:pPr algn="ctr"/>
            </a:p>
          </p:txBody>
        </p:sp>
        <p:sp>
          <p:nvSpPr>
            <p:cNvPr id="15" name="crane column"/>
            <p:cNvSpPr/>
            <p:nvPr/>
          </p:nvSpPr>
          <p:spPr>
            <a:xfrm>
              <a:off x="6903720" y="2359152"/>
              <a:ext cx="137160" cy="2331720"/>
            </a:xfrm>
            <a:prstGeom prst="rect">
              <a:avLst/>
            </a:prstGeom>
            <a:solidFill>
              <a:srgbClr val="4DA3FF"/>
            </a:solidFill>
            <a:ln>
              <a:noFill/>
            </a:ln>
          </p:spPr>
          <p:txBody>
            <a:bodyPr rtlCol="0" anchor="ctr"/>
            <a:lstStyle/>
            <a:p>
              <a:pPr algn="ctr"/>
            </a:p>
          </p:txBody>
        </p:sp>
        <p:sp>
          <p:nvSpPr>
            <p:cNvPr id="16" name="swing arm"/>
            <p:cNvSpPr/>
            <p:nvPr/>
          </p:nvSpPr>
          <p:spPr>
            <a:xfrm>
              <a:off x="6903720" y="2743200"/>
              <a:ext cx="1463040" cy="128016"/>
            </a:xfrm>
            <a:prstGeom prst="rect">
              <a:avLst/>
            </a:prstGeom>
            <a:solidFill>
              <a:srgbClr val="4DA3FF"/>
            </a:solidFill>
            <a:ln>
              <a:noFill/>
            </a:ln>
          </p:spPr>
          <p:txBody>
            <a:bodyPr rtlCol="0" anchor="ctr"/>
            <a:lstStyle/>
            <a:p>
              <a:pPr algn="ctr"/>
            </a:p>
          </p:txBody>
        </p:sp>
        <p:sp>
          <p:nvSpPr>
            <p:cNvPr id="17" name="spout"/>
            <p:cNvSpPr/>
            <p:nvPr/>
          </p:nvSpPr>
          <p:spPr>
            <a:xfrm>
              <a:off x="8275320" y="2743200"/>
              <a:ext cx="109728" cy="566928"/>
            </a:xfrm>
            <a:prstGeom prst="rect">
              <a:avLst/>
            </a:prstGeom>
            <a:solidFill>
              <a:srgbClr val="4DA3FF"/>
            </a:solidFill>
            <a:ln>
              <a:noFill/>
            </a:ln>
          </p:spPr>
          <p:txBody>
            <a:bodyPr rtlCol="0" anchor="ctr"/>
            <a:lstStyle/>
            <a:p>
              <a:pPr algn="ctr"/>
            </a:p>
          </p:txBody>
        </p:sp>
        <p:sp>
          <p:nvSpPr>
            <p:cNvPr id="18" name="tender"/>
            <p:cNvSpPr/>
            <p:nvPr/>
          </p:nvSpPr>
          <p:spPr>
            <a:xfrm>
              <a:off x="7269480" y="3611880"/>
              <a:ext cx="2194560" cy="731520"/>
            </a:xfrm>
            <a:prstGeom prst="roundRect">
              <a:avLst>
                <a:gd name="adj" fmla="val 5000"/>
              </a:avLst>
            </a:prstGeom>
            <a:solidFill>
              <a:srgbClr val="9AA0A6"/>
            </a:solidFill>
            <a:ln>
              <a:noFill/>
            </a:ln>
          </p:spPr>
          <p:txBody>
            <a:bodyPr rtlCol="0" anchor="ctr"/>
            <a:lstStyle/>
            <a:p>
              <a:pPr algn="ctr"/>
            </a:p>
          </p:txBody>
        </p:sp>
        <p:sp>
          <p:nvSpPr>
            <p:cNvPr id="19" name="tender label"/>
            <p:cNvSpPr txBox="1"/>
            <p:nvPr/>
          </p:nvSpPr>
          <p:spPr>
            <a:xfrm>
              <a:off x="7269480" y="3977639"/>
              <a:ext cx="914400" cy="320040"/>
            </a:xfrm>
            <a:prstGeom prst="rect">
              <a:avLst/>
            </a:prstGeom>
            <a:noFill/>
          </p:spPr>
          <p:txBody>
            <a:bodyPr wrap="square" anchor="ctr" lIns="18288" tIns="9144" rIns="18288" bIns="9144">
              <a:noAutofit/>
            </a:bodyPr>
            <a:lstStyle/>
            <a:p>
              <a:pPr algn="ctr"/>
              <a:r>
                <a:rPr sz="1400" b="1" i="0" lang="en-GB">
                  <a:solidFill>
                    <a:srgbClr val="101418"/>
                  </a:solidFill>
                  <a:latin typeface="Arial"/>
                </a:rPr>
                <a:t>Tender</a:t>
              </a:r>
            </a:p>
          </p:txBody>
        </p:sp>
        <p:sp>
          <p:nvSpPr>
            <p:cNvPr id="20" name="hatch"/>
            <p:cNvSpPr/>
            <p:nvPr/>
          </p:nvSpPr>
          <p:spPr>
            <a:xfrm>
              <a:off x="8129016" y="3456432"/>
              <a:ext cx="320040" cy="320040"/>
            </a:xfrm>
            <a:prstGeom prst="ellipse">
              <a:avLst/>
            </a:prstGeom>
            <a:solidFill>
              <a:srgbClr val="1B1D21"/>
            </a:solidFill>
            <a:ln w="25400">
              <a:solidFill>
                <a:srgbClr val="F2F2F2"/>
              </a:solidFill>
            </a:ln>
          </p:spPr>
          <p:txBody>
            <a:bodyPr rtlCol="0" anchor="ctr"/>
            <a:lstStyle/>
            <a:p>
              <a:pPr algn="ctr"/>
            </a:p>
          </p:txBody>
        </p:sp>
        <p:sp>
          <p:nvSpPr>
            <p:cNvPr id="21" name="rail"/>
            <p:cNvSpPr/>
            <p:nvPr/>
          </p:nvSpPr>
          <p:spPr>
            <a:xfrm>
              <a:off x="7040880" y="4709160"/>
              <a:ext cx="2743200" cy="64008"/>
            </a:xfrm>
            <a:prstGeom prst="rect">
              <a:avLst/>
            </a:prstGeom>
            <a:solidFill>
              <a:srgbClr val="9AA0A6"/>
            </a:solidFill>
            <a:ln>
              <a:noFill/>
            </a:ln>
          </p:spPr>
          <p:txBody>
            <a:bodyPr rtlCol="0" anchor="ctr"/>
            <a:lstStyle/>
            <a:p>
              <a:pPr algn="ctr"/>
            </a:p>
          </p:txBody>
        </p:sp>
        <p:sp>
          <p:nvSpPr>
            <p:cNvPr id="22" name="wheel"/>
            <p:cNvSpPr/>
            <p:nvPr/>
          </p:nvSpPr>
          <p:spPr>
            <a:xfrm>
              <a:off x="7589520" y="4343400"/>
              <a:ext cx="365760" cy="365760"/>
            </a:xfrm>
            <a:prstGeom prst="ellipse">
              <a:avLst/>
            </a:prstGeom>
            <a:solidFill>
              <a:srgbClr val="1B1D21"/>
            </a:solidFill>
            <a:ln w="25400">
              <a:solidFill>
                <a:srgbClr val="9AA0A6"/>
              </a:solidFill>
            </a:ln>
          </p:spPr>
          <p:txBody>
            <a:bodyPr rtlCol="0" anchor="ctr"/>
            <a:lstStyle/>
            <a:p>
              <a:pPr algn="ctr"/>
            </a:p>
          </p:txBody>
        </p:sp>
        <p:sp>
          <p:nvSpPr>
            <p:cNvPr id="23" name="wheel"/>
            <p:cNvSpPr/>
            <p:nvPr/>
          </p:nvSpPr>
          <p:spPr>
            <a:xfrm>
              <a:off x="8778240" y="4343400"/>
              <a:ext cx="365760" cy="365760"/>
            </a:xfrm>
            <a:prstGeom prst="ellipse">
              <a:avLst/>
            </a:prstGeom>
            <a:solidFill>
              <a:srgbClr val="1B1D21"/>
            </a:solidFill>
            <a:ln w="25400">
              <a:solidFill>
                <a:srgbClr val="9AA0A6"/>
              </a:solidFill>
            </a:ln>
          </p:spPr>
          <p:txBody>
            <a:bodyPr rtlCol="0" anchor="ctr"/>
            <a:lstStyle/>
            <a:p>
              <a:pPr algn="ctr"/>
            </a:p>
          </p:txBody>
        </p:sp>
        <p:cxnSp>
          <p:nvCxnSpPr>
            <p:cNvPr id="24" name="gravity arrow"/>
            <p:cNvCxnSpPr/>
            <p:nvPr/>
          </p:nvCxnSpPr>
          <p:spPr>
            <a:xfrm>
              <a:off x="6629400" y="2926080"/>
              <a:ext cx="0" cy="685800"/>
            </a:xfrm>
            <a:prstGeom prst="line">
              <a:avLst/>
            </a:prstGeom>
            <a:ln w="28575">
              <a:solidFill>
                <a:srgbClr val="F2F2F2"/>
              </a:solidFill>
              <a:tailEnd type="triangle" w="med" len="med"/>
            </a:ln>
          </p:spPr>
        </p:cxnSp>
        <p:cxnSp>
          <p:nvCxnSpPr>
            <p:cNvPr id="25" name="gravity arrow"/>
            <p:cNvCxnSpPr/>
            <p:nvPr/>
          </p:nvCxnSpPr>
          <p:spPr>
            <a:xfrm>
              <a:off x="6766560" y="2926080"/>
              <a:ext cx="0" cy="685800"/>
            </a:xfrm>
            <a:prstGeom prst="line">
              <a:avLst/>
            </a:prstGeom>
            <a:ln w="28575">
              <a:solidFill>
                <a:srgbClr val="F2F2F2"/>
              </a:solidFill>
              <a:tailEnd type="triangle" w="med" len="med"/>
            </a:ln>
          </p:spPr>
        </p:cxnSp>
        <p:sp>
          <p:nvSpPr>
            <p:cNvPr id="26" name="gravity label"/>
            <p:cNvSpPr txBox="1"/>
            <p:nvPr/>
          </p:nvSpPr>
          <p:spPr>
            <a:xfrm>
              <a:off x="5852160" y="3703320"/>
              <a:ext cx="1280160" cy="320040"/>
            </a:xfrm>
            <a:prstGeom prst="rect">
              <a:avLst/>
            </a:prstGeom>
            <a:noFill/>
          </p:spPr>
          <p:txBody>
            <a:bodyPr wrap="square" anchor="ctr" lIns="18288" tIns="9144" rIns="18288" bIns="9144">
              <a:noAutofit/>
            </a:bodyPr>
            <a:lstStyle/>
            <a:p>
              <a:pPr algn="ctr"/>
              <a:r>
                <a:rPr sz="1400" b="1" i="0" lang="en-GB">
                  <a:solidFill>
                    <a:srgbClr val="F2F2F2"/>
                  </a:solidFill>
                  <a:latin typeface="Arial"/>
                </a:rPr>
                <a:t>Gravity</a:t>
              </a:r>
            </a:p>
          </p:txBody>
        </p:sp>
        <p:sp>
          <p:nvSpPr>
            <p:cNvPr id="27" name="swing arrow"/>
            <p:cNvSpPr/>
            <p:nvPr/>
          </p:nvSpPr>
          <p:spPr>
            <a:xfrm>
              <a:off x="6858000" y="1783080"/>
              <a:ext cx="1554480" cy="411480"/>
            </a:xfrm>
            <a:custGeom>
              <a:avLst/>
              <a:gdLst/>
              <a:ahLst/>
              <a:cxnLst/>
              <a:rect l="l" t="t" r="r" b="b"/>
              <a:pathLst>
                <a:path w="1554480" h="411480">
                  <a:moveTo>
                    <a:pt x="0" y="411480"/>
                  </a:moveTo>
                  <a:lnTo>
                    <a:pt x="55517" y="354796"/>
                  </a:lnTo>
                  <a:lnTo>
                    <a:pt x="111034" y="302311"/>
                  </a:lnTo>
                  <a:lnTo>
                    <a:pt x="166551" y="254025"/>
                  </a:lnTo>
                  <a:lnTo>
                    <a:pt x="222068" y="209938"/>
                  </a:lnTo>
                  <a:lnTo>
                    <a:pt x="277585" y="170050"/>
                  </a:lnTo>
                  <a:lnTo>
                    <a:pt x="333102" y="134360"/>
                  </a:lnTo>
                  <a:lnTo>
                    <a:pt x="388620" y="102870"/>
                  </a:lnTo>
                  <a:lnTo>
                    <a:pt x="444137" y="75577"/>
                  </a:lnTo>
                  <a:lnTo>
                    <a:pt x="499654" y="52484"/>
                  </a:lnTo>
                  <a:lnTo>
                    <a:pt x="555171" y="33590"/>
                  </a:lnTo>
                  <a:lnTo>
                    <a:pt x="610688" y="18894"/>
                  </a:lnTo>
                  <a:lnTo>
                    <a:pt x="666205" y="8397"/>
                  </a:lnTo>
                  <a:lnTo>
                    <a:pt x="721722" y="2099"/>
                  </a:lnTo>
                  <a:lnTo>
                    <a:pt x="777240" y="0"/>
                  </a:lnTo>
                  <a:lnTo>
                    <a:pt x="832757" y="2099"/>
                  </a:lnTo>
                  <a:lnTo>
                    <a:pt x="888274" y="8397"/>
                  </a:lnTo>
                  <a:lnTo>
                    <a:pt x="943791" y="18894"/>
                  </a:lnTo>
                  <a:lnTo>
                    <a:pt x="999308" y="33590"/>
                  </a:lnTo>
                  <a:lnTo>
                    <a:pt x="1054825" y="52484"/>
                  </a:lnTo>
                  <a:lnTo>
                    <a:pt x="1110342" y="75577"/>
                  </a:lnTo>
                  <a:lnTo>
                    <a:pt x="1165859" y="102870"/>
                  </a:lnTo>
                  <a:lnTo>
                    <a:pt x="1221377" y="134360"/>
                  </a:lnTo>
                  <a:lnTo>
                    <a:pt x="1276894" y="170050"/>
                  </a:lnTo>
                  <a:lnTo>
                    <a:pt x="1332411" y="209938"/>
                  </a:lnTo>
                  <a:lnTo>
                    <a:pt x="1387928" y="254025"/>
                  </a:lnTo>
                  <a:lnTo>
                    <a:pt x="1443445" y="302311"/>
                  </a:lnTo>
                  <a:lnTo>
                    <a:pt x="1498962" y="354796"/>
                  </a:lnTo>
                  <a:lnTo>
                    <a:pt x="1554480" y="411480"/>
                  </a:lnTo>
                </a:path>
              </a:pathLst>
            </a:custGeom>
            <a:noFill/>
            <a:ln w="31750">
              <a:solidFill>
                <a:srgbClr val="F28C28"/>
              </a:solidFill>
              <a:tailEnd type="triangle" w="med" len="med"/>
            </a:ln>
          </p:spPr>
          <p:txBody>
            <a:bodyPr rtlCol="0" anchor="ctr"/>
            <a:lstStyle/>
            <a:p>
              <a:pPr algn="ctr"/>
            </a:p>
          </p:txBody>
        </p:sp>
        <p:sp>
          <p:nvSpPr>
            <p:cNvPr id="28" name="swing label"/>
            <p:cNvSpPr txBox="1"/>
            <p:nvPr/>
          </p:nvSpPr>
          <p:spPr>
            <a:xfrm>
              <a:off x="6583680" y="1325880"/>
              <a:ext cx="3017520" cy="365760"/>
            </a:xfrm>
            <a:prstGeom prst="rect">
              <a:avLst/>
            </a:prstGeom>
            <a:noFill/>
          </p:spPr>
          <p:txBody>
            <a:bodyPr wrap="square" anchor="ctr" lIns="18288" tIns="9144" rIns="18288" bIns="9144">
              <a:noAutofit/>
            </a:bodyPr>
            <a:lstStyle/>
            <a:p>
              <a:pPr algn="ctr"/>
              <a:r>
                <a:rPr sz="1400" b="1" i="0" lang="en-GB">
                  <a:solidFill>
                    <a:srgbClr val="F28C28"/>
                  </a:solidFill>
                  <a:latin typeface="Arial"/>
                </a:rPr>
                <a:t>Arm swings over the hatch</a:t>
              </a:r>
            </a:p>
          </p:txBody>
        </p:sp>
      </p:grpSp>
      <p:pic>
        <p:nvPicPr>
          <p:cNvPr id="29" name="P07_water_tower_signal" descr="A water tower with a signal beside it."/>
          <p:cNvPicPr>
            <a:picLocks noChangeAspect="1"/>
          </p:cNvPicPr>
          <p:nvPr/>
        </p:nvPicPr>
        <p:blipFill>
          <a:blip r:embed="rId3"/>
          <a:srcRect t="17258" b="35040"/>
          <a:stretch>
            <a:fillRect/>
          </a:stretch>
        </p:blipFill>
        <p:spPr>
          <a:xfrm>
            <a:off x="9601200" y="3566160"/>
            <a:ext cx="2039112" cy="1463040"/>
          </a:xfrm>
          <a:prstGeom prst="roundRect">
            <a:avLst>
              <a:gd name="adj" fmla="val 5000"/>
            </a:avLst>
          </a:prstGeom>
        </p:spPr>
      </p:pic>
      <p:sp>
        <p:nvSpPr>
          <p:cNvPr id="30" name="CREDIT"/>
          <p:cNvSpPr txBox="1"/>
          <p:nvPr/>
        </p:nvSpPr>
        <p:spPr>
          <a:xfrm>
            <a:off x="9601200" y="5056632"/>
            <a:ext cx="2039112" cy="219456"/>
          </a:xfrm>
          <a:prstGeom prst="rect">
            <a:avLst/>
          </a:prstGeom>
          <a:noFill/>
        </p:spPr>
        <p:txBody>
          <a:bodyPr wrap="square" anchor="t" lIns="0" tIns="0" rIns="0" bIns="0">
            <a:noAutofit/>
          </a:bodyPr>
          <a:lstStyle/>
          <a:p>
            <a:pPr algn="l"/>
            <a:r>
              <a:rPr sz="1000" b="0" i="0" lang="en-GB">
                <a:solidFill>
                  <a:srgbClr val="A9B0B8"/>
                </a:solidFill>
                <a:latin typeface="Arial"/>
              </a:rPr>
              <a:t>David Merrett, CC BY 2.0</a:t>
            </a:r>
          </a:p>
        </p:txBody>
      </p:sp>
      <p:sp>
        <p:nvSpPr>
          <p:cNvPr id="31"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2"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3"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water crane swings over the engine. Water flows down from a tank above.</a:t>
            </a:r>
          </a:p>
        </p:txBody>
      </p:sp>
      <p:sp>
        <p:nvSpPr>
          <p:cNvPr id="34"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Taking on coal</a:t>
            </a:r>
          </a:p>
        </p:txBody>
      </p:sp>
      <p:sp>
        <p:nvSpPr>
          <p:cNvPr id="3" name="CHIP"/>
          <p:cNvSpPr/>
          <p:nvPr/>
        </p:nvSpPr>
        <p:spPr>
          <a:xfrm>
            <a:off x="10088575" y="530352"/>
            <a:ext cx="1554480" cy="365760"/>
          </a:xfrm>
          <a:prstGeom prst="roundRect">
            <a:avLst>
              <a:gd name="adj" fmla="val 30000"/>
            </a:avLst>
          </a:prstGeom>
          <a:solidFill>
            <a:srgbClr val="4A515B"/>
          </a:solidFill>
          <a:ln>
            <a:noFill/>
          </a:ln>
        </p:spPr>
        <p:txBody>
          <a:bodyPr rtlCol="0" anchor="ctr" wrap="square" lIns="54864" tIns="0" rIns="54864" bIns="0">
            <a:noAutofit/>
          </a:bodyPr>
          <a:lstStyle/>
          <a:p>
            <a:pPr algn="ctr"/>
            <a:r>
              <a:rPr sz="1400" b="1" i="0" lang="en-GB">
                <a:solidFill>
                  <a:srgbClr val="F2F2F2"/>
                </a:solidFill>
                <a:latin typeface="Arial"/>
              </a:rPr>
              <a:t>BACKGROUND</a:t>
            </a:r>
          </a:p>
        </p:txBody>
      </p:sp>
      <p:pic>
        <p:nvPicPr>
          <p:cNvPr id="4" name="P08_coaling_stage_didcot" descr="A raised coaling stage at the Great Western Society site, Didcot."/>
          <p:cNvPicPr>
            <a:picLocks noChangeAspect="1"/>
          </p:cNvPicPr>
          <p:nvPr/>
        </p:nvPicPr>
        <p:blipFill>
          <a:blip r:embed="rId2"/>
          <a:srcRect l="8636" r="12955"/>
          <a:stretch>
            <a:fillRect/>
          </a:stretch>
        </p:blipFill>
        <p:spPr>
          <a:xfrm>
            <a:off x="548640" y="1325880"/>
            <a:ext cx="4206240" cy="4023360"/>
          </a:xfrm>
          <a:prstGeom prst="roundRect">
            <a:avLst>
              <a:gd name="adj" fmla="val 1818"/>
            </a:avLst>
          </a:prstGeom>
        </p:spPr>
      </p:pic>
      <p:sp>
        <p:nvSpPr>
          <p:cNvPr id="5" name="CREDIT"/>
          <p:cNvSpPr txBox="1"/>
          <p:nvPr/>
        </p:nvSpPr>
        <p:spPr>
          <a:xfrm>
            <a:off x="548640" y="5394960"/>
            <a:ext cx="4206240" cy="219456"/>
          </a:xfrm>
          <a:prstGeom prst="rect">
            <a:avLst/>
          </a:prstGeom>
          <a:noFill/>
        </p:spPr>
        <p:txBody>
          <a:bodyPr wrap="square" anchor="t" lIns="0" tIns="0" rIns="0" bIns="0">
            <a:noAutofit/>
          </a:bodyPr>
          <a:lstStyle/>
          <a:p>
            <a:pPr algn="l"/>
            <a:r>
              <a:rPr sz="1000" b="0" i="0" lang="en-GB">
                <a:solidFill>
                  <a:srgbClr val="A9B0B8"/>
                </a:solidFill>
                <a:latin typeface="Arial"/>
              </a:rPr>
              <a:t>Gillett's Crossing, CC BY 2.0. A coaling stage, Didcot.</a:t>
            </a:r>
          </a:p>
        </p:txBody>
      </p:sp>
      <p:grpSp>
        <p:nvGrpSpPr>
          <p:cNvPr id="6" name="Coal stage and coaling tower" descr="Two ways to fill a tender with coal. A coal stage is a raised platform with a chute. A coaling tower has a hopper above the tender. Gravity does the work."/>
          <p:cNvGrpSpPr/>
          <p:nvPr/>
        </p:nvGrpSpPr>
        <p:grpSpPr>
          <a:xfrm>
            <a:off x="5029200" y="1280160"/>
            <a:ext cx="6583680" cy="4297680"/>
            <a:chOff x="5029200" y="1280160"/>
            <a:chExt cx="6583680" cy="4297680"/>
          </a:xfrm>
        </p:grpSpPr>
        <p:sp>
          <p:nvSpPr>
            <p:cNvPr id="7" name="diagram title"/>
            <p:cNvSpPr txBox="1"/>
            <p:nvPr/>
          </p:nvSpPr>
          <p:spPr>
            <a:xfrm>
              <a:off x="5029200" y="1280160"/>
              <a:ext cx="2743200" cy="320040"/>
            </a:xfrm>
            <a:prstGeom prst="rect">
              <a:avLst/>
            </a:prstGeom>
            <a:noFill/>
          </p:spPr>
          <p:txBody>
            <a:bodyPr wrap="square" anchor="ctr" lIns="18288" tIns="9144" rIns="18288" bIns="9144">
              <a:noAutofit/>
            </a:bodyPr>
            <a:lstStyle/>
            <a:p>
              <a:pPr algn="l"/>
              <a:r>
                <a:rPr sz="1800" b="1" i="0" lang="en-GB">
                  <a:solidFill>
                    <a:srgbClr val="F28C28"/>
                  </a:solidFill>
                  <a:latin typeface="Arial"/>
                </a:rPr>
                <a:t>Coal stage</a:t>
              </a:r>
            </a:p>
          </p:txBody>
        </p:sp>
        <p:sp>
          <p:nvSpPr>
            <p:cNvPr id="8" name="rail"/>
            <p:cNvSpPr/>
            <p:nvPr/>
          </p:nvSpPr>
          <p:spPr>
            <a:xfrm>
              <a:off x="5029200" y="2971800"/>
              <a:ext cx="6583680" cy="64008"/>
            </a:xfrm>
            <a:prstGeom prst="rect">
              <a:avLst/>
            </a:prstGeom>
            <a:solidFill>
              <a:srgbClr val="9AA0A6"/>
            </a:solidFill>
            <a:ln>
              <a:noFill/>
            </a:ln>
          </p:spPr>
          <p:txBody>
            <a:bodyPr rtlCol="0" anchor="ctr"/>
            <a:lstStyle/>
            <a:p>
              <a:pPr algn="ctr"/>
            </a:p>
          </p:txBody>
        </p:sp>
        <p:sp>
          <p:nvSpPr>
            <p:cNvPr id="9" name="coal heap"/>
            <p:cNvSpPr/>
            <p:nvPr/>
          </p:nvSpPr>
          <p:spPr>
            <a:xfrm>
              <a:off x="5486400" y="1645920"/>
              <a:ext cx="1920240" cy="365760"/>
            </a:xfrm>
            <a:custGeom>
              <a:avLst/>
              <a:gdLst/>
              <a:ahLst/>
              <a:cxnLst/>
              <a:rect l="l" t="t" r="r" b="b"/>
              <a:pathLst>
                <a:path w="1920240" h="365760">
                  <a:moveTo>
                    <a:pt x="0" y="365760"/>
                  </a:moveTo>
                  <a:lnTo>
                    <a:pt x="457200" y="137160"/>
                  </a:lnTo>
                  <a:lnTo>
                    <a:pt x="822960" y="0"/>
                  </a:lnTo>
                  <a:lnTo>
                    <a:pt x="1188720" y="91440"/>
                  </a:lnTo>
                  <a:lnTo>
                    <a:pt x="1554480" y="45720"/>
                  </a:lnTo>
                  <a:lnTo>
                    <a:pt x="1920240" y="365760"/>
                  </a:lnTo>
                  <a:close/>
                </a:path>
              </a:pathLst>
            </a:custGeom>
            <a:solidFill>
              <a:srgbClr val="1B1D21"/>
            </a:solidFill>
            <a:ln w="25400">
              <a:solidFill>
                <a:srgbClr val="B5BBC2"/>
              </a:solidFill>
            </a:ln>
          </p:spPr>
          <p:txBody>
            <a:bodyPr rtlCol="0" anchor="ctr"/>
            <a:lstStyle/>
            <a:p>
              <a:pPr algn="ctr"/>
            </a:p>
          </p:txBody>
        </p:sp>
        <p:sp>
          <p:nvSpPr>
            <p:cNvPr id="10" name="platform"/>
            <p:cNvSpPr/>
            <p:nvPr/>
          </p:nvSpPr>
          <p:spPr>
            <a:xfrm>
              <a:off x="5120640" y="2011680"/>
              <a:ext cx="2926080" cy="128016"/>
            </a:xfrm>
            <a:prstGeom prst="rect">
              <a:avLst/>
            </a:prstGeom>
            <a:solidFill>
              <a:srgbClr val="9AA0A6"/>
            </a:solidFill>
            <a:ln>
              <a:noFill/>
            </a:ln>
          </p:spPr>
          <p:txBody>
            <a:bodyPr rtlCol="0" anchor="ctr"/>
            <a:lstStyle/>
            <a:p>
              <a:pPr algn="ctr"/>
            </a:p>
          </p:txBody>
        </p:sp>
        <p:sp>
          <p:nvSpPr>
            <p:cNvPr id="11" name="post"/>
            <p:cNvSpPr/>
            <p:nvPr/>
          </p:nvSpPr>
          <p:spPr>
            <a:xfrm>
              <a:off x="5212080" y="2139696"/>
              <a:ext cx="91440" cy="832104"/>
            </a:xfrm>
            <a:prstGeom prst="rect">
              <a:avLst/>
            </a:prstGeom>
            <a:solidFill>
              <a:srgbClr val="9AA0A6"/>
            </a:solidFill>
            <a:ln>
              <a:noFill/>
            </a:ln>
          </p:spPr>
          <p:txBody>
            <a:bodyPr rtlCol="0" anchor="ctr"/>
            <a:lstStyle/>
            <a:p>
              <a:pPr algn="ctr"/>
            </a:p>
          </p:txBody>
        </p:sp>
        <p:sp>
          <p:nvSpPr>
            <p:cNvPr id="12" name="post"/>
            <p:cNvSpPr/>
            <p:nvPr/>
          </p:nvSpPr>
          <p:spPr>
            <a:xfrm>
              <a:off x="6126480" y="2139696"/>
              <a:ext cx="91440" cy="832104"/>
            </a:xfrm>
            <a:prstGeom prst="rect">
              <a:avLst/>
            </a:prstGeom>
            <a:solidFill>
              <a:srgbClr val="9AA0A6"/>
            </a:solidFill>
            <a:ln>
              <a:noFill/>
            </a:ln>
          </p:spPr>
          <p:txBody>
            <a:bodyPr rtlCol="0" anchor="ctr"/>
            <a:lstStyle/>
            <a:p>
              <a:pPr algn="ctr"/>
            </a:p>
          </p:txBody>
        </p:sp>
        <p:sp>
          <p:nvSpPr>
            <p:cNvPr id="13" name="post"/>
            <p:cNvSpPr/>
            <p:nvPr/>
          </p:nvSpPr>
          <p:spPr>
            <a:xfrm>
              <a:off x="7040880" y="2139696"/>
              <a:ext cx="91440" cy="832104"/>
            </a:xfrm>
            <a:prstGeom prst="rect">
              <a:avLst/>
            </a:prstGeom>
            <a:solidFill>
              <a:srgbClr val="9AA0A6"/>
            </a:solidFill>
            <a:ln>
              <a:noFill/>
            </a:ln>
          </p:spPr>
          <p:txBody>
            <a:bodyPr rtlCol="0" anchor="ctr"/>
            <a:lstStyle/>
            <a:p>
              <a:pPr algn="ctr"/>
            </a:p>
          </p:txBody>
        </p:sp>
        <p:sp>
          <p:nvSpPr>
            <p:cNvPr id="14" name="post"/>
            <p:cNvSpPr/>
            <p:nvPr/>
          </p:nvSpPr>
          <p:spPr>
            <a:xfrm>
              <a:off x="7863840" y="2139696"/>
              <a:ext cx="91440" cy="832104"/>
            </a:xfrm>
            <a:prstGeom prst="rect">
              <a:avLst/>
            </a:prstGeom>
            <a:solidFill>
              <a:srgbClr val="9AA0A6"/>
            </a:solidFill>
            <a:ln>
              <a:noFill/>
            </a:ln>
          </p:spPr>
          <p:txBody>
            <a:bodyPr rtlCol="0" anchor="ctr"/>
            <a:lstStyle/>
            <a:p>
              <a:pPr algn="ctr"/>
            </a:p>
          </p:txBody>
        </p:sp>
        <p:sp>
          <p:nvSpPr>
            <p:cNvPr id="15" name="chute"/>
            <p:cNvSpPr/>
            <p:nvPr/>
          </p:nvSpPr>
          <p:spPr>
            <a:xfrm>
              <a:off x="8046720" y="2011680"/>
              <a:ext cx="1280160" cy="493776"/>
            </a:xfrm>
            <a:custGeom>
              <a:avLst/>
              <a:gdLst/>
              <a:ahLst/>
              <a:cxnLst/>
              <a:rect l="l" t="t" r="r" b="b"/>
              <a:pathLst>
                <a:path w="1280160" h="493776">
                  <a:moveTo>
                    <a:pt x="0" y="0"/>
                  </a:moveTo>
                  <a:lnTo>
                    <a:pt x="1280160" y="365760"/>
                  </a:lnTo>
                  <a:lnTo>
                    <a:pt x="1280160" y="493776"/>
                  </a:lnTo>
                  <a:lnTo>
                    <a:pt x="0" y="128016"/>
                  </a:lnTo>
                  <a:close/>
                </a:path>
              </a:pathLst>
            </a:custGeom>
            <a:solidFill>
              <a:srgbClr val="6C7480"/>
            </a:solidFill>
            <a:ln w="19050">
              <a:solidFill>
                <a:srgbClr val="9AA0A6"/>
              </a:solidFill>
            </a:ln>
          </p:spPr>
          <p:txBody>
            <a:bodyPr rtlCol="0" anchor="ctr"/>
            <a:lstStyle/>
            <a:p>
              <a:pPr algn="ctr"/>
            </a:p>
          </p:txBody>
        </p:sp>
        <p:sp>
          <p:nvSpPr>
            <p:cNvPr id="16" name="tender"/>
            <p:cNvSpPr/>
            <p:nvPr/>
          </p:nvSpPr>
          <p:spPr>
            <a:xfrm>
              <a:off x="8412480" y="2560320"/>
              <a:ext cx="2011680" cy="411480"/>
            </a:xfrm>
            <a:prstGeom prst="roundRect">
              <a:avLst>
                <a:gd name="adj" fmla="val 8888"/>
              </a:avLst>
            </a:prstGeom>
            <a:solidFill>
              <a:srgbClr val="9AA0A6"/>
            </a:solidFill>
            <a:ln>
              <a:noFill/>
            </a:ln>
          </p:spPr>
          <p:txBody>
            <a:bodyPr rtlCol="0" anchor="ctr"/>
            <a:lstStyle/>
            <a:p>
              <a:pPr algn="ctr"/>
            </a:p>
          </p:txBody>
        </p:sp>
        <p:sp>
          <p:nvSpPr>
            <p:cNvPr id="17" name="coal in tender"/>
            <p:cNvSpPr/>
            <p:nvPr/>
          </p:nvSpPr>
          <p:spPr>
            <a:xfrm>
              <a:off x="8503920" y="2514600"/>
              <a:ext cx="1828800" cy="73152"/>
            </a:xfrm>
            <a:prstGeom prst="rect">
              <a:avLst/>
            </a:prstGeom>
            <a:solidFill>
              <a:srgbClr val="1B1D21"/>
            </a:solidFill>
            <a:ln w="12700">
              <a:solidFill>
                <a:srgbClr val="6B7078"/>
              </a:solidFill>
            </a:ln>
          </p:spPr>
          <p:txBody>
            <a:bodyPr rtlCol="0" anchor="ctr"/>
            <a:lstStyle/>
            <a:p>
              <a:pPr algn="ctr"/>
            </a:p>
          </p:txBody>
        </p:sp>
        <p:sp>
          <p:nvSpPr>
            <p:cNvPr id="18" name="wheel"/>
            <p:cNvSpPr/>
            <p:nvPr/>
          </p:nvSpPr>
          <p:spPr>
            <a:xfrm>
              <a:off x="8631936" y="2834640"/>
              <a:ext cx="292608" cy="292608"/>
            </a:xfrm>
            <a:prstGeom prst="ellipse">
              <a:avLst/>
            </a:prstGeom>
            <a:solidFill>
              <a:srgbClr val="1B1D21"/>
            </a:solidFill>
            <a:ln w="19050">
              <a:solidFill>
                <a:srgbClr val="9AA0A6"/>
              </a:solidFill>
            </a:ln>
          </p:spPr>
          <p:txBody>
            <a:bodyPr rtlCol="0" anchor="ctr"/>
            <a:lstStyle/>
            <a:p>
              <a:pPr algn="ctr"/>
            </a:p>
          </p:txBody>
        </p:sp>
        <p:sp>
          <p:nvSpPr>
            <p:cNvPr id="19" name="wheel"/>
            <p:cNvSpPr/>
            <p:nvPr/>
          </p:nvSpPr>
          <p:spPr>
            <a:xfrm>
              <a:off x="9912096" y="2834640"/>
              <a:ext cx="292608" cy="292608"/>
            </a:xfrm>
            <a:prstGeom prst="ellipse">
              <a:avLst/>
            </a:prstGeom>
            <a:solidFill>
              <a:srgbClr val="1B1D21"/>
            </a:solidFill>
            <a:ln w="19050">
              <a:solidFill>
                <a:srgbClr val="9AA0A6"/>
              </a:solidFill>
            </a:ln>
          </p:spPr>
          <p:txBody>
            <a:bodyPr rtlCol="0" anchor="ctr"/>
            <a:lstStyle/>
            <a:p>
              <a:pPr algn="ctr"/>
            </a:p>
          </p:txBody>
        </p:sp>
        <p:cxnSp>
          <p:nvCxnSpPr>
            <p:cNvPr id="20" name="gravity arrow"/>
            <p:cNvCxnSpPr/>
            <p:nvPr/>
          </p:nvCxnSpPr>
          <p:spPr>
            <a:xfrm>
              <a:off x="8366760" y="1828800"/>
              <a:ext cx="685800" cy="201168"/>
            </a:xfrm>
            <a:prstGeom prst="line">
              <a:avLst/>
            </a:prstGeom>
            <a:ln w="28575">
              <a:solidFill>
                <a:srgbClr val="F2F2F2"/>
              </a:solidFill>
              <a:tailEnd type="triangle" w="med" len="med"/>
            </a:ln>
          </p:spPr>
        </p:cxnSp>
        <p:sp>
          <p:nvSpPr>
            <p:cNvPr id="21" name="gravity label"/>
            <p:cNvSpPr txBox="1"/>
            <p:nvPr/>
          </p:nvSpPr>
          <p:spPr>
            <a:xfrm>
              <a:off x="7863840" y="1371600"/>
              <a:ext cx="1463040" cy="365760"/>
            </a:xfrm>
            <a:prstGeom prst="rect">
              <a:avLst/>
            </a:prstGeom>
            <a:noFill/>
          </p:spPr>
          <p:txBody>
            <a:bodyPr wrap="square" anchor="ctr" lIns="18288" tIns="9144" rIns="18288" bIns="9144">
              <a:noAutofit/>
            </a:bodyPr>
            <a:lstStyle/>
            <a:p>
              <a:pPr algn="ctr"/>
              <a:r>
                <a:rPr sz="1400" b="1" i="0" lang="en-GB">
                  <a:solidFill>
                    <a:srgbClr val="F2F2F2"/>
                  </a:solidFill>
                  <a:latin typeface="Arial"/>
                </a:rPr>
                <a:t>Gravity</a:t>
              </a:r>
            </a:p>
          </p:txBody>
        </p:sp>
        <p:sp>
          <p:nvSpPr>
            <p:cNvPr id="22" name="diagram title"/>
            <p:cNvSpPr txBox="1"/>
            <p:nvPr/>
          </p:nvSpPr>
          <p:spPr>
            <a:xfrm>
              <a:off x="5029200" y="3200400"/>
              <a:ext cx="2743200" cy="320040"/>
            </a:xfrm>
            <a:prstGeom prst="rect">
              <a:avLst/>
            </a:prstGeom>
            <a:noFill/>
          </p:spPr>
          <p:txBody>
            <a:bodyPr wrap="square" anchor="ctr" lIns="18288" tIns="9144" rIns="18288" bIns="9144">
              <a:noAutofit/>
            </a:bodyPr>
            <a:lstStyle/>
            <a:p>
              <a:pPr algn="l"/>
              <a:r>
                <a:rPr sz="1800" b="1" i="0" lang="en-GB">
                  <a:solidFill>
                    <a:srgbClr val="F28C28"/>
                  </a:solidFill>
                  <a:latin typeface="Arial"/>
                </a:rPr>
                <a:t>Coaling tower</a:t>
              </a:r>
            </a:p>
          </p:txBody>
        </p:sp>
        <p:sp>
          <p:nvSpPr>
            <p:cNvPr id="23" name="rail"/>
            <p:cNvSpPr/>
            <p:nvPr/>
          </p:nvSpPr>
          <p:spPr>
            <a:xfrm>
              <a:off x="5029200" y="5468112"/>
              <a:ext cx="3840480" cy="64008"/>
            </a:xfrm>
            <a:prstGeom prst="rect">
              <a:avLst/>
            </a:prstGeom>
            <a:solidFill>
              <a:srgbClr val="9AA0A6"/>
            </a:solidFill>
            <a:ln>
              <a:noFill/>
            </a:ln>
          </p:spPr>
          <p:txBody>
            <a:bodyPr rtlCol="0" anchor="ctr"/>
            <a:lstStyle/>
            <a:p>
              <a:pPr algn="ctr"/>
            </a:p>
          </p:txBody>
        </p:sp>
        <p:sp>
          <p:nvSpPr>
            <p:cNvPr id="24" name="tower"/>
            <p:cNvSpPr/>
            <p:nvPr/>
          </p:nvSpPr>
          <p:spPr>
            <a:xfrm>
              <a:off x="5806440" y="3566160"/>
              <a:ext cx="914400" cy="1188720"/>
            </a:xfrm>
            <a:prstGeom prst="rect">
              <a:avLst/>
            </a:prstGeom>
            <a:solidFill>
              <a:srgbClr val="9AA0A6"/>
            </a:solidFill>
            <a:ln>
              <a:noFill/>
            </a:ln>
          </p:spPr>
          <p:txBody>
            <a:bodyPr rtlCol="0" anchor="ctr"/>
            <a:lstStyle/>
            <a:p>
              <a:pPr algn="ctr"/>
            </a:p>
          </p:txBody>
        </p:sp>
        <p:sp>
          <p:nvSpPr>
            <p:cNvPr id="25" name="tower cap"/>
            <p:cNvSpPr/>
            <p:nvPr/>
          </p:nvSpPr>
          <p:spPr>
            <a:xfrm>
              <a:off x="5897880" y="3474720"/>
              <a:ext cx="731520" cy="109728"/>
            </a:xfrm>
            <a:prstGeom prst="rect">
              <a:avLst/>
            </a:prstGeom>
            <a:solidFill>
              <a:srgbClr val="6B7078"/>
            </a:solidFill>
            <a:ln>
              <a:noFill/>
            </a:ln>
          </p:spPr>
          <p:txBody>
            <a:bodyPr rtlCol="0" anchor="ctr"/>
            <a:lstStyle/>
            <a:p>
              <a:pPr algn="ctr"/>
            </a:p>
          </p:txBody>
        </p:sp>
        <p:sp>
          <p:nvSpPr>
            <p:cNvPr id="26" name="tower window"/>
            <p:cNvSpPr/>
            <p:nvPr/>
          </p:nvSpPr>
          <p:spPr>
            <a:xfrm>
              <a:off x="5989320" y="3749039"/>
              <a:ext cx="228600" cy="274320"/>
            </a:xfrm>
            <a:prstGeom prst="rect">
              <a:avLst/>
            </a:prstGeom>
            <a:solidFill>
              <a:srgbClr val="1B1D21"/>
            </a:solidFill>
            <a:ln w="12700">
              <a:solidFill>
                <a:srgbClr val="6B7078"/>
              </a:solidFill>
            </a:ln>
          </p:spPr>
          <p:txBody>
            <a:bodyPr rtlCol="0" anchor="ctr"/>
            <a:lstStyle/>
            <a:p>
              <a:pPr algn="ctr"/>
            </a:p>
          </p:txBody>
        </p:sp>
        <p:sp>
          <p:nvSpPr>
            <p:cNvPr id="27" name="hopper"/>
            <p:cNvSpPr/>
            <p:nvPr/>
          </p:nvSpPr>
          <p:spPr>
            <a:xfrm>
              <a:off x="5806440" y="4754880"/>
              <a:ext cx="914400" cy="320040"/>
            </a:xfrm>
            <a:custGeom>
              <a:avLst/>
              <a:gdLst/>
              <a:ahLst/>
              <a:cxnLst/>
              <a:rect l="l" t="t" r="r" b="b"/>
              <a:pathLst>
                <a:path w="914400" h="320040">
                  <a:moveTo>
                    <a:pt x="0" y="0"/>
                  </a:moveTo>
                  <a:lnTo>
                    <a:pt x="914400" y="0"/>
                  </a:lnTo>
                  <a:lnTo>
                    <a:pt x="594360" y="320040"/>
                  </a:lnTo>
                  <a:lnTo>
                    <a:pt x="320040" y="320040"/>
                  </a:lnTo>
                  <a:close/>
                </a:path>
              </a:pathLst>
            </a:custGeom>
            <a:solidFill>
              <a:srgbClr val="6B7078"/>
            </a:solidFill>
            <a:ln w="19050">
              <a:solidFill>
                <a:srgbClr val="9AA0A6"/>
              </a:solidFill>
            </a:ln>
          </p:spPr>
          <p:txBody>
            <a:bodyPr rtlCol="0" anchor="ctr"/>
            <a:lstStyle/>
            <a:p>
              <a:pPr algn="ctr"/>
            </a:p>
          </p:txBody>
        </p:sp>
        <p:sp>
          <p:nvSpPr>
            <p:cNvPr id="28" name="tender"/>
            <p:cNvSpPr/>
            <p:nvPr/>
          </p:nvSpPr>
          <p:spPr>
            <a:xfrm>
              <a:off x="5257800" y="5120640"/>
              <a:ext cx="2011680" cy="347472"/>
            </a:xfrm>
            <a:prstGeom prst="roundRect">
              <a:avLst>
                <a:gd name="adj" fmla="val 10526"/>
              </a:avLst>
            </a:prstGeom>
            <a:solidFill>
              <a:srgbClr val="9AA0A6"/>
            </a:solidFill>
            <a:ln>
              <a:noFill/>
            </a:ln>
          </p:spPr>
          <p:txBody>
            <a:bodyPr rtlCol="0" anchor="ctr"/>
            <a:lstStyle/>
            <a:p>
              <a:pPr algn="ctr"/>
            </a:p>
          </p:txBody>
        </p:sp>
        <p:sp>
          <p:nvSpPr>
            <p:cNvPr id="29" name="coal in tender"/>
            <p:cNvSpPr/>
            <p:nvPr/>
          </p:nvSpPr>
          <p:spPr>
            <a:xfrm>
              <a:off x="5349240" y="5074920"/>
              <a:ext cx="1828800" cy="64008"/>
            </a:xfrm>
            <a:prstGeom prst="rect">
              <a:avLst/>
            </a:prstGeom>
            <a:solidFill>
              <a:srgbClr val="1B1D21"/>
            </a:solidFill>
            <a:ln w="12700">
              <a:solidFill>
                <a:srgbClr val="6B7078"/>
              </a:solidFill>
            </a:ln>
          </p:spPr>
          <p:txBody>
            <a:bodyPr rtlCol="0" anchor="ctr"/>
            <a:lstStyle/>
            <a:p>
              <a:pPr algn="ctr"/>
            </a:p>
          </p:txBody>
        </p:sp>
        <p:sp>
          <p:nvSpPr>
            <p:cNvPr id="30" name="wheel"/>
            <p:cNvSpPr/>
            <p:nvPr/>
          </p:nvSpPr>
          <p:spPr>
            <a:xfrm>
              <a:off x="5449824" y="5321808"/>
              <a:ext cx="256032" cy="256032"/>
            </a:xfrm>
            <a:prstGeom prst="ellipse">
              <a:avLst/>
            </a:prstGeom>
            <a:solidFill>
              <a:srgbClr val="1B1D21"/>
            </a:solidFill>
            <a:ln w="19050">
              <a:solidFill>
                <a:srgbClr val="9AA0A6"/>
              </a:solidFill>
            </a:ln>
          </p:spPr>
          <p:txBody>
            <a:bodyPr rtlCol="0" anchor="ctr"/>
            <a:lstStyle/>
            <a:p>
              <a:pPr algn="ctr"/>
            </a:p>
          </p:txBody>
        </p:sp>
        <p:sp>
          <p:nvSpPr>
            <p:cNvPr id="31" name="wheel"/>
            <p:cNvSpPr/>
            <p:nvPr/>
          </p:nvSpPr>
          <p:spPr>
            <a:xfrm>
              <a:off x="6775704" y="5321808"/>
              <a:ext cx="256032" cy="256032"/>
            </a:xfrm>
            <a:prstGeom prst="ellipse">
              <a:avLst/>
            </a:prstGeom>
            <a:solidFill>
              <a:srgbClr val="1B1D21"/>
            </a:solidFill>
            <a:ln w="19050">
              <a:solidFill>
                <a:srgbClr val="9AA0A6"/>
              </a:solidFill>
            </a:ln>
          </p:spPr>
          <p:txBody>
            <a:bodyPr rtlCol="0" anchor="ctr"/>
            <a:lstStyle/>
            <a:p>
              <a:pPr algn="ctr"/>
            </a:p>
          </p:txBody>
        </p:sp>
      </p:grpSp>
      <p:pic>
        <p:nvPicPr>
          <p:cNvPr id="32" name="P09_coaling_tower_carnforth" descr="A tall coaling tower and a water tower at Carnforth."/>
          <p:cNvPicPr>
            <a:picLocks noChangeAspect="1"/>
          </p:cNvPicPr>
          <p:nvPr/>
        </p:nvPicPr>
        <p:blipFill>
          <a:blip r:embed="rId3"/>
          <a:srcRect t="143" b="143"/>
          <a:stretch>
            <a:fillRect/>
          </a:stretch>
        </p:blipFill>
        <p:spPr>
          <a:xfrm>
            <a:off x="9418320" y="4343400"/>
            <a:ext cx="2221992" cy="841248"/>
          </a:xfrm>
          <a:prstGeom prst="roundRect">
            <a:avLst>
              <a:gd name="adj" fmla="val 8695"/>
            </a:avLst>
          </a:prstGeom>
        </p:spPr>
      </p:pic>
      <p:sp>
        <p:nvSpPr>
          <p:cNvPr id="33" name="CREDIT"/>
          <p:cNvSpPr txBox="1"/>
          <p:nvPr/>
        </p:nvSpPr>
        <p:spPr>
          <a:xfrm>
            <a:off x="9418320" y="5212080"/>
            <a:ext cx="2221992" cy="219456"/>
          </a:xfrm>
          <a:prstGeom prst="rect">
            <a:avLst/>
          </a:prstGeom>
          <a:noFill/>
        </p:spPr>
        <p:txBody>
          <a:bodyPr wrap="square" anchor="t" lIns="0" tIns="0" rIns="0" bIns="0">
            <a:noAutofit/>
          </a:bodyPr>
          <a:lstStyle/>
          <a:p>
            <a:pPr algn="l"/>
            <a:r>
              <a:rPr sz="1000" b="0" i="0" lang="en-GB">
                <a:solidFill>
                  <a:srgbClr val="A9B0B8"/>
                </a:solidFill>
                <a:latin typeface="Arial"/>
              </a:rPr>
              <a:t>kitmasterbloke, CC BY 4.0</a:t>
            </a:r>
          </a:p>
        </p:txBody>
      </p:sp>
      <p:sp>
        <p:nvSpPr>
          <p:cNvPr id="34"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35"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36"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Coal starts higher than the tender. A ramp or tower lets gravity fill it.</a:t>
            </a:r>
          </a:p>
        </p:txBody>
      </p:sp>
      <p:sp>
        <p:nvSpPr>
          <p:cNvPr id="37"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far can an engine go?</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Gauges and range card" descr="A coal gauge and a water gauge for one engine feed a card called Range left, shown as a dial with no number."/>
          <p:cNvGrpSpPr/>
          <p:nvPr/>
        </p:nvGrpSpPr>
        <p:grpSpPr>
          <a:xfrm>
            <a:off x="1097280" y="1554480"/>
            <a:ext cx="10332720" cy="3566160"/>
            <a:chOff x="1097280" y="1554480"/>
            <a:chExt cx="10332720" cy="3566160"/>
          </a:xfrm>
        </p:grpSpPr>
        <p:sp>
          <p:nvSpPr>
            <p:cNvPr id="5" name="coal gauge"/>
            <p:cNvSpPr/>
            <p:nvPr/>
          </p:nvSpPr>
          <p:spPr>
            <a:xfrm>
              <a:off x="1097280" y="1554480"/>
              <a:ext cx="1371600" cy="2834640"/>
            </a:xfrm>
            <a:prstGeom prst="roundRect">
              <a:avLst>
                <a:gd name="adj" fmla="val 6666"/>
              </a:avLst>
            </a:prstGeom>
            <a:solidFill>
              <a:srgbClr val="2B2F36"/>
            </a:solidFill>
            <a:ln w="28575">
              <a:solidFill>
                <a:srgbClr val="9AA0A6"/>
              </a:solidFill>
            </a:ln>
          </p:spPr>
          <p:txBody>
            <a:bodyPr rtlCol="0" anchor="ctr"/>
            <a:lstStyle/>
            <a:p>
              <a:pPr algn="ctr"/>
            </a:p>
          </p:txBody>
        </p:sp>
        <p:sp>
          <p:nvSpPr>
            <p:cNvPr id="6" name="coal gauge fill"/>
            <p:cNvSpPr/>
            <p:nvPr/>
          </p:nvSpPr>
          <p:spPr>
            <a:xfrm>
              <a:off x="1152144" y="2699308"/>
              <a:ext cx="1261872" cy="1634947"/>
            </a:xfrm>
            <a:prstGeom prst="rect">
              <a:avLst/>
            </a:prstGeom>
            <a:solidFill>
              <a:srgbClr val="1B1D21"/>
            </a:solidFill>
            <a:ln w="15875">
              <a:solidFill>
                <a:srgbClr val="8A9099"/>
              </a:solidFill>
            </a:ln>
          </p:spPr>
          <p:txBody>
            <a:bodyPr rtlCol="0" anchor="ctr"/>
            <a:lstStyle/>
            <a:p>
              <a:pPr algn="ctr"/>
            </a:p>
          </p:txBody>
        </p:sp>
        <p:sp>
          <p:nvSpPr>
            <p:cNvPr id="7" name="water gauge"/>
            <p:cNvSpPr/>
            <p:nvPr/>
          </p:nvSpPr>
          <p:spPr>
            <a:xfrm>
              <a:off x="3108960" y="1554480"/>
              <a:ext cx="1371600" cy="2834640"/>
            </a:xfrm>
            <a:prstGeom prst="roundRect">
              <a:avLst>
                <a:gd name="adj" fmla="val 6666"/>
              </a:avLst>
            </a:prstGeom>
            <a:solidFill>
              <a:srgbClr val="2B2F36"/>
            </a:solidFill>
            <a:ln w="28575">
              <a:solidFill>
                <a:srgbClr val="9AA0A6"/>
              </a:solidFill>
            </a:ln>
          </p:spPr>
          <p:txBody>
            <a:bodyPr rtlCol="0" anchor="ctr"/>
            <a:lstStyle/>
            <a:p>
              <a:pPr algn="ctr"/>
            </a:p>
          </p:txBody>
        </p:sp>
        <p:sp>
          <p:nvSpPr>
            <p:cNvPr id="8" name="water gauge fill"/>
            <p:cNvSpPr/>
            <p:nvPr/>
          </p:nvSpPr>
          <p:spPr>
            <a:xfrm>
              <a:off x="3163824" y="3244291"/>
              <a:ext cx="1261872" cy="1089964"/>
            </a:xfrm>
            <a:prstGeom prst="rect">
              <a:avLst/>
            </a:prstGeom>
            <a:solidFill>
              <a:srgbClr val="4DA3FF"/>
            </a:solidFill>
            <a:ln>
              <a:noFill/>
            </a:ln>
          </p:spPr>
          <p:txBody>
            <a:bodyPr rtlCol="0" anchor="ctr"/>
            <a:lstStyle/>
            <a:p>
              <a:pPr algn="ctr"/>
            </a:p>
          </p:txBody>
        </p:sp>
        <p:sp>
          <p:nvSpPr>
            <p:cNvPr id="9" name="gauge label"/>
            <p:cNvSpPr txBox="1"/>
            <p:nvPr/>
          </p:nvSpPr>
          <p:spPr>
            <a:xfrm>
              <a:off x="1097280" y="4462272"/>
              <a:ext cx="13716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Coal</a:t>
              </a:r>
            </a:p>
          </p:txBody>
        </p:sp>
        <p:sp>
          <p:nvSpPr>
            <p:cNvPr id="10" name="gauge label"/>
            <p:cNvSpPr txBox="1"/>
            <p:nvPr/>
          </p:nvSpPr>
          <p:spPr>
            <a:xfrm>
              <a:off x="3108960" y="4462272"/>
              <a:ext cx="1371600" cy="365760"/>
            </a:xfrm>
            <a:prstGeom prst="rect">
              <a:avLst/>
            </a:prstGeom>
            <a:noFill/>
          </p:spPr>
          <p:txBody>
            <a:bodyPr wrap="square" anchor="ctr" lIns="18288" tIns="9144" rIns="18288" bIns="9144">
              <a:noAutofit/>
            </a:bodyPr>
            <a:lstStyle/>
            <a:p>
              <a:pPr algn="ctr"/>
              <a:r>
                <a:rPr sz="1800" b="1" i="0" lang="en-GB">
                  <a:solidFill>
                    <a:srgbClr val="F2F2F2"/>
                  </a:solidFill>
                  <a:latin typeface="Arial"/>
                </a:rPr>
                <a:t>Water</a:t>
              </a:r>
            </a:p>
          </p:txBody>
        </p:sp>
        <p:cxnSp>
          <p:nvCxnSpPr>
            <p:cNvPr id="11" name="flow arrow"/>
            <p:cNvCxnSpPr/>
            <p:nvPr/>
          </p:nvCxnSpPr>
          <p:spPr>
            <a:xfrm>
              <a:off x="4800600" y="2971800"/>
              <a:ext cx="1188720" cy="0"/>
            </a:xfrm>
            <a:prstGeom prst="line">
              <a:avLst/>
            </a:prstGeom>
            <a:ln w="57150">
              <a:solidFill>
                <a:srgbClr val="F28C28"/>
              </a:solidFill>
              <a:tailEnd type="triangle" w="med" len="med"/>
            </a:ln>
          </p:spPr>
        </p:cxnSp>
        <p:sp>
          <p:nvSpPr>
            <p:cNvPr id="12" name="card"/>
            <p:cNvSpPr/>
            <p:nvPr/>
          </p:nvSpPr>
          <p:spPr>
            <a:xfrm>
              <a:off x="6217920" y="1554480"/>
              <a:ext cx="5212080" cy="3566160"/>
            </a:xfrm>
            <a:prstGeom prst="roundRect">
              <a:avLst>
                <a:gd name="adj" fmla="val 2564"/>
              </a:avLst>
            </a:prstGeom>
            <a:solidFill>
              <a:srgbClr val="2B2F36"/>
            </a:solidFill>
            <a:ln w="25400">
              <a:solidFill>
                <a:srgbClr val="F28C28"/>
              </a:solidFill>
            </a:ln>
          </p:spPr>
          <p:txBody>
            <a:bodyPr rtlCol="0" anchor="ctr"/>
            <a:lstStyle/>
            <a:p>
              <a:pPr algn="ctr"/>
            </a:p>
          </p:txBody>
        </p:sp>
        <p:sp>
          <p:nvSpPr>
            <p:cNvPr id="13" name="card title"/>
            <p:cNvSpPr txBox="1"/>
            <p:nvPr/>
          </p:nvSpPr>
          <p:spPr>
            <a:xfrm>
              <a:off x="6492240" y="1691640"/>
              <a:ext cx="4663440" cy="502920"/>
            </a:xfrm>
            <a:prstGeom prst="rect">
              <a:avLst/>
            </a:prstGeom>
            <a:noFill/>
          </p:spPr>
          <p:txBody>
            <a:bodyPr wrap="square" anchor="ctr" lIns="18288" tIns="9144" rIns="18288" bIns="9144">
              <a:noAutofit/>
            </a:bodyPr>
            <a:lstStyle/>
            <a:p>
              <a:pPr algn="l"/>
              <a:r>
                <a:rPr sz="2400" b="1" i="0" lang="en-GB">
                  <a:solidFill>
                    <a:srgbClr val="F2F2F2"/>
                  </a:solidFill>
                  <a:latin typeface="Arial"/>
                </a:rPr>
                <a:t>Range left</a:t>
              </a:r>
            </a:p>
          </p:txBody>
        </p:sp>
        <p:sp>
          <p:nvSpPr>
            <p:cNvPr id="14" name="dial ring"/>
            <p:cNvSpPr/>
            <p:nvPr/>
          </p:nvSpPr>
          <p:spPr>
            <a:xfrm>
              <a:off x="7406640" y="2377440"/>
              <a:ext cx="2834640" cy="1417320"/>
            </a:xfrm>
            <a:custGeom>
              <a:avLst/>
              <a:gdLst/>
              <a:ahLst/>
              <a:cxnLst/>
              <a:rect l="l" t="t" r="r" b="b"/>
              <a:pathLst>
                <a:path w="2834640" h="1417320">
                  <a:moveTo>
                    <a:pt x="2834640" y="1417320"/>
                  </a:moveTo>
                  <a:lnTo>
                    <a:pt x="2822514" y="1232322"/>
                  </a:lnTo>
                  <a:lnTo>
                    <a:pt x="2786345" y="1050490"/>
                  </a:lnTo>
                  <a:lnTo>
                    <a:pt x="2726752" y="874935"/>
                  </a:lnTo>
                  <a:lnTo>
                    <a:pt x="2644755" y="708660"/>
                  </a:lnTo>
                  <a:lnTo>
                    <a:pt x="2541755" y="554510"/>
                  </a:lnTo>
                  <a:lnTo>
                    <a:pt x="2419516" y="415123"/>
                  </a:lnTo>
                  <a:lnTo>
                    <a:pt x="2280129" y="292884"/>
                  </a:lnTo>
                  <a:lnTo>
                    <a:pt x="2125980" y="189884"/>
                  </a:lnTo>
                  <a:lnTo>
                    <a:pt x="1959704" y="107887"/>
                  </a:lnTo>
                  <a:lnTo>
                    <a:pt x="1784149" y="48294"/>
                  </a:lnTo>
                  <a:lnTo>
                    <a:pt x="1602317" y="12125"/>
                  </a:lnTo>
                  <a:lnTo>
                    <a:pt x="1417320" y="0"/>
                  </a:lnTo>
                  <a:lnTo>
                    <a:pt x="1232322" y="12125"/>
                  </a:lnTo>
                  <a:lnTo>
                    <a:pt x="1050490" y="48294"/>
                  </a:lnTo>
                  <a:lnTo>
                    <a:pt x="874935" y="107887"/>
                  </a:lnTo>
                  <a:lnTo>
                    <a:pt x="708660" y="189884"/>
                  </a:lnTo>
                  <a:lnTo>
                    <a:pt x="554510" y="292884"/>
                  </a:lnTo>
                  <a:lnTo>
                    <a:pt x="415123" y="415123"/>
                  </a:lnTo>
                  <a:lnTo>
                    <a:pt x="292884" y="554510"/>
                  </a:lnTo>
                  <a:lnTo>
                    <a:pt x="189884" y="708660"/>
                  </a:lnTo>
                  <a:lnTo>
                    <a:pt x="107887" y="874935"/>
                  </a:lnTo>
                  <a:lnTo>
                    <a:pt x="48294" y="1050490"/>
                  </a:lnTo>
                  <a:lnTo>
                    <a:pt x="12125" y="1232322"/>
                  </a:lnTo>
                  <a:lnTo>
                    <a:pt x="0" y="1417320"/>
                  </a:lnTo>
                  <a:lnTo>
                    <a:pt x="320040" y="1417320"/>
                  </a:lnTo>
                  <a:lnTo>
                    <a:pt x="329427" y="1274096"/>
                  </a:lnTo>
                  <a:lnTo>
                    <a:pt x="357428" y="1133323"/>
                  </a:lnTo>
                  <a:lnTo>
                    <a:pt x="403565" y="997409"/>
                  </a:lnTo>
                  <a:lnTo>
                    <a:pt x="467047" y="868680"/>
                  </a:lnTo>
                  <a:lnTo>
                    <a:pt x="546789" y="749338"/>
                  </a:lnTo>
                  <a:lnTo>
                    <a:pt x="641425" y="641425"/>
                  </a:lnTo>
                  <a:lnTo>
                    <a:pt x="749338" y="546789"/>
                  </a:lnTo>
                  <a:lnTo>
                    <a:pt x="868680" y="467047"/>
                  </a:lnTo>
                  <a:lnTo>
                    <a:pt x="997409" y="403565"/>
                  </a:lnTo>
                  <a:lnTo>
                    <a:pt x="1133323" y="357428"/>
                  </a:lnTo>
                  <a:lnTo>
                    <a:pt x="1274096" y="329427"/>
                  </a:lnTo>
                  <a:lnTo>
                    <a:pt x="1417320" y="320040"/>
                  </a:lnTo>
                  <a:lnTo>
                    <a:pt x="1560543" y="329427"/>
                  </a:lnTo>
                  <a:lnTo>
                    <a:pt x="1701316" y="357428"/>
                  </a:lnTo>
                  <a:lnTo>
                    <a:pt x="1837230" y="403565"/>
                  </a:lnTo>
                  <a:lnTo>
                    <a:pt x="1965960" y="467047"/>
                  </a:lnTo>
                  <a:lnTo>
                    <a:pt x="2085301" y="546789"/>
                  </a:lnTo>
                  <a:lnTo>
                    <a:pt x="2193214" y="641425"/>
                  </a:lnTo>
                  <a:lnTo>
                    <a:pt x="2287850" y="749338"/>
                  </a:lnTo>
                  <a:lnTo>
                    <a:pt x="2367592" y="868680"/>
                  </a:lnTo>
                  <a:lnTo>
                    <a:pt x="2431074" y="997409"/>
                  </a:lnTo>
                  <a:lnTo>
                    <a:pt x="2477211" y="1133323"/>
                  </a:lnTo>
                  <a:lnTo>
                    <a:pt x="2505212" y="1274096"/>
                  </a:lnTo>
                  <a:lnTo>
                    <a:pt x="2514600" y="1417320"/>
                  </a:lnTo>
                  <a:close/>
                </a:path>
              </a:pathLst>
            </a:custGeom>
            <a:solidFill>
              <a:srgbClr val="9AA0A6"/>
            </a:solidFill>
            <a:ln>
              <a:noFill/>
            </a:ln>
          </p:spPr>
          <p:txBody>
            <a:bodyPr rtlCol="0" anchor="ctr"/>
            <a:lstStyle/>
            <a:p>
              <a:pPr algn="ctr"/>
            </a:p>
          </p:txBody>
        </p:sp>
        <p:cxnSp>
          <p:nvCxnSpPr>
            <p:cNvPr id="15" name="tick"/>
            <p:cNvCxnSpPr/>
            <p:nvPr/>
          </p:nvCxnSpPr>
          <p:spPr>
            <a:xfrm flipH="1">
              <a:off x="7744968" y="3794760"/>
              <a:ext cx="146304" cy="0"/>
            </a:xfrm>
            <a:prstGeom prst="line">
              <a:avLst/>
            </a:prstGeom>
            <a:ln w="31750">
              <a:solidFill>
                <a:srgbClr val="F2F2F2"/>
              </a:solidFill>
            </a:ln>
          </p:spPr>
        </p:cxnSp>
        <p:cxnSp>
          <p:nvCxnSpPr>
            <p:cNvPr id="16" name="tick"/>
            <p:cNvCxnSpPr/>
            <p:nvPr/>
          </p:nvCxnSpPr>
          <p:spPr>
            <a:xfrm flipH="1" flipV="1">
              <a:off x="8060997" y="3031797"/>
              <a:ext cx="103452" cy="103452"/>
            </a:xfrm>
            <a:prstGeom prst="line">
              <a:avLst/>
            </a:prstGeom>
            <a:ln w="31750">
              <a:solidFill>
                <a:srgbClr val="F2F2F2"/>
              </a:solidFill>
            </a:ln>
          </p:spPr>
        </p:cxnSp>
        <p:cxnSp>
          <p:nvCxnSpPr>
            <p:cNvPr id="17" name="tick"/>
            <p:cNvCxnSpPr/>
            <p:nvPr/>
          </p:nvCxnSpPr>
          <p:spPr>
            <a:xfrm flipV="1">
              <a:off x="8823960" y="2715768"/>
              <a:ext cx="0" cy="146304"/>
            </a:xfrm>
            <a:prstGeom prst="line">
              <a:avLst/>
            </a:prstGeom>
            <a:ln w="31750">
              <a:solidFill>
                <a:srgbClr val="F2F2F2"/>
              </a:solidFill>
            </a:ln>
          </p:spPr>
        </p:cxnSp>
        <p:cxnSp>
          <p:nvCxnSpPr>
            <p:cNvPr id="18" name="tick"/>
            <p:cNvCxnSpPr/>
            <p:nvPr/>
          </p:nvCxnSpPr>
          <p:spPr>
            <a:xfrm flipV="1">
              <a:off x="9483470" y="3031797"/>
              <a:ext cx="103452" cy="103452"/>
            </a:xfrm>
            <a:prstGeom prst="line">
              <a:avLst/>
            </a:prstGeom>
            <a:ln w="31750">
              <a:solidFill>
                <a:srgbClr val="F2F2F2"/>
              </a:solidFill>
            </a:ln>
          </p:spPr>
        </p:cxnSp>
        <p:cxnSp>
          <p:nvCxnSpPr>
            <p:cNvPr id="19" name="tick"/>
            <p:cNvCxnSpPr/>
            <p:nvPr/>
          </p:nvCxnSpPr>
          <p:spPr>
            <a:xfrm>
              <a:off x="9756648" y="3794760"/>
              <a:ext cx="146304" cy="0"/>
            </a:xfrm>
            <a:prstGeom prst="line">
              <a:avLst/>
            </a:prstGeom>
            <a:ln w="31750">
              <a:solidFill>
                <a:srgbClr val="F2F2F2"/>
              </a:solidFill>
            </a:ln>
          </p:spPr>
        </p:cxnSp>
        <p:cxnSp>
          <p:nvCxnSpPr>
            <p:cNvPr id="20" name="needle"/>
            <p:cNvCxnSpPr/>
            <p:nvPr/>
          </p:nvCxnSpPr>
          <p:spPr>
            <a:xfrm flipV="1">
              <a:off x="8823960" y="3002866"/>
              <a:ext cx="457200" cy="791894"/>
            </a:xfrm>
            <a:prstGeom prst="line">
              <a:avLst/>
            </a:prstGeom>
            <a:ln w="63500">
              <a:solidFill>
                <a:srgbClr val="F28C28"/>
              </a:solidFill>
            </a:ln>
          </p:spPr>
        </p:cxnSp>
        <p:sp>
          <p:nvSpPr>
            <p:cNvPr id="21" name="hub"/>
            <p:cNvSpPr/>
            <p:nvPr/>
          </p:nvSpPr>
          <p:spPr>
            <a:xfrm>
              <a:off x="8695944" y="3666744"/>
              <a:ext cx="256032" cy="256032"/>
            </a:xfrm>
            <a:prstGeom prst="ellipse">
              <a:avLst/>
            </a:prstGeom>
            <a:solidFill>
              <a:srgbClr val="F28C28"/>
            </a:solidFill>
            <a:ln>
              <a:noFill/>
            </a:ln>
          </p:spPr>
          <p:txBody>
            <a:bodyPr rtlCol="0" anchor="ctr"/>
            <a:lstStyle/>
            <a:p>
              <a:pPr algn="ctr"/>
            </a:p>
          </p:txBody>
        </p:sp>
        <p:sp>
          <p:nvSpPr>
            <p:cNvPr id="22" name="ICHIP"/>
            <p:cNvSpPr/>
            <p:nvPr/>
          </p:nvSpPr>
          <p:spPr>
            <a:xfrm>
              <a:off x="6720840" y="4434840"/>
              <a:ext cx="420624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Range estimate: Agreed direction</a:t>
              </a:r>
            </a:p>
          </p:txBody>
        </p:sp>
      </p:grpSp>
      <p:sp>
        <p:nvSpPr>
          <p:cNvPr id="2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Range comes from real tank sizes and real use, not a distance countdown.</a:t>
            </a:r>
          </a:p>
        </p:txBody>
      </p:sp>
      <p:sp>
        <p:nvSpPr>
          <p:cNvPr id="2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What makes an engine burn more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Hill profile and fuel use" descr="A hill with an engine climbing, running flat and rolling downhill. Under each, a bar shows fuel use: high while climbing, medium when steady, low when coasting."/>
          <p:cNvGrpSpPr/>
          <p:nvPr/>
        </p:nvGrpSpPr>
        <p:grpSpPr>
          <a:xfrm>
            <a:off x="640080" y="1484376"/>
            <a:ext cx="10881360" cy="3910584"/>
            <a:chOff x="640080" y="1484376"/>
            <a:chExt cx="10881360" cy="3910584"/>
          </a:xfrm>
        </p:grpSpPr>
        <p:sp>
          <p:nvSpPr>
            <p:cNvPr id="5" name="hill ground"/>
            <p:cNvSpPr/>
            <p:nvPr/>
          </p:nvSpPr>
          <p:spPr>
            <a:xfrm>
              <a:off x="640080" y="2148840"/>
              <a:ext cx="10881360" cy="1691640"/>
            </a:xfrm>
            <a:custGeom>
              <a:avLst/>
              <a:gdLst/>
              <a:ahLst/>
              <a:cxnLst/>
              <a:rect l="l" t="t" r="r" b="b"/>
              <a:pathLst>
                <a:path w="10881360" h="1691640">
                  <a:moveTo>
                    <a:pt x="0" y="1280160"/>
                  </a:moveTo>
                  <a:lnTo>
                    <a:pt x="1188720" y="1280160"/>
                  </a:lnTo>
                  <a:lnTo>
                    <a:pt x="3931920" y="0"/>
                  </a:lnTo>
                  <a:lnTo>
                    <a:pt x="6857999" y="0"/>
                  </a:lnTo>
                  <a:lnTo>
                    <a:pt x="9601200" y="1280160"/>
                  </a:lnTo>
                  <a:lnTo>
                    <a:pt x="10881360" y="1280160"/>
                  </a:lnTo>
                  <a:lnTo>
                    <a:pt x="10881360" y="1691640"/>
                  </a:lnTo>
                  <a:lnTo>
                    <a:pt x="0" y="1691640"/>
                  </a:lnTo>
                  <a:close/>
                </a:path>
              </a:pathLst>
            </a:custGeom>
            <a:solidFill>
              <a:srgbClr val="2B2F36"/>
            </a:solidFill>
            <a:ln>
              <a:noFill/>
            </a:ln>
          </p:spPr>
          <p:txBody>
            <a:bodyPr rtlCol="0" anchor="ctr"/>
            <a:lstStyle/>
            <a:p>
              <a:pPr algn="ctr"/>
            </a:p>
          </p:txBody>
        </p:sp>
        <p:sp>
          <p:nvSpPr>
            <p:cNvPr id="6" name="hill line"/>
            <p:cNvSpPr/>
            <p:nvPr/>
          </p:nvSpPr>
          <p:spPr>
            <a:xfrm>
              <a:off x="640080" y="2148840"/>
              <a:ext cx="10881360" cy="1280160"/>
            </a:xfrm>
            <a:custGeom>
              <a:avLst/>
              <a:gdLst/>
              <a:ahLst/>
              <a:cxnLst/>
              <a:rect l="l" t="t" r="r" b="b"/>
              <a:pathLst>
                <a:path w="10881360" h="1280160">
                  <a:moveTo>
                    <a:pt x="0" y="1280160"/>
                  </a:moveTo>
                  <a:lnTo>
                    <a:pt x="1188720" y="1280160"/>
                  </a:lnTo>
                  <a:lnTo>
                    <a:pt x="3931920" y="0"/>
                  </a:lnTo>
                  <a:lnTo>
                    <a:pt x="6857999" y="0"/>
                  </a:lnTo>
                  <a:lnTo>
                    <a:pt x="9601200" y="1280160"/>
                  </a:lnTo>
                  <a:lnTo>
                    <a:pt x="10881360" y="1280160"/>
                  </a:lnTo>
                </a:path>
              </a:pathLst>
            </a:custGeom>
            <a:noFill/>
            <a:ln w="38100">
              <a:solidFill>
                <a:srgbClr val="9AA0A6"/>
              </a:solidFill>
            </a:ln>
          </p:spPr>
          <p:txBody>
            <a:bodyPr rtlCol="0" anchor="ctr"/>
            <a:lstStyle/>
            <a:p>
              <a:pPr algn="ctr"/>
            </a:p>
          </p:txBody>
        </p:sp>
        <p:grpSp>
          <p:nvGrpSpPr>
            <p:cNvPr id="7" name="engine icon" descr="Small drawing of a steam engine with its tender."/>
            <p:cNvGrpSpPr/>
            <p:nvPr/>
          </p:nvGrpSpPr>
          <p:grpSpPr>
            <a:xfrm rot="20098986">
              <a:off x="2185423" y="2156911"/>
              <a:ext cx="1737360" cy="637032"/>
              <a:chOff x="2185423" y="2156911"/>
              <a:chExt cx="1737360" cy="637032"/>
            </a:xfrm>
          </p:grpSpPr>
          <p:sp>
            <p:nvSpPr>
              <p:cNvPr id="8" name="tender body"/>
              <p:cNvSpPr/>
              <p:nvPr/>
            </p:nvSpPr>
            <p:spPr>
              <a:xfrm>
                <a:off x="2185423" y="2345125"/>
                <a:ext cx="550163" cy="275081"/>
              </a:xfrm>
              <a:prstGeom prst="roundRect">
                <a:avLst>
                  <a:gd name="adj" fmla="val 2631"/>
                </a:avLst>
              </a:prstGeom>
              <a:solidFill>
                <a:srgbClr val="6C7480"/>
              </a:solidFill>
              <a:ln>
                <a:noFill/>
              </a:ln>
            </p:spPr>
            <p:txBody>
              <a:bodyPr rtlCol="0" anchor="ctr"/>
              <a:lstStyle/>
              <a:p>
                <a:pPr algn="ctr"/>
              </a:p>
            </p:txBody>
          </p:sp>
          <p:sp>
            <p:nvSpPr>
              <p:cNvPr id="9" name="tender coal"/>
              <p:cNvSpPr/>
              <p:nvPr/>
            </p:nvSpPr>
            <p:spPr>
              <a:xfrm>
                <a:off x="2228857" y="2294452"/>
                <a:ext cx="463296" cy="65150"/>
              </a:xfrm>
              <a:prstGeom prst="rect">
                <a:avLst/>
              </a:prstGeom>
              <a:solidFill>
                <a:srgbClr val="1B1D21"/>
              </a:solidFill>
              <a:ln w="12700">
                <a:solidFill>
                  <a:srgbClr val="9AA0A6"/>
                </a:solidFill>
              </a:ln>
            </p:spPr>
            <p:txBody>
              <a:bodyPr rtlCol="0" anchor="ctr"/>
              <a:lstStyle/>
              <a:p>
                <a:pPr algn="ctr"/>
              </a:p>
            </p:txBody>
          </p:sp>
          <p:sp>
            <p:nvSpPr>
              <p:cNvPr id="10" name="tender frame"/>
              <p:cNvSpPr/>
              <p:nvPr/>
            </p:nvSpPr>
            <p:spPr>
              <a:xfrm>
                <a:off x="2185423" y="2620207"/>
                <a:ext cx="550163" cy="43433"/>
              </a:xfrm>
              <a:prstGeom prst="rect">
                <a:avLst/>
              </a:prstGeom>
              <a:solidFill>
                <a:srgbClr val="3A3F47"/>
              </a:solidFill>
              <a:ln w="9525">
                <a:solidFill>
                  <a:srgbClr val="9AA0A6"/>
                </a:solidFill>
              </a:ln>
            </p:spPr>
            <p:txBody>
              <a:bodyPr rtlCol="0" anchor="ctr"/>
              <a:lstStyle/>
              <a:p>
                <a:pPr algn="ctr"/>
              </a:p>
            </p:txBody>
          </p:sp>
          <p:sp>
            <p:nvSpPr>
              <p:cNvPr id="11" name="coupling"/>
              <p:cNvSpPr/>
              <p:nvPr/>
            </p:nvSpPr>
            <p:spPr>
              <a:xfrm>
                <a:off x="2735587" y="2533339"/>
                <a:ext cx="57912" cy="28956"/>
              </a:xfrm>
              <a:prstGeom prst="rect">
                <a:avLst/>
              </a:prstGeom>
              <a:solidFill>
                <a:srgbClr val="9AA0A6"/>
              </a:solidFill>
              <a:ln>
                <a:noFill/>
              </a:ln>
            </p:spPr>
            <p:txBody>
              <a:bodyPr rtlCol="0" anchor="ctr"/>
              <a:lstStyle/>
              <a:p>
                <a:pPr algn="ctr"/>
              </a:p>
            </p:txBody>
          </p:sp>
          <p:sp>
            <p:nvSpPr>
              <p:cNvPr id="12" name="wheel"/>
              <p:cNvSpPr/>
              <p:nvPr/>
            </p:nvSpPr>
            <p:spPr>
              <a:xfrm>
                <a:off x="2207140" y="2576773"/>
                <a:ext cx="217170" cy="217170"/>
              </a:xfrm>
              <a:prstGeom prst="ellipse">
                <a:avLst/>
              </a:prstGeom>
              <a:solidFill>
                <a:srgbClr val="1B1D21"/>
              </a:solidFill>
              <a:ln w="19050">
                <a:solidFill>
                  <a:srgbClr val="9AA0A6"/>
                </a:solidFill>
              </a:ln>
            </p:spPr>
            <p:txBody>
              <a:bodyPr rtlCol="0" anchor="ctr"/>
              <a:lstStyle/>
              <a:p>
                <a:pPr algn="ctr"/>
              </a:p>
            </p:txBody>
          </p:sp>
          <p:sp>
            <p:nvSpPr>
              <p:cNvPr id="13" name="hub"/>
              <p:cNvSpPr/>
              <p:nvPr/>
            </p:nvSpPr>
            <p:spPr>
              <a:xfrm>
                <a:off x="2289665" y="2659298"/>
                <a:ext cx="52120" cy="52120"/>
              </a:xfrm>
              <a:prstGeom prst="ellipse">
                <a:avLst/>
              </a:prstGeom>
              <a:solidFill>
                <a:srgbClr val="9AA0A6"/>
              </a:solidFill>
              <a:ln>
                <a:noFill/>
              </a:ln>
            </p:spPr>
            <p:txBody>
              <a:bodyPr rtlCol="0" anchor="ctr"/>
              <a:lstStyle/>
              <a:p>
                <a:pPr algn="ctr"/>
              </a:p>
            </p:txBody>
          </p:sp>
          <p:sp>
            <p:nvSpPr>
              <p:cNvPr id="14" name="wheel"/>
              <p:cNvSpPr/>
              <p:nvPr/>
            </p:nvSpPr>
            <p:spPr>
              <a:xfrm>
                <a:off x="2496700" y="2576773"/>
                <a:ext cx="217170" cy="217170"/>
              </a:xfrm>
              <a:prstGeom prst="ellipse">
                <a:avLst/>
              </a:prstGeom>
              <a:solidFill>
                <a:srgbClr val="1B1D21"/>
              </a:solidFill>
              <a:ln w="19050">
                <a:solidFill>
                  <a:srgbClr val="9AA0A6"/>
                </a:solidFill>
              </a:ln>
            </p:spPr>
            <p:txBody>
              <a:bodyPr rtlCol="0" anchor="ctr"/>
              <a:lstStyle/>
              <a:p>
                <a:pPr algn="ctr"/>
              </a:p>
            </p:txBody>
          </p:sp>
          <p:sp>
            <p:nvSpPr>
              <p:cNvPr id="15" name="hub"/>
              <p:cNvSpPr/>
              <p:nvPr/>
            </p:nvSpPr>
            <p:spPr>
              <a:xfrm>
                <a:off x="2579225" y="2659298"/>
                <a:ext cx="52120" cy="52120"/>
              </a:xfrm>
              <a:prstGeom prst="ellipse">
                <a:avLst/>
              </a:prstGeom>
              <a:solidFill>
                <a:srgbClr val="9AA0A6"/>
              </a:solidFill>
              <a:ln>
                <a:noFill/>
              </a:ln>
            </p:spPr>
            <p:txBody>
              <a:bodyPr rtlCol="0" anchor="ctr"/>
              <a:lstStyle/>
              <a:p>
                <a:pPr algn="ctr"/>
              </a:p>
            </p:txBody>
          </p:sp>
          <p:sp>
            <p:nvSpPr>
              <p:cNvPr id="16" name="cab"/>
              <p:cNvSpPr/>
              <p:nvPr/>
            </p:nvSpPr>
            <p:spPr>
              <a:xfrm>
                <a:off x="2764543" y="2214823"/>
                <a:ext cx="289560" cy="405384"/>
              </a:xfrm>
              <a:prstGeom prst="roundRect">
                <a:avLst>
                  <a:gd name="adj" fmla="val 2500"/>
                </a:avLst>
              </a:prstGeom>
              <a:solidFill>
                <a:srgbClr val="F28C28"/>
              </a:solidFill>
              <a:ln>
                <a:noFill/>
              </a:ln>
            </p:spPr>
            <p:txBody>
              <a:bodyPr rtlCol="0" anchor="ctr"/>
              <a:lstStyle/>
              <a:p>
                <a:pPr algn="ctr"/>
              </a:p>
            </p:txBody>
          </p:sp>
          <p:sp>
            <p:nvSpPr>
              <p:cNvPr id="17" name="cab roof"/>
              <p:cNvSpPr/>
              <p:nvPr/>
            </p:nvSpPr>
            <p:spPr>
              <a:xfrm>
                <a:off x="2750065" y="2193106"/>
                <a:ext cx="318516" cy="31851"/>
              </a:xfrm>
              <a:prstGeom prst="rect">
                <a:avLst/>
              </a:prstGeom>
              <a:solidFill>
                <a:srgbClr val="3A3F47"/>
              </a:solidFill>
              <a:ln w="9525">
                <a:solidFill>
                  <a:srgbClr val="9AA0A6"/>
                </a:solidFill>
              </a:ln>
            </p:spPr>
            <p:txBody>
              <a:bodyPr rtlCol="0" anchor="ctr"/>
              <a:lstStyle/>
              <a:p>
                <a:pPr algn="ctr"/>
              </a:p>
            </p:txBody>
          </p:sp>
          <p:sp>
            <p:nvSpPr>
              <p:cNvPr id="18" name="cab window"/>
              <p:cNvSpPr/>
              <p:nvPr/>
            </p:nvSpPr>
            <p:spPr>
              <a:xfrm>
                <a:off x="2822455" y="2294452"/>
                <a:ext cx="173735" cy="130301"/>
              </a:xfrm>
              <a:prstGeom prst="rect">
                <a:avLst/>
              </a:prstGeom>
              <a:solidFill>
                <a:srgbClr val="1B1D21"/>
              </a:solidFill>
              <a:ln>
                <a:noFill/>
              </a:ln>
            </p:spPr>
            <p:txBody>
              <a:bodyPr rtlCol="0" anchor="ctr"/>
              <a:lstStyle/>
              <a:p>
                <a:pPr algn="ctr"/>
              </a:p>
            </p:txBody>
          </p:sp>
          <p:sp>
            <p:nvSpPr>
              <p:cNvPr id="19" name="boiler"/>
              <p:cNvSpPr/>
              <p:nvPr/>
            </p:nvSpPr>
            <p:spPr>
              <a:xfrm>
                <a:off x="3054103" y="2301691"/>
                <a:ext cx="868680" cy="318516"/>
              </a:xfrm>
              <a:prstGeom prst="roundRect">
                <a:avLst>
                  <a:gd name="adj" fmla="val 27272"/>
                </a:avLst>
              </a:prstGeom>
              <a:solidFill>
                <a:srgbClr val="F28C28"/>
              </a:solidFill>
              <a:ln>
                <a:noFill/>
              </a:ln>
            </p:spPr>
            <p:txBody>
              <a:bodyPr rtlCol="0" anchor="ctr"/>
              <a:lstStyle/>
              <a:p>
                <a:pPr algn="ctr"/>
              </a:p>
            </p:txBody>
          </p:sp>
          <p:sp>
            <p:nvSpPr>
              <p:cNvPr id="20" name="chimney"/>
              <p:cNvSpPr/>
              <p:nvPr/>
            </p:nvSpPr>
            <p:spPr>
              <a:xfrm>
                <a:off x="3734569" y="2171389"/>
                <a:ext cx="101346" cy="137540"/>
              </a:xfrm>
              <a:prstGeom prst="rect">
                <a:avLst/>
              </a:prstGeom>
              <a:solidFill>
                <a:srgbClr val="3A3F47"/>
              </a:solidFill>
              <a:ln w="9525">
                <a:solidFill>
                  <a:srgbClr val="9AA0A6"/>
                </a:solidFill>
              </a:ln>
            </p:spPr>
            <p:txBody>
              <a:bodyPr rtlCol="0" anchor="ctr"/>
              <a:lstStyle/>
              <a:p>
                <a:pPr algn="ctr"/>
              </a:p>
            </p:txBody>
          </p:sp>
          <p:sp>
            <p:nvSpPr>
              <p:cNvPr id="21" name="chimney lip"/>
              <p:cNvSpPr/>
              <p:nvPr/>
            </p:nvSpPr>
            <p:spPr>
              <a:xfrm>
                <a:off x="3712852" y="2156911"/>
                <a:ext cx="144780" cy="28956"/>
              </a:xfrm>
              <a:prstGeom prst="rect">
                <a:avLst/>
              </a:prstGeom>
              <a:solidFill>
                <a:srgbClr val="3A3F47"/>
              </a:solidFill>
              <a:ln w="9525">
                <a:solidFill>
                  <a:srgbClr val="9AA0A6"/>
                </a:solidFill>
              </a:ln>
            </p:spPr>
            <p:txBody>
              <a:bodyPr rtlCol="0" anchor="ctr"/>
              <a:lstStyle/>
              <a:p>
                <a:pPr algn="ctr"/>
              </a:p>
            </p:txBody>
          </p:sp>
          <p:sp>
            <p:nvSpPr>
              <p:cNvPr id="22" name="dome"/>
              <p:cNvSpPr/>
              <p:nvPr/>
            </p:nvSpPr>
            <p:spPr>
              <a:xfrm>
                <a:off x="3300229" y="2236540"/>
                <a:ext cx="144780" cy="72390"/>
              </a:xfrm>
              <a:prstGeom prst="roundRect">
                <a:avLst>
                  <a:gd name="adj" fmla="val 40000"/>
                </a:avLst>
              </a:prstGeom>
              <a:solidFill>
                <a:srgbClr val="F28C28"/>
              </a:solidFill>
              <a:ln>
                <a:noFill/>
              </a:ln>
            </p:spPr>
            <p:txBody>
              <a:bodyPr rtlCol="0" anchor="ctr"/>
              <a:lstStyle/>
              <a:p>
                <a:pPr algn="ctr"/>
              </a:p>
            </p:txBody>
          </p:sp>
          <p:sp>
            <p:nvSpPr>
              <p:cNvPr id="23" name="frame"/>
              <p:cNvSpPr/>
              <p:nvPr/>
            </p:nvSpPr>
            <p:spPr>
              <a:xfrm>
                <a:off x="2764543" y="2620207"/>
                <a:ext cx="1158240" cy="43433"/>
              </a:xfrm>
              <a:prstGeom prst="rect">
                <a:avLst/>
              </a:prstGeom>
              <a:solidFill>
                <a:srgbClr val="3A3F47"/>
              </a:solidFill>
              <a:ln w="9525">
                <a:solidFill>
                  <a:srgbClr val="9AA0A6"/>
                </a:solidFill>
              </a:ln>
            </p:spPr>
            <p:txBody>
              <a:bodyPr rtlCol="0" anchor="ctr"/>
              <a:lstStyle/>
              <a:p>
                <a:pPr algn="ctr"/>
              </a:p>
            </p:txBody>
          </p:sp>
          <p:sp>
            <p:nvSpPr>
              <p:cNvPr id="24" name="wheel"/>
              <p:cNvSpPr/>
              <p:nvPr/>
            </p:nvSpPr>
            <p:spPr>
              <a:xfrm>
                <a:off x="2974474" y="2576773"/>
                <a:ext cx="217170" cy="217170"/>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3056999" y="2659298"/>
                <a:ext cx="52120" cy="52120"/>
              </a:xfrm>
              <a:prstGeom prst="ellipse">
                <a:avLst/>
              </a:prstGeom>
              <a:solidFill>
                <a:srgbClr val="9AA0A6"/>
              </a:solidFill>
              <a:ln>
                <a:noFill/>
              </a:ln>
            </p:spPr>
            <p:txBody>
              <a:bodyPr rtlCol="0" anchor="ctr"/>
              <a:lstStyle/>
              <a:p>
                <a:pPr algn="ctr"/>
              </a:p>
            </p:txBody>
          </p:sp>
          <p:sp>
            <p:nvSpPr>
              <p:cNvPr id="26" name="wheel"/>
              <p:cNvSpPr/>
              <p:nvPr/>
            </p:nvSpPr>
            <p:spPr>
              <a:xfrm>
                <a:off x="3264034" y="2576773"/>
                <a:ext cx="217170" cy="217170"/>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3346559" y="2659298"/>
                <a:ext cx="52120" cy="52120"/>
              </a:xfrm>
              <a:prstGeom prst="ellipse">
                <a:avLst/>
              </a:prstGeom>
              <a:solidFill>
                <a:srgbClr val="9AA0A6"/>
              </a:solidFill>
              <a:ln>
                <a:noFill/>
              </a:ln>
            </p:spPr>
            <p:txBody>
              <a:bodyPr rtlCol="0" anchor="ctr"/>
              <a:lstStyle/>
              <a:p>
                <a:pPr algn="ctr"/>
              </a:p>
            </p:txBody>
          </p:sp>
          <p:sp>
            <p:nvSpPr>
              <p:cNvPr id="28" name="wheel"/>
              <p:cNvSpPr/>
              <p:nvPr/>
            </p:nvSpPr>
            <p:spPr>
              <a:xfrm>
                <a:off x="3553594" y="2576773"/>
                <a:ext cx="217170" cy="217170"/>
              </a:xfrm>
              <a:prstGeom prst="ellipse">
                <a:avLst/>
              </a:prstGeom>
              <a:solidFill>
                <a:srgbClr val="1B1D21"/>
              </a:solidFill>
              <a:ln w="19050">
                <a:solidFill>
                  <a:srgbClr val="9AA0A6"/>
                </a:solidFill>
              </a:ln>
            </p:spPr>
            <p:txBody>
              <a:bodyPr rtlCol="0" anchor="ctr"/>
              <a:lstStyle/>
              <a:p>
                <a:pPr algn="ctr"/>
              </a:p>
            </p:txBody>
          </p:sp>
          <p:sp>
            <p:nvSpPr>
              <p:cNvPr id="29" name="hub"/>
              <p:cNvSpPr/>
              <p:nvPr/>
            </p:nvSpPr>
            <p:spPr>
              <a:xfrm>
                <a:off x="3636119" y="2659298"/>
                <a:ext cx="52120" cy="52120"/>
              </a:xfrm>
              <a:prstGeom prst="ellipse">
                <a:avLst/>
              </a:prstGeom>
              <a:solidFill>
                <a:srgbClr val="9AA0A6"/>
              </a:solidFill>
              <a:ln>
                <a:noFill/>
              </a:ln>
            </p:spPr>
            <p:txBody>
              <a:bodyPr rtlCol="0" anchor="ctr"/>
              <a:lstStyle/>
              <a:p>
                <a:pPr algn="ctr"/>
              </a:p>
            </p:txBody>
          </p:sp>
        </p:grpSp>
        <p:grpSp>
          <p:nvGrpSpPr>
            <p:cNvPr id="30" name="engine icon" descr="Small drawing of a steam engine with its tender."/>
            <p:cNvGrpSpPr/>
            <p:nvPr/>
          </p:nvGrpSpPr>
          <p:grpSpPr>
            <a:xfrm>
              <a:off x="5166359" y="1484376"/>
              <a:ext cx="1737361" cy="637032"/>
              <a:chOff x="5166359" y="1484376"/>
              <a:chExt cx="1737361" cy="637032"/>
            </a:xfrm>
          </p:grpSpPr>
          <p:sp>
            <p:nvSpPr>
              <p:cNvPr id="31" name="tender body"/>
              <p:cNvSpPr/>
              <p:nvPr/>
            </p:nvSpPr>
            <p:spPr>
              <a:xfrm>
                <a:off x="5166359" y="1672590"/>
                <a:ext cx="550163" cy="275081"/>
              </a:xfrm>
              <a:prstGeom prst="roundRect">
                <a:avLst>
                  <a:gd name="adj" fmla="val 2631"/>
                </a:avLst>
              </a:prstGeom>
              <a:solidFill>
                <a:srgbClr val="6C7480"/>
              </a:solidFill>
              <a:ln>
                <a:noFill/>
              </a:ln>
            </p:spPr>
            <p:txBody>
              <a:bodyPr rtlCol="0" anchor="ctr"/>
              <a:lstStyle/>
              <a:p>
                <a:pPr algn="ctr"/>
              </a:p>
            </p:txBody>
          </p:sp>
          <p:sp>
            <p:nvSpPr>
              <p:cNvPr id="32" name="tender coal"/>
              <p:cNvSpPr/>
              <p:nvPr/>
            </p:nvSpPr>
            <p:spPr>
              <a:xfrm>
                <a:off x="5209794" y="1621917"/>
                <a:ext cx="463296" cy="65150"/>
              </a:xfrm>
              <a:prstGeom prst="rect">
                <a:avLst/>
              </a:prstGeom>
              <a:solidFill>
                <a:srgbClr val="1B1D21"/>
              </a:solidFill>
              <a:ln w="12700">
                <a:solidFill>
                  <a:srgbClr val="9AA0A6"/>
                </a:solidFill>
              </a:ln>
            </p:spPr>
            <p:txBody>
              <a:bodyPr rtlCol="0" anchor="ctr"/>
              <a:lstStyle/>
              <a:p>
                <a:pPr algn="ctr"/>
              </a:p>
            </p:txBody>
          </p:sp>
          <p:sp>
            <p:nvSpPr>
              <p:cNvPr id="33" name="tender frame"/>
              <p:cNvSpPr/>
              <p:nvPr/>
            </p:nvSpPr>
            <p:spPr>
              <a:xfrm>
                <a:off x="5166359" y="1947672"/>
                <a:ext cx="550163" cy="43433"/>
              </a:xfrm>
              <a:prstGeom prst="rect">
                <a:avLst/>
              </a:prstGeom>
              <a:solidFill>
                <a:srgbClr val="3A3F47"/>
              </a:solidFill>
              <a:ln w="9525">
                <a:solidFill>
                  <a:srgbClr val="9AA0A6"/>
                </a:solidFill>
              </a:ln>
            </p:spPr>
            <p:txBody>
              <a:bodyPr rtlCol="0" anchor="ctr"/>
              <a:lstStyle/>
              <a:p>
                <a:pPr algn="ctr"/>
              </a:p>
            </p:txBody>
          </p:sp>
          <p:sp>
            <p:nvSpPr>
              <p:cNvPr id="34" name="coupling"/>
              <p:cNvSpPr/>
              <p:nvPr/>
            </p:nvSpPr>
            <p:spPr>
              <a:xfrm>
                <a:off x="5716523" y="1860804"/>
                <a:ext cx="57912" cy="28956"/>
              </a:xfrm>
              <a:prstGeom prst="rect">
                <a:avLst/>
              </a:prstGeom>
              <a:solidFill>
                <a:srgbClr val="9AA0A6"/>
              </a:solidFill>
              <a:ln>
                <a:noFill/>
              </a:ln>
            </p:spPr>
            <p:txBody>
              <a:bodyPr rtlCol="0" anchor="ctr"/>
              <a:lstStyle/>
              <a:p>
                <a:pPr algn="ctr"/>
              </a:p>
            </p:txBody>
          </p:sp>
          <p:sp>
            <p:nvSpPr>
              <p:cNvPr id="35" name="wheel"/>
              <p:cNvSpPr/>
              <p:nvPr/>
            </p:nvSpPr>
            <p:spPr>
              <a:xfrm>
                <a:off x="5188076" y="1904238"/>
                <a:ext cx="217170" cy="217170"/>
              </a:xfrm>
              <a:prstGeom prst="ellipse">
                <a:avLst/>
              </a:prstGeom>
              <a:solidFill>
                <a:srgbClr val="1B1D21"/>
              </a:solidFill>
              <a:ln w="19050">
                <a:solidFill>
                  <a:srgbClr val="9AA0A6"/>
                </a:solidFill>
              </a:ln>
            </p:spPr>
            <p:txBody>
              <a:bodyPr rtlCol="0" anchor="ctr"/>
              <a:lstStyle/>
              <a:p>
                <a:pPr algn="ctr"/>
              </a:p>
            </p:txBody>
          </p:sp>
          <p:sp>
            <p:nvSpPr>
              <p:cNvPr id="36" name="hub"/>
              <p:cNvSpPr/>
              <p:nvPr/>
            </p:nvSpPr>
            <p:spPr>
              <a:xfrm>
                <a:off x="5270601" y="1986762"/>
                <a:ext cx="52120" cy="52120"/>
              </a:xfrm>
              <a:prstGeom prst="ellipse">
                <a:avLst/>
              </a:prstGeom>
              <a:solidFill>
                <a:srgbClr val="9AA0A6"/>
              </a:solidFill>
              <a:ln>
                <a:noFill/>
              </a:ln>
            </p:spPr>
            <p:txBody>
              <a:bodyPr rtlCol="0" anchor="ctr"/>
              <a:lstStyle/>
              <a:p>
                <a:pPr algn="ctr"/>
              </a:p>
            </p:txBody>
          </p:sp>
          <p:sp>
            <p:nvSpPr>
              <p:cNvPr id="37" name="wheel"/>
              <p:cNvSpPr/>
              <p:nvPr/>
            </p:nvSpPr>
            <p:spPr>
              <a:xfrm>
                <a:off x="5477636" y="1904238"/>
                <a:ext cx="217170" cy="217170"/>
              </a:xfrm>
              <a:prstGeom prst="ellipse">
                <a:avLst/>
              </a:prstGeom>
              <a:solidFill>
                <a:srgbClr val="1B1D21"/>
              </a:solidFill>
              <a:ln w="19050">
                <a:solidFill>
                  <a:srgbClr val="9AA0A6"/>
                </a:solidFill>
              </a:ln>
            </p:spPr>
            <p:txBody>
              <a:bodyPr rtlCol="0" anchor="ctr"/>
              <a:lstStyle/>
              <a:p>
                <a:pPr algn="ctr"/>
              </a:p>
            </p:txBody>
          </p:sp>
          <p:sp>
            <p:nvSpPr>
              <p:cNvPr id="38" name="hub"/>
              <p:cNvSpPr/>
              <p:nvPr/>
            </p:nvSpPr>
            <p:spPr>
              <a:xfrm>
                <a:off x="5560161" y="1986762"/>
                <a:ext cx="52120" cy="52120"/>
              </a:xfrm>
              <a:prstGeom prst="ellipse">
                <a:avLst/>
              </a:prstGeom>
              <a:solidFill>
                <a:srgbClr val="9AA0A6"/>
              </a:solidFill>
              <a:ln>
                <a:noFill/>
              </a:ln>
            </p:spPr>
            <p:txBody>
              <a:bodyPr rtlCol="0" anchor="ctr"/>
              <a:lstStyle/>
              <a:p>
                <a:pPr algn="ctr"/>
              </a:p>
            </p:txBody>
          </p:sp>
          <p:sp>
            <p:nvSpPr>
              <p:cNvPr id="39" name="cab"/>
              <p:cNvSpPr/>
              <p:nvPr/>
            </p:nvSpPr>
            <p:spPr>
              <a:xfrm>
                <a:off x="5745480" y="1542287"/>
                <a:ext cx="289560" cy="405384"/>
              </a:xfrm>
              <a:prstGeom prst="roundRect">
                <a:avLst>
                  <a:gd name="adj" fmla="val 2500"/>
                </a:avLst>
              </a:prstGeom>
              <a:solidFill>
                <a:srgbClr val="F28C28"/>
              </a:solidFill>
              <a:ln>
                <a:noFill/>
              </a:ln>
            </p:spPr>
            <p:txBody>
              <a:bodyPr rtlCol="0" anchor="ctr"/>
              <a:lstStyle/>
              <a:p>
                <a:pPr algn="ctr"/>
              </a:p>
            </p:txBody>
          </p:sp>
          <p:sp>
            <p:nvSpPr>
              <p:cNvPr id="40" name="cab roof"/>
              <p:cNvSpPr/>
              <p:nvPr/>
            </p:nvSpPr>
            <p:spPr>
              <a:xfrm>
                <a:off x="5731001" y="1520571"/>
                <a:ext cx="318516" cy="31851"/>
              </a:xfrm>
              <a:prstGeom prst="rect">
                <a:avLst/>
              </a:prstGeom>
              <a:solidFill>
                <a:srgbClr val="3A3F47"/>
              </a:solidFill>
              <a:ln w="9525">
                <a:solidFill>
                  <a:srgbClr val="9AA0A6"/>
                </a:solidFill>
              </a:ln>
            </p:spPr>
            <p:txBody>
              <a:bodyPr rtlCol="0" anchor="ctr"/>
              <a:lstStyle/>
              <a:p>
                <a:pPr algn="ctr"/>
              </a:p>
            </p:txBody>
          </p:sp>
          <p:sp>
            <p:nvSpPr>
              <p:cNvPr id="41" name="cab window"/>
              <p:cNvSpPr/>
              <p:nvPr/>
            </p:nvSpPr>
            <p:spPr>
              <a:xfrm>
                <a:off x="5803391" y="1621917"/>
                <a:ext cx="173735" cy="130301"/>
              </a:xfrm>
              <a:prstGeom prst="rect">
                <a:avLst/>
              </a:prstGeom>
              <a:solidFill>
                <a:srgbClr val="1B1D21"/>
              </a:solidFill>
              <a:ln>
                <a:noFill/>
              </a:ln>
            </p:spPr>
            <p:txBody>
              <a:bodyPr rtlCol="0" anchor="ctr"/>
              <a:lstStyle/>
              <a:p>
                <a:pPr algn="ctr"/>
              </a:p>
            </p:txBody>
          </p:sp>
          <p:sp>
            <p:nvSpPr>
              <p:cNvPr id="42" name="boiler"/>
              <p:cNvSpPr/>
              <p:nvPr/>
            </p:nvSpPr>
            <p:spPr>
              <a:xfrm>
                <a:off x="6035040" y="1629156"/>
                <a:ext cx="868680" cy="318516"/>
              </a:xfrm>
              <a:prstGeom prst="roundRect">
                <a:avLst>
                  <a:gd name="adj" fmla="val 27272"/>
                </a:avLst>
              </a:prstGeom>
              <a:solidFill>
                <a:srgbClr val="F28C28"/>
              </a:solidFill>
              <a:ln>
                <a:noFill/>
              </a:ln>
            </p:spPr>
            <p:txBody>
              <a:bodyPr rtlCol="0" anchor="ctr"/>
              <a:lstStyle/>
              <a:p>
                <a:pPr algn="ctr"/>
              </a:p>
            </p:txBody>
          </p:sp>
          <p:sp>
            <p:nvSpPr>
              <p:cNvPr id="43" name="chimney"/>
              <p:cNvSpPr/>
              <p:nvPr/>
            </p:nvSpPr>
            <p:spPr>
              <a:xfrm>
                <a:off x="6715506" y="1498854"/>
                <a:ext cx="101346" cy="137540"/>
              </a:xfrm>
              <a:prstGeom prst="rect">
                <a:avLst/>
              </a:prstGeom>
              <a:solidFill>
                <a:srgbClr val="3A3F47"/>
              </a:solidFill>
              <a:ln w="9525">
                <a:solidFill>
                  <a:srgbClr val="9AA0A6"/>
                </a:solidFill>
              </a:ln>
            </p:spPr>
            <p:txBody>
              <a:bodyPr rtlCol="0" anchor="ctr"/>
              <a:lstStyle/>
              <a:p>
                <a:pPr algn="ctr"/>
              </a:p>
            </p:txBody>
          </p:sp>
          <p:sp>
            <p:nvSpPr>
              <p:cNvPr id="44" name="chimney lip"/>
              <p:cNvSpPr/>
              <p:nvPr/>
            </p:nvSpPr>
            <p:spPr>
              <a:xfrm>
                <a:off x="6693789" y="1484376"/>
                <a:ext cx="144780" cy="28956"/>
              </a:xfrm>
              <a:prstGeom prst="rect">
                <a:avLst/>
              </a:prstGeom>
              <a:solidFill>
                <a:srgbClr val="3A3F47"/>
              </a:solidFill>
              <a:ln w="9525">
                <a:solidFill>
                  <a:srgbClr val="9AA0A6"/>
                </a:solidFill>
              </a:ln>
            </p:spPr>
            <p:txBody>
              <a:bodyPr rtlCol="0" anchor="ctr"/>
              <a:lstStyle/>
              <a:p>
                <a:pPr algn="ctr"/>
              </a:p>
            </p:txBody>
          </p:sp>
          <p:sp>
            <p:nvSpPr>
              <p:cNvPr id="45" name="dome"/>
              <p:cNvSpPr/>
              <p:nvPr/>
            </p:nvSpPr>
            <p:spPr>
              <a:xfrm>
                <a:off x="6281166" y="1564005"/>
                <a:ext cx="144780" cy="72390"/>
              </a:xfrm>
              <a:prstGeom prst="roundRect">
                <a:avLst>
                  <a:gd name="adj" fmla="val 40000"/>
                </a:avLst>
              </a:prstGeom>
              <a:solidFill>
                <a:srgbClr val="F28C28"/>
              </a:solidFill>
              <a:ln>
                <a:noFill/>
              </a:ln>
            </p:spPr>
            <p:txBody>
              <a:bodyPr rtlCol="0" anchor="ctr"/>
              <a:lstStyle/>
              <a:p>
                <a:pPr algn="ctr"/>
              </a:p>
            </p:txBody>
          </p:sp>
          <p:sp>
            <p:nvSpPr>
              <p:cNvPr id="46" name="frame"/>
              <p:cNvSpPr/>
              <p:nvPr/>
            </p:nvSpPr>
            <p:spPr>
              <a:xfrm>
                <a:off x="5745480" y="1947672"/>
                <a:ext cx="1158240" cy="43433"/>
              </a:xfrm>
              <a:prstGeom prst="rect">
                <a:avLst/>
              </a:prstGeom>
              <a:solidFill>
                <a:srgbClr val="3A3F47"/>
              </a:solidFill>
              <a:ln w="9525">
                <a:solidFill>
                  <a:srgbClr val="9AA0A6"/>
                </a:solidFill>
              </a:ln>
            </p:spPr>
            <p:txBody>
              <a:bodyPr rtlCol="0" anchor="ctr"/>
              <a:lstStyle/>
              <a:p>
                <a:pPr algn="ctr"/>
              </a:p>
            </p:txBody>
          </p:sp>
          <p:sp>
            <p:nvSpPr>
              <p:cNvPr id="47" name="wheel"/>
              <p:cNvSpPr/>
              <p:nvPr/>
            </p:nvSpPr>
            <p:spPr>
              <a:xfrm>
                <a:off x="5955410" y="1904238"/>
                <a:ext cx="217170" cy="217170"/>
              </a:xfrm>
              <a:prstGeom prst="ellipse">
                <a:avLst/>
              </a:prstGeom>
              <a:solidFill>
                <a:srgbClr val="1B1D21"/>
              </a:solidFill>
              <a:ln w="19050">
                <a:solidFill>
                  <a:srgbClr val="9AA0A6"/>
                </a:solidFill>
              </a:ln>
            </p:spPr>
            <p:txBody>
              <a:bodyPr rtlCol="0" anchor="ctr"/>
              <a:lstStyle/>
              <a:p>
                <a:pPr algn="ctr"/>
              </a:p>
            </p:txBody>
          </p:sp>
          <p:sp>
            <p:nvSpPr>
              <p:cNvPr id="48" name="hub"/>
              <p:cNvSpPr/>
              <p:nvPr/>
            </p:nvSpPr>
            <p:spPr>
              <a:xfrm>
                <a:off x="6037935" y="1986762"/>
                <a:ext cx="52120" cy="52120"/>
              </a:xfrm>
              <a:prstGeom prst="ellipse">
                <a:avLst/>
              </a:prstGeom>
              <a:solidFill>
                <a:srgbClr val="9AA0A6"/>
              </a:solidFill>
              <a:ln>
                <a:noFill/>
              </a:ln>
            </p:spPr>
            <p:txBody>
              <a:bodyPr rtlCol="0" anchor="ctr"/>
              <a:lstStyle/>
              <a:p>
                <a:pPr algn="ctr"/>
              </a:p>
            </p:txBody>
          </p:sp>
          <p:sp>
            <p:nvSpPr>
              <p:cNvPr id="49" name="wheel"/>
              <p:cNvSpPr/>
              <p:nvPr/>
            </p:nvSpPr>
            <p:spPr>
              <a:xfrm>
                <a:off x="6244970" y="1904238"/>
                <a:ext cx="217170" cy="217170"/>
              </a:xfrm>
              <a:prstGeom prst="ellipse">
                <a:avLst/>
              </a:prstGeom>
              <a:solidFill>
                <a:srgbClr val="1B1D21"/>
              </a:solidFill>
              <a:ln w="19050">
                <a:solidFill>
                  <a:srgbClr val="9AA0A6"/>
                </a:solidFill>
              </a:ln>
            </p:spPr>
            <p:txBody>
              <a:bodyPr rtlCol="0" anchor="ctr"/>
              <a:lstStyle/>
              <a:p>
                <a:pPr algn="ctr"/>
              </a:p>
            </p:txBody>
          </p:sp>
          <p:sp>
            <p:nvSpPr>
              <p:cNvPr id="50" name="hub"/>
              <p:cNvSpPr/>
              <p:nvPr/>
            </p:nvSpPr>
            <p:spPr>
              <a:xfrm>
                <a:off x="6327495" y="1986762"/>
                <a:ext cx="52120" cy="52120"/>
              </a:xfrm>
              <a:prstGeom prst="ellipse">
                <a:avLst/>
              </a:prstGeom>
              <a:solidFill>
                <a:srgbClr val="9AA0A6"/>
              </a:solidFill>
              <a:ln>
                <a:noFill/>
              </a:ln>
            </p:spPr>
            <p:txBody>
              <a:bodyPr rtlCol="0" anchor="ctr"/>
              <a:lstStyle/>
              <a:p>
                <a:pPr algn="ctr"/>
              </a:p>
            </p:txBody>
          </p:sp>
          <p:sp>
            <p:nvSpPr>
              <p:cNvPr id="51" name="wheel"/>
              <p:cNvSpPr/>
              <p:nvPr/>
            </p:nvSpPr>
            <p:spPr>
              <a:xfrm>
                <a:off x="6534530" y="1904238"/>
                <a:ext cx="217170" cy="217170"/>
              </a:xfrm>
              <a:prstGeom prst="ellipse">
                <a:avLst/>
              </a:prstGeom>
              <a:solidFill>
                <a:srgbClr val="1B1D21"/>
              </a:solidFill>
              <a:ln w="19050">
                <a:solidFill>
                  <a:srgbClr val="9AA0A6"/>
                </a:solidFill>
              </a:ln>
            </p:spPr>
            <p:txBody>
              <a:bodyPr rtlCol="0" anchor="ctr"/>
              <a:lstStyle/>
              <a:p>
                <a:pPr algn="ctr"/>
              </a:p>
            </p:txBody>
          </p:sp>
          <p:sp>
            <p:nvSpPr>
              <p:cNvPr id="52" name="hub"/>
              <p:cNvSpPr/>
              <p:nvPr/>
            </p:nvSpPr>
            <p:spPr>
              <a:xfrm>
                <a:off x="6617055" y="1986762"/>
                <a:ext cx="52120" cy="52120"/>
              </a:xfrm>
              <a:prstGeom prst="ellipse">
                <a:avLst/>
              </a:prstGeom>
              <a:solidFill>
                <a:srgbClr val="9AA0A6"/>
              </a:solidFill>
              <a:ln>
                <a:noFill/>
              </a:ln>
            </p:spPr>
            <p:txBody>
              <a:bodyPr rtlCol="0" anchor="ctr"/>
              <a:lstStyle/>
              <a:p>
                <a:pPr algn="ctr"/>
              </a:p>
            </p:txBody>
          </p:sp>
        </p:grpSp>
        <p:grpSp>
          <p:nvGrpSpPr>
            <p:cNvPr id="53" name="engine icon" descr="Small drawing of a steam engine with its tender."/>
            <p:cNvGrpSpPr/>
            <p:nvPr/>
          </p:nvGrpSpPr>
          <p:grpSpPr>
            <a:xfrm rot="1501014">
              <a:off x="8147296" y="2156911"/>
              <a:ext cx="1737360" cy="637032"/>
              <a:chOff x="8147296" y="2156911"/>
              <a:chExt cx="1737360" cy="637032"/>
            </a:xfrm>
          </p:grpSpPr>
          <p:sp>
            <p:nvSpPr>
              <p:cNvPr id="54" name="tender body"/>
              <p:cNvSpPr/>
              <p:nvPr/>
            </p:nvSpPr>
            <p:spPr>
              <a:xfrm>
                <a:off x="8147296" y="2345125"/>
                <a:ext cx="550163" cy="275081"/>
              </a:xfrm>
              <a:prstGeom prst="roundRect">
                <a:avLst>
                  <a:gd name="adj" fmla="val 2631"/>
                </a:avLst>
              </a:prstGeom>
              <a:solidFill>
                <a:srgbClr val="6C7480"/>
              </a:solidFill>
              <a:ln>
                <a:noFill/>
              </a:ln>
            </p:spPr>
            <p:txBody>
              <a:bodyPr rtlCol="0" anchor="ctr"/>
              <a:lstStyle/>
              <a:p>
                <a:pPr algn="ctr"/>
              </a:p>
            </p:txBody>
          </p:sp>
          <p:sp>
            <p:nvSpPr>
              <p:cNvPr id="55" name="tender coal"/>
              <p:cNvSpPr/>
              <p:nvPr/>
            </p:nvSpPr>
            <p:spPr>
              <a:xfrm>
                <a:off x="8190730" y="2294452"/>
                <a:ext cx="463296" cy="65150"/>
              </a:xfrm>
              <a:prstGeom prst="rect">
                <a:avLst/>
              </a:prstGeom>
              <a:solidFill>
                <a:srgbClr val="1B1D21"/>
              </a:solidFill>
              <a:ln w="12700">
                <a:solidFill>
                  <a:srgbClr val="9AA0A6"/>
                </a:solidFill>
              </a:ln>
            </p:spPr>
            <p:txBody>
              <a:bodyPr rtlCol="0" anchor="ctr"/>
              <a:lstStyle/>
              <a:p>
                <a:pPr algn="ctr"/>
              </a:p>
            </p:txBody>
          </p:sp>
          <p:sp>
            <p:nvSpPr>
              <p:cNvPr id="56" name="tender frame"/>
              <p:cNvSpPr/>
              <p:nvPr/>
            </p:nvSpPr>
            <p:spPr>
              <a:xfrm>
                <a:off x="8147296" y="2620207"/>
                <a:ext cx="550163" cy="43433"/>
              </a:xfrm>
              <a:prstGeom prst="rect">
                <a:avLst/>
              </a:prstGeom>
              <a:solidFill>
                <a:srgbClr val="3A3F47"/>
              </a:solidFill>
              <a:ln w="9525">
                <a:solidFill>
                  <a:srgbClr val="9AA0A6"/>
                </a:solidFill>
              </a:ln>
            </p:spPr>
            <p:txBody>
              <a:bodyPr rtlCol="0" anchor="ctr"/>
              <a:lstStyle/>
              <a:p>
                <a:pPr algn="ctr"/>
              </a:p>
            </p:txBody>
          </p:sp>
          <p:sp>
            <p:nvSpPr>
              <p:cNvPr id="57" name="coupling"/>
              <p:cNvSpPr/>
              <p:nvPr/>
            </p:nvSpPr>
            <p:spPr>
              <a:xfrm>
                <a:off x="8697460" y="2533339"/>
                <a:ext cx="57912" cy="28956"/>
              </a:xfrm>
              <a:prstGeom prst="rect">
                <a:avLst/>
              </a:prstGeom>
              <a:solidFill>
                <a:srgbClr val="9AA0A6"/>
              </a:solidFill>
              <a:ln>
                <a:noFill/>
              </a:ln>
            </p:spPr>
            <p:txBody>
              <a:bodyPr rtlCol="0" anchor="ctr"/>
              <a:lstStyle/>
              <a:p>
                <a:pPr algn="ctr"/>
              </a:p>
            </p:txBody>
          </p:sp>
          <p:sp>
            <p:nvSpPr>
              <p:cNvPr id="58" name="wheel"/>
              <p:cNvSpPr/>
              <p:nvPr/>
            </p:nvSpPr>
            <p:spPr>
              <a:xfrm>
                <a:off x="8169013" y="2576773"/>
                <a:ext cx="217170" cy="217170"/>
              </a:xfrm>
              <a:prstGeom prst="ellipse">
                <a:avLst/>
              </a:prstGeom>
              <a:solidFill>
                <a:srgbClr val="1B1D21"/>
              </a:solidFill>
              <a:ln w="19050">
                <a:solidFill>
                  <a:srgbClr val="9AA0A6"/>
                </a:solidFill>
              </a:ln>
            </p:spPr>
            <p:txBody>
              <a:bodyPr rtlCol="0" anchor="ctr"/>
              <a:lstStyle/>
              <a:p>
                <a:pPr algn="ctr"/>
              </a:p>
            </p:txBody>
          </p:sp>
          <p:sp>
            <p:nvSpPr>
              <p:cNvPr id="59" name="hub"/>
              <p:cNvSpPr/>
              <p:nvPr/>
            </p:nvSpPr>
            <p:spPr>
              <a:xfrm>
                <a:off x="8251537" y="2659298"/>
                <a:ext cx="52120" cy="52120"/>
              </a:xfrm>
              <a:prstGeom prst="ellipse">
                <a:avLst/>
              </a:prstGeom>
              <a:solidFill>
                <a:srgbClr val="9AA0A6"/>
              </a:solidFill>
              <a:ln>
                <a:noFill/>
              </a:ln>
            </p:spPr>
            <p:txBody>
              <a:bodyPr rtlCol="0" anchor="ctr"/>
              <a:lstStyle/>
              <a:p>
                <a:pPr algn="ctr"/>
              </a:p>
            </p:txBody>
          </p:sp>
          <p:sp>
            <p:nvSpPr>
              <p:cNvPr id="60" name="wheel"/>
              <p:cNvSpPr/>
              <p:nvPr/>
            </p:nvSpPr>
            <p:spPr>
              <a:xfrm>
                <a:off x="8458573" y="2576773"/>
                <a:ext cx="217170" cy="217170"/>
              </a:xfrm>
              <a:prstGeom prst="ellipse">
                <a:avLst/>
              </a:prstGeom>
              <a:solidFill>
                <a:srgbClr val="1B1D21"/>
              </a:solidFill>
              <a:ln w="19050">
                <a:solidFill>
                  <a:srgbClr val="9AA0A6"/>
                </a:solidFill>
              </a:ln>
            </p:spPr>
            <p:txBody>
              <a:bodyPr rtlCol="0" anchor="ctr"/>
              <a:lstStyle/>
              <a:p>
                <a:pPr algn="ctr"/>
              </a:p>
            </p:txBody>
          </p:sp>
          <p:sp>
            <p:nvSpPr>
              <p:cNvPr id="61" name="hub"/>
              <p:cNvSpPr/>
              <p:nvPr/>
            </p:nvSpPr>
            <p:spPr>
              <a:xfrm>
                <a:off x="8541097" y="2659298"/>
                <a:ext cx="52120" cy="52120"/>
              </a:xfrm>
              <a:prstGeom prst="ellipse">
                <a:avLst/>
              </a:prstGeom>
              <a:solidFill>
                <a:srgbClr val="9AA0A6"/>
              </a:solidFill>
              <a:ln>
                <a:noFill/>
              </a:ln>
            </p:spPr>
            <p:txBody>
              <a:bodyPr rtlCol="0" anchor="ctr"/>
              <a:lstStyle/>
              <a:p>
                <a:pPr algn="ctr"/>
              </a:p>
            </p:txBody>
          </p:sp>
          <p:sp>
            <p:nvSpPr>
              <p:cNvPr id="62" name="cab"/>
              <p:cNvSpPr/>
              <p:nvPr/>
            </p:nvSpPr>
            <p:spPr>
              <a:xfrm>
                <a:off x="8726416" y="2214823"/>
                <a:ext cx="289560" cy="405384"/>
              </a:xfrm>
              <a:prstGeom prst="roundRect">
                <a:avLst>
                  <a:gd name="adj" fmla="val 2500"/>
                </a:avLst>
              </a:prstGeom>
              <a:solidFill>
                <a:srgbClr val="F28C28"/>
              </a:solidFill>
              <a:ln>
                <a:noFill/>
              </a:ln>
            </p:spPr>
            <p:txBody>
              <a:bodyPr rtlCol="0" anchor="ctr"/>
              <a:lstStyle/>
              <a:p>
                <a:pPr algn="ctr"/>
              </a:p>
            </p:txBody>
          </p:sp>
          <p:sp>
            <p:nvSpPr>
              <p:cNvPr id="63" name="cab roof"/>
              <p:cNvSpPr/>
              <p:nvPr/>
            </p:nvSpPr>
            <p:spPr>
              <a:xfrm>
                <a:off x="8711938" y="2193106"/>
                <a:ext cx="318516" cy="31851"/>
              </a:xfrm>
              <a:prstGeom prst="rect">
                <a:avLst/>
              </a:prstGeom>
              <a:solidFill>
                <a:srgbClr val="3A3F47"/>
              </a:solidFill>
              <a:ln w="9525">
                <a:solidFill>
                  <a:srgbClr val="9AA0A6"/>
                </a:solidFill>
              </a:ln>
            </p:spPr>
            <p:txBody>
              <a:bodyPr rtlCol="0" anchor="ctr"/>
              <a:lstStyle/>
              <a:p>
                <a:pPr algn="ctr"/>
              </a:p>
            </p:txBody>
          </p:sp>
          <p:sp>
            <p:nvSpPr>
              <p:cNvPr id="64" name="cab window"/>
              <p:cNvSpPr/>
              <p:nvPr/>
            </p:nvSpPr>
            <p:spPr>
              <a:xfrm>
                <a:off x="8784328" y="2294452"/>
                <a:ext cx="173735" cy="130301"/>
              </a:xfrm>
              <a:prstGeom prst="rect">
                <a:avLst/>
              </a:prstGeom>
              <a:solidFill>
                <a:srgbClr val="1B1D21"/>
              </a:solidFill>
              <a:ln>
                <a:noFill/>
              </a:ln>
            </p:spPr>
            <p:txBody>
              <a:bodyPr rtlCol="0" anchor="ctr"/>
              <a:lstStyle/>
              <a:p>
                <a:pPr algn="ctr"/>
              </a:p>
            </p:txBody>
          </p:sp>
          <p:sp>
            <p:nvSpPr>
              <p:cNvPr id="65" name="boiler"/>
              <p:cNvSpPr/>
              <p:nvPr/>
            </p:nvSpPr>
            <p:spPr>
              <a:xfrm>
                <a:off x="9015976" y="2301691"/>
                <a:ext cx="868680" cy="318516"/>
              </a:xfrm>
              <a:prstGeom prst="roundRect">
                <a:avLst>
                  <a:gd name="adj" fmla="val 27272"/>
                </a:avLst>
              </a:prstGeom>
              <a:solidFill>
                <a:srgbClr val="F28C28"/>
              </a:solidFill>
              <a:ln>
                <a:noFill/>
              </a:ln>
            </p:spPr>
            <p:txBody>
              <a:bodyPr rtlCol="0" anchor="ctr"/>
              <a:lstStyle/>
              <a:p>
                <a:pPr algn="ctr"/>
              </a:p>
            </p:txBody>
          </p:sp>
          <p:sp>
            <p:nvSpPr>
              <p:cNvPr id="66" name="chimney"/>
              <p:cNvSpPr/>
              <p:nvPr/>
            </p:nvSpPr>
            <p:spPr>
              <a:xfrm>
                <a:off x="9696442" y="2171389"/>
                <a:ext cx="101346" cy="137540"/>
              </a:xfrm>
              <a:prstGeom prst="rect">
                <a:avLst/>
              </a:prstGeom>
              <a:solidFill>
                <a:srgbClr val="3A3F47"/>
              </a:solidFill>
              <a:ln w="9525">
                <a:solidFill>
                  <a:srgbClr val="9AA0A6"/>
                </a:solidFill>
              </a:ln>
            </p:spPr>
            <p:txBody>
              <a:bodyPr rtlCol="0" anchor="ctr"/>
              <a:lstStyle/>
              <a:p>
                <a:pPr algn="ctr"/>
              </a:p>
            </p:txBody>
          </p:sp>
          <p:sp>
            <p:nvSpPr>
              <p:cNvPr id="67" name="chimney lip"/>
              <p:cNvSpPr/>
              <p:nvPr/>
            </p:nvSpPr>
            <p:spPr>
              <a:xfrm>
                <a:off x="9674725" y="2156911"/>
                <a:ext cx="144780" cy="28956"/>
              </a:xfrm>
              <a:prstGeom prst="rect">
                <a:avLst/>
              </a:prstGeom>
              <a:solidFill>
                <a:srgbClr val="3A3F47"/>
              </a:solidFill>
              <a:ln w="9525">
                <a:solidFill>
                  <a:srgbClr val="9AA0A6"/>
                </a:solidFill>
              </a:ln>
            </p:spPr>
            <p:txBody>
              <a:bodyPr rtlCol="0" anchor="ctr"/>
              <a:lstStyle/>
              <a:p>
                <a:pPr algn="ctr"/>
              </a:p>
            </p:txBody>
          </p:sp>
          <p:sp>
            <p:nvSpPr>
              <p:cNvPr id="68" name="dome"/>
              <p:cNvSpPr/>
              <p:nvPr/>
            </p:nvSpPr>
            <p:spPr>
              <a:xfrm>
                <a:off x="9262102" y="2236540"/>
                <a:ext cx="144780" cy="72390"/>
              </a:xfrm>
              <a:prstGeom prst="roundRect">
                <a:avLst>
                  <a:gd name="adj" fmla="val 40000"/>
                </a:avLst>
              </a:prstGeom>
              <a:solidFill>
                <a:srgbClr val="F28C28"/>
              </a:solidFill>
              <a:ln>
                <a:noFill/>
              </a:ln>
            </p:spPr>
            <p:txBody>
              <a:bodyPr rtlCol="0" anchor="ctr"/>
              <a:lstStyle/>
              <a:p>
                <a:pPr algn="ctr"/>
              </a:p>
            </p:txBody>
          </p:sp>
          <p:sp>
            <p:nvSpPr>
              <p:cNvPr id="69" name="frame"/>
              <p:cNvSpPr/>
              <p:nvPr/>
            </p:nvSpPr>
            <p:spPr>
              <a:xfrm>
                <a:off x="8726416" y="2620207"/>
                <a:ext cx="1158240" cy="43433"/>
              </a:xfrm>
              <a:prstGeom prst="rect">
                <a:avLst/>
              </a:prstGeom>
              <a:solidFill>
                <a:srgbClr val="3A3F47"/>
              </a:solidFill>
              <a:ln w="9525">
                <a:solidFill>
                  <a:srgbClr val="9AA0A6"/>
                </a:solidFill>
              </a:ln>
            </p:spPr>
            <p:txBody>
              <a:bodyPr rtlCol="0" anchor="ctr"/>
              <a:lstStyle/>
              <a:p>
                <a:pPr algn="ctr"/>
              </a:p>
            </p:txBody>
          </p:sp>
          <p:sp>
            <p:nvSpPr>
              <p:cNvPr id="70" name="wheel"/>
              <p:cNvSpPr/>
              <p:nvPr/>
            </p:nvSpPr>
            <p:spPr>
              <a:xfrm>
                <a:off x="8936347" y="2576773"/>
                <a:ext cx="217170" cy="217170"/>
              </a:xfrm>
              <a:prstGeom prst="ellipse">
                <a:avLst/>
              </a:prstGeom>
              <a:solidFill>
                <a:srgbClr val="1B1D21"/>
              </a:solidFill>
              <a:ln w="19050">
                <a:solidFill>
                  <a:srgbClr val="9AA0A6"/>
                </a:solidFill>
              </a:ln>
            </p:spPr>
            <p:txBody>
              <a:bodyPr rtlCol="0" anchor="ctr"/>
              <a:lstStyle/>
              <a:p>
                <a:pPr algn="ctr"/>
              </a:p>
            </p:txBody>
          </p:sp>
          <p:sp>
            <p:nvSpPr>
              <p:cNvPr id="71" name="hub"/>
              <p:cNvSpPr/>
              <p:nvPr/>
            </p:nvSpPr>
            <p:spPr>
              <a:xfrm>
                <a:off x="9018871" y="2659298"/>
                <a:ext cx="52120" cy="52120"/>
              </a:xfrm>
              <a:prstGeom prst="ellipse">
                <a:avLst/>
              </a:prstGeom>
              <a:solidFill>
                <a:srgbClr val="9AA0A6"/>
              </a:solidFill>
              <a:ln>
                <a:noFill/>
              </a:ln>
            </p:spPr>
            <p:txBody>
              <a:bodyPr rtlCol="0" anchor="ctr"/>
              <a:lstStyle/>
              <a:p>
                <a:pPr algn="ctr"/>
              </a:p>
            </p:txBody>
          </p:sp>
          <p:sp>
            <p:nvSpPr>
              <p:cNvPr id="72" name="wheel"/>
              <p:cNvSpPr/>
              <p:nvPr/>
            </p:nvSpPr>
            <p:spPr>
              <a:xfrm>
                <a:off x="9225907" y="2576773"/>
                <a:ext cx="217170" cy="217170"/>
              </a:xfrm>
              <a:prstGeom prst="ellipse">
                <a:avLst/>
              </a:prstGeom>
              <a:solidFill>
                <a:srgbClr val="1B1D21"/>
              </a:solidFill>
              <a:ln w="19050">
                <a:solidFill>
                  <a:srgbClr val="9AA0A6"/>
                </a:solidFill>
              </a:ln>
            </p:spPr>
            <p:txBody>
              <a:bodyPr rtlCol="0" anchor="ctr"/>
              <a:lstStyle/>
              <a:p>
                <a:pPr algn="ctr"/>
              </a:p>
            </p:txBody>
          </p:sp>
          <p:sp>
            <p:nvSpPr>
              <p:cNvPr id="73" name="hub"/>
              <p:cNvSpPr/>
              <p:nvPr/>
            </p:nvSpPr>
            <p:spPr>
              <a:xfrm>
                <a:off x="9308431" y="2659298"/>
                <a:ext cx="52120" cy="52120"/>
              </a:xfrm>
              <a:prstGeom prst="ellipse">
                <a:avLst/>
              </a:prstGeom>
              <a:solidFill>
                <a:srgbClr val="9AA0A6"/>
              </a:solidFill>
              <a:ln>
                <a:noFill/>
              </a:ln>
            </p:spPr>
            <p:txBody>
              <a:bodyPr rtlCol="0" anchor="ctr"/>
              <a:lstStyle/>
              <a:p>
                <a:pPr algn="ctr"/>
              </a:p>
            </p:txBody>
          </p:sp>
          <p:sp>
            <p:nvSpPr>
              <p:cNvPr id="74" name="wheel"/>
              <p:cNvSpPr/>
              <p:nvPr/>
            </p:nvSpPr>
            <p:spPr>
              <a:xfrm>
                <a:off x="9515467" y="2576773"/>
                <a:ext cx="217170" cy="217170"/>
              </a:xfrm>
              <a:prstGeom prst="ellipse">
                <a:avLst/>
              </a:prstGeom>
              <a:solidFill>
                <a:srgbClr val="1B1D21"/>
              </a:solidFill>
              <a:ln w="19050">
                <a:solidFill>
                  <a:srgbClr val="9AA0A6"/>
                </a:solidFill>
              </a:ln>
            </p:spPr>
            <p:txBody>
              <a:bodyPr rtlCol="0" anchor="ctr"/>
              <a:lstStyle/>
              <a:p>
                <a:pPr algn="ctr"/>
              </a:p>
            </p:txBody>
          </p:sp>
          <p:sp>
            <p:nvSpPr>
              <p:cNvPr id="75" name="hub"/>
              <p:cNvSpPr/>
              <p:nvPr/>
            </p:nvSpPr>
            <p:spPr>
              <a:xfrm>
                <a:off x="9597991" y="2659298"/>
                <a:ext cx="52120" cy="52120"/>
              </a:xfrm>
              <a:prstGeom prst="ellipse">
                <a:avLst/>
              </a:prstGeom>
              <a:solidFill>
                <a:srgbClr val="9AA0A6"/>
              </a:solidFill>
              <a:ln>
                <a:noFill/>
              </a:ln>
            </p:spPr>
            <p:txBody>
              <a:bodyPr rtlCol="0" anchor="ctr"/>
              <a:lstStyle/>
              <a:p>
                <a:pPr algn="ctr"/>
              </a:p>
            </p:txBody>
          </p:sp>
        </p:grpSp>
        <p:sp>
          <p:nvSpPr>
            <p:cNvPr id="76" name="fuel label"/>
            <p:cNvSpPr txBox="1"/>
            <p:nvPr/>
          </p:nvSpPr>
          <p:spPr>
            <a:xfrm>
              <a:off x="1828800" y="4023360"/>
              <a:ext cx="2743200" cy="384048"/>
            </a:xfrm>
            <a:prstGeom prst="rect">
              <a:avLst/>
            </a:prstGeom>
            <a:noFill/>
          </p:spPr>
          <p:txBody>
            <a:bodyPr wrap="square" anchor="ctr" lIns="18288" tIns="9144" rIns="18288" bIns="9144">
              <a:noAutofit/>
            </a:bodyPr>
            <a:lstStyle/>
            <a:p>
              <a:pPr algn="ctr"/>
              <a:r>
                <a:rPr sz="1800" b="1" i="0" lang="en-GB">
                  <a:solidFill>
                    <a:srgbClr val="F2F2F2"/>
                  </a:solidFill>
                  <a:latin typeface="Arial"/>
                </a:rPr>
                <a:t>Climbing: high</a:t>
              </a:r>
            </a:p>
          </p:txBody>
        </p:sp>
        <p:sp>
          <p:nvSpPr>
            <p:cNvPr id="77" name="fuel track"/>
            <p:cNvSpPr/>
            <p:nvPr/>
          </p:nvSpPr>
          <p:spPr>
            <a:xfrm>
              <a:off x="2011680" y="4498848"/>
              <a:ext cx="2377440" cy="274320"/>
            </a:xfrm>
            <a:prstGeom prst="roundRect">
              <a:avLst>
                <a:gd name="adj" fmla="val 16666"/>
              </a:avLst>
            </a:prstGeom>
            <a:solidFill>
              <a:srgbClr val="343A43"/>
            </a:solidFill>
            <a:ln w="12700">
              <a:solidFill>
                <a:srgbClr val="4A515B"/>
              </a:solidFill>
            </a:ln>
          </p:spPr>
          <p:txBody>
            <a:bodyPr rtlCol="0" anchor="ctr"/>
            <a:lstStyle/>
            <a:p>
              <a:pPr algn="ctr"/>
            </a:p>
          </p:txBody>
        </p:sp>
        <p:sp>
          <p:nvSpPr>
            <p:cNvPr id="78" name="fuel fill"/>
            <p:cNvSpPr/>
            <p:nvPr/>
          </p:nvSpPr>
          <p:spPr>
            <a:xfrm>
              <a:off x="2011680" y="4498848"/>
              <a:ext cx="2139696" cy="274320"/>
            </a:xfrm>
            <a:prstGeom prst="roundRect">
              <a:avLst>
                <a:gd name="adj" fmla="val 16666"/>
              </a:avLst>
            </a:prstGeom>
            <a:solidFill>
              <a:srgbClr val="F28C28"/>
            </a:solidFill>
            <a:ln>
              <a:noFill/>
            </a:ln>
          </p:spPr>
          <p:txBody>
            <a:bodyPr rtlCol="0" anchor="ctr"/>
            <a:lstStyle/>
            <a:p>
              <a:pPr algn="ctr"/>
            </a:p>
          </p:txBody>
        </p:sp>
        <p:sp>
          <p:nvSpPr>
            <p:cNvPr id="79" name="fuel label"/>
            <p:cNvSpPr txBox="1"/>
            <p:nvPr/>
          </p:nvSpPr>
          <p:spPr>
            <a:xfrm>
              <a:off x="4663440" y="4023360"/>
              <a:ext cx="2743200" cy="384048"/>
            </a:xfrm>
            <a:prstGeom prst="rect">
              <a:avLst/>
            </a:prstGeom>
            <a:noFill/>
          </p:spPr>
          <p:txBody>
            <a:bodyPr wrap="square" anchor="ctr" lIns="18288" tIns="9144" rIns="18288" bIns="9144">
              <a:noAutofit/>
            </a:bodyPr>
            <a:lstStyle/>
            <a:p>
              <a:pPr algn="ctr"/>
              <a:r>
                <a:rPr sz="1800" b="1" i="0" lang="en-GB">
                  <a:solidFill>
                    <a:srgbClr val="F2F2F2"/>
                  </a:solidFill>
                  <a:latin typeface="Arial"/>
                </a:rPr>
                <a:t>Steady: medium</a:t>
              </a:r>
            </a:p>
          </p:txBody>
        </p:sp>
        <p:sp>
          <p:nvSpPr>
            <p:cNvPr id="80" name="fuel track"/>
            <p:cNvSpPr/>
            <p:nvPr/>
          </p:nvSpPr>
          <p:spPr>
            <a:xfrm>
              <a:off x="4846320" y="4498848"/>
              <a:ext cx="2377440" cy="274320"/>
            </a:xfrm>
            <a:prstGeom prst="roundRect">
              <a:avLst>
                <a:gd name="adj" fmla="val 16666"/>
              </a:avLst>
            </a:prstGeom>
            <a:solidFill>
              <a:srgbClr val="343A43"/>
            </a:solidFill>
            <a:ln w="12700">
              <a:solidFill>
                <a:srgbClr val="4A515B"/>
              </a:solidFill>
            </a:ln>
          </p:spPr>
          <p:txBody>
            <a:bodyPr rtlCol="0" anchor="ctr"/>
            <a:lstStyle/>
            <a:p>
              <a:pPr algn="ctr"/>
            </a:p>
          </p:txBody>
        </p:sp>
        <p:sp>
          <p:nvSpPr>
            <p:cNvPr id="81" name="fuel fill"/>
            <p:cNvSpPr/>
            <p:nvPr/>
          </p:nvSpPr>
          <p:spPr>
            <a:xfrm>
              <a:off x="4846320" y="4498848"/>
              <a:ext cx="1307592" cy="274320"/>
            </a:xfrm>
            <a:prstGeom prst="roundRect">
              <a:avLst>
                <a:gd name="adj" fmla="val 16666"/>
              </a:avLst>
            </a:prstGeom>
            <a:solidFill>
              <a:srgbClr val="F28C28"/>
            </a:solidFill>
            <a:ln>
              <a:noFill/>
            </a:ln>
          </p:spPr>
          <p:txBody>
            <a:bodyPr rtlCol="0" anchor="ctr"/>
            <a:lstStyle/>
            <a:p>
              <a:pPr algn="ctr"/>
            </a:p>
          </p:txBody>
        </p:sp>
        <p:sp>
          <p:nvSpPr>
            <p:cNvPr id="82" name="fuel label"/>
            <p:cNvSpPr txBox="1"/>
            <p:nvPr/>
          </p:nvSpPr>
          <p:spPr>
            <a:xfrm>
              <a:off x="7498079" y="4023360"/>
              <a:ext cx="2743200" cy="384048"/>
            </a:xfrm>
            <a:prstGeom prst="rect">
              <a:avLst/>
            </a:prstGeom>
            <a:noFill/>
          </p:spPr>
          <p:txBody>
            <a:bodyPr wrap="square" anchor="ctr" lIns="18288" tIns="9144" rIns="18288" bIns="9144">
              <a:noAutofit/>
            </a:bodyPr>
            <a:lstStyle/>
            <a:p>
              <a:pPr algn="ctr"/>
              <a:r>
                <a:rPr sz="1800" b="1" i="0" lang="en-GB">
                  <a:solidFill>
                    <a:srgbClr val="F2F2F2"/>
                  </a:solidFill>
                  <a:latin typeface="Arial"/>
                </a:rPr>
                <a:t>Coasting: low</a:t>
              </a:r>
            </a:p>
          </p:txBody>
        </p:sp>
        <p:sp>
          <p:nvSpPr>
            <p:cNvPr id="83" name="fuel track"/>
            <p:cNvSpPr/>
            <p:nvPr/>
          </p:nvSpPr>
          <p:spPr>
            <a:xfrm>
              <a:off x="7680959" y="4498848"/>
              <a:ext cx="2377440" cy="274320"/>
            </a:xfrm>
            <a:prstGeom prst="roundRect">
              <a:avLst>
                <a:gd name="adj" fmla="val 16666"/>
              </a:avLst>
            </a:prstGeom>
            <a:solidFill>
              <a:srgbClr val="343A43"/>
            </a:solidFill>
            <a:ln w="12700">
              <a:solidFill>
                <a:srgbClr val="4A515B"/>
              </a:solidFill>
            </a:ln>
          </p:spPr>
          <p:txBody>
            <a:bodyPr rtlCol="0" anchor="ctr"/>
            <a:lstStyle/>
            <a:p>
              <a:pPr algn="ctr"/>
            </a:p>
          </p:txBody>
        </p:sp>
        <p:sp>
          <p:nvSpPr>
            <p:cNvPr id="84" name="fuel fill"/>
            <p:cNvSpPr/>
            <p:nvPr/>
          </p:nvSpPr>
          <p:spPr>
            <a:xfrm>
              <a:off x="7680959" y="4498848"/>
              <a:ext cx="523036" cy="274320"/>
            </a:xfrm>
            <a:prstGeom prst="roundRect">
              <a:avLst>
                <a:gd name="adj" fmla="val 16666"/>
              </a:avLst>
            </a:prstGeom>
            <a:solidFill>
              <a:srgbClr val="F28C28"/>
            </a:solidFill>
            <a:ln>
              <a:noFill/>
            </a:ln>
          </p:spPr>
          <p:txBody>
            <a:bodyPr rtlCol="0" anchor="ctr"/>
            <a:lstStyle/>
            <a:p>
              <a:pPr algn="ctr"/>
            </a:p>
          </p:txBody>
        </p:sp>
        <p:sp>
          <p:nvSpPr>
            <p:cNvPr id="85" name="note"/>
            <p:cNvSpPr txBox="1"/>
            <p:nvPr/>
          </p:nvSpPr>
          <p:spPr>
            <a:xfrm>
              <a:off x="640080" y="5074920"/>
              <a:ext cx="4572000" cy="320040"/>
            </a:xfrm>
            <a:prstGeom prst="rect">
              <a:avLst/>
            </a:prstGeom>
            <a:noFill/>
          </p:spPr>
          <p:txBody>
            <a:bodyPr wrap="square" anchor="ctr" lIns="18288" tIns="9144" rIns="18288" bIns="9144">
              <a:noAutofit/>
            </a:bodyPr>
            <a:lstStyle/>
            <a:p>
              <a:pPr algn="l"/>
              <a:r>
                <a:rPr sz="1400" b="0" i="0" lang="en-GB">
                  <a:solidFill>
                    <a:srgbClr val="A9B0B8"/>
                  </a:solidFill>
                  <a:latin typeface="Arial"/>
                </a:rPr>
                <a:t>Shape only. Not measured.</a:t>
              </a:r>
            </a:p>
          </p:txBody>
        </p:sp>
      </p:grpSp>
      <p:sp>
        <p:nvSpPr>
          <p:cNvPr id="8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8"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Heavy loads, acceleration and hills use more. Coasting uses less.</a:t>
            </a:r>
          </a:p>
        </p:txBody>
      </p:sp>
      <p:sp>
        <p:nvSpPr>
          <p:cNvPr id="8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Test targets for range</a:t>
            </a:r>
          </a:p>
        </p:txBody>
      </p:sp>
      <p:sp>
        <p:nvSpPr>
          <p:cNvPr id="3" name="CHIP"/>
          <p:cNvSpPr/>
          <p:nvPr/>
        </p:nvSpPr>
        <p:spPr>
          <a:xfrm>
            <a:off x="10088575" y="530352"/>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graphicFrame>
        <p:nvGraphicFramePr>
          <p:cNvPr id="4" name="TABLE" descr="Table of provisional range targets per tank for Small, Medium and Large engines. Small: water 2 to 3 kilometres, coal 4 to 5. Medium: water 4 to 5, coal about 7. Large: water 6 to 7, coal about 10."/>
          <p:cNvGraphicFramePr>
            <a:graphicFrameLocks noGrp="1"/>
          </p:cNvGraphicFramePr>
          <p:nvPr/>
        </p:nvGraphicFramePr>
        <p:xfrm>
          <a:off x="2167128" y="1691640"/>
          <a:ext cx="7863840" cy="3017520"/>
        </p:xfrm>
        <a:graphic>
          <a:graphicData uri="http://schemas.openxmlformats.org/drawingml/2006/table">
            <a:tbl>
              <a:tblPr firstRow="1" bandRow="0">
                <a:tableStyleId>{5C22544A-7EE6-4342-B048-85BDC9FD1C3A}</a:tableStyleId>
              </a:tblPr>
              <a:tblGrid>
                <a:gridCol w="2377440"/>
                <a:gridCol w="2743200"/>
                <a:gridCol w="2743200"/>
              </a:tblGrid>
              <a:tr h="594360">
                <a:tc gridSpan="3">
                  <a:txBody>
                    <a:bodyPr wrap="square"/>
                    <a:lstStyle/>
                    <a:p>
                      <a:pPr algn="l"/>
                      <a:r>
                        <a:rPr sz="2000" b="1" i="0" lang="en-GB">
                          <a:solidFill>
                            <a:srgbClr val="F2F2F2"/>
                          </a:solidFill>
                          <a:latin typeface="Arial"/>
                        </a:rPr>
                        <a:t>Route-dependent targets</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343A43"/>
                    </a:solidFill>
                  </a:tcPr>
                </a:tc>
                <a:tc hMerge="1">
                  <a:txBody>
                    <a:bodyPr/>
                    <a:lstStyle/>
                    <a:p/>
                  </a:txBody>
                  <a:tcPr/>
                </a:tc>
                <a:tc hMerge="1">
                  <a:txBody>
                    <a:bodyPr/>
                    <a:lstStyle/>
                    <a:p/>
                  </a:txBody>
                  <a:tcPr/>
                </a:tc>
              </a:tr>
              <a:tr h="502920">
                <a:tc>
                  <a:txBody>
                    <a:bodyPr wrap="square"/>
                    <a:lstStyle/>
                    <a:p>
                      <a:pPr algn="l"/>
                      <a:r>
                        <a:rPr sz="1800" b="0" i="0" lang="en-GB">
                          <a:solidFill>
                            <a:srgbClr val="F2F2F2"/>
                          </a:solidFill>
                          <a:latin typeface="Arial"/>
                        </a:rPr>
                        <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1" i="0" lang="en-GB">
                          <a:solidFill>
                            <a:srgbClr val="4DA3FF"/>
                          </a:solidFill>
                          <a:latin typeface="Arial"/>
                        </a:rPr>
                        <a:t>Water</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1" i="0" lang="en-GB">
                          <a:solidFill>
                            <a:srgbClr val="F2F2F2"/>
                          </a:solidFill>
                          <a:latin typeface="Arial"/>
                        </a:rPr>
                        <a:t>Coal</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640080">
                <a:tc>
                  <a:txBody>
                    <a:bodyPr wrap="square"/>
                    <a:lstStyle/>
                    <a:p>
                      <a:pPr algn="l"/>
                      <a:r>
                        <a:rPr sz="2000" b="1" i="0" lang="en-GB">
                          <a:solidFill>
                            <a:srgbClr val="F28C28"/>
                          </a:solidFill>
                          <a:latin typeface="Arial"/>
                        </a:rPr>
                        <a:t>Small</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2–3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4–5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640080">
                <a:tc>
                  <a:txBody>
                    <a:bodyPr wrap="square"/>
                    <a:lstStyle/>
                    <a:p>
                      <a:pPr algn="l"/>
                      <a:r>
                        <a:rPr sz="2000" b="1" i="0" lang="en-GB">
                          <a:solidFill>
                            <a:srgbClr val="F28C28"/>
                          </a:solidFill>
                          <a:latin typeface="Arial"/>
                        </a:rPr>
                        <a:t>Medium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4–5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about 7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r h="640080">
                <a:tc>
                  <a:txBody>
                    <a:bodyPr wrap="square"/>
                    <a:lstStyle/>
                    <a:p>
                      <a:pPr algn="l"/>
                      <a:r>
                        <a:rPr sz="2000" b="1" i="0" lang="en-GB">
                          <a:solidFill>
                            <a:srgbClr val="F28C28"/>
                          </a:solidFill>
                          <a:latin typeface="Arial"/>
                        </a:rPr>
                        <a:t>Large</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6–7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c>
                  <a:txBody>
                    <a:bodyPr wrap="square"/>
                    <a:lstStyle/>
                    <a:p>
                      <a:pPr algn="ctr"/>
                      <a:r>
                        <a:rPr sz="2000" b="0" i="0" lang="en-GB">
                          <a:solidFill>
                            <a:srgbClr val="F2F2F2"/>
                          </a:solidFill>
                          <a:latin typeface="Arial"/>
                        </a:rPr>
                        <a:t>about 10 km</a:t>
                      </a:r>
                    </a:p>
                  </a:txBody>
                  <a:tcPr marL="73152" marT="36576" marR="73152" marB="36576" anchor="ctr">
                    <a:lnL w="9525" cap="flat" cmpd="sng">
                      <a:solidFill>
                        <a:srgbClr val="4A515B"/>
                      </a:solidFill>
                      <a:prstDash val="solid"/>
                    </a:lnL>
                    <a:lnR w="9525" cap="flat" cmpd="sng">
                      <a:solidFill>
                        <a:srgbClr val="4A515B"/>
                      </a:solidFill>
                      <a:prstDash val="solid"/>
                    </a:lnR>
                    <a:lnT w="9525" cap="flat" cmpd="sng">
                      <a:solidFill>
                        <a:srgbClr val="4A515B"/>
                      </a:solidFill>
                      <a:prstDash val="solid"/>
                    </a:lnT>
                    <a:lnB w="9525" cap="flat" cmpd="sng">
                      <a:solidFill>
                        <a:srgbClr val="4A515B"/>
                      </a:solidFill>
                      <a:prstDash val="solid"/>
                    </a:lnB>
                    <a:solidFill>
                      <a:srgbClr val="2B2F36"/>
                    </a:solidFill>
                  </a:tcPr>
                </a:tc>
              </a:tr>
            </a:tbl>
          </a:graphicData>
        </a:graphic>
      </p:graphicFrame>
      <p:sp>
        <p:nvSpPr>
          <p:cNvPr id="5" name="ICHIP"/>
          <p:cNvSpPr/>
          <p:nvPr/>
        </p:nvSpPr>
        <p:spPr>
          <a:xfrm>
            <a:off x="8430767" y="1847088"/>
            <a:ext cx="1463040" cy="292608"/>
          </a:xfrm>
          <a:prstGeom prst="roundRect">
            <a:avLst>
              <a:gd name="adj" fmla="val 375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6" name="footer"/>
          <p:cNvSpPr txBox="1"/>
          <p:nvPr/>
        </p:nvSpPr>
        <p:spPr>
          <a:xfrm>
            <a:off x="2167128" y="4754880"/>
            <a:ext cx="7863840" cy="411480"/>
          </a:xfrm>
          <a:prstGeom prst="rect">
            <a:avLst/>
          </a:prstGeom>
          <a:noFill/>
        </p:spPr>
        <p:txBody>
          <a:bodyPr wrap="square" anchor="ctr" lIns="18288" tIns="9144" rIns="18288" bIns="9144">
            <a:noAutofit/>
          </a:bodyPr>
          <a:lstStyle/>
          <a:p>
            <a:pPr algn="ctr"/>
            <a:r>
              <a:rPr sz="1800" b="0" i="0" lang="en-GB">
                <a:solidFill>
                  <a:srgbClr val="A9B0B8"/>
                </a:solidFill>
                <a:latin typeface="Arial"/>
              </a:rPr>
              <a:t>Not guaranteed distances or tank sizes.</a:t>
            </a:r>
          </a:p>
        </p:txBody>
      </p:sp>
      <p:sp>
        <p:nvSpPr>
          <p:cNvPr id="7"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9"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Test targets for range per tank. They depend on the route and may change.</a:t>
            </a:r>
          </a:p>
        </p:txBody>
      </p:sp>
      <p:sp>
        <p:nvSpPr>
          <p:cNvPr id="10"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better fuel</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fuels and a water question" descr="Coal and Compacted Coal side by side, each with a bar for burn time. The Compacted Coal bar is longer. A water drop with a question mark shows that water saving is not established."/>
          <p:cNvGrpSpPr/>
          <p:nvPr/>
        </p:nvGrpSpPr>
        <p:grpSpPr>
          <a:xfrm>
            <a:off x="548640" y="1417320"/>
            <a:ext cx="11091672" cy="3657600"/>
            <a:chOff x="548640" y="1417320"/>
            <a:chExt cx="11091672" cy="3657600"/>
          </a:xfrm>
        </p:grpSpPr>
        <p:sp>
          <p:nvSpPr>
            <p:cNvPr id="5" name="fuel card"/>
            <p:cNvSpPr/>
            <p:nvPr/>
          </p:nvSpPr>
          <p:spPr>
            <a:xfrm>
              <a:off x="548640" y="1417320"/>
              <a:ext cx="3383280" cy="3200400"/>
            </a:xfrm>
            <a:prstGeom prst="roundRect">
              <a:avLst>
                <a:gd name="adj" fmla="val 2857"/>
              </a:avLst>
            </a:prstGeom>
            <a:solidFill>
              <a:srgbClr val="2B2F36"/>
            </a:solidFill>
            <a:ln>
              <a:noFill/>
            </a:ln>
          </p:spPr>
          <p:txBody>
            <a:bodyPr rtlCol="0" anchor="ctr"/>
            <a:lstStyle/>
            <a:p>
              <a:pPr algn="ctr"/>
            </a:p>
          </p:txBody>
        </p:sp>
        <p:sp>
          <p:nvSpPr>
            <p:cNvPr id="6" name="coal lump"/>
            <p:cNvSpPr/>
            <p:nvPr/>
          </p:nvSpPr>
          <p:spPr>
            <a:xfrm>
              <a:off x="1371600" y="1645920"/>
              <a:ext cx="1737360" cy="1234440"/>
            </a:xfrm>
            <a:custGeom>
              <a:avLst/>
              <a:gdLst/>
              <a:ahLst/>
              <a:cxnLst/>
              <a:rect l="l" t="t" r="r" b="b"/>
              <a:pathLst>
                <a:path w="1737360" h="1234440">
                  <a:moveTo>
                    <a:pt x="137160" y="1143000"/>
                  </a:moveTo>
                  <a:lnTo>
                    <a:pt x="0" y="594360"/>
                  </a:lnTo>
                  <a:lnTo>
                    <a:pt x="365760" y="137160"/>
                  </a:lnTo>
                  <a:lnTo>
                    <a:pt x="868680" y="0"/>
                  </a:lnTo>
                  <a:lnTo>
                    <a:pt x="1417320" y="182880"/>
                  </a:lnTo>
                  <a:lnTo>
                    <a:pt x="1737360" y="640080"/>
                  </a:lnTo>
                  <a:lnTo>
                    <a:pt x="1554480" y="1143000"/>
                  </a:lnTo>
                  <a:lnTo>
                    <a:pt x="914400" y="1234440"/>
                  </a:lnTo>
                  <a:close/>
                </a:path>
              </a:pathLst>
            </a:custGeom>
            <a:solidFill>
              <a:srgbClr val="101215"/>
            </a:solidFill>
            <a:ln w="25400">
              <a:solidFill>
                <a:srgbClr val="B5BBC2"/>
              </a:solidFill>
            </a:ln>
          </p:spPr>
          <p:txBody>
            <a:bodyPr rtlCol="0" anchor="ctr"/>
            <a:lstStyle/>
            <a:p>
              <a:pPr algn="ctr"/>
            </a:p>
          </p:txBody>
        </p:sp>
        <p:cxnSp>
          <p:nvCxnSpPr>
            <p:cNvPr id="7" name="facet"/>
            <p:cNvCxnSpPr/>
            <p:nvPr/>
          </p:nvCxnSpPr>
          <p:spPr>
            <a:xfrm>
              <a:off x="1737360" y="1783080"/>
              <a:ext cx="502920" cy="548640"/>
            </a:xfrm>
            <a:prstGeom prst="line">
              <a:avLst/>
            </a:prstGeom>
            <a:ln w="19050">
              <a:solidFill>
                <a:srgbClr val="5A616B"/>
              </a:solidFill>
            </a:ln>
          </p:spPr>
        </p:cxnSp>
        <p:cxnSp>
          <p:nvCxnSpPr>
            <p:cNvPr id="8" name="facet"/>
            <p:cNvCxnSpPr/>
            <p:nvPr/>
          </p:nvCxnSpPr>
          <p:spPr>
            <a:xfrm flipV="1">
              <a:off x="2240280" y="2286000"/>
              <a:ext cx="868680" cy="45720"/>
            </a:xfrm>
            <a:prstGeom prst="line">
              <a:avLst/>
            </a:prstGeom>
            <a:ln w="19050">
              <a:solidFill>
                <a:srgbClr val="5A616B"/>
              </a:solidFill>
            </a:ln>
          </p:spPr>
        </p:cxnSp>
        <p:cxnSp>
          <p:nvCxnSpPr>
            <p:cNvPr id="9" name="facet"/>
            <p:cNvCxnSpPr/>
            <p:nvPr/>
          </p:nvCxnSpPr>
          <p:spPr>
            <a:xfrm>
              <a:off x="2240280" y="2331720"/>
              <a:ext cx="45720" cy="548640"/>
            </a:xfrm>
            <a:prstGeom prst="line">
              <a:avLst/>
            </a:prstGeom>
            <a:ln w="19050">
              <a:solidFill>
                <a:srgbClr val="5A616B"/>
              </a:solidFill>
            </a:ln>
          </p:spPr>
        </p:cxnSp>
        <p:sp>
          <p:nvSpPr>
            <p:cNvPr id="10" name="fuel name"/>
            <p:cNvSpPr txBox="1"/>
            <p:nvPr/>
          </p:nvSpPr>
          <p:spPr>
            <a:xfrm>
              <a:off x="731520" y="3017520"/>
              <a:ext cx="3017520" cy="411480"/>
            </a:xfrm>
            <a:prstGeom prst="rect">
              <a:avLst/>
            </a:prstGeom>
            <a:noFill/>
          </p:spPr>
          <p:txBody>
            <a:bodyPr wrap="square" anchor="ctr" lIns="18288" tIns="9144" rIns="18288" bIns="9144">
              <a:noAutofit/>
            </a:bodyPr>
            <a:lstStyle/>
            <a:p>
              <a:pPr algn="ctr"/>
              <a:r>
                <a:rPr sz="2000" b="1" i="0" lang="en-GB">
                  <a:solidFill>
                    <a:srgbClr val="F2F2F2"/>
                  </a:solidFill>
                  <a:latin typeface="Arial"/>
                </a:rPr>
                <a:t>Coal</a:t>
              </a:r>
            </a:p>
          </p:txBody>
        </p:sp>
        <p:sp>
          <p:nvSpPr>
            <p:cNvPr id="11" name="bar caption"/>
            <p:cNvSpPr txBox="1"/>
            <p:nvPr/>
          </p:nvSpPr>
          <p:spPr>
            <a:xfrm>
              <a:off x="777240" y="3520440"/>
              <a:ext cx="292608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Burn time</a:t>
              </a:r>
            </a:p>
          </p:txBody>
        </p:sp>
        <p:sp>
          <p:nvSpPr>
            <p:cNvPr id="12" name="burn track"/>
            <p:cNvSpPr/>
            <p:nvPr/>
          </p:nvSpPr>
          <p:spPr>
            <a:xfrm>
              <a:off x="777240" y="3840480"/>
              <a:ext cx="2926080" cy="310896"/>
            </a:xfrm>
            <a:prstGeom prst="roundRect">
              <a:avLst>
                <a:gd name="adj" fmla="val 17647"/>
              </a:avLst>
            </a:prstGeom>
            <a:solidFill>
              <a:srgbClr val="343A43"/>
            </a:solidFill>
            <a:ln w="12700">
              <a:solidFill>
                <a:srgbClr val="4A515B"/>
              </a:solidFill>
            </a:ln>
          </p:spPr>
          <p:txBody>
            <a:bodyPr rtlCol="0" anchor="ctr"/>
            <a:lstStyle/>
            <a:p>
              <a:pPr algn="ctr"/>
            </a:p>
          </p:txBody>
        </p:sp>
        <p:sp>
          <p:nvSpPr>
            <p:cNvPr id="13" name="burn fill"/>
            <p:cNvSpPr/>
            <p:nvPr/>
          </p:nvSpPr>
          <p:spPr>
            <a:xfrm>
              <a:off x="777240" y="3840480"/>
              <a:ext cx="1609344" cy="310896"/>
            </a:xfrm>
            <a:prstGeom prst="roundRect">
              <a:avLst>
                <a:gd name="adj" fmla="val 17647"/>
              </a:avLst>
            </a:prstGeom>
            <a:solidFill>
              <a:srgbClr val="F28C28"/>
            </a:solidFill>
            <a:ln>
              <a:noFill/>
            </a:ln>
          </p:spPr>
          <p:txBody>
            <a:bodyPr rtlCol="0" anchor="ctr"/>
            <a:lstStyle/>
            <a:p>
              <a:pPr algn="ctr"/>
            </a:p>
          </p:txBody>
        </p:sp>
        <p:sp>
          <p:nvSpPr>
            <p:cNvPr id="14" name="fuel card"/>
            <p:cNvSpPr/>
            <p:nvPr/>
          </p:nvSpPr>
          <p:spPr>
            <a:xfrm>
              <a:off x="4114800" y="1417320"/>
              <a:ext cx="3383280" cy="3200400"/>
            </a:xfrm>
            <a:prstGeom prst="roundRect">
              <a:avLst>
                <a:gd name="adj" fmla="val 2857"/>
              </a:avLst>
            </a:prstGeom>
            <a:solidFill>
              <a:srgbClr val="2B2F36"/>
            </a:solidFill>
            <a:ln>
              <a:noFill/>
            </a:ln>
          </p:spPr>
          <p:txBody>
            <a:bodyPr rtlCol="0" anchor="ctr"/>
            <a:lstStyle/>
            <a:p>
              <a:pPr algn="ctr"/>
            </a:p>
          </p:txBody>
        </p:sp>
        <p:sp>
          <p:nvSpPr>
            <p:cNvPr id="15" name="compacted block"/>
            <p:cNvSpPr/>
            <p:nvPr/>
          </p:nvSpPr>
          <p:spPr>
            <a:xfrm>
              <a:off x="4892040" y="1783080"/>
              <a:ext cx="1828800" cy="1005840"/>
            </a:xfrm>
            <a:prstGeom prst="roundRect">
              <a:avLst>
                <a:gd name="adj" fmla="val 10909"/>
              </a:avLst>
            </a:prstGeom>
            <a:solidFill>
              <a:srgbClr val="101215"/>
            </a:solidFill>
            <a:ln w="25400">
              <a:solidFill>
                <a:srgbClr val="B5BBC2"/>
              </a:solidFill>
            </a:ln>
          </p:spPr>
          <p:txBody>
            <a:bodyPr rtlCol="0" anchor="ctr"/>
            <a:lstStyle/>
            <a:p>
              <a:pPr algn="ctr"/>
            </a:p>
          </p:txBody>
        </p:sp>
        <p:cxnSp>
          <p:nvCxnSpPr>
            <p:cNvPr id="16" name="groove"/>
            <p:cNvCxnSpPr/>
            <p:nvPr/>
          </p:nvCxnSpPr>
          <p:spPr>
            <a:xfrm>
              <a:off x="5501944" y="1828800"/>
              <a:ext cx="0" cy="914400"/>
            </a:xfrm>
            <a:prstGeom prst="line">
              <a:avLst/>
            </a:prstGeom>
            <a:ln w="25400">
              <a:solidFill>
                <a:srgbClr val="5A616B"/>
              </a:solidFill>
            </a:ln>
          </p:spPr>
        </p:cxnSp>
        <p:cxnSp>
          <p:nvCxnSpPr>
            <p:cNvPr id="17" name="groove"/>
            <p:cNvCxnSpPr/>
            <p:nvPr/>
          </p:nvCxnSpPr>
          <p:spPr>
            <a:xfrm>
              <a:off x="6111849" y="1828800"/>
              <a:ext cx="0" cy="914400"/>
            </a:xfrm>
            <a:prstGeom prst="line">
              <a:avLst/>
            </a:prstGeom>
            <a:ln w="25400">
              <a:solidFill>
                <a:srgbClr val="5A616B"/>
              </a:solidFill>
            </a:ln>
          </p:spPr>
        </p:cxnSp>
        <p:sp>
          <p:nvSpPr>
            <p:cNvPr id="18" name="fuel name"/>
            <p:cNvSpPr txBox="1"/>
            <p:nvPr/>
          </p:nvSpPr>
          <p:spPr>
            <a:xfrm>
              <a:off x="4297680" y="3017520"/>
              <a:ext cx="3017520" cy="411480"/>
            </a:xfrm>
            <a:prstGeom prst="rect">
              <a:avLst/>
            </a:prstGeom>
            <a:noFill/>
          </p:spPr>
          <p:txBody>
            <a:bodyPr wrap="square" anchor="ctr" lIns="18288" tIns="9144" rIns="18288" bIns="9144">
              <a:noAutofit/>
            </a:bodyPr>
            <a:lstStyle/>
            <a:p>
              <a:pPr algn="ctr"/>
              <a:r>
                <a:rPr sz="2000" b="1" i="0" lang="en-GB">
                  <a:solidFill>
                    <a:srgbClr val="F2F2F2"/>
                  </a:solidFill>
                  <a:latin typeface="Arial"/>
                </a:rPr>
                <a:t>Compacted Coal</a:t>
              </a:r>
            </a:p>
          </p:txBody>
        </p:sp>
        <p:sp>
          <p:nvSpPr>
            <p:cNvPr id="19" name="bar caption"/>
            <p:cNvSpPr txBox="1"/>
            <p:nvPr/>
          </p:nvSpPr>
          <p:spPr>
            <a:xfrm>
              <a:off x="4343400" y="3520440"/>
              <a:ext cx="2926080" cy="274320"/>
            </a:xfrm>
            <a:prstGeom prst="rect">
              <a:avLst/>
            </a:prstGeom>
            <a:noFill/>
          </p:spPr>
          <p:txBody>
            <a:bodyPr wrap="square" anchor="ctr" lIns="18288" tIns="9144" rIns="18288" bIns="9144">
              <a:noAutofit/>
            </a:bodyPr>
            <a:lstStyle/>
            <a:p>
              <a:pPr algn="l"/>
              <a:r>
                <a:rPr sz="1400" b="0" i="0" lang="en-GB">
                  <a:solidFill>
                    <a:srgbClr val="A9B0B8"/>
                  </a:solidFill>
                  <a:latin typeface="Arial"/>
                </a:rPr>
                <a:t>Burn time</a:t>
              </a:r>
            </a:p>
          </p:txBody>
        </p:sp>
        <p:sp>
          <p:nvSpPr>
            <p:cNvPr id="20" name="burn track"/>
            <p:cNvSpPr/>
            <p:nvPr/>
          </p:nvSpPr>
          <p:spPr>
            <a:xfrm>
              <a:off x="4343400" y="3840480"/>
              <a:ext cx="2926080" cy="310896"/>
            </a:xfrm>
            <a:prstGeom prst="roundRect">
              <a:avLst>
                <a:gd name="adj" fmla="val 17647"/>
              </a:avLst>
            </a:prstGeom>
            <a:solidFill>
              <a:srgbClr val="343A43"/>
            </a:solidFill>
            <a:ln w="12700">
              <a:solidFill>
                <a:srgbClr val="4A515B"/>
              </a:solidFill>
            </a:ln>
          </p:spPr>
          <p:txBody>
            <a:bodyPr rtlCol="0" anchor="ctr"/>
            <a:lstStyle/>
            <a:p>
              <a:pPr algn="ctr"/>
            </a:p>
          </p:txBody>
        </p:sp>
        <p:sp>
          <p:nvSpPr>
            <p:cNvPr id="21" name="burn fill"/>
            <p:cNvSpPr/>
            <p:nvPr/>
          </p:nvSpPr>
          <p:spPr>
            <a:xfrm>
              <a:off x="4343400" y="3840480"/>
              <a:ext cx="2691993" cy="310896"/>
            </a:xfrm>
            <a:prstGeom prst="roundRect">
              <a:avLst>
                <a:gd name="adj" fmla="val 17647"/>
              </a:avLst>
            </a:prstGeom>
            <a:solidFill>
              <a:srgbClr val="F28C28"/>
            </a:solidFill>
            <a:ln>
              <a:noFill/>
            </a:ln>
          </p:spPr>
          <p:txBody>
            <a:bodyPr rtlCol="0" anchor="ctr"/>
            <a:lstStyle/>
            <a:p>
              <a:pPr algn="ctr"/>
            </a:p>
          </p:txBody>
        </p:sp>
        <p:sp>
          <p:nvSpPr>
            <p:cNvPr id="22" name="scale note"/>
            <p:cNvSpPr txBox="1"/>
            <p:nvPr/>
          </p:nvSpPr>
          <p:spPr>
            <a:xfrm>
              <a:off x="548640" y="4754880"/>
              <a:ext cx="6949440" cy="320040"/>
            </a:xfrm>
            <a:prstGeom prst="rect">
              <a:avLst/>
            </a:prstGeom>
            <a:noFill/>
          </p:spPr>
          <p:txBody>
            <a:bodyPr wrap="square" anchor="ctr" lIns="18288" tIns="9144" rIns="18288" bIns="9144">
              <a:noAutofit/>
            </a:bodyPr>
            <a:lstStyle/>
            <a:p>
              <a:pPr algn="ctr"/>
              <a:r>
                <a:rPr sz="1400" b="0" i="0" lang="en-GB">
                  <a:solidFill>
                    <a:srgbClr val="A9B0B8"/>
                  </a:solidFill>
                  <a:latin typeface="Arial"/>
                </a:rPr>
                <a:t>Not to scale</a:t>
              </a:r>
            </a:p>
          </p:txBody>
        </p:sp>
        <p:sp>
          <p:nvSpPr>
            <p:cNvPr id="23" name="water card"/>
            <p:cNvSpPr/>
            <p:nvPr/>
          </p:nvSpPr>
          <p:spPr>
            <a:xfrm>
              <a:off x="7863840" y="1417320"/>
              <a:ext cx="3776472" cy="3200400"/>
            </a:xfrm>
            <a:prstGeom prst="roundRect">
              <a:avLst>
                <a:gd name="adj" fmla="val 2857"/>
              </a:avLst>
            </a:prstGeom>
            <a:solidFill>
              <a:srgbClr val="2B2F36"/>
            </a:solidFill>
            <a:ln w="19050">
              <a:solidFill>
                <a:srgbClr val="4A515B"/>
              </a:solidFill>
            </a:ln>
          </p:spPr>
          <p:txBody>
            <a:bodyPr rtlCol="0" anchor="ctr"/>
            <a:lstStyle/>
            <a:p>
              <a:pPr algn="ctr"/>
            </a:p>
          </p:txBody>
        </p:sp>
        <p:sp>
          <p:nvSpPr>
            <p:cNvPr id="24" name="water drop"/>
            <p:cNvSpPr/>
            <p:nvPr/>
          </p:nvSpPr>
          <p:spPr>
            <a:xfrm>
              <a:off x="9130331" y="1645920"/>
              <a:ext cx="1243489" cy="1803196"/>
            </a:xfrm>
            <a:custGeom>
              <a:avLst/>
              <a:gdLst/>
              <a:ahLst/>
              <a:cxnLst/>
              <a:rect l="l" t="t" r="r" b="b"/>
              <a:pathLst>
                <a:path w="1243489" h="1803196">
                  <a:moveTo>
                    <a:pt x="621745" y="0"/>
                  </a:moveTo>
                  <a:lnTo>
                    <a:pt x="1150448" y="854145"/>
                  </a:lnTo>
                  <a:lnTo>
                    <a:pt x="1191359" y="932075"/>
                  </a:lnTo>
                  <a:lnTo>
                    <a:pt x="1220857" y="1015001"/>
                  </a:lnTo>
                  <a:lnTo>
                    <a:pt x="1238350" y="1101261"/>
                  </a:lnTo>
                  <a:lnTo>
                    <a:pt x="1243489" y="1189127"/>
                  </a:lnTo>
                  <a:lnTo>
                    <a:pt x="1236169" y="1276838"/>
                  </a:lnTo>
                  <a:lnTo>
                    <a:pt x="1216539" y="1362637"/>
                  </a:lnTo>
                  <a:lnTo>
                    <a:pt x="1184990" y="1444804"/>
                  </a:lnTo>
                  <a:lnTo>
                    <a:pt x="1142156" y="1521694"/>
                  </a:lnTo>
                  <a:lnTo>
                    <a:pt x="1088894" y="1591766"/>
                  </a:lnTo>
                  <a:lnTo>
                    <a:pt x="1026272" y="1653615"/>
                  </a:lnTo>
                  <a:lnTo>
                    <a:pt x="955545" y="1706002"/>
                  </a:lnTo>
                  <a:lnTo>
                    <a:pt x="878129" y="1747878"/>
                  </a:lnTo>
                  <a:lnTo>
                    <a:pt x="795576" y="1778403"/>
                  </a:lnTo>
                  <a:lnTo>
                    <a:pt x="709540" y="1796967"/>
                  </a:lnTo>
                  <a:lnTo>
                    <a:pt x="621745" y="1803196"/>
                  </a:lnTo>
                  <a:lnTo>
                    <a:pt x="533949" y="1796967"/>
                  </a:lnTo>
                  <a:lnTo>
                    <a:pt x="447913" y="1778403"/>
                  </a:lnTo>
                  <a:lnTo>
                    <a:pt x="365360" y="1747878"/>
                  </a:lnTo>
                  <a:lnTo>
                    <a:pt x="287944" y="1706002"/>
                  </a:lnTo>
                  <a:lnTo>
                    <a:pt x="217217" y="1653615"/>
                  </a:lnTo>
                  <a:lnTo>
                    <a:pt x="154595" y="1591766"/>
                  </a:lnTo>
                  <a:lnTo>
                    <a:pt x="101333" y="1521694"/>
                  </a:lnTo>
                  <a:lnTo>
                    <a:pt x="58499" y="1444804"/>
                  </a:lnTo>
                  <a:lnTo>
                    <a:pt x="26950" y="1362637"/>
                  </a:lnTo>
                  <a:lnTo>
                    <a:pt x="7320" y="1276838"/>
                  </a:lnTo>
                  <a:lnTo>
                    <a:pt x="0" y="1189127"/>
                  </a:lnTo>
                  <a:lnTo>
                    <a:pt x="5139" y="1101261"/>
                  </a:lnTo>
                  <a:lnTo>
                    <a:pt x="22632" y="1015001"/>
                  </a:lnTo>
                  <a:lnTo>
                    <a:pt x="52130" y="932075"/>
                  </a:lnTo>
                  <a:lnTo>
                    <a:pt x="93041" y="854145"/>
                  </a:lnTo>
                  <a:close/>
                </a:path>
              </a:pathLst>
            </a:custGeom>
            <a:solidFill>
              <a:srgbClr val="4DA3FF"/>
            </a:solidFill>
            <a:ln>
              <a:noFill/>
            </a:ln>
          </p:spPr>
          <p:txBody>
            <a:bodyPr rtlCol="0" anchor="ctr"/>
            <a:lstStyle/>
            <a:p>
              <a:pPr algn="ctr"/>
            </a:p>
          </p:txBody>
        </p:sp>
        <p:sp>
          <p:nvSpPr>
            <p:cNvPr id="25" name="question mark"/>
            <p:cNvSpPr txBox="1"/>
            <p:nvPr/>
          </p:nvSpPr>
          <p:spPr>
            <a:xfrm>
              <a:off x="9203436" y="2331720"/>
              <a:ext cx="1097280" cy="914400"/>
            </a:xfrm>
            <a:prstGeom prst="rect">
              <a:avLst/>
            </a:prstGeom>
            <a:noFill/>
          </p:spPr>
          <p:txBody>
            <a:bodyPr wrap="square" anchor="ctr" lIns="18288" tIns="9144" rIns="18288" bIns="9144">
              <a:noAutofit/>
            </a:bodyPr>
            <a:lstStyle/>
            <a:p>
              <a:pPr algn="ctr"/>
              <a:r>
                <a:rPr sz="5400" b="1" i="0" lang="en-GB">
                  <a:solidFill>
                    <a:srgbClr val="101418"/>
                  </a:solidFill>
                  <a:latin typeface="Arial"/>
                </a:rPr>
                <a:t>?</a:t>
              </a:r>
            </a:p>
          </p:txBody>
        </p:sp>
        <p:sp>
          <p:nvSpPr>
            <p:cNvPr id="26" name="ICHIP TEXT"/>
            <p:cNvSpPr/>
            <p:nvPr/>
          </p:nvSpPr>
          <p:spPr>
            <a:xfrm>
              <a:off x="8092440" y="3886200"/>
              <a:ext cx="3319272" cy="457200"/>
            </a:xfrm>
            <a:prstGeom prst="roundRect">
              <a:avLst>
                <a:gd name="adj" fmla="val 240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Water saving: not established</a:t>
              </a:r>
            </a:p>
          </p:txBody>
        </p:sp>
      </p:grpSp>
      <p:sp>
        <p:nvSpPr>
          <p:cNvPr id="27"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8"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9"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Compacted Coal burns more efficiently. Water saving is not assumed.</a:t>
            </a:r>
          </a:p>
        </p:txBody>
      </p:sp>
      <p:sp>
        <p:nvSpPr>
          <p:cNvPr id="30"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A steam station</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Steam station plan" descr="Top-down plan of a steam station. A coal conveyor feeds a coal stage and a pipe feeds a water tower. A locomotive stands on the track beside a platform and a signal box. A dashed line marks a large footprint with an exact size that is undecided."/>
          <p:cNvGrpSpPr/>
          <p:nvPr/>
        </p:nvGrpSpPr>
        <p:grpSpPr>
          <a:xfrm>
            <a:off x="685800" y="1783080"/>
            <a:ext cx="10927080" cy="3703320"/>
            <a:chOff x="685800" y="1783080"/>
            <a:chExt cx="10927080" cy="3703320"/>
          </a:xfrm>
        </p:grpSpPr>
        <p:sp>
          <p:nvSpPr>
            <p:cNvPr id="5" name="footprint"/>
            <p:cNvSpPr/>
            <p:nvPr/>
          </p:nvSpPr>
          <p:spPr>
            <a:xfrm>
              <a:off x="685800" y="1783080"/>
              <a:ext cx="8732520" cy="3611880"/>
            </a:xfrm>
            <a:prstGeom prst="roundRect">
              <a:avLst>
                <a:gd name="adj" fmla="val 3797"/>
              </a:avLst>
            </a:prstGeom>
            <a:noFill/>
            <a:ln w="25400">
              <a:solidFill>
                <a:srgbClr val="F28C28"/>
              </a:solidFill>
              <a:prstDash val="dash"/>
            </a:ln>
          </p:spPr>
          <p:txBody>
            <a:bodyPr rtlCol="0" anchor="ctr"/>
            <a:lstStyle/>
            <a:p>
              <a:pPr algn="ctr"/>
            </a:p>
          </p:txBody>
        </p:sp>
        <p:sp>
          <p:nvSpPr>
            <p:cNvPr id="6" name="footprint label"/>
            <p:cNvSpPr txBox="1"/>
            <p:nvPr/>
          </p:nvSpPr>
          <p:spPr>
            <a:xfrm>
              <a:off x="4206240" y="4864608"/>
              <a:ext cx="5120640" cy="457200"/>
            </a:xfrm>
            <a:prstGeom prst="rect">
              <a:avLst/>
            </a:prstGeom>
            <a:noFill/>
          </p:spPr>
          <p:txBody>
            <a:bodyPr wrap="square" anchor="ctr" lIns="18288" tIns="9144" rIns="18288" bIns="9144">
              <a:noAutofit/>
            </a:bodyPr>
            <a:lstStyle/>
            <a:p>
              <a:pPr algn="r"/>
              <a:r>
                <a:rPr sz="1400" b="1" i="0" lang="en-GB">
                  <a:solidFill>
                    <a:srgbClr val="F28C28"/>
                  </a:solidFill>
                  <a:latin typeface="Arial"/>
                </a:rPr>
                <a:t>Large footprint. Exact size undecided.</a:t>
              </a:r>
            </a:p>
          </p:txBody>
        </p:sp>
        <p:sp>
          <p:nvSpPr>
            <p:cNvPr id="7" name="rail"/>
            <p:cNvSpPr/>
            <p:nvPr/>
          </p:nvSpPr>
          <p:spPr>
            <a:xfrm>
              <a:off x="822960" y="3520440"/>
              <a:ext cx="10607040" cy="64008"/>
            </a:xfrm>
            <a:prstGeom prst="rect">
              <a:avLst/>
            </a:prstGeom>
            <a:solidFill>
              <a:srgbClr val="9AA0A6"/>
            </a:solidFill>
            <a:ln>
              <a:noFill/>
            </a:ln>
          </p:spPr>
          <p:txBody>
            <a:bodyPr rtlCol="0" anchor="ctr"/>
            <a:lstStyle/>
            <a:p>
              <a:pPr algn="ctr"/>
            </a:p>
          </p:txBody>
        </p:sp>
        <p:sp>
          <p:nvSpPr>
            <p:cNvPr id="8" name="rail"/>
            <p:cNvSpPr/>
            <p:nvPr/>
          </p:nvSpPr>
          <p:spPr>
            <a:xfrm>
              <a:off x="822960" y="3749039"/>
              <a:ext cx="10607040" cy="64008"/>
            </a:xfrm>
            <a:prstGeom prst="rect">
              <a:avLst/>
            </a:prstGeom>
            <a:solidFill>
              <a:srgbClr val="9AA0A6"/>
            </a:solidFill>
            <a:ln>
              <a:noFill/>
            </a:ln>
          </p:spPr>
          <p:txBody>
            <a:bodyPr rtlCol="0" anchor="ctr"/>
            <a:lstStyle/>
            <a:p>
              <a:pPr algn="ctr"/>
            </a:p>
          </p:txBody>
        </p:sp>
        <p:sp>
          <p:nvSpPr>
            <p:cNvPr id="9" name="sleeper"/>
            <p:cNvSpPr/>
            <p:nvPr/>
          </p:nvSpPr>
          <p:spPr>
            <a:xfrm>
              <a:off x="914400" y="3474720"/>
              <a:ext cx="91440" cy="384048"/>
            </a:xfrm>
            <a:prstGeom prst="rect">
              <a:avLst/>
            </a:prstGeom>
            <a:solidFill>
              <a:srgbClr val="6B5B4B"/>
            </a:solidFill>
            <a:ln>
              <a:noFill/>
            </a:ln>
          </p:spPr>
          <p:txBody>
            <a:bodyPr rtlCol="0" anchor="ctr"/>
            <a:lstStyle/>
            <a:p>
              <a:pPr algn="ctr"/>
            </a:p>
          </p:txBody>
        </p:sp>
        <p:sp>
          <p:nvSpPr>
            <p:cNvPr id="10" name="sleeper"/>
            <p:cNvSpPr/>
            <p:nvPr/>
          </p:nvSpPr>
          <p:spPr>
            <a:xfrm>
              <a:off x="1271016" y="3474720"/>
              <a:ext cx="91440" cy="384048"/>
            </a:xfrm>
            <a:prstGeom prst="rect">
              <a:avLst/>
            </a:prstGeom>
            <a:solidFill>
              <a:srgbClr val="6B5B4B"/>
            </a:solidFill>
            <a:ln>
              <a:noFill/>
            </a:ln>
          </p:spPr>
          <p:txBody>
            <a:bodyPr rtlCol="0" anchor="ctr"/>
            <a:lstStyle/>
            <a:p>
              <a:pPr algn="ctr"/>
            </a:p>
          </p:txBody>
        </p:sp>
        <p:sp>
          <p:nvSpPr>
            <p:cNvPr id="11" name="sleeper"/>
            <p:cNvSpPr/>
            <p:nvPr/>
          </p:nvSpPr>
          <p:spPr>
            <a:xfrm>
              <a:off x="1627632" y="3474720"/>
              <a:ext cx="91440" cy="384048"/>
            </a:xfrm>
            <a:prstGeom prst="rect">
              <a:avLst/>
            </a:prstGeom>
            <a:solidFill>
              <a:srgbClr val="6B5B4B"/>
            </a:solidFill>
            <a:ln>
              <a:noFill/>
            </a:ln>
          </p:spPr>
          <p:txBody>
            <a:bodyPr rtlCol="0" anchor="ctr"/>
            <a:lstStyle/>
            <a:p>
              <a:pPr algn="ctr"/>
            </a:p>
          </p:txBody>
        </p:sp>
        <p:sp>
          <p:nvSpPr>
            <p:cNvPr id="12" name="sleeper"/>
            <p:cNvSpPr/>
            <p:nvPr/>
          </p:nvSpPr>
          <p:spPr>
            <a:xfrm>
              <a:off x="1984248" y="3474720"/>
              <a:ext cx="91440" cy="384048"/>
            </a:xfrm>
            <a:prstGeom prst="rect">
              <a:avLst/>
            </a:prstGeom>
            <a:solidFill>
              <a:srgbClr val="6B5B4B"/>
            </a:solidFill>
            <a:ln>
              <a:noFill/>
            </a:ln>
          </p:spPr>
          <p:txBody>
            <a:bodyPr rtlCol="0" anchor="ctr"/>
            <a:lstStyle/>
            <a:p>
              <a:pPr algn="ctr"/>
            </a:p>
          </p:txBody>
        </p:sp>
        <p:sp>
          <p:nvSpPr>
            <p:cNvPr id="13" name="sleeper"/>
            <p:cNvSpPr/>
            <p:nvPr/>
          </p:nvSpPr>
          <p:spPr>
            <a:xfrm>
              <a:off x="2340864" y="3474720"/>
              <a:ext cx="91440" cy="384048"/>
            </a:xfrm>
            <a:prstGeom prst="rect">
              <a:avLst/>
            </a:prstGeom>
            <a:solidFill>
              <a:srgbClr val="6B5B4B"/>
            </a:solidFill>
            <a:ln>
              <a:noFill/>
            </a:ln>
          </p:spPr>
          <p:txBody>
            <a:bodyPr rtlCol="0" anchor="ctr"/>
            <a:lstStyle/>
            <a:p>
              <a:pPr algn="ctr"/>
            </a:p>
          </p:txBody>
        </p:sp>
        <p:sp>
          <p:nvSpPr>
            <p:cNvPr id="14" name="sleeper"/>
            <p:cNvSpPr/>
            <p:nvPr/>
          </p:nvSpPr>
          <p:spPr>
            <a:xfrm>
              <a:off x="2697480" y="3474720"/>
              <a:ext cx="91440" cy="384048"/>
            </a:xfrm>
            <a:prstGeom prst="rect">
              <a:avLst/>
            </a:prstGeom>
            <a:solidFill>
              <a:srgbClr val="6B5B4B"/>
            </a:solidFill>
            <a:ln>
              <a:noFill/>
            </a:ln>
          </p:spPr>
          <p:txBody>
            <a:bodyPr rtlCol="0" anchor="ctr"/>
            <a:lstStyle/>
            <a:p>
              <a:pPr algn="ctr"/>
            </a:p>
          </p:txBody>
        </p:sp>
        <p:sp>
          <p:nvSpPr>
            <p:cNvPr id="15" name="sleeper"/>
            <p:cNvSpPr/>
            <p:nvPr/>
          </p:nvSpPr>
          <p:spPr>
            <a:xfrm>
              <a:off x="3054096" y="3474720"/>
              <a:ext cx="91440" cy="384048"/>
            </a:xfrm>
            <a:prstGeom prst="rect">
              <a:avLst/>
            </a:prstGeom>
            <a:solidFill>
              <a:srgbClr val="6B5B4B"/>
            </a:solidFill>
            <a:ln>
              <a:noFill/>
            </a:ln>
          </p:spPr>
          <p:txBody>
            <a:bodyPr rtlCol="0" anchor="ctr"/>
            <a:lstStyle/>
            <a:p>
              <a:pPr algn="ctr"/>
            </a:p>
          </p:txBody>
        </p:sp>
        <p:sp>
          <p:nvSpPr>
            <p:cNvPr id="16" name="sleeper"/>
            <p:cNvSpPr/>
            <p:nvPr/>
          </p:nvSpPr>
          <p:spPr>
            <a:xfrm>
              <a:off x="3410712" y="3474720"/>
              <a:ext cx="91440" cy="384048"/>
            </a:xfrm>
            <a:prstGeom prst="rect">
              <a:avLst/>
            </a:prstGeom>
            <a:solidFill>
              <a:srgbClr val="6B5B4B"/>
            </a:solidFill>
            <a:ln>
              <a:noFill/>
            </a:ln>
          </p:spPr>
          <p:txBody>
            <a:bodyPr rtlCol="0" anchor="ctr"/>
            <a:lstStyle/>
            <a:p>
              <a:pPr algn="ctr"/>
            </a:p>
          </p:txBody>
        </p:sp>
        <p:sp>
          <p:nvSpPr>
            <p:cNvPr id="17" name="sleeper"/>
            <p:cNvSpPr/>
            <p:nvPr/>
          </p:nvSpPr>
          <p:spPr>
            <a:xfrm>
              <a:off x="3767328" y="3474720"/>
              <a:ext cx="91440" cy="384048"/>
            </a:xfrm>
            <a:prstGeom prst="rect">
              <a:avLst/>
            </a:prstGeom>
            <a:solidFill>
              <a:srgbClr val="6B5B4B"/>
            </a:solidFill>
            <a:ln>
              <a:noFill/>
            </a:ln>
          </p:spPr>
          <p:txBody>
            <a:bodyPr rtlCol="0" anchor="ctr"/>
            <a:lstStyle/>
            <a:p>
              <a:pPr algn="ctr"/>
            </a:p>
          </p:txBody>
        </p:sp>
        <p:sp>
          <p:nvSpPr>
            <p:cNvPr id="18" name="sleeper"/>
            <p:cNvSpPr/>
            <p:nvPr/>
          </p:nvSpPr>
          <p:spPr>
            <a:xfrm>
              <a:off x="4123944" y="3474720"/>
              <a:ext cx="91440" cy="384048"/>
            </a:xfrm>
            <a:prstGeom prst="rect">
              <a:avLst/>
            </a:prstGeom>
            <a:solidFill>
              <a:srgbClr val="6B5B4B"/>
            </a:solidFill>
            <a:ln>
              <a:noFill/>
            </a:ln>
          </p:spPr>
          <p:txBody>
            <a:bodyPr rtlCol="0" anchor="ctr"/>
            <a:lstStyle/>
            <a:p>
              <a:pPr algn="ctr"/>
            </a:p>
          </p:txBody>
        </p:sp>
        <p:sp>
          <p:nvSpPr>
            <p:cNvPr id="19" name="sleeper"/>
            <p:cNvSpPr/>
            <p:nvPr/>
          </p:nvSpPr>
          <p:spPr>
            <a:xfrm>
              <a:off x="4480560" y="3474720"/>
              <a:ext cx="91440" cy="384048"/>
            </a:xfrm>
            <a:prstGeom prst="rect">
              <a:avLst/>
            </a:prstGeom>
            <a:solidFill>
              <a:srgbClr val="6B5B4B"/>
            </a:solidFill>
            <a:ln>
              <a:noFill/>
            </a:ln>
          </p:spPr>
          <p:txBody>
            <a:bodyPr rtlCol="0" anchor="ctr"/>
            <a:lstStyle/>
            <a:p>
              <a:pPr algn="ctr"/>
            </a:p>
          </p:txBody>
        </p:sp>
        <p:sp>
          <p:nvSpPr>
            <p:cNvPr id="20" name="sleeper"/>
            <p:cNvSpPr/>
            <p:nvPr/>
          </p:nvSpPr>
          <p:spPr>
            <a:xfrm>
              <a:off x="4837176" y="3474720"/>
              <a:ext cx="91440" cy="384048"/>
            </a:xfrm>
            <a:prstGeom prst="rect">
              <a:avLst/>
            </a:prstGeom>
            <a:solidFill>
              <a:srgbClr val="6B5B4B"/>
            </a:solidFill>
            <a:ln>
              <a:noFill/>
            </a:ln>
          </p:spPr>
          <p:txBody>
            <a:bodyPr rtlCol="0" anchor="ctr"/>
            <a:lstStyle/>
            <a:p>
              <a:pPr algn="ctr"/>
            </a:p>
          </p:txBody>
        </p:sp>
        <p:sp>
          <p:nvSpPr>
            <p:cNvPr id="21" name="sleeper"/>
            <p:cNvSpPr/>
            <p:nvPr/>
          </p:nvSpPr>
          <p:spPr>
            <a:xfrm>
              <a:off x="5193792" y="3474720"/>
              <a:ext cx="91440" cy="384048"/>
            </a:xfrm>
            <a:prstGeom prst="rect">
              <a:avLst/>
            </a:prstGeom>
            <a:solidFill>
              <a:srgbClr val="6B5B4B"/>
            </a:solidFill>
            <a:ln>
              <a:noFill/>
            </a:ln>
          </p:spPr>
          <p:txBody>
            <a:bodyPr rtlCol="0" anchor="ctr"/>
            <a:lstStyle/>
            <a:p>
              <a:pPr algn="ctr"/>
            </a:p>
          </p:txBody>
        </p:sp>
        <p:sp>
          <p:nvSpPr>
            <p:cNvPr id="22" name="sleeper"/>
            <p:cNvSpPr/>
            <p:nvPr/>
          </p:nvSpPr>
          <p:spPr>
            <a:xfrm>
              <a:off x="5550408" y="3474720"/>
              <a:ext cx="91440" cy="384048"/>
            </a:xfrm>
            <a:prstGeom prst="rect">
              <a:avLst/>
            </a:prstGeom>
            <a:solidFill>
              <a:srgbClr val="6B5B4B"/>
            </a:solidFill>
            <a:ln>
              <a:noFill/>
            </a:ln>
          </p:spPr>
          <p:txBody>
            <a:bodyPr rtlCol="0" anchor="ctr"/>
            <a:lstStyle/>
            <a:p>
              <a:pPr algn="ctr"/>
            </a:p>
          </p:txBody>
        </p:sp>
        <p:sp>
          <p:nvSpPr>
            <p:cNvPr id="23" name="sleeper"/>
            <p:cNvSpPr/>
            <p:nvPr/>
          </p:nvSpPr>
          <p:spPr>
            <a:xfrm>
              <a:off x="5907024" y="3474720"/>
              <a:ext cx="91440" cy="384048"/>
            </a:xfrm>
            <a:prstGeom prst="rect">
              <a:avLst/>
            </a:prstGeom>
            <a:solidFill>
              <a:srgbClr val="6B5B4B"/>
            </a:solidFill>
            <a:ln>
              <a:noFill/>
            </a:ln>
          </p:spPr>
          <p:txBody>
            <a:bodyPr rtlCol="0" anchor="ctr"/>
            <a:lstStyle/>
            <a:p>
              <a:pPr algn="ctr"/>
            </a:p>
          </p:txBody>
        </p:sp>
        <p:sp>
          <p:nvSpPr>
            <p:cNvPr id="24" name="sleeper"/>
            <p:cNvSpPr/>
            <p:nvPr/>
          </p:nvSpPr>
          <p:spPr>
            <a:xfrm>
              <a:off x="6263640" y="3474720"/>
              <a:ext cx="91440" cy="384048"/>
            </a:xfrm>
            <a:prstGeom prst="rect">
              <a:avLst/>
            </a:prstGeom>
            <a:solidFill>
              <a:srgbClr val="6B5B4B"/>
            </a:solidFill>
            <a:ln>
              <a:noFill/>
            </a:ln>
          </p:spPr>
          <p:txBody>
            <a:bodyPr rtlCol="0" anchor="ctr"/>
            <a:lstStyle/>
            <a:p>
              <a:pPr algn="ctr"/>
            </a:p>
          </p:txBody>
        </p:sp>
        <p:sp>
          <p:nvSpPr>
            <p:cNvPr id="25" name="sleeper"/>
            <p:cNvSpPr/>
            <p:nvPr/>
          </p:nvSpPr>
          <p:spPr>
            <a:xfrm>
              <a:off x="6620256" y="3474720"/>
              <a:ext cx="91440" cy="384048"/>
            </a:xfrm>
            <a:prstGeom prst="rect">
              <a:avLst/>
            </a:prstGeom>
            <a:solidFill>
              <a:srgbClr val="6B5B4B"/>
            </a:solidFill>
            <a:ln>
              <a:noFill/>
            </a:ln>
          </p:spPr>
          <p:txBody>
            <a:bodyPr rtlCol="0" anchor="ctr"/>
            <a:lstStyle/>
            <a:p>
              <a:pPr algn="ctr"/>
            </a:p>
          </p:txBody>
        </p:sp>
        <p:sp>
          <p:nvSpPr>
            <p:cNvPr id="26" name="sleeper"/>
            <p:cNvSpPr/>
            <p:nvPr/>
          </p:nvSpPr>
          <p:spPr>
            <a:xfrm>
              <a:off x="6976872" y="3474720"/>
              <a:ext cx="91440" cy="384048"/>
            </a:xfrm>
            <a:prstGeom prst="rect">
              <a:avLst/>
            </a:prstGeom>
            <a:solidFill>
              <a:srgbClr val="6B5B4B"/>
            </a:solidFill>
            <a:ln>
              <a:noFill/>
            </a:ln>
          </p:spPr>
          <p:txBody>
            <a:bodyPr rtlCol="0" anchor="ctr"/>
            <a:lstStyle/>
            <a:p>
              <a:pPr algn="ctr"/>
            </a:p>
          </p:txBody>
        </p:sp>
        <p:sp>
          <p:nvSpPr>
            <p:cNvPr id="27" name="sleeper"/>
            <p:cNvSpPr/>
            <p:nvPr/>
          </p:nvSpPr>
          <p:spPr>
            <a:xfrm>
              <a:off x="7333488" y="3474720"/>
              <a:ext cx="91440" cy="384048"/>
            </a:xfrm>
            <a:prstGeom prst="rect">
              <a:avLst/>
            </a:prstGeom>
            <a:solidFill>
              <a:srgbClr val="6B5B4B"/>
            </a:solidFill>
            <a:ln>
              <a:noFill/>
            </a:ln>
          </p:spPr>
          <p:txBody>
            <a:bodyPr rtlCol="0" anchor="ctr"/>
            <a:lstStyle/>
            <a:p>
              <a:pPr algn="ctr"/>
            </a:p>
          </p:txBody>
        </p:sp>
        <p:sp>
          <p:nvSpPr>
            <p:cNvPr id="28" name="sleeper"/>
            <p:cNvSpPr/>
            <p:nvPr/>
          </p:nvSpPr>
          <p:spPr>
            <a:xfrm>
              <a:off x="7690104" y="3474720"/>
              <a:ext cx="91440" cy="384048"/>
            </a:xfrm>
            <a:prstGeom prst="rect">
              <a:avLst/>
            </a:prstGeom>
            <a:solidFill>
              <a:srgbClr val="6B5B4B"/>
            </a:solidFill>
            <a:ln>
              <a:noFill/>
            </a:ln>
          </p:spPr>
          <p:txBody>
            <a:bodyPr rtlCol="0" anchor="ctr"/>
            <a:lstStyle/>
            <a:p>
              <a:pPr algn="ctr"/>
            </a:p>
          </p:txBody>
        </p:sp>
        <p:sp>
          <p:nvSpPr>
            <p:cNvPr id="29" name="sleeper"/>
            <p:cNvSpPr/>
            <p:nvPr/>
          </p:nvSpPr>
          <p:spPr>
            <a:xfrm>
              <a:off x="8046720" y="3474720"/>
              <a:ext cx="91440" cy="384048"/>
            </a:xfrm>
            <a:prstGeom prst="rect">
              <a:avLst/>
            </a:prstGeom>
            <a:solidFill>
              <a:srgbClr val="6B5B4B"/>
            </a:solidFill>
            <a:ln>
              <a:noFill/>
            </a:ln>
          </p:spPr>
          <p:txBody>
            <a:bodyPr rtlCol="0" anchor="ctr"/>
            <a:lstStyle/>
            <a:p>
              <a:pPr algn="ctr"/>
            </a:p>
          </p:txBody>
        </p:sp>
        <p:sp>
          <p:nvSpPr>
            <p:cNvPr id="30" name="sleeper"/>
            <p:cNvSpPr/>
            <p:nvPr/>
          </p:nvSpPr>
          <p:spPr>
            <a:xfrm>
              <a:off x="8403336" y="3474720"/>
              <a:ext cx="91440" cy="384048"/>
            </a:xfrm>
            <a:prstGeom prst="rect">
              <a:avLst/>
            </a:prstGeom>
            <a:solidFill>
              <a:srgbClr val="6B5B4B"/>
            </a:solidFill>
            <a:ln>
              <a:noFill/>
            </a:ln>
          </p:spPr>
          <p:txBody>
            <a:bodyPr rtlCol="0" anchor="ctr"/>
            <a:lstStyle/>
            <a:p>
              <a:pPr algn="ctr"/>
            </a:p>
          </p:txBody>
        </p:sp>
        <p:sp>
          <p:nvSpPr>
            <p:cNvPr id="31" name="sleeper"/>
            <p:cNvSpPr/>
            <p:nvPr/>
          </p:nvSpPr>
          <p:spPr>
            <a:xfrm>
              <a:off x="8759952" y="3474720"/>
              <a:ext cx="91440" cy="384048"/>
            </a:xfrm>
            <a:prstGeom prst="rect">
              <a:avLst/>
            </a:prstGeom>
            <a:solidFill>
              <a:srgbClr val="6B5B4B"/>
            </a:solidFill>
            <a:ln>
              <a:noFill/>
            </a:ln>
          </p:spPr>
          <p:txBody>
            <a:bodyPr rtlCol="0" anchor="ctr"/>
            <a:lstStyle/>
            <a:p>
              <a:pPr algn="ctr"/>
            </a:p>
          </p:txBody>
        </p:sp>
        <p:sp>
          <p:nvSpPr>
            <p:cNvPr id="32" name="sleeper"/>
            <p:cNvSpPr/>
            <p:nvPr/>
          </p:nvSpPr>
          <p:spPr>
            <a:xfrm>
              <a:off x="9116568" y="3474720"/>
              <a:ext cx="91440" cy="384048"/>
            </a:xfrm>
            <a:prstGeom prst="rect">
              <a:avLst/>
            </a:prstGeom>
            <a:solidFill>
              <a:srgbClr val="6B5B4B"/>
            </a:solidFill>
            <a:ln>
              <a:noFill/>
            </a:ln>
          </p:spPr>
          <p:txBody>
            <a:bodyPr rtlCol="0" anchor="ctr"/>
            <a:lstStyle/>
            <a:p>
              <a:pPr algn="ctr"/>
            </a:p>
          </p:txBody>
        </p:sp>
        <p:sp>
          <p:nvSpPr>
            <p:cNvPr id="33" name="sleeper"/>
            <p:cNvSpPr/>
            <p:nvPr/>
          </p:nvSpPr>
          <p:spPr>
            <a:xfrm>
              <a:off x="9473184" y="3474720"/>
              <a:ext cx="91440" cy="384048"/>
            </a:xfrm>
            <a:prstGeom prst="rect">
              <a:avLst/>
            </a:prstGeom>
            <a:solidFill>
              <a:srgbClr val="6B5B4B"/>
            </a:solidFill>
            <a:ln>
              <a:noFill/>
            </a:ln>
          </p:spPr>
          <p:txBody>
            <a:bodyPr rtlCol="0" anchor="ctr"/>
            <a:lstStyle/>
            <a:p>
              <a:pPr algn="ctr"/>
            </a:p>
          </p:txBody>
        </p:sp>
        <p:sp>
          <p:nvSpPr>
            <p:cNvPr id="34" name="sleeper"/>
            <p:cNvSpPr/>
            <p:nvPr/>
          </p:nvSpPr>
          <p:spPr>
            <a:xfrm>
              <a:off x="9829800" y="3474720"/>
              <a:ext cx="91440" cy="384048"/>
            </a:xfrm>
            <a:prstGeom prst="rect">
              <a:avLst/>
            </a:prstGeom>
            <a:solidFill>
              <a:srgbClr val="6B5B4B"/>
            </a:solidFill>
            <a:ln>
              <a:noFill/>
            </a:ln>
          </p:spPr>
          <p:txBody>
            <a:bodyPr rtlCol="0" anchor="ctr"/>
            <a:lstStyle/>
            <a:p>
              <a:pPr algn="ctr"/>
            </a:p>
          </p:txBody>
        </p:sp>
        <p:sp>
          <p:nvSpPr>
            <p:cNvPr id="35" name="sleeper"/>
            <p:cNvSpPr/>
            <p:nvPr/>
          </p:nvSpPr>
          <p:spPr>
            <a:xfrm>
              <a:off x="10186416" y="3474720"/>
              <a:ext cx="91440" cy="384048"/>
            </a:xfrm>
            <a:prstGeom prst="rect">
              <a:avLst/>
            </a:prstGeom>
            <a:solidFill>
              <a:srgbClr val="6B5B4B"/>
            </a:solidFill>
            <a:ln>
              <a:noFill/>
            </a:ln>
          </p:spPr>
          <p:txBody>
            <a:bodyPr rtlCol="0" anchor="ctr"/>
            <a:lstStyle/>
            <a:p>
              <a:pPr algn="ctr"/>
            </a:p>
          </p:txBody>
        </p:sp>
        <p:sp>
          <p:nvSpPr>
            <p:cNvPr id="36" name="sleeper"/>
            <p:cNvSpPr/>
            <p:nvPr/>
          </p:nvSpPr>
          <p:spPr>
            <a:xfrm>
              <a:off x="10543032" y="3474720"/>
              <a:ext cx="91440" cy="384048"/>
            </a:xfrm>
            <a:prstGeom prst="rect">
              <a:avLst/>
            </a:prstGeom>
            <a:solidFill>
              <a:srgbClr val="6B5B4B"/>
            </a:solidFill>
            <a:ln>
              <a:noFill/>
            </a:ln>
          </p:spPr>
          <p:txBody>
            <a:bodyPr rtlCol="0" anchor="ctr"/>
            <a:lstStyle/>
            <a:p>
              <a:pPr algn="ctr"/>
            </a:p>
          </p:txBody>
        </p:sp>
        <p:sp>
          <p:nvSpPr>
            <p:cNvPr id="37" name="sleeper"/>
            <p:cNvSpPr/>
            <p:nvPr/>
          </p:nvSpPr>
          <p:spPr>
            <a:xfrm>
              <a:off x="10899648" y="3474720"/>
              <a:ext cx="91440" cy="384048"/>
            </a:xfrm>
            <a:prstGeom prst="rect">
              <a:avLst/>
            </a:prstGeom>
            <a:solidFill>
              <a:srgbClr val="6B5B4B"/>
            </a:solidFill>
            <a:ln>
              <a:noFill/>
            </a:ln>
          </p:spPr>
          <p:txBody>
            <a:bodyPr rtlCol="0" anchor="ctr"/>
            <a:lstStyle/>
            <a:p>
              <a:pPr algn="ctr"/>
            </a:p>
          </p:txBody>
        </p:sp>
        <p:sp>
          <p:nvSpPr>
            <p:cNvPr id="38" name="sleeper"/>
            <p:cNvSpPr/>
            <p:nvPr/>
          </p:nvSpPr>
          <p:spPr>
            <a:xfrm>
              <a:off x="11256264" y="3474720"/>
              <a:ext cx="91440" cy="384048"/>
            </a:xfrm>
            <a:prstGeom prst="rect">
              <a:avLst/>
            </a:prstGeom>
            <a:solidFill>
              <a:srgbClr val="6B5B4B"/>
            </a:solidFill>
            <a:ln>
              <a:noFill/>
            </a:ln>
          </p:spPr>
          <p:txBody>
            <a:bodyPr rtlCol="0" anchor="ctr"/>
            <a:lstStyle/>
            <a:p>
              <a:pPr algn="ctr"/>
            </a:p>
          </p:txBody>
        </p:sp>
        <p:sp>
          <p:nvSpPr>
            <p:cNvPr id="39" name="platform"/>
            <p:cNvSpPr/>
            <p:nvPr/>
          </p:nvSpPr>
          <p:spPr>
            <a:xfrm>
              <a:off x="4114800" y="3977639"/>
              <a:ext cx="3291840" cy="457200"/>
            </a:xfrm>
            <a:prstGeom prst="rect">
              <a:avLst/>
            </a:prstGeom>
            <a:solidFill>
              <a:srgbClr val="343A43"/>
            </a:solidFill>
            <a:ln w="19050">
              <a:solidFill>
                <a:srgbClr val="9AA0A6"/>
              </a:solidFill>
            </a:ln>
          </p:spPr>
          <p:txBody>
            <a:bodyPr rtlCol="0" anchor="ctr" wrap="square" lIns="54864" tIns="27432" rIns="54864" bIns="27432">
              <a:noAutofit/>
            </a:bodyPr>
            <a:lstStyle/>
            <a:p>
              <a:pPr algn="ctr"/>
              <a:r>
                <a:rPr sz="1400" b="0" i="0" lang="en-GB">
                  <a:solidFill>
                    <a:srgbClr val="F2F2F2"/>
                  </a:solidFill>
                  <a:latin typeface="Arial"/>
                </a:rPr>
                <a:t>Platform and cargo loading</a:t>
              </a:r>
            </a:p>
          </p:txBody>
        </p:sp>
        <p:sp>
          <p:nvSpPr>
            <p:cNvPr id="40" name="signal box"/>
            <p:cNvSpPr/>
            <p:nvPr/>
          </p:nvSpPr>
          <p:spPr>
            <a:xfrm>
              <a:off x="2011680" y="4160520"/>
              <a:ext cx="1371600" cy="1005840"/>
            </a:xfrm>
            <a:prstGeom prst="rect">
              <a:avLst/>
            </a:prstGeom>
            <a:solidFill>
              <a:srgbClr val="343A43"/>
            </a:solidFill>
            <a:ln w="19050">
              <a:solidFill>
                <a:srgbClr val="9AA0A6"/>
              </a:solidFill>
            </a:ln>
          </p:spPr>
          <p:txBody>
            <a:bodyPr rtlCol="0" anchor="ctr" wrap="square" lIns="54864" tIns="27432" rIns="54864" bIns="27432">
              <a:noAutofit/>
            </a:bodyPr>
            <a:lstStyle/>
            <a:p>
              <a:pPr algn="ctr"/>
              <a:r>
                <a:rPr sz="1400" b="0" i="0" lang="en-GB">
                  <a:solidFill>
                    <a:srgbClr val="F2F2F2"/>
                  </a:solidFill>
                  <a:latin typeface="Arial"/>
                </a:rPr>
                <a:t>Signal box</a:t>
              </a:r>
            </a:p>
          </p:txBody>
        </p:sp>
        <p:cxnSp>
          <p:nvCxnSpPr>
            <p:cNvPr id="41" name="roof line"/>
            <p:cNvCxnSpPr/>
            <p:nvPr/>
          </p:nvCxnSpPr>
          <p:spPr>
            <a:xfrm flipV="1">
              <a:off x="2011680" y="4160520"/>
              <a:ext cx="1371600" cy="228600"/>
            </a:xfrm>
            <a:prstGeom prst="line">
              <a:avLst/>
            </a:prstGeom>
            <a:ln w="19050">
              <a:solidFill>
                <a:srgbClr val="9AA0A6"/>
              </a:solidFill>
            </a:ln>
          </p:spPr>
        </p:cxnSp>
        <p:sp>
          <p:nvSpPr>
            <p:cNvPr id="42" name="coal stage"/>
            <p:cNvSpPr/>
            <p:nvPr/>
          </p:nvSpPr>
          <p:spPr>
            <a:xfrm>
              <a:off x="5120640" y="2148840"/>
              <a:ext cx="1645920" cy="822960"/>
            </a:xfrm>
            <a:prstGeom prst="rect">
              <a:avLst/>
            </a:prstGeom>
            <a:solidFill>
              <a:srgbClr val="343A43"/>
            </a:solidFill>
            <a:ln w="19050">
              <a:solidFill>
                <a:srgbClr val="9AA0A6"/>
              </a:solidFill>
            </a:ln>
          </p:spPr>
          <p:txBody>
            <a:bodyPr rtlCol="0" anchor="ctr" wrap="square" lIns="54864" tIns="27432" rIns="54864" bIns="27432">
              <a:noAutofit/>
            </a:bodyPr>
            <a:lstStyle/>
            <a:p>
              <a:pPr algn="ctr"/>
              <a:r>
                <a:rPr sz="1400" b="0" i="0" lang="en-GB">
                  <a:solidFill>
                    <a:srgbClr val="F2F2F2"/>
                  </a:solidFill>
                  <a:latin typeface="Arial"/>
                </a:rPr>
                <a:t>Coal stage</a:t>
              </a:r>
            </a:p>
          </p:txBody>
        </p:sp>
        <p:cxnSp>
          <p:nvCxnSpPr>
            <p:cNvPr id="43" name="conveyor"/>
            <p:cNvCxnSpPr/>
            <p:nvPr/>
          </p:nvCxnSpPr>
          <p:spPr>
            <a:xfrm>
              <a:off x="914400" y="2560320"/>
              <a:ext cx="4206240" cy="0"/>
            </a:xfrm>
            <a:prstGeom prst="line">
              <a:avLst/>
            </a:prstGeom>
            <a:ln w="38100">
              <a:solidFill>
                <a:srgbClr val="9AA0A6"/>
              </a:solidFill>
              <a:prstDash val="dash"/>
              <a:tailEnd type="triangle" w="med" len="med"/>
            </a:ln>
          </p:spPr>
        </p:cxnSp>
        <p:sp>
          <p:nvSpPr>
            <p:cNvPr id="44" name="conveyor label"/>
            <p:cNvSpPr txBox="1"/>
            <p:nvPr/>
          </p:nvSpPr>
          <p:spPr>
            <a:xfrm>
              <a:off x="914400" y="2176272"/>
              <a:ext cx="3108960" cy="320040"/>
            </a:xfrm>
            <a:prstGeom prst="rect">
              <a:avLst/>
            </a:prstGeom>
            <a:noFill/>
          </p:spPr>
          <p:txBody>
            <a:bodyPr wrap="square" anchor="ctr" lIns="18288" tIns="9144" rIns="18288" bIns="9144">
              <a:noAutofit/>
            </a:bodyPr>
            <a:lstStyle/>
            <a:p>
              <a:pPr algn="l"/>
              <a:r>
                <a:rPr sz="1400" b="1" i="0" lang="en-GB">
                  <a:solidFill>
                    <a:srgbClr val="F2F2F2"/>
                  </a:solidFill>
                  <a:latin typeface="Arial"/>
                </a:rPr>
                <a:t>Conveyor: coal in</a:t>
              </a:r>
            </a:p>
          </p:txBody>
        </p:sp>
        <p:cxnSp>
          <p:nvCxnSpPr>
            <p:cNvPr id="45" name="chute"/>
            <p:cNvCxnSpPr/>
            <p:nvPr/>
          </p:nvCxnSpPr>
          <p:spPr>
            <a:xfrm>
              <a:off x="5943600" y="2971800"/>
              <a:ext cx="0" cy="521208"/>
            </a:xfrm>
            <a:prstGeom prst="line">
              <a:avLst/>
            </a:prstGeom>
            <a:ln w="38100">
              <a:solidFill>
                <a:srgbClr val="9AA0A6"/>
              </a:solidFill>
            </a:ln>
          </p:spPr>
        </p:cxnSp>
        <p:sp>
          <p:nvSpPr>
            <p:cNvPr id="46" name="water tower"/>
            <p:cNvSpPr/>
            <p:nvPr/>
          </p:nvSpPr>
          <p:spPr>
            <a:xfrm>
              <a:off x="7863840" y="2103120"/>
              <a:ext cx="914400" cy="914400"/>
            </a:xfrm>
            <a:prstGeom prst="ellipse">
              <a:avLst/>
            </a:prstGeom>
            <a:solidFill>
              <a:srgbClr val="4DA3FF"/>
            </a:solidFill>
            <a:ln w="19050">
              <a:solidFill>
                <a:srgbClr val="F2F2F2"/>
              </a:solidFill>
            </a:ln>
          </p:spPr>
          <p:txBody>
            <a:bodyPr rtlCol="0" anchor="ctr" wrap="square" lIns="0" tIns="0" rIns="0" bIns="0">
              <a:noAutofit/>
            </a:bodyPr>
            <a:lstStyle/>
            <a:p>
              <a:pPr algn="ctr"/>
              <a:r>
                <a:rPr sz="1400" b="1" i="0" lang="en-GB">
                  <a:solidFill>
                    <a:srgbClr val="101418"/>
                  </a:solidFill>
                  <a:latin typeface="Arial"/>
                </a:rPr>
                <a:t>Water tower</a:t>
              </a:r>
            </a:p>
          </p:txBody>
        </p:sp>
        <p:cxnSp>
          <p:nvCxnSpPr>
            <p:cNvPr id="47" name="crane"/>
            <p:cNvCxnSpPr/>
            <p:nvPr/>
          </p:nvCxnSpPr>
          <p:spPr>
            <a:xfrm flipH="1">
              <a:off x="7040880" y="3017520"/>
              <a:ext cx="1280160" cy="475488"/>
            </a:xfrm>
            <a:prstGeom prst="line">
              <a:avLst/>
            </a:prstGeom>
            <a:ln w="38100">
              <a:solidFill>
                <a:srgbClr val="4DA3FF"/>
              </a:solidFill>
            </a:ln>
          </p:spPr>
        </p:cxnSp>
        <p:cxnSp>
          <p:nvCxnSpPr>
            <p:cNvPr id="48" name="water pipe"/>
            <p:cNvCxnSpPr/>
            <p:nvPr/>
          </p:nvCxnSpPr>
          <p:spPr>
            <a:xfrm flipH="1">
              <a:off x="8778240" y="2880360"/>
              <a:ext cx="2651760" cy="0"/>
            </a:xfrm>
            <a:prstGeom prst="line">
              <a:avLst/>
            </a:prstGeom>
            <a:ln w="63500">
              <a:solidFill>
                <a:srgbClr val="4DA3FF"/>
              </a:solidFill>
            </a:ln>
          </p:spPr>
        </p:cxnSp>
        <p:sp>
          <p:nvSpPr>
            <p:cNvPr id="49" name="pipe label"/>
            <p:cNvSpPr txBox="1"/>
            <p:nvPr/>
          </p:nvSpPr>
          <p:spPr>
            <a:xfrm>
              <a:off x="9509760" y="2926080"/>
              <a:ext cx="1920240" cy="320040"/>
            </a:xfrm>
            <a:prstGeom prst="rect">
              <a:avLst/>
            </a:prstGeom>
            <a:noFill/>
          </p:spPr>
          <p:txBody>
            <a:bodyPr wrap="square" anchor="ctr" lIns="18288" tIns="9144" rIns="18288" bIns="9144">
              <a:noAutofit/>
            </a:bodyPr>
            <a:lstStyle/>
            <a:p>
              <a:pPr algn="r"/>
              <a:r>
                <a:rPr sz="1400" b="1" i="0" lang="en-GB">
                  <a:solidFill>
                    <a:srgbClr val="F2F2F2"/>
                  </a:solidFill>
                  <a:latin typeface="Arial"/>
                </a:rPr>
                <a:t>Pipe: water in</a:t>
              </a:r>
            </a:p>
          </p:txBody>
        </p:sp>
        <p:sp>
          <p:nvSpPr>
            <p:cNvPr id="50" name="locomotive"/>
            <p:cNvSpPr/>
            <p:nvPr/>
          </p:nvSpPr>
          <p:spPr>
            <a:xfrm>
              <a:off x="5394960" y="3511296"/>
              <a:ext cx="2194560" cy="320040"/>
            </a:xfrm>
            <a:prstGeom prst="roundRect">
              <a:avLst>
                <a:gd name="adj" fmla="val 28571"/>
              </a:avLst>
            </a:prstGeom>
            <a:solidFill>
              <a:srgbClr val="F28C28"/>
            </a:solidFill>
            <a:ln>
              <a:noFill/>
            </a:ln>
          </p:spPr>
          <p:txBody>
            <a:bodyPr rtlCol="0" anchor="ctr"/>
            <a:lstStyle/>
            <a:p>
              <a:pPr algn="ctr"/>
            </a:p>
          </p:txBody>
        </p:sp>
        <p:sp>
          <p:nvSpPr>
            <p:cNvPr id="51" name="coal bunker mark"/>
            <p:cNvSpPr/>
            <p:nvPr/>
          </p:nvSpPr>
          <p:spPr>
            <a:xfrm>
              <a:off x="5852160" y="3566160"/>
              <a:ext cx="201168" cy="201168"/>
            </a:xfrm>
            <a:prstGeom prst="ellipse">
              <a:avLst/>
            </a:prstGeom>
            <a:solidFill>
              <a:srgbClr val="1B1D21"/>
            </a:solidFill>
            <a:ln w="19050">
              <a:solidFill>
                <a:srgbClr val="F2F2F2"/>
              </a:solidFill>
            </a:ln>
          </p:spPr>
          <p:txBody>
            <a:bodyPr rtlCol="0" anchor="ctr"/>
            <a:lstStyle/>
            <a:p>
              <a:pPr algn="ctr"/>
            </a:p>
          </p:txBody>
        </p:sp>
        <p:sp>
          <p:nvSpPr>
            <p:cNvPr id="52" name="water hatch mark"/>
            <p:cNvSpPr/>
            <p:nvPr/>
          </p:nvSpPr>
          <p:spPr>
            <a:xfrm>
              <a:off x="6949440" y="3566160"/>
              <a:ext cx="201168" cy="201168"/>
            </a:xfrm>
            <a:prstGeom prst="ellipse">
              <a:avLst/>
            </a:prstGeom>
            <a:solidFill>
              <a:srgbClr val="4DA3FF"/>
            </a:solidFill>
            <a:ln w="19050">
              <a:solidFill>
                <a:srgbClr val="F2F2F2"/>
              </a:solidFill>
            </a:ln>
          </p:spPr>
          <p:txBody>
            <a:bodyPr rtlCol="0" anchor="ctr"/>
            <a:lstStyle/>
            <a:p>
              <a:pPr algn="ctr"/>
            </a:p>
          </p:txBody>
        </p:sp>
        <p:sp>
          <p:nvSpPr>
            <p:cNvPr id="53" name="vanilla station"/>
            <p:cNvSpPr/>
            <p:nvPr/>
          </p:nvSpPr>
          <p:spPr>
            <a:xfrm>
              <a:off x="9646920" y="4617720"/>
              <a:ext cx="1965960" cy="868680"/>
            </a:xfrm>
            <a:prstGeom prst="rect">
              <a:avLst/>
            </a:prstGeom>
            <a:solidFill>
              <a:srgbClr val="343A43"/>
            </a:solidFill>
            <a:ln w="19050">
              <a:solidFill>
                <a:srgbClr val="9AA0A6"/>
              </a:solidFill>
            </a:ln>
          </p:spPr>
          <p:txBody>
            <a:bodyPr rtlCol="0" anchor="ctr" wrap="square" lIns="54864" tIns="27432" rIns="54864" bIns="27432">
              <a:noAutofit/>
            </a:bodyPr>
            <a:lstStyle/>
            <a:p>
              <a:pPr algn="ctr"/>
              <a:r>
                <a:rPr sz="1400" b="0" i="0" lang="en-GB">
                  <a:solidFill>
                    <a:srgbClr val="F2F2F2"/>
                  </a:solidFill>
                  <a:latin typeface="Arial"/>
                </a:rPr>
                <a:t>Vanilla station (for comparison)</a:t>
              </a:r>
            </a:p>
          </p:txBody>
        </p:sp>
      </p:grpSp>
      <p:pic>
        <p:nvPicPr>
          <p:cNvPr id="54" name="P17_coal_stage_water_tank_didcot" descr="A coal stage and a water tank at Didcot Railway Centre."/>
          <p:cNvPicPr>
            <a:picLocks noChangeAspect="1"/>
          </p:cNvPicPr>
          <p:nvPr/>
        </p:nvPicPr>
        <p:blipFill>
          <a:blip r:embed="rId2"/>
          <a:srcRect l="222" r="222"/>
          <a:stretch>
            <a:fillRect/>
          </a:stretch>
        </p:blipFill>
        <p:spPr>
          <a:xfrm>
            <a:off x="9646920" y="1325880"/>
            <a:ext cx="1993392" cy="1124712"/>
          </a:xfrm>
          <a:prstGeom prst="roundRect">
            <a:avLst>
              <a:gd name="adj" fmla="val 6504"/>
            </a:avLst>
          </a:prstGeom>
        </p:spPr>
      </p:pic>
      <p:sp>
        <p:nvSpPr>
          <p:cNvPr id="55" name="CREDIT"/>
          <p:cNvSpPr txBox="1"/>
          <p:nvPr/>
        </p:nvSpPr>
        <p:spPr>
          <a:xfrm>
            <a:off x="9646920" y="2468880"/>
            <a:ext cx="1993392" cy="219456"/>
          </a:xfrm>
          <a:prstGeom prst="rect">
            <a:avLst/>
          </a:prstGeom>
          <a:noFill/>
        </p:spPr>
        <p:txBody>
          <a:bodyPr wrap="square" anchor="t" lIns="0" tIns="0" rIns="0" bIns="0">
            <a:noAutofit/>
          </a:bodyPr>
          <a:lstStyle/>
          <a:p>
            <a:pPr algn="l"/>
            <a:r>
              <a:rPr sz="1000" b="0" i="0" lang="en-GB">
                <a:solidFill>
                  <a:srgbClr val="A9B0B8"/>
                </a:solidFill>
                <a:latin typeface="Arial"/>
              </a:rPr>
              <a:t>Rosser1954, CC BY-SA 4.0</a:t>
            </a:r>
          </a:p>
        </p:txBody>
      </p:sp>
      <p:sp>
        <p:nvSpPr>
          <p:cNvPr id="5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5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58"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steam station is big. It has a water tower, coal loading, a signal box and a platform.</a:t>
            </a:r>
          </a:p>
        </p:txBody>
      </p:sp>
      <p:sp>
        <p:nvSpPr>
          <p:cNvPr id="5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Big on purpose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station footprints" descr="A large dashed footprint for a steam station holds four blocks: water, coal, signal box and platform. Beside it a much smaller solid rectangle shows a vanilla station."/>
          <p:cNvGrpSpPr/>
          <p:nvPr/>
        </p:nvGrpSpPr>
        <p:grpSpPr>
          <a:xfrm>
            <a:off x="731520" y="1463040"/>
            <a:ext cx="10515600" cy="4114800"/>
            <a:chOff x="731520" y="1463040"/>
            <a:chExt cx="10515600" cy="4114800"/>
          </a:xfrm>
        </p:grpSpPr>
        <p:sp>
          <p:nvSpPr>
            <p:cNvPr id="5" name="steam footprint"/>
            <p:cNvSpPr/>
            <p:nvPr/>
          </p:nvSpPr>
          <p:spPr>
            <a:xfrm>
              <a:off x="731520" y="1463040"/>
              <a:ext cx="7589520" cy="3657600"/>
            </a:xfrm>
            <a:prstGeom prst="roundRect">
              <a:avLst>
                <a:gd name="adj" fmla="val 3750"/>
              </a:avLst>
            </a:prstGeom>
            <a:noFill/>
            <a:ln w="31750">
              <a:solidFill>
                <a:srgbClr val="F28C28"/>
              </a:solidFill>
              <a:prstDash val="dash"/>
            </a:ln>
          </p:spPr>
          <p:txBody>
            <a:bodyPr rtlCol="0" anchor="ctr"/>
            <a:lstStyle/>
            <a:p>
              <a:pPr algn="ctr"/>
            </a:p>
          </p:txBody>
        </p:sp>
        <p:sp>
          <p:nvSpPr>
            <p:cNvPr id="6" name="footprint title"/>
            <p:cNvSpPr txBox="1"/>
            <p:nvPr/>
          </p:nvSpPr>
          <p:spPr>
            <a:xfrm>
              <a:off x="914400" y="1536192"/>
              <a:ext cx="3657600" cy="411480"/>
            </a:xfrm>
            <a:prstGeom prst="rect">
              <a:avLst/>
            </a:prstGeom>
            <a:noFill/>
          </p:spPr>
          <p:txBody>
            <a:bodyPr wrap="square" anchor="ctr" lIns="18288" tIns="9144" rIns="18288" bIns="9144">
              <a:noAutofit/>
            </a:bodyPr>
            <a:lstStyle/>
            <a:p>
              <a:pPr algn="l"/>
              <a:r>
                <a:rPr sz="1800" b="1" i="0" lang="en-GB">
                  <a:solidFill>
                    <a:srgbClr val="F28C28"/>
                  </a:solidFill>
                  <a:latin typeface="Arial"/>
                </a:rPr>
                <a:t>Steam station</a:t>
              </a:r>
            </a:p>
          </p:txBody>
        </p:sp>
        <p:sp>
          <p:nvSpPr>
            <p:cNvPr id="7" name="block"/>
            <p:cNvSpPr/>
            <p:nvPr/>
          </p:nvSpPr>
          <p:spPr>
            <a:xfrm>
              <a:off x="1051560" y="2103120"/>
              <a:ext cx="3383280" cy="1234440"/>
            </a:xfrm>
            <a:prstGeom prst="roundRect">
              <a:avLst>
                <a:gd name="adj" fmla="val 5925"/>
              </a:avLst>
            </a:prstGeom>
            <a:solidFill>
              <a:srgbClr val="4DA3FF"/>
            </a:solidFill>
            <a:ln w="19050">
              <a:solidFill>
                <a:srgbClr val="F2F2F2"/>
              </a:solidFill>
            </a:ln>
          </p:spPr>
          <p:txBody>
            <a:bodyPr rtlCol="0" anchor="ctr" wrap="square" lIns="54864" tIns="27432" rIns="54864" bIns="27432">
              <a:noAutofit/>
            </a:bodyPr>
            <a:lstStyle/>
            <a:p>
              <a:pPr algn="ctr"/>
              <a:r>
                <a:rPr sz="1800" b="1" i="0" lang="en-GB">
                  <a:solidFill>
                    <a:srgbClr val="101418"/>
                  </a:solidFill>
                  <a:latin typeface="Arial"/>
                </a:rPr>
                <a:t>Water</a:t>
              </a:r>
            </a:p>
          </p:txBody>
        </p:sp>
        <p:sp>
          <p:nvSpPr>
            <p:cNvPr id="8" name="block"/>
            <p:cNvSpPr/>
            <p:nvPr/>
          </p:nvSpPr>
          <p:spPr>
            <a:xfrm>
              <a:off x="4709160" y="2103120"/>
              <a:ext cx="3383280" cy="1234440"/>
            </a:xfrm>
            <a:prstGeom prst="roundRect">
              <a:avLst>
                <a:gd name="adj" fmla="val 5925"/>
              </a:avLst>
            </a:prstGeom>
            <a:solidFill>
              <a:srgbClr val="1B1D21"/>
            </a:solidFill>
            <a:ln w="19050">
              <a:solidFill>
                <a:srgbClr val="9AA0A6"/>
              </a:solidFill>
            </a:ln>
          </p:spPr>
          <p:txBody>
            <a:bodyPr rtlCol="0" anchor="ctr" wrap="square" lIns="54864" tIns="27432" rIns="54864" bIns="27432">
              <a:noAutofit/>
            </a:bodyPr>
            <a:lstStyle/>
            <a:p>
              <a:pPr algn="ctr"/>
              <a:r>
                <a:rPr sz="1800" b="1" i="0" lang="en-GB">
                  <a:solidFill>
                    <a:srgbClr val="F2F2F2"/>
                  </a:solidFill>
                  <a:latin typeface="Arial"/>
                </a:rPr>
                <a:t>Coal</a:t>
              </a:r>
            </a:p>
          </p:txBody>
        </p:sp>
        <p:sp>
          <p:nvSpPr>
            <p:cNvPr id="9" name="block"/>
            <p:cNvSpPr/>
            <p:nvPr/>
          </p:nvSpPr>
          <p:spPr>
            <a:xfrm>
              <a:off x="1051560" y="3566160"/>
              <a:ext cx="3383280" cy="1234440"/>
            </a:xfrm>
            <a:prstGeom prst="roundRect">
              <a:avLst>
                <a:gd name="adj" fmla="val 5925"/>
              </a:avLst>
            </a:prstGeom>
            <a:solidFill>
              <a:srgbClr val="343A43"/>
            </a:solidFill>
            <a:ln w="19050">
              <a:solidFill>
                <a:srgbClr val="9AA0A6"/>
              </a:solidFill>
            </a:ln>
          </p:spPr>
          <p:txBody>
            <a:bodyPr rtlCol="0" anchor="ctr" wrap="square" lIns="54864" tIns="27432" rIns="54864" bIns="27432">
              <a:noAutofit/>
            </a:bodyPr>
            <a:lstStyle/>
            <a:p>
              <a:pPr algn="ctr"/>
              <a:r>
                <a:rPr sz="1800" b="1" i="0" lang="en-GB">
                  <a:solidFill>
                    <a:srgbClr val="F2F2F2"/>
                  </a:solidFill>
                  <a:latin typeface="Arial"/>
                </a:rPr>
                <a:t>Signal box</a:t>
              </a:r>
            </a:p>
          </p:txBody>
        </p:sp>
        <p:sp>
          <p:nvSpPr>
            <p:cNvPr id="10" name="block"/>
            <p:cNvSpPr/>
            <p:nvPr/>
          </p:nvSpPr>
          <p:spPr>
            <a:xfrm>
              <a:off x="4709160" y="3566160"/>
              <a:ext cx="3383280" cy="1234440"/>
            </a:xfrm>
            <a:prstGeom prst="roundRect">
              <a:avLst>
                <a:gd name="adj" fmla="val 5925"/>
              </a:avLst>
            </a:prstGeom>
            <a:solidFill>
              <a:srgbClr val="343A43"/>
            </a:solidFill>
            <a:ln w="19050">
              <a:solidFill>
                <a:srgbClr val="9AA0A6"/>
              </a:solidFill>
            </a:ln>
          </p:spPr>
          <p:txBody>
            <a:bodyPr rtlCol="0" anchor="ctr" wrap="square" lIns="54864" tIns="27432" rIns="54864" bIns="27432">
              <a:noAutofit/>
            </a:bodyPr>
            <a:lstStyle/>
            <a:p>
              <a:pPr algn="ctr"/>
              <a:r>
                <a:rPr sz="1800" b="1" i="0" lang="en-GB">
                  <a:solidFill>
                    <a:srgbClr val="F2F2F2"/>
                  </a:solidFill>
                  <a:latin typeface="Arial"/>
                </a:rPr>
                <a:t>Platform</a:t>
              </a:r>
            </a:p>
          </p:txBody>
        </p:sp>
        <p:sp>
          <p:nvSpPr>
            <p:cNvPr id="11" name="vanilla footprint"/>
            <p:cNvSpPr/>
            <p:nvPr/>
          </p:nvSpPr>
          <p:spPr>
            <a:xfrm>
              <a:off x="9144000" y="3840480"/>
              <a:ext cx="2103120" cy="1280160"/>
            </a:xfrm>
            <a:prstGeom prst="rect">
              <a:avLst/>
            </a:prstGeom>
            <a:solidFill>
              <a:srgbClr val="343A43"/>
            </a:solidFill>
            <a:ln w="25400">
              <a:solidFill>
                <a:srgbClr val="9AA0A6"/>
              </a:solidFill>
            </a:ln>
          </p:spPr>
          <p:txBody>
            <a:bodyPr rtlCol="0" anchor="ctr" wrap="square" lIns="54864" tIns="27432" rIns="54864" bIns="27432">
              <a:noAutofit/>
            </a:bodyPr>
            <a:lstStyle/>
            <a:p>
              <a:pPr algn="ctr"/>
              <a:r>
                <a:rPr sz="1600" b="1" i="0" lang="en-GB">
                  <a:solidFill>
                    <a:srgbClr val="F2F2F2"/>
                  </a:solidFill>
                  <a:latin typeface="Arial"/>
                </a:rPr>
                <a:t>Vanilla station</a:t>
              </a:r>
            </a:p>
          </p:txBody>
        </p:sp>
        <p:sp>
          <p:nvSpPr>
            <p:cNvPr id="12" name="size note"/>
            <p:cNvSpPr txBox="1"/>
            <p:nvPr/>
          </p:nvSpPr>
          <p:spPr>
            <a:xfrm>
              <a:off x="731520" y="5212080"/>
              <a:ext cx="7589520" cy="365760"/>
            </a:xfrm>
            <a:prstGeom prst="rect">
              <a:avLst/>
            </a:prstGeom>
            <a:noFill/>
          </p:spPr>
          <p:txBody>
            <a:bodyPr wrap="square" anchor="ctr" lIns="18288" tIns="9144" rIns="18288" bIns="9144">
              <a:noAutofit/>
            </a:bodyPr>
            <a:lstStyle/>
            <a:p>
              <a:pPr algn="ctr"/>
              <a:r>
                <a:rPr sz="1800" b="0" i="0" lang="en-GB">
                  <a:solidFill>
                    <a:srgbClr val="A9B0B8"/>
                  </a:solidFill>
                  <a:latin typeface="Arial"/>
                </a:rPr>
                <a:t>Exact sizes: undecided (OQ09)</a:t>
              </a:r>
            </a:p>
          </p:txBody>
        </p:sp>
      </p:grpSp>
      <p:sp>
        <p:nvSpPr>
          <p:cNvPr id="13"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14"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15"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Steam technology is cheap in materials but costs land and buildings. That is the price.</a:t>
            </a:r>
          </a:p>
        </p:txBody>
      </p:sp>
      <p:sp>
        <p:nvSpPr>
          <p:cNvPr id="16"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Servicing takes time</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Servicing steps" descr="Nine steps in two rows: approach slowly, settle in, long steam hiss, coal chutes, water arm swings, find the hatches, tanks fill, machinery folds away, depart. Below, a long bar for empty tanks and a short bar for a small top-up."/>
          <p:cNvGrpSpPr/>
          <p:nvPr/>
        </p:nvGrpSpPr>
        <p:grpSpPr>
          <a:xfrm>
            <a:off x="548640" y="1325880"/>
            <a:ext cx="11109960" cy="4389120"/>
            <a:chOff x="548640" y="1325880"/>
            <a:chExt cx="11109960" cy="4389120"/>
          </a:xfrm>
        </p:grpSpPr>
        <p:sp>
          <p:nvSpPr>
            <p:cNvPr id="5" name="step card"/>
            <p:cNvSpPr/>
            <p:nvPr/>
          </p:nvSpPr>
          <p:spPr>
            <a:xfrm>
              <a:off x="548640"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cxnSp>
          <p:nvCxnSpPr>
            <p:cNvPr id="6" name="icon approach"/>
            <p:cNvCxnSpPr/>
            <p:nvPr/>
          </p:nvCxnSpPr>
          <p:spPr>
            <a:xfrm>
              <a:off x="1371600" y="1783080"/>
              <a:ext cx="640080" cy="0"/>
            </a:xfrm>
            <a:prstGeom prst="line">
              <a:avLst/>
            </a:prstGeom>
            <a:ln w="50800">
              <a:solidFill>
                <a:srgbClr val="F28C28"/>
              </a:solidFill>
              <a:tailEnd type="triangle" w="med" len="med"/>
            </a:ln>
          </p:spPr>
        </p:cxnSp>
        <p:sp>
          <p:nvSpPr>
            <p:cNvPr id="7" name="badge"/>
            <p:cNvSpPr/>
            <p:nvPr/>
          </p:nvSpPr>
          <p:spPr>
            <a:xfrm>
              <a:off x="658368"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1</a:t>
              </a:r>
            </a:p>
          </p:txBody>
        </p:sp>
        <p:sp>
          <p:nvSpPr>
            <p:cNvPr id="8" name="step label"/>
            <p:cNvSpPr txBox="1"/>
            <p:nvPr/>
          </p:nvSpPr>
          <p:spPr>
            <a:xfrm>
              <a:off x="621792"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Approach slowly</a:t>
              </a:r>
            </a:p>
          </p:txBody>
        </p:sp>
        <p:sp>
          <p:nvSpPr>
            <p:cNvPr id="9" name="step card"/>
            <p:cNvSpPr/>
            <p:nvPr/>
          </p:nvSpPr>
          <p:spPr>
            <a:xfrm>
              <a:off x="2816352"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cxnSp>
          <p:nvCxnSpPr>
            <p:cNvPr id="10" name="icon dock"/>
            <p:cNvCxnSpPr/>
            <p:nvPr/>
          </p:nvCxnSpPr>
          <p:spPr>
            <a:xfrm>
              <a:off x="3639312" y="1581912"/>
              <a:ext cx="0" cy="402336"/>
            </a:xfrm>
            <a:prstGeom prst="line">
              <a:avLst/>
            </a:prstGeom>
            <a:ln w="38100">
              <a:solidFill>
                <a:srgbClr val="9AA0A6"/>
              </a:solidFill>
            </a:ln>
          </p:spPr>
        </p:cxnSp>
        <p:cxnSp>
          <p:nvCxnSpPr>
            <p:cNvPr id="11" name="icon dock"/>
            <p:cNvCxnSpPr/>
            <p:nvPr/>
          </p:nvCxnSpPr>
          <p:spPr>
            <a:xfrm>
              <a:off x="3639312" y="1984248"/>
              <a:ext cx="640080" cy="0"/>
            </a:xfrm>
            <a:prstGeom prst="line">
              <a:avLst/>
            </a:prstGeom>
            <a:ln w="38100">
              <a:solidFill>
                <a:srgbClr val="9AA0A6"/>
              </a:solidFill>
            </a:ln>
          </p:spPr>
        </p:cxnSp>
        <p:cxnSp>
          <p:nvCxnSpPr>
            <p:cNvPr id="12" name="icon dock"/>
            <p:cNvCxnSpPr/>
            <p:nvPr/>
          </p:nvCxnSpPr>
          <p:spPr>
            <a:xfrm flipV="1">
              <a:off x="4279392" y="1581912"/>
              <a:ext cx="0" cy="402336"/>
            </a:xfrm>
            <a:prstGeom prst="line">
              <a:avLst/>
            </a:prstGeom>
            <a:ln w="38100">
              <a:solidFill>
                <a:srgbClr val="9AA0A6"/>
              </a:solidFill>
            </a:ln>
          </p:spPr>
        </p:cxnSp>
        <p:sp>
          <p:nvSpPr>
            <p:cNvPr id="13" name="icon engine"/>
            <p:cNvSpPr/>
            <p:nvPr/>
          </p:nvSpPr>
          <p:spPr>
            <a:xfrm>
              <a:off x="3776472" y="1737360"/>
              <a:ext cx="365760" cy="201168"/>
            </a:xfrm>
            <a:prstGeom prst="roundRect">
              <a:avLst>
                <a:gd name="adj" fmla="val 22727"/>
              </a:avLst>
            </a:prstGeom>
            <a:solidFill>
              <a:srgbClr val="F28C28"/>
            </a:solidFill>
            <a:ln>
              <a:noFill/>
            </a:ln>
          </p:spPr>
          <p:txBody>
            <a:bodyPr rtlCol="0" anchor="ctr"/>
            <a:lstStyle/>
            <a:p>
              <a:pPr algn="ctr"/>
            </a:p>
          </p:txBody>
        </p:sp>
        <p:sp>
          <p:nvSpPr>
            <p:cNvPr id="14" name="badge"/>
            <p:cNvSpPr/>
            <p:nvPr/>
          </p:nvSpPr>
          <p:spPr>
            <a:xfrm>
              <a:off x="2926079"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2</a:t>
              </a:r>
            </a:p>
          </p:txBody>
        </p:sp>
        <p:sp>
          <p:nvSpPr>
            <p:cNvPr id="15" name="step label"/>
            <p:cNvSpPr txBox="1"/>
            <p:nvPr/>
          </p:nvSpPr>
          <p:spPr>
            <a:xfrm>
              <a:off x="2889504"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Settle in</a:t>
              </a:r>
            </a:p>
          </p:txBody>
        </p:sp>
        <p:sp>
          <p:nvSpPr>
            <p:cNvPr id="16" name="step card"/>
            <p:cNvSpPr/>
            <p:nvPr/>
          </p:nvSpPr>
          <p:spPr>
            <a:xfrm>
              <a:off x="5084064"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17" name="icon steam"/>
            <p:cNvSpPr/>
            <p:nvPr/>
          </p:nvSpPr>
          <p:spPr>
            <a:xfrm>
              <a:off x="5907024" y="1810511"/>
              <a:ext cx="237744" cy="164592"/>
            </a:xfrm>
            <a:prstGeom prst="ellipse">
              <a:avLst/>
            </a:prstGeom>
            <a:solidFill>
              <a:srgbClr val="F2F2F2">
                <a:alpha val="85000"/>
              </a:srgbClr>
            </a:solidFill>
            <a:ln>
              <a:noFill/>
            </a:ln>
          </p:spPr>
          <p:txBody>
            <a:bodyPr rtlCol="0" anchor="ctr"/>
            <a:lstStyle/>
            <a:p>
              <a:pPr algn="ctr"/>
            </a:p>
          </p:txBody>
        </p:sp>
        <p:sp>
          <p:nvSpPr>
            <p:cNvPr id="18" name="icon steam"/>
            <p:cNvSpPr/>
            <p:nvPr/>
          </p:nvSpPr>
          <p:spPr>
            <a:xfrm>
              <a:off x="6071616" y="1682495"/>
              <a:ext cx="310896" cy="164592"/>
            </a:xfrm>
            <a:prstGeom prst="ellipse">
              <a:avLst/>
            </a:prstGeom>
            <a:solidFill>
              <a:srgbClr val="F2F2F2">
                <a:alpha val="85000"/>
              </a:srgbClr>
            </a:solidFill>
            <a:ln>
              <a:noFill/>
            </a:ln>
          </p:spPr>
          <p:txBody>
            <a:bodyPr rtlCol="0" anchor="ctr"/>
            <a:lstStyle/>
            <a:p>
              <a:pPr algn="ctr"/>
            </a:p>
          </p:txBody>
        </p:sp>
        <p:sp>
          <p:nvSpPr>
            <p:cNvPr id="19" name="icon steam"/>
            <p:cNvSpPr/>
            <p:nvPr/>
          </p:nvSpPr>
          <p:spPr>
            <a:xfrm>
              <a:off x="6236207" y="1554480"/>
              <a:ext cx="384048" cy="164592"/>
            </a:xfrm>
            <a:prstGeom prst="ellipse">
              <a:avLst/>
            </a:prstGeom>
            <a:solidFill>
              <a:srgbClr val="F2F2F2">
                <a:alpha val="85000"/>
              </a:srgbClr>
            </a:solidFill>
            <a:ln>
              <a:noFill/>
            </a:ln>
          </p:spPr>
          <p:txBody>
            <a:bodyPr rtlCol="0" anchor="ctr"/>
            <a:lstStyle/>
            <a:p>
              <a:pPr algn="ctr"/>
            </a:p>
          </p:txBody>
        </p:sp>
        <p:sp>
          <p:nvSpPr>
            <p:cNvPr id="20" name="badge"/>
            <p:cNvSpPr/>
            <p:nvPr/>
          </p:nvSpPr>
          <p:spPr>
            <a:xfrm>
              <a:off x="5193792"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3</a:t>
              </a:r>
            </a:p>
          </p:txBody>
        </p:sp>
        <p:sp>
          <p:nvSpPr>
            <p:cNvPr id="21" name="step label"/>
            <p:cNvSpPr txBox="1"/>
            <p:nvPr/>
          </p:nvSpPr>
          <p:spPr>
            <a:xfrm>
              <a:off x="5157216"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Long steam hiss</a:t>
              </a:r>
            </a:p>
          </p:txBody>
        </p:sp>
        <p:sp>
          <p:nvSpPr>
            <p:cNvPr id="22" name="step card"/>
            <p:cNvSpPr/>
            <p:nvPr/>
          </p:nvSpPr>
          <p:spPr>
            <a:xfrm>
              <a:off x="7351775"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23" name="icon chute"/>
            <p:cNvSpPr/>
            <p:nvPr/>
          </p:nvSpPr>
          <p:spPr>
            <a:xfrm>
              <a:off x="8174736" y="1554480"/>
              <a:ext cx="411479" cy="411480"/>
            </a:xfrm>
            <a:custGeom>
              <a:avLst/>
              <a:gdLst/>
              <a:ahLst/>
              <a:cxnLst/>
              <a:rect l="l" t="t" r="r" b="b"/>
              <a:pathLst>
                <a:path w="411479" h="411480">
                  <a:moveTo>
                    <a:pt x="0" y="0"/>
                  </a:moveTo>
                  <a:lnTo>
                    <a:pt x="411479" y="320039"/>
                  </a:lnTo>
                  <a:lnTo>
                    <a:pt x="411479" y="411480"/>
                  </a:lnTo>
                  <a:lnTo>
                    <a:pt x="0" y="91440"/>
                  </a:lnTo>
                  <a:close/>
                </a:path>
              </a:pathLst>
            </a:custGeom>
            <a:solidFill>
              <a:srgbClr val="9AA0A6"/>
            </a:solidFill>
            <a:ln>
              <a:noFill/>
            </a:ln>
          </p:spPr>
          <p:txBody>
            <a:bodyPr rtlCol="0" anchor="ctr"/>
            <a:lstStyle/>
            <a:p>
              <a:pPr algn="ctr"/>
            </a:p>
          </p:txBody>
        </p:sp>
        <p:sp>
          <p:nvSpPr>
            <p:cNvPr id="24" name="icon coal"/>
            <p:cNvSpPr/>
            <p:nvPr/>
          </p:nvSpPr>
          <p:spPr>
            <a:xfrm>
              <a:off x="8540496" y="1892807"/>
              <a:ext cx="301752" cy="146305"/>
            </a:xfrm>
            <a:custGeom>
              <a:avLst/>
              <a:gdLst/>
              <a:ahLst/>
              <a:cxnLst/>
              <a:rect l="l" t="t" r="r" b="b"/>
              <a:pathLst>
                <a:path w="301752" h="146305">
                  <a:moveTo>
                    <a:pt x="0" y="146305"/>
                  </a:moveTo>
                  <a:lnTo>
                    <a:pt x="91440" y="0"/>
                  </a:lnTo>
                  <a:lnTo>
                    <a:pt x="228600" y="18288"/>
                  </a:lnTo>
                  <a:lnTo>
                    <a:pt x="301752" y="146305"/>
                  </a:lnTo>
                  <a:close/>
                </a:path>
              </a:pathLst>
            </a:custGeom>
            <a:solidFill>
              <a:srgbClr val="1B1D21"/>
            </a:solidFill>
            <a:ln w="19050">
              <a:solidFill>
                <a:srgbClr val="B5BBC2"/>
              </a:solidFill>
            </a:ln>
          </p:spPr>
          <p:txBody>
            <a:bodyPr rtlCol="0" anchor="ctr"/>
            <a:lstStyle/>
            <a:p>
              <a:pPr algn="ctr"/>
            </a:p>
          </p:txBody>
        </p:sp>
        <p:sp>
          <p:nvSpPr>
            <p:cNvPr id="25" name="badge"/>
            <p:cNvSpPr/>
            <p:nvPr/>
          </p:nvSpPr>
          <p:spPr>
            <a:xfrm>
              <a:off x="7461504"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4</a:t>
              </a:r>
            </a:p>
          </p:txBody>
        </p:sp>
        <p:sp>
          <p:nvSpPr>
            <p:cNvPr id="26" name="step label"/>
            <p:cNvSpPr txBox="1"/>
            <p:nvPr/>
          </p:nvSpPr>
          <p:spPr>
            <a:xfrm>
              <a:off x="7424927"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Coal chutes</a:t>
              </a:r>
            </a:p>
          </p:txBody>
        </p:sp>
        <p:sp>
          <p:nvSpPr>
            <p:cNvPr id="27" name="step card"/>
            <p:cNvSpPr/>
            <p:nvPr/>
          </p:nvSpPr>
          <p:spPr>
            <a:xfrm>
              <a:off x="9619488" y="132588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28" name="icon crane"/>
            <p:cNvSpPr/>
            <p:nvPr/>
          </p:nvSpPr>
          <p:spPr>
            <a:xfrm>
              <a:off x="10442448" y="1668780"/>
              <a:ext cx="640080" cy="297180"/>
            </a:xfrm>
            <a:custGeom>
              <a:avLst/>
              <a:gdLst/>
              <a:ahLst/>
              <a:cxnLst/>
              <a:rect l="l" t="t" r="r" b="b"/>
              <a:pathLst>
                <a:path w="640080" h="297180">
                  <a:moveTo>
                    <a:pt x="0" y="297180"/>
                  </a:moveTo>
                  <a:lnTo>
                    <a:pt x="22860" y="256241"/>
                  </a:lnTo>
                  <a:lnTo>
                    <a:pt x="45719" y="218336"/>
                  </a:lnTo>
                  <a:lnTo>
                    <a:pt x="68580" y="183463"/>
                  </a:lnTo>
                  <a:lnTo>
                    <a:pt x="91440" y="151622"/>
                  </a:lnTo>
                  <a:lnTo>
                    <a:pt x="114299" y="122814"/>
                  </a:lnTo>
                  <a:lnTo>
                    <a:pt x="137160" y="97038"/>
                  </a:lnTo>
                  <a:lnTo>
                    <a:pt x="160020" y="74294"/>
                  </a:lnTo>
                  <a:lnTo>
                    <a:pt x="182880" y="54584"/>
                  </a:lnTo>
                  <a:lnTo>
                    <a:pt x="205740" y="37905"/>
                  </a:lnTo>
                  <a:lnTo>
                    <a:pt x="228599" y="24259"/>
                  </a:lnTo>
                  <a:lnTo>
                    <a:pt x="251460" y="13646"/>
                  </a:lnTo>
                  <a:lnTo>
                    <a:pt x="274319" y="6064"/>
                  </a:lnTo>
                  <a:lnTo>
                    <a:pt x="297180" y="1516"/>
                  </a:lnTo>
                  <a:lnTo>
                    <a:pt x="320040" y="0"/>
                  </a:lnTo>
                  <a:lnTo>
                    <a:pt x="342900" y="1516"/>
                  </a:lnTo>
                  <a:lnTo>
                    <a:pt x="365760" y="6064"/>
                  </a:lnTo>
                  <a:lnTo>
                    <a:pt x="388619" y="13646"/>
                  </a:lnTo>
                  <a:lnTo>
                    <a:pt x="411480" y="24259"/>
                  </a:lnTo>
                  <a:lnTo>
                    <a:pt x="434340" y="37905"/>
                  </a:lnTo>
                  <a:lnTo>
                    <a:pt x="457200" y="54584"/>
                  </a:lnTo>
                  <a:lnTo>
                    <a:pt x="480060" y="74295"/>
                  </a:lnTo>
                  <a:lnTo>
                    <a:pt x="502919" y="97038"/>
                  </a:lnTo>
                  <a:lnTo>
                    <a:pt x="525779" y="122814"/>
                  </a:lnTo>
                  <a:lnTo>
                    <a:pt x="548640" y="151622"/>
                  </a:lnTo>
                  <a:lnTo>
                    <a:pt x="571500" y="183463"/>
                  </a:lnTo>
                  <a:lnTo>
                    <a:pt x="594359" y="218336"/>
                  </a:lnTo>
                  <a:lnTo>
                    <a:pt x="617219" y="256241"/>
                  </a:lnTo>
                  <a:lnTo>
                    <a:pt x="640080" y="297180"/>
                  </a:lnTo>
                </a:path>
              </a:pathLst>
            </a:custGeom>
            <a:noFill/>
            <a:ln w="44450">
              <a:solidFill>
                <a:srgbClr val="4DA3FF"/>
              </a:solidFill>
              <a:tailEnd type="triangle" w="med" len="med"/>
            </a:ln>
          </p:spPr>
          <p:txBody>
            <a:bodyPr rtlCol="0" anchor="ctr"/>
            <a:lstStyle/>
            <a:p>
              <a:pPr algn="ctr"/>
            </a:p>
          </p:txBody>
        </p:sp>
        <p:sp>
          <p:nvSpPr>
            <p:cNvPr id="29" name="badge"/>
            <p:cNvSpPr/>
            <p:nvPr/>
          </p:nvSpPr>
          <p:spPr>
            <a:xfrm>
              <a:off x="9729216" y="1435608"/>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5</a:t>
              </a:r>
            </a:p>
          </p:txBody>
        </p:sp>
        <p:sp>
          <p:nvSpPr>
            <p:cNvPr id="30" name="step label"/>
            <p:cNvSpPr txBox="1"/>
            <p:nvPr/>
          </p:nvSpPr>
          <p:spPr>
            <a:xfrm>
              <a:off x="9692640" y="2103120"/>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Water arm swings</a:t>
              </a:r>
            </a:p>
          </p:txBody>
        </p:sp>
        <p:sp>
          <p:nvSpPr>
            <p:cNvPr id="31" name="step card"/>
            <p:cNvSpPr/>
            <p:nvPr/>
          </p:nvSpPr>
          <p:spPr>
            <a:xfrm>
              <a:off x="548640" y="301752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32" name="crosshair ring"/>
            <p:cNvSpPr/>
            <p:nvPr/>
          </p:nvSpPr>
          <p:spPr>
            <a:xfrm>
              <a:off x="1399032" y="3364991"/>
              <a:ext cx="219456" cy="219456"/>
            </a:xfrm>
            <a:prstGeom prst="ellipse">
              <a:avLst/>
            </a:prstGeom>
            <a:noFill/>
            <a:ln w="76200">
              <a:solidFill>
                <a:srgbClr val="101418"/>
              </a:solidFill>
            </a:ln>
          </p:spPr>
          <p:txBody>
            <a:bodyPr rtlCol="0" anchor="ctr"/>
            <a:lstStyle/>
            <a:p>
              <a:pPr algn="ctr"/>
            </a:p>
          </p:txBody>
        </p:sp>
        <p:cxnSp>
          <p:nvCxnSpPr>
            <p:cNvPr id="33" name="crosshair"/>
            <p:cNvCxnSpPr/>
            <p:nvPr/>
          </p:nvCxnSpPr>
          <p:spPr>
            <a:xfrm>
              <a:off x="1333195" y="3474720"/>
              <a:ext cx="351129" cy="0"/>
            </a:xfrm>
            <a:prstGeom prst="line">
              <a:avLst/>
            </a:prstGeom>
            <a:ln w="60960">
              <a:solidFill>
                <a:srgbClr val="101418"/>
              </a:solidFill>
            </a:ln>
          </p:spPr>
        </p:cxnSp>
        <p:cxnSp>
          <p:nvCxnSpPr>
            <p:cNvPr id="34" name="crosshair"/>
            <p:cNvCxnSpPr/>
            <p:nvPr/>
          </p:nvCxnSpPr>
          <p:spPr>
            <a:xfrm>
              <a:off x="1508760" y="3299155"/>
              <a:ext cx="0" cy="351129"/>
            </a:xfrm>
            <a:prstGeom prst="line">
              <a:avLst/>
            </a:prstGeom>
            <a:ln w="60960">
              <a:solidFill>
                <a:srgbClr val="101418"/>
              </a:solidFill>
            </a:ln>
          </p:spPr>
        </p:cxnSp>
        <p:sp>
          <p:nvSpPr>
            <p:cNvPr id="35" name="crosshair ring"/>
            <p:cNvSpPr/>
            <p:nvPr/>
          </p:nvSpPr>
          <p:spPr>
            <a:xfrm>
              <a:off x="1399032" y="3364991"/>
              <a:ext cx="219456" cy="219456"/>
            </a:xfrm>
            <a:prstGeom prst="ellipse">
              <a:avLst/>
            </a:prstGeom>
            <a:noFill/>
            <a:ln w="31750">
              <a:solidFill>
                <a:srgbClr val="F2F2F2"/>
              </a:solidFill>
            </a:ln>
          </p:spPr>
          <p:txBody>
            <a:bodyPr rtlCol="0" anchor="ctr"/>
            <a:lstStyle/>
            <a:p>
              <a:pPr algn="ctr"/>
            </a:p>
          </p:txBody>
        </p:sp>
        <p:cxnSp>
          <p:nvCxnSpPr>
            <p:cNvPr id="36" name="crosshair"/>
            <p:cNvCxnSpPr/>
            <p:nvPr/>
          </p:nvCxnSpPr>
          <p:spPr>
            <a:xfrm>
              <a:off x="1333195" y="3474720"/>
              <a:ext cx="351129" cy="0"/>
            </a:xfrm>
            <a:prstGeom prst="line">
              <a:avLst/>
            </a:prstGeom>
            <a:ln w="25400">
              <a:solidFill>
                <a:srgbClr val="F2F2F2"/>
              </a:solidFill>
            </a:ln>
          </p:spPr>
        </p:cxnSp>
        <p:cxnSp>
          <p:nvCxnSpPr>
            <p:cNvPr id="37" name="crosshair"/>
            <p:cNvCxnSpPr/>
            <p:nvPr/>
          </p:nvCxnSpPr>
          <p:spPr>
            <a:xfrm>
              <a:off x="1508760" y="3299155"/>
              <a:ext cx="0" cy="351129"/>
            </a:xfrm>
            <a:prstGeom prst="line">
              <a:avLst/>
            </a:prstGeom>
            <a:ln w="25400">
              <a:solidFill>
                <a:srgbClr val="F2F2F2"/>
              </a:solidFill>
            </a:ln>
          </p:spPr>
        </p:cxnSp>
        <p:sp>
          <p:nvSpPr>
            <p:cNvPr id="38" name="crosshair ring"/>
            <p:cNvSpPr/>
            <p:nvPr/>
          </p:nvSpPr>
          <p:spPr>
            <a:xfrm>
              <a:off x="1783080" y="3364991"/>
              <a:ext cx="219456" cy="219456"/>
            </a:xfrm>
            <a:prstGeom prst="ellipse">
              <a:avLst/>
            </a:prstGeom>
            <a:noFill/>
            <a:ln w="76200">
              <a:solidFill>
                <a:srgbClr val="101418"/>
              </a:solidFill>
            </a:ln>
          </p:spPr>
          <p:txBody>
            <a:bodyPr rtlCol="0" anchor="ctr"/>
            <a:lstStyle/>
            <a:p>
              <a:pPr algn="ctr"/>
            </a:p>
          </p:txBody>
        </p:sp>
        <p:cxnSp>
          <p:nvCxnSpPr>
            <p:cNvPr id="39" name="crosshair"/>
            <p:cNvCxnSpPr/>
            <p:nvPr/>
          </p:nvCxnSpPr>
          <p:spPr>
            <a:xfrm>
              <a:off x="1717243" y="3474720"/>
              <a:ext cx="351129" cy="0"/>
            </a:xfrm>
            <a:prstGeom prst="line">
              <a:avLst/>
            </a:prstGeom>
            <a:ln w="60960">
              <a:solidFill>
                <a:srgbClr val="101418"/>
              </a:solidFill>
            </a:ln>
          </p:spPr>
        </p:cxnSp>
        <p:cxnSp>
          <p:nvCxnSpPr>
            <p:cNvPr id="40" name="crosshair"/>
            <p:cNvCxnSpPr/>
            <p:nvPr/>
          </p:nvCxnSpPr>
          <p:spPr>
            <a:xfrm>
              <a:off x="1892808" y="3299155"/>
              <a:ext cx="0" cy="351129"/>
            </a:xfrm>
            <a:prstGeom prst="line">
              <a:avLst/>
            </a:prstGeom>
            <a:ln w="60960">
              <a:solidFill>
                <a:srgbClr val="101418"/>
              </a:solidFill>
            </a:ln>
          </p:spPr>
        </p:cxnSp>
        <p:sp>
          <p:nvSpPr>
            <p:cNvPr id="41" name="crosshair ring"/>
            <p:cNvSpPr/>
            <p:nvPr/>
          </p:nvSpPr>
          <p:spPr>
            <a:xfrm>
              <a:off x="1783080" y="3364991"/>
              <a:ext cx="219456" cy="219456"/>
            </a:xfrm>
            <a:prstGeom prst="ellipse">
              <a:avLst/>
            </a:prstGeom>
            <a:noFill/>
            <a:ln w="31750">
              <a:solidFill>
                <a:srgbClr val="F2F2F2"/>
              </a:solidFill>
            </a:ln>
          </p:spPr>
          <p:txBody>
            <a:bodyPr rtlCol="0" anchor="ctr"/>
            <a:lstStyle/>
            <a:p>
              <a:pPr algn="ctr"/>
            </a:p>
          </p:txBody>
        </p:sp>
        <p:cxnSp>
          <p:nvCxnSpPr>
            <p:cNvPr id="42" name="crosshair"/>
            <p:cNvCxnSpPr/>
            <p:nvPr/>
          </p:nvCxnSpPr>
          <p:spPr>
            <a:xfrm>
              <a:off x="1717243" y="3474720"/>
              <a:ext cx="351129" cy="0"/>
            </a:xfrm>
            <a:prstGeom prst="line">
              <a:avLst/>
            </a:prstGeom>
            <a:ln w="25400">
              <a:solidFill>
                <a:srgbClr val="F2F2F2"/>
              </a:solidFill>
            </a:ln>
          </p:spPr>
        </p:cxnSp>
        <p:cxnSp>
          <p:nvCxnSpPr>
            <p:cNvPr id="43" name="crosshair"/>
            <p:cNvCxnSpPr/>
            <p:nvPr/>
          </p:nvCxnSpPr>
          <p:spPr>
            <a:xfrm>
              <a:off x="1892808" y="3299155"/>
              <a:ext cx="0" cy="351129"/>
            </a:xfrm>
            <a:prstGeom prst="line">
              <a:avLst/>
            </a:prstGeom>
            <a:ln w="25400">
              <a:solidFill>
                <a:srgbClr val="F2F2F2"/>
              </a:solidFill>
            </a:ln>
          </p:spPr>
        </p:cxnSp>
        <p:sp>
          <p:nvSpPr>
            <p:cNvPr id="44" name="badge"/>
            <p:cNvSpPr/>
            <p:nvPr/>
          </p:nvSpPr>
          <p:spPr>
            <a:xfrm>
              <a:off x="658368" y="3127247"/>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6</a:t>
              </a:r>
            </a:p>
          </p:txBody>
        </p:sp>
        <p:sp>
          <p:nvSpPr>
            <p:cNvPr id="45" name="step label"/>
            <p:cNvSpPr txBox="1"/>
            <p:nvPr/>
          </p:nvSpPr>
          <p:spPr>
            <a:xfrm>
              <a:off x="621792" y="3794759"/>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Find the hatches</a:t>
              </a:r>
            </a:p>
          </p:txBody>
        </p:sp>
        <p:sp>
          <p:nvSpPr>
            <p:cNvPr id="46" name="step card"/>
            <p:cNvSpPr/>
            <p:nvPr/>
          </p:nvSpPr>
          <p:spPr>
            <a:xfrm>
              <a:off x="2816352" y="301752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47" name="icon clock"/>
            <p:cNvSpPr/>
            <p:nvPr/>
          </p:nvSpPr>
          <p:spPr>
            <a:xfrm>
              <a:off x="3730752" y="3246120"/>
              <a:ext cx="457200" cy="457200"/>
            </a:xfrm>
            <a:prstGeom prst="ellipse">
              <a:avLst/>
            </a:prstGeom>
            <a:noFill/>
            <a:ln w="31750">
              <a:solidFill>
                <a:srgbClr val="F2F2F2"/>
              </a:solidFill>
            </a:ln>
          </p:spPr>
          <p:txBody>
            <a:bodyPr rtlCol="0" anchor="ctr"/>
            <a:lstStyle/>
            <a:p>
              <a:pPr algn="ctr"/>
            </a:p>
          </p:txBody>
        </p:sp>
        <p:cxnSp>
          <p:nvCxnSpPr>
            <p:cNvPr id="48" name="icon hand"/>
            <p:cNvCxnSpPr/>
            <p:nvPr/>
          </p:nvCxnSpPr>
          <p:spPr>
            <a:xfrm flipV="1">
              <a:off x="3959352" y="3328415"/>
              <a:ext cx="0" cy="146305"/>
            </a:xfrm>
            <a:prstGeom prst="line">
              <a:avLst/>
            </a:prstGeom>
            <a:ln w="31750">
              <a:solidFill>
                <a:srgbClr val="F2F2F2"/>
              </a:solidFill>
            </a:ln>
          </p:spPr>
        </p:cxnSp>
        <p:cxnSp>
          <p:nvCxnSpPr>
            <p:cNvPr id="49" name="icon hand"/>
            <p:cNvCxnSpPr/>
            <p:nvPr/>
          </p:nvCxnSpPr>
          <p:spPr>
            <a:xfrm>
              <a:off x="3959352" y="3474720"/>
              <a:ext cx="109728" cy="36576"/>
            </a:xfrm>
            <a:prstGeom prst="line">
              <a:avLst/>
            </a:prstGeom>
            <a:ln w="31750">
              <a:solidFill>
                <a:srgbClr val="F2F2F2"/>
              </a:solidFill>
            </a:ln>
          </p:spPr>
        </p:cxnSp>
        <p:sp>
          <p:nvSpPr>
            <p:cNvPr id="50" name="badge"/>
            <p:cNvSpPr/>
            <p:nvPr/>
          </p:nvSpPr>
          <p:spPr>
            <a:xfrm>
              <a:off x="2926079" y="3127247"/>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7</a:t>
              </a:r>
            </a:p>
          </p:txBody>
        </p:sp>
        <p:sp>
          <p:nvSpPr>
            <p:cNvPr id="51" name="step label"/>
            <p:cNvSpPr txBox="1"/>
            <p:nvPr/>
          </p:nvSpPr>
          <p:spPr>
            <a:xfrm>
              <a:off x="2889504" y="3794759"/>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Tanks fill</a:t>
              </a:r>
            </a:p>
          </p:txBody>
        </p:sp>
        <p:sp>
          <p:nvSpPr>
            <p:cNvPr id="52" name="step card"/>
            <p:cNvSpPr/>
            <p:nvPr/>
          </p:nvSpPr>
          <p:spPr>
            <a:xfrm>
              <a:off x="5084064" y="301752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cxnSp>
          <p:nvCxnSpPr>
            <p:cNvPr id="53" name="icon retract"/>
            <p:cNvCxnSpPr/>
            <p:nvPr/>
          </p:nvCxnSpPr>
          <p:spPr>
            <a:xfrm flipH="1">
              <a:off x="5998464" y="3474720"/>
              <a:ext cx="548639" cy="0"/>
            </a:xfrm>
            <a:prstGeom prst="line">
              <a:avLst/>
            </a:prstGeom>
            <a:ln w="50800">
              <a:solidFill>
                <a:srgbClr val="B084F5"/>
              </a:solidFill>
              <a:tailEnd type="triangle" w="med" len="med"/>
            </a:ln>
          </p:spPr>
        </p:cxnSp>
        <p:cxnSp>
          <p:nvCxnSpPr>
            <p:cNvPr id="54" name="icon stop"/>
            <p:cNvCxnSpPr/>
            <p:nvPr/>
          </p:nvCxnSpPr>
          <p:spPr>
            <a:xfrm>
              <a:off x="5952744" y="3291839"/>
              <a:ext cx="0" cy="365761"/>
            </a:xfrm>
            <a:prstGeom prst="line">
              <a:avLst/>
            </a:prstGeom>
            <a:ln w="50800">
              <a:solidFill>
                <a:srgbClr val="B084F5"/>
              </a:solidFill>
            </a:ln>
          </p:spPr>
        </p:cxnSp>
        <p:sp>
          <p:nvSpPr>
            <p:cNvPr id="55" name="badge"/>
            <p:cNvSpPr/>
            <p:nvPr/>
          </p:nvSpPr>
          <p:spPr>
            <a:xfrm>
              <a:off x="5193792" y="3127247"/>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8</a:t>
              </a:r>
            </a:p>
          </p:txBody>
        </p:sp>
        <p:sp>
          <p:nvSpPr>
            <p:cNvPr id="56" name="step label"/>
            <p:cNvSpPr txBox="1"/>
            <p:nvPr/>
          </p:nvSpPr>
          <p:spPr>
            <a:xfrm>
              <a:off x="5157216" y="3794759"/>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Machinery folds away</a:t>
              </a:r>
            </a:p>
          </p:txBody>
        </p:sp>
        <p:sp>
          <p:nvSpPr>
            <p:cNvPr id="57" name="step card"/>
            <p:cNvSpPr/>
            <p:nvPr/>
          </p:nvSpPr>
          <p:spPr>
            <a:xfrm>
              <a:off x="7351775" y="3017520"/>
              <a:ext cx="2011680" cy="1371600"/>
            </a:xfrm>
            <a:prstGeom prst="roundRect">
              <a:avLst>
                <a:gd name="adj" fmla="val 6666"/>
              </a:avLst>
            </a:prstGeom>
            <a:solidFill>
              <a:srgbClr val="2B2F36"/>
            </a:solidFill>
            <a:ln w="19050">
              <a:solidFill>
                <a:srgbClr val="4A515B"/>
              </a:solidFill>
            </a:ln>
          </p:spPr>
          <p:txBody>
            <a:bodyPr rtlCol="0" anchor="ctr"/>
            <a:lstStyle/>
            <a:p>
              <a:pPr algn="ctr"/>
            </a:p>
          </p:txBody>
        </p:sp>
        <p:sp>
          <p:nvSpPr>
            <p:cNvPr id="58" name="icon engine"/>
            <p:cNvSpPr/>
            <p:nvPr/>
          </p:nvSpPr>
          <p:spPr>
            <a:xfrm>
              <a:off x="8220455" y="3383279"/>
              <a:ext cx="457200" cy="228600"/>
            </a:xfrm>
            <a:prstGeom prst="roundRect">
              <a:avLst>
                <a:gd name="adj" fmla="val 20000"/>
              </a:avLst>
            </a:prstGeom>
            <a:solidFill>
              <a:srgbClr val="F28C28"/>
            </a:solidFill>
            <a:ln>
              <a:noFill/>
            </a:ln>
          </p:spPr>
          <p:txBody>
            <a:bodyPr rtlCol="0" anchor="ctr"/>
            <a:lstStyle/>
            <a:p>
              <a:pPr algn="ctr"/>
            </a:p>
          </p:txBody>
        </p:sp>
        <p:cxnSp>
          <p:nvCxnSpPr>
            <p:cNvPr id="59" name="icon depart"/>
            <p:cNvCxnSpPr/>
            <p:nvPr/>
          </p:nvCxnSpPr>
          <p:spPr>
            <a:xfrm>
              <a:off x="8695944" y="3493008"/>
              <a:ext cx="182880" cy="0"/>
            </a:xfrm>
            <a:prstGeom prst="line">
              <a:avLst/>
            </a:prstGeom>
            <a:ln w="38100">
              <a:solidFill>
                <a:srgbClr val="F28C28"/>
              </a:solidFill>
              <a:tailEnd type="triangle" w="med" len="med"/>
            </a:ln>
          </p:spPr>
        </p:cxnSp>
        <p:sp>
          <p:nvSpPr>
            <p:cNvPr id="60" name="badge"/>
            <p:cNvSpPr/>
            <p:nvPr/>
          </p:nvSpPr>
          <p:spPr>
            <a:xfrm>
              <a:off x="7461504" y="3127247"/>
              <a:ext cx="365760" cy="365760"/>
            </a:xfrm>
            <a:prstGeom prst="ellipse">
              <a:avLst/>
            </a:prstGeom>
            <a:solidFill>
              <a:srgbClr val="F28C28"/>
            </a:solidFill>
            <a:ln>
              <a:noFill/>
            </a:ln>
          </p:spPr>
          <p:txBody>
            <a:bodyPr rtlCol="0" anchor="ctr" wrap="square" lIns="0" tIns="0" rIns="0" bIns="0">
              <a:noAutofit/>
            </a:bodyPr>
            <a:lstStyle/>
            <a:p>
              <a:pPr algn="ctr"/>
              <a:r>
                <a:rPr sz="1800" b="1" i="0" lang="en-GB">
                  <a:solidFill>
                    <a:srgbClr val="101418"/>
                  </a:solidFill>
                  <a:latin typeface="Arial"/>
                </a:rPr>
                <a:t>9</a:t>
              </a:r>
            </a:p>
          </p:txBody>
        </p:sp>
        <p:sp>
          <p:nvSpPr>
            <p:cNvPr id="61" name="step label"/>
            <p:cNvSpPr txBox="1"/>
            <p:nvPr/>
          </p:nvSpPr>
          <p:spPr>
            <a:xfrm>
              <a:off x="7424927" y="3794759"/>
              <a:ext cx="1865376" cy="548640"/>
            </a:xfrm>
            <a:prstGeom prst="rect">
              <a:avLst/>
            </a:prstGeom>
            <a:noFill/>
          </p:spPr>
          <p:txBody>
            <a:bodyPr wrap="square" anchor="ctr" lIns="18288" tIns="9144" rIns="18288" bIns="9144">
              <a:noAutofit/>
            </a:bodyPr>
            <a:lstStyle/>
            <a:p>
              <a:pPr algn="ctr"/>
              <a:r>
                <a:rPr sz="1400" b="1" i="0" lang="en-GB">
                  <a:solidFill>
                    <a:srgbClr val="F2F2F2"/>
                  </a:solidFill>
                  <a:latin typeface="Arial"/>
                </a:rPr>
                <a:t>Depart</a:t>
              </a:r>
            </a:p>
          </p:txBody>
        </p:sp>
        <p:cxnSp>
          <p:nvCxnSpPr>
            <p:cNvPr id="62" name="step arrow"/>
            <p:cNvCxnSpPr/>
            <p:nvPr/>
          </p:nvCxnSpPr>
          <p:spPr>
            <a:xfrm>
              <a:off x="2578608" y="2011680"/>
              <a:ext cx="219456" cy="0"/>
            </a:xfrm>
            <a:prstGeom prst="line">
              <a:avLst/>
            </a:prstGeom>
            <a:ln w="28575">
              <a:solidFill>
                <a:srgbClr val="F28C28"/>
              </a:solidFill>
              <a:tailEnd type="triangle" w="med" len="med"/>
            </a:ln>
          </p:spPr>
        </p:cxnSp>
        <p:cxnSp>
          <p:nvCxnSpPr>
            <p:cNvPr id="63" name="step arrow"/>
            <p:cNvCxnSpPr/>
            <p:nvPr/>
          </p:nvCxnSpPr>
          <p:spPr>
            <a:xfrm>
              <a:off x="4846320" y="2011680"/>
              <a:ext cx="219456" cy="0"/>
            </a:xfrm>
            <a:prstGeom prst="line">
              <a:avLst/>
            </a:prstGeom>
            <a:ln w="28575">
              <a:solidFill>
                <a:srgbClr val="F28C28"/>
              </a:solidFill>
              <a:tailEnd type="triangle" w="med" len="med"/>
            </a:ln>
          </p:spPr>
        </p:cxnSp>
        <p:cxnSp>
          <p:nvCxnSpPr>
            <p:cNvPr id="64" name="step arrow"/>
            <p:cNvCxnSpPr/>
            <p:nvPr/>
          </p:nvCxnSpPr>
          <p:spPr>
            <a:xfrm>
              <a:off x="7114031" y="2011680"/>
              <a:ext cx="219457" cy="0"/>
            </a:xfrm>
            <a:prstGeom prst="line">
              <a:avLst/>
            </a:prstGeom>
            <a:ln w="28575">
              <a:solidFill>
                <a:srgbClr val="F28C28"/>
              </a:solidFill>
              <a:tailEnd type="triangle" w="med" len="med"/>
            </a:ln>
          </p:spPr>
        </p:cxnSp>
        <p:cxnSp>
          <p:nvCxnSpPr>
            <p:cNvPr id="65" name="step arrow"/>
            <p:cNvCxnSpPr/>
            <p:nvPr/>
          </p:nvCxnSpPr>
          <p:spPr>
            <a:xfrm>
              <a:off x="9381743" y="2011680"/>
              <a:ext cx="219457" cy="0"/>
            </a:xfrm>
            <a:prstGeom prst="line">
              <a:avLst/>
            </a:prstGeom>
            <a:ln w="28575">
              <a:solidFill>
                <a:srgbClr val="F28C28"/>
              </a:solidFill>
              <a:tailEnd type="triangle" w="med" len="med"/>
            </a:ln>
          </p:spPr>
        </p:cxnSp>
        <p:cxnSp>
          <p:nvCxnSpPr>
            <p:cNvPr id="66" name="step arrow"/>
            <p:cNvCxnSpPr/>
            <p:nvPr/>
          </p:nvCxnSpPr>
          <p:spPr>
            <a:xfrm>
              <a:off x="2578608" y="3703320"/>
              <a:ext cx="219456" cy="0"/>
            </a:xfrm>
            <a:prstGeom prst="line">
              <a:avLst/>
            </a:prstGeom>
            <a:ln w="28575">
              <a:solidFill>
                <a:srgbClr val="F28C28"/>
              </a:solidFill>
              <a:tailEnd type="triangle" w="med" len="med"/>
            </a:ln>
          </p:spPr>
        </p:cxnSp>
        <p:cxnSp>
          <p:nvCxnSpPr>
            <p:cNvPr id="67" name="step arrow"/>
            <p:cNvCxnSpPr/>
            <p:nvPr/>
          </p:nvCxnSpPr>
          <p:spPr>
            <a:xfrm>
              <a:off x="4846320" y="3703320"/>
              <a:ext cx="219456" cy="0"/>
            </a:xfrm>
            <a:prstGeom prst="line">
              <a:avLst/>
            </a:prstGeom>
            <a:ln w="28575">
              <a:solidFill>
                <a:srgbClr val="F28C28"/>
              </a:solidFill>
              <a:tailEnd type="triangle" w="med" len="med"/>
            </a:ln>
          </p:spPr>
        </p:cxnSp>
        <p:cxnSp>
          <p:nvCxnSpPr>
            <p:cNvPr id="68" name="step arrow"/>
            <p:cNvCxnSpPr/>
            <p:nvPr/>
          </p:nvCxnSpPr>
          <p:spPr>
            <a:xfrm>
              <a:off x="7114031" y="3703320"/>
              <a:ext cx="219457" cy="0"/>
            </a:xfrm>
            <a:prstGeom prst="line">
              <a:avLst/>
            </a:prstGeom>
            <a:ln w="28575">
              <a:solidFill>
                <a:srgbClr val="F28C28"/>
              </a:solidFill>
              <a:tailEnd type="triangle" w="med" len="med"/>
            </a:ln>
          </p:spPr>
        </p:cxnSp>
        <p:sp>
          <p:nvSpPr>
            <p:cNvPr id="69" name="row link"/>
            <p:cNvSpPr/>
            <p:nvPr/>
          </p:nvSpPr>
          <p:spPr>
            <a:xfrm>
              <a:off x="1554480" y="2697480"/>
              <a:ext cx="9070848" cy="301752"/>
            </a:xfrm>
            <a:custGeom>
              <a:avLst/>
              <a:gdLst/>
              <a:ahLst/>
              <a:cxnLst/>
              <a:rect l="l" t="t" r="r" b="b"/>
              <a:pathLst>
                <a:path w="9070848" h="301752">
                  <a:moveTo>
                    <a:pt x="9070848" y="0"/>
                  </a:moveTo>
                  <a:lnTo>
                    <a:pt x="9070848" y="155448"/>
                  </a:lnTo>
                  <a:lnTo>
                    <a:pt x="0" y="155448"/>
                  </a:lnTo>
                  <a:lnTo>
                    <a:pt x="0" y="301752"/>
                  </a:lnTo>
                </a:path>
              </a:pathLst>
            </a:custGeom>
            <a:noFill/>
            <a:ln w="28575">
              <a:solidFill>
                <a:srgbClr val="F28C28"/>
              </a:solidFill>
              <a:tailEnd type="triangle" w="med" len="med"/>
            </a:ln>
          </p:spPr>
          <p:txBody>
            <a:bodyPr rtlCol="0" anchor="ctr"/>
            <a:lstStyle/>
            <a:p>
              <a:pPr algn="ctr"/>
            </a:p>
          </p:txBody>
        </p:sp>
        <p:sp>
          <p:nvSpPr>
            <p:cNvPr id="70" name="ICHIP"/>
            <p:cNvSpPr/>
            <p:nvPr/>
          </p:nvSpPr>
          <p:spPr>
            <a:xfrm>
              <a:off x="5769864" y="2862072"/>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71" name="time track"/>
            <p:cNvSpPr/>
            <p:nvPr/>
          </p:nvSpPr>
          <p:spPr>
            <a:xfrm>
              <a:off x="548640" y="4709160"/>
              <a:ext cx="8778240" cy="274320"/>
            </a:xfrm>
            <a:prstGeom prst="roundRect">
              <a:avLst>
                <a:gd name="adj" fmla="val 20000"/>
              </a:avLst>
            </a:prstGeom>
            <a:solidFill>
              <a:srgbClr val="343A43"/>
            </a:solidFill>
            <a:ln w="12700">
              <a:solidFill>
                <a:srgbClr val="4A515B"/>
              </a:solidFill>
            </a:ln>
          </p:spPr>
          <p:txBody>
            <a:bodyPr rtlCol="0" anchor="ctr"/>
            <a:lstStyle/>
            <a:p>
              <a:pPr algn="ctr"/>
            </a:p>
          </p:txBody>
        </p:sp>
        <p:sp>
          <p:nvSpPr>
            <p:cNvPr id="72" name="time fill"/>
            <p:cNvSpPr/>
            <p:nvPr/>
          </p:nvSpPr>
          <p:spPr>
            <a:xfrm>
              <a:off x="548640" y="4709160"/>
              <a:ext cx="2282342" cy="274320"/>
            </a:xfrm>
            <a:prstGeom prst="roundRect">
              <a:avLst>
                <a:gd name="adj" fmla="val 20000"/>
              </a:avLst>
            </a:prstGeom>
            <a:solidFill>
              <a:srgbClr val="F28C28"/>
            </a:solidFill>
            <a:ln>
              <a:noFill/>
            </a:ln>
          </p:spPr>
          <p:txBody>
            <a:bodyPr rtlCol="0" anchor="ctr"/>
            <a:lstStyle/>
            <a:p>
              <a:pPr algn="ctr"/>
            </a:p>
          </p:txBody>
        </p:sp>
        <p:sp>
          <p:nvSpPr>
            <p:cNvPr id="73" name="time track"/>
            <p:cNvSpPr/>
            <p:nvPr/>
          </p:nvSpPr>
          <p:spPr>
            <a:xfrm>
              <a:off x="548640" y="5093208"/>
              <a:ext cx="8778240" cy="274320"/>
            </a:xfrm>
            <a:prstGeom prst="roundRect">
              <a:avLst>
                <a:gd name="adj" fmla="val 20000"/>
              </a:avLst>
            </a:prstGeom>
            <a:solidFill>
              <a:srgbClr val="343A43"/>
            </a:solidFill>
            <a:ln w="12700">
              <a:solidFill>
                <a:srgbClr val="4A515B"/>
              </a:solidFill>
            </a:ln>
          </p:spPr>
          <p:txBody>
            <a:bodyPr rtlCol="0" anchor="ctr"/>
            <a:lstStyle/>
            <a:p>
              <a:pPr algn="ctr"/>
            </a:p>
          </p:txBody>
        </p:sp>
        <p:sp>
          <p:nvSpPr>
            <p:cNvPr id="74" name="time fill"/>
            <p:cNvSpPr/>
            <p:nvPr/>
          </p:nvSpPr>
          <p:spPr>
            <a:xfrm>
              <a:off x="548640" y="5093208"/>
              <a:ext cx="8251545" cy="274320"/>
            </a:xfrm>
            <a:prstGeom prst="roundRect">
              <a:avLst>
                <a:gd name="adj" fmla="val 20000"/>
              </a:avLst>
            </a:prstGeom>
            <a:solidFill>
              <a:srgbClr val="F28C28"/>
            </a:solidFill>
            <a:ln>
              <a:noFill/>
            </a:ln>
          </p:spPr>
          <p:txBody>
            <a:bodyPr rtlCol="0" anchor="ctr"/>
            <a:lstStyle/>
            <a:p>
              <a:pPr algn="ctr"/>
            </a:p>
          </p:txBody>
        </p:sp>
        <p:sp>
          <p:nvSpPr>
            <p:cNvPr id="75" name="bar label"/>
            <p:cNvSpPr txBox="1"/>
            <p:nvPr/>
          </p:nvSpPr>
          <p:spPr>
            <a:xfrm>
              <a:off x="9464040" y="4663440"/>
              <a:ext cx="2194560" cy="365760"/>
            </a:xfrm>
            <a:prstGeom prst="rect">
              <a:avLst/>
            </a:prstGeom>
            <a:noFill/>
          </p:spPr>
          <p:txBody>
            <a:bodyPr wrap="square" anchor="ctr" lIns="18288" tIns="9144" rIns="18288" bIns="9144">
              <a:noAutofit/>
            </a:bodyPr>
            <a:lstStyle/>
            <a:p>
              <a:pPr algn="l"/>
              <a:r>
                <a:rPr sz="1400" b="1" i="0" lang="en-GB">
                  <a:solidFill>
                    <a:srgbClr val="F2F2F2"/>
                  </a:solidFill>
                  <a:latin typeface="Arial"/>
                </a:rPr>
                <a:t>Small top-up</a:t>
              </a:r>
            </a:p>
          </p:txBody>
        </p:sp>
        <p:sp>
          <p:nvSpPr>
            <p:cNvPr id="76" name="bar label"/>
            <p:cNvSpPr txBox="1"/>
            <p:nvPr/>
          </p:nvSpPr>
          <p:spPr>
            <a:xfrm>
              <a:off x="9464040" y="5047488"/>
              <a:ext cx="2194560" cy="365760"/>
            </a:xfrm>
            <a:prstGeom prst="rect">
              <a:avLst/>
            </a:prstGeom>
            <a:noFill/>
          </p:spPr>
          <p:txBody>
            <a:bodyPr wrap="square" anchor="ctr" lIns="18288" tIns="9144" rIns="18288" bIns="9144">
              <a:noAutofit/>
            </a:bodyPr>
            <a:lstStyle/>
            <a:p>
              <a:pPr algn="l"/>
              <a:r>
                <a:rPr sz="1400" b="1" i="0" lang="en-GB">
                  <a:solidFill>
                    <a:srgbClr val="F2F2F2"/>
                  </a:solidFill>
                  <a:latin typeface="Arial"/>
                </a:rPr>
                <a:t>Empty tanks</a:t>
              </a:r>
            </a:p>
          </p:txBody>
        </p:sp>
        <p:sp>
          <p:nvSpPr>
            <p:cNvPr id="77" name="note"/>
            <p:cNvSpPr txBox="1"/>
            <p:nvPr/>
          </p:nvSpPr>
          <p:spPr>
            <a:xfrm>
              <a:off x="548640" y="5422392"/>
              <a:ext cx="8778240" cy="292608"/>
            </a:xfrm>
            <a:prstGeom prst="rect">
              <a:avLst/>
            </a:prstGeom>
            <a:noFill/>
          </p:spPr>
          <p:txBody>
            <a:bodyPr wrap="square" anchor="ctr" lIns="18288" tIns="9144" rIns="18288" bIns="9144">
              <a:noAutofit/>
            </a:bodyPr>
            <a:lstStyle/>
            <a:p>
              <a:pPr algn="l"/>
              <a:r>
                <a:rPr sz="1400" b="0" i="0" lang="en-GB">
                  <a:solidFill>
                    <a:srgbClr val="A9B0B8"/>
                  </a:solidFill>
                  <a:latin typeface="Arial"/>
                </a:rPr>
                <a:t>Rates and times: Proposed or provisional</a:t>
              </a:r>
            </a:p>
          </p:txBody>
        </p:sp>
      </p:grpSp>
      <p:sp>
        <p:nvSpPr>
          <p:cNvPr id="78"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79"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0"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The machinery finds each engine's hatches. Servicing takes visible time. Then it folds away.</a:t>
            </a:r>
          </a:p>
        </p:txBody>
      </p:sp>
      <p:sp>
        <p:nvSpPr>
          <p:cNvPr id="81"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Finding the hatches</a:t>
            </a:r>
          </a:p>
        </p:txBody>
      </p:sp>
      <p:sp>
        <p:nvSpPr>
          <p:cNvPr id="3" name="CHIP"/>
          <p:cNvSpPr/>
          <p:nvPr/>
        </p:nvSpPr>
        <p:spPr>
          <a:xfrm>
            <a:off x="10088575" y="530352"/>
            <a:ext cx="1554480" cy="365760"/>
          </a:xfrm>
          <a:prstGeom prst="roundRect">
            <a:avLst>
              <a:gd name="adj" fmla="val 30000"/>
            </a:avLst>
          </a:prstGeom>
          <a:solidFill>
            <a:srgbClr val="3FB950"/>
          </a:solidFill>
          <a:ln>
            <a:noFill/>
          </a:ln>
        </p:spPr>
        <p:txBody>
          <a:bodyPr rtlCol="0" anchor="ctr" wrap="square" lIns="54864" tIns="0" rIns="54864" bIns="0">
            <a:noAutofit/>
          </a:bodyPr>
          <a:lstStyle/>
          <a:p>
            <a:pPr algn="ctr"/>
            <a:r>
              <a:rPr sz="1400" b="1" i="0" lang="en-GB">
                <a:solidFill>
                  <a:srgbClr val="101418"/>
                </a:solidFill>
                <a:latin typeface="Arial"/>
              </a:rPr>
              <a:t>AGREED</a:t>
            </a:r>
          </a:p>
        </p:txBody>
      </p:sp>
      <p:grpSp>
        <p:nvGrpSpPr>
          <p:cNvPr id="4" name="Two engines and machinery arms" descr="A tender engine and a tank engine, each with its water hatch and coal point in a different place. A machinery arm reaches to a crosshair on each point."/>
          <p:cNvGrpSpPr/>
          <p:nvPr/>
        </p:nvGrpSpPr>
        <p:grpSpPr>
          <a:xfrm>
            <a:off x="518160" y="1874519"/>
            <a:ext cx="11094720" cy="3767329"/>
            <a:chOff x="518160" y="1874519"/>
            <a:chExt cx="11094720" cy="3767329"/>
          </a:xfrm>
        </p:grpSpPr>
        <p:sp>
          <p:nvSpPr>
            <p:cNvPr id="5" name="rail"/>
            <p:cNvSpPr/>
            <p:nvPr/>
          </p:nvSpPr>
          <p:spPr>
            <a:xfrm>
              <a:off x="548640" y="4434840"/>
              <a:ext cx="11064240" cy="64008"/>
            </a:xfrm>
            <a:prstGeom prst="rect">
              <a:avLst/>
            </a:prstGeom>
            <a:solidFill>
              <a:srgbClr val="9AA0A6"/>
            </a:solidFill>
            <a:ln>
              <a:noFill/>
            </a:ln>
          </p:spPr>
          <p:txBody>
            <a:bodyPr rtlCol="0" anchor="ctr"/>
            <a:lstStyle/>
            <a:p>
              <a:pPr algn="ctr"/>
            </a:p>
          </p:txBody>
        </p:sp>
        <p:sp>
          <p:nvSpPr>
            <p:cNvPr id="6" name="tender body"/>
            <p:cNvSpPr/>
            <p:nvPr/>
          </p:nvSpPr>
          <p:spPr>
            <a:xfrm>
              <a:off x="1554480" y="3253740"/>
              <a:ext cx="1447800" cy="723900"/>
            </a:xfrm>
            <a:prstGeom prst="roundRect">
              <a:avLst>
                <a:gd name="adj" fmla="val 2631"/>
              </a:avLst>
            </a:prstGeom>
            <a:solidFill>
              <a:srgbClr val="6C7480"/>
            </a:solidFill>
            <a:ln>
              <a:noFill/>
            </a:ln>
          </p:spPr>
          <p:txBody>
            <a:bodyPr rtlCol="0" anchor="ctr"/>
            <a:lstStyle/>
            <a:p>
              <a:pPr algn="ctr"/>
            </a:p>
          </p:txBody>
        </p:sp>
        <p:sp>
          <p:nvSpPr>
            <p:cNvPr id="7" name="tender coal"/>
            <p:cNvSpPr/>
            <p:nvPr/>
          </p:nvSpPr>
          <p:spPr>
            <a:xfrm>
              <a:off x="1668780" y="3120390"/>
              <a:ext cx="1219200" cy="171450"/>
            </a:xfrm>
            <a:prstGeom prst="rect">
              <a:avLst/>
            </a:prstGeom>
            <a:solidFill>
              <a:srgbClr val="1B1D21"/>
            </a:solidFill>
            <a:ln w="12700">
              <a:solidFill>
                <a:srgbClr val="9AA0A6"/>
              </a:solidFill>
            </a:ln>
          </p:spPr>
          <p:txBody>
            <a:bodyPr rtlCol="0" anchor="ctr"/>
            <a:lstStyle/>
            <a:p>
              <a:pPr algn="ctr"/>
            </a:p>
          </p:txBody>
        </p:sp>
        <p:sp>
          <p:nvSpPr>
            <p:cNvPr id="8" name="tender frame"/>
            <p:cNvSpPr/>
            <p:nvPr/>
          </p:nvSpPr>
          <p:spPr>
            <a:xfrm>
              <a:off x="1554480" y="3977639"/>
              <a:ext cx="1447800" cy="114300"/>
            </a:xfrm>
            <a:prstGeom prst="rect">
              <a:avLst/>
            </a:prstGeom>
            <a:solidFill>
              <a:srgbClr val="3A3F47"/>
            </a:solidFill>
            <a:ln w="9525">
              <a:solidFill>
                <a:srgbClr val="9AA0A6"/>
              </a:solidFill>
            </a:ln>
          </p:spPr>
          <p:txBody>
            <a:bodyPr rtlCol="0" anchor="ctr"/>
            <a:lstStyle/>
            <a:p>
              <a:pPr algn="ctr"/>
            </a:p>
          </p:txBody>
        </p:sp>
        <p:sp>
          <p:nvSpPr>
            <p:cNvPr id="9" name="coupling"/>
            <p:cNvSpPr/>
            <p:nvPr/>
          </p:nvSpPr>
          <p:spPr>
            <a:xfrm>
              <a:off x="3002280" y="3749039"/>
              <a:ext cx="152400" cy="76200"/>
            </a:xfrm>
            <a:prstGeom prst="rect">
              <a:avLst/>
            </a:prstGeom>
            <a:solidFill>
              <a:srgbClr val="9AA0A6"/>
            </a:solidFill>
            <a:ln>
              <a:noFill/>
            </a:ln>
          </p:spPr>
          <p:txBody>
            <a:bodyPr rtlCol="0" anchor="ctr"/>
            <a:lstStyle/>
            <a:p>
              <a:pPr algn="ctr"/>
            </a:p>
          </p:txBody>
        </p:sp>
        <p:sp>
          <p:nvSpPr>
            <p:cNvPr id="10" name="wheel"/>
            <p:cNvSpPr/>
            <p:nvPr/>
          </p:nvSpPr>
          <p:spPr>
            <a:xfrm>
              <a:off x="1611630" y="3863339"/>
              <a:ext cx="571500" cy="571500"/>
            </a:xfrm>
            <a:prstGeom prst="ellipse">
              <a:avLst/>
            </a:prstGeom>
            <a:solidFill>
              <a:srgbClr val="1B1D21"/>
            </a:solidFill>
            <a:ln w="19050">
              <a:solidFill>
                <a:srgbClr val="9AA0A6"/>
              </a:solidFill>
            </a:ln>
          </p:spPr>
          <p:txBody>
            <a:bodyPr rtlCol="0" anchor="ctr"/>
            <a:lstStyle/>
            <a:p>
              <a:pPr algn="ctr"/>
            </a:p>
          </p:txBody>
        </p:sp>
        <p:sp>
          <p:nvSpPr>
            <p:cNvPr id="11" name="hub"/>
            <p:cNvSpPr/>
            <p:nvPr/>
          </p:nvSpPr>
          <p:spPr>
            <a:xfrm>
              <a:off x="1828800" y="4080509"/>
              <a:ext cx="137160" cy="137160"/>
            </a:xfrm>
            <a:prstGeom prst="ellipse">
              <a:avLst/>
            </a:prstGeom>
            <a:solidFill>
              <a:srgbClr val="9AA0A6"/>
            </a:solidFill>
            <a:ln>
              <a:noFill/>
            </a:ln>
          </p:spPr>
          <p:txBody>
            <a:bodyPr rtlCol="0" anchor="ctr"/>
            <a:lstStyle/>
            <a:p>
              <a:pPr algn="ctr"/>
            </a:p>
          </p:txBody>
        </p:sp>
        <p:sp>
          <p:nvSpPr>
            <p:cNvPr id="12" name="wheel"/>
            <p:cNvSpPr/>
            <p:nvPr/>
          </p:nvSpPr>
          <p:spPr>
            <a:xfrm>
              <a:off x="2373630" y="3863339"/>
              <a:ext cx="571500" cy="571500"/>
            </a:xfrm>
            <a:prstGeom prst="ellipse">
              <a:avLst/>
            </a:prstGeom>
            <a:solidFill>
              <a:srgbClr val="1B1D21"/>
            </a:solidFill>
            <a:ln w="19050">
              <a:solidFill>
                <a:srgbClr val="9AA0A6"/>
              </a:solidFill>
            </a:ln>
          </p:spPr>
          <p:txBody>
            <a:bodyPr rtlCol="0" anchor="ctr"/>
            <a:lstStyle/>
            <a:p>
              <a:pPr algn="ctr"/>
            </a:p>
          </p:txBody>
        </p:sp>
        <p:sp>
          <p:nvSpPr>
            <p:cNvPr id="13" name="hub"/>
            <p:cNvSpPr/>
            <p:nvPr/>
          </p:nvSpPr>
          <p:spPr>
            <a:xfrm>
              <a:off x="2590799" y="4080509"/>
              <a:ext cx="137160" cy="137160"/>
            </a:xfrm>
            <a:prstGeom prst="ellipse">
              <a:avLst/>
            </a:prstGeom>
            <a:solidFill>
              <a:srgbClr val="9AA0A6"/>
            </a:solidFill>
            <a:ln>
              <a:noFill/>
            </a:ln>
          </p:spPr>
          <p:txBody>
            <a:bodyPr rtlCol="0" anchor="ctr"/>
            <a:lstStyle/>
            <a:p>
              <a:pPr algn="ctr"/>
            </a:p>
          </p:txBody>
        </p:sp>
        <p:sp>
          <p:nvSpPr>
            <p:cNvPr id="14" name="cab"/>
            <p:cNvSpPr/>
            <p:nvPr/>
          </p:nvSpPr>
          <p:spPr>
            <a:xfrm>
              <a:off x="3078480" y="2910840"/>
              <a:ext cx="762000" cy="1066800"/>
            </a:xfrm>
            <a:prstGeom prst="roundRect">
              <a:avLst>
                <a:gd name="adj" fmla="val 2500"/>
              </a:avLst>
            </a:prstGeom>
            <a:solidFill>
              <a:srgbClr val="F28C28"/>
            </a:solidFill>
            <a:ln>
              <a:noFill/>
            </a:ln>
          </p:spPr>
          <p:txBody>
            <a:bodyPr rtlCol="0" anchor="ctr"/>
            <a:lstStyle/>
            <a:p>
              <a:pPr algn="ctr"/>
            </a:p>
          </p:txBody>
        </p:sp>
        <p:sp>
          <p:nvSpPr>
            <p:cNvPr id="15" name="cab roof"/>
            <p:cNvSpPr/>
            <p:nvPr/>
          </p:nvSpPr>
          <p:spPr>
            <a:xfrm>
              <a:off x="3040380" y="2853690"/>
              <a:ext cx="838200" cy="83820"/>
            </a:xfrm>
            <a:prstGeom prst="rect">
              <a:avLst/>
            </a:prstGeom>
            <a:solidFill>
              <a:srgbClr val="3A3F47"/>
            </a:solidFill>
            <a:ln w="9525">
              <a:solidFill>
                <a:srgbClr val="9AA0A6"/>
              </a:solidFill>
            </a:ln>
          </p:spPr>
          <p:txBody>
            <a:bodyPr rtlCol="0" anchor="ctr"/>
            <a:lstStyle/>
            <a:p>
              <a:pPr algn="ctr"/>
            </a:p>
          </p:txBody>
        </p:sp>
        <p:sp>
          <p:nvSpPr>
            <p:cNvPr id="16" name="cab window"/>
            <p:cNvSpPr/>
            <p:nvPr/>
          </p:nvSpPr>
          <p:spPr>
            <a:xfrm>
              <a:off x="3230880" y="3120390"/>
              <a:ext cx="457200" cy="342900"/>
            </a:xfrm>
            <a:prstGeom prst="rect">
              <a:avLst/>
            </a:prstGeom>
            <a:solidFill>
              <a:srgbClr val="1B1D21"/>
            </a:solidFill>
            <a:ln>
              <a:noFill/>
            </a:ln>
          </p:spPr>
          <p:txBody>
            <a:bodyPr rtlCol="0" anchor="ctr"/>
            <a:lstStyle/>
            <a:p>
              <a:pPr algn="ctr"/>
            </a:p>
          </p:txBody>
        </p:sp>
        <p:sp>
          <p:nvSpPr>
            <p:cNvPr id="17" name="boiler"/>
            <p:cNvSpPr/>
            <p:nvPr/>
          </p:nvSpPr>
          <p:spPr>
            <a:xfrm>
              <a:off x="3840480" y="3139440"/>
              <a:ext cx="2286000" cy="838200"/>
            </a:xfrm>
            <a:prstGeom prst="roundRect">
              <a:avLst>
                <a:gd name="adj" fmla="val 27272"/>
              </a:avLst>
            </a:prstGeom>
            <a:solidFill>
              <a:srgbClr val="F28C28"/>
            </a:solidFill>
            <a:ln>
              <a:noFill/>
            </a:ln>
          </p:spPr>
          <p:txBody>
            <a:bodyPr rtlCol="0" anchor="ctr"/>
            <a:lstStyle/>
            <a:p>
              <a:pPr algn="ctr"/>
            </a:p>
          </p:txBody>
        </p:sp>
        <p:sp>
          <p:nvSpPr>
            <p:cNvPr id="18" name="chimney"/>
            <p:cNvSpPr/>
            <p:nvPr/>
          </p:nvSpPr>
          <p:spPr>
            <a:xfrm>
              <a:off x="5631180" y="2796540"/>
              <a:ext cx="266700" cy="361950"/>
            </a:xfrm>
            <a:prstGeom prst="rect">
              <a:avLst/>
            </a:prstGeom>
            <a:solidFill>
              <a:srgbClr val="3A3F47"/>
            </a:solidFill>
            <a:ln w="9525">
              <a:solidFill>
                <a:srgbClr val="9AA0A6"/>
              </a:solidFill>
            </a:ln>
          </p:spPr>
          <p:txBody>
            <a:bodyPr rtlCol="0" anchor="ctr"/>
            <a:lstStyle/>
            <a:p>
              <a:pPr algn="ctr"/>
            </a:p>
          </p:txBody>
        </p:sp>
        <p:sp>
          <p:nvSpPr>
            <p:cNvPr id="19" name="chimney lip"/>
            <p:cNvSpPr/>
            <p:nvPr/>
          </p:nvSpPr>
          <p:spPr>
            <a:xfrm>
              <a:off x="5574030" y="2758440"/>
              <a:ext cx="381000" cy="76200"/>
            </a:xfrm>
            <a:prstGeom prst="rect">
              <a:avLst/>
            </a:prstGeom>
            <a:solidFill>
              <a:srgbClr val="3A3F47"/>
            </a:solidFill>
            <a:ln w="9525">
              <a:solidFill>
                <a:srgbClr val="9AA0A6"/>
              </a:solidFill>
            </a:ln>
          </p:spPr>
          <p:txBody>
            <a:bodyPr rtlCol="0" anchor="ctr"/>
            <a:lstStyle/>
            <a:p>
              <a:pPr algn="ctr"/>
            </a:p>
          </p:txBody>
        </p:sp>
        <p:sp>
          <p:nvSpPr>
            <p:cNvPr id="20" name="dome"/>
            <p:cNvSpPr/>
            <p:nvPr/>
          </p:nvSpPr>
          <p:spPr>
            <a:xfrm>
              <a:off x="4488180" y="2967990"/>
              <a:ext cx="381000" cy="190500"/>
            </a:xfrm>
            <a:prstGeom prst="roundRect">
              <a:avLst>
                <a:gd name="adj" fmla="val 40000"/>
              </a:avLst>
            </a:prstGeom>
            <a:solidFill>
              <a:srgbClr val="F28C28"/>
            </a:solidFill>
            <a:ln>
              <a:noFill/>
            </a:ln>
          </p:spPr>
          <p:txBody>
            <a:bodyPr rtlCol="0" anchor="ctr"/>
            <a:lstStyle/>
            <a:p>
              <a:pPr algn="ctr"/>
            </a:p>
          </p:txBody>
        </p:sp>
        <p:sp>
          <p:nvSpPr>
            <p:cNvPr id="21" name="frame"/>
            <p:cNvSpPr/>
            <p:nvPr/>
          </p:nvSpPr>
          <p:spPr>
            <a:xfrm>
              <a:off x="3078480" y="3977639"/>
              <a:ext cx="3048000" cy="114300"/>
            </a:xfrm>
            <a:prstGeom prst="rect">
              <a:avLst/>
            </a:prstGeom>
            <a:solidFill>
              <a:srgbClr val="3A3F47"/>
            </a:solidFill>
            <a:ln w="9525">
              <a:solidFill>
                <a:srgbClr val="9AA0A6"/>
              </a:solidFill>
            </a:ln>
          </p:spPr>
          <p:txBody>
            <a:bodyPr rtlCol="0" anchor="ctr"/>
            <a:lstStyle/>
            <a:p>
              <a:pPr algn="ctr"/>
            </a:p>
          </p:txBody>
        </p:sp>
        <p:sp>
          <p:nvSpPr>
            <p:cNvPr id="22" name="wheel"/>
            <p:cNvSpPr/>
            <p:nvPr/>
          </p:nvSpPr>
          <p:spPr>
            <a:xfrm>
              <a:off x="3630930" y="3863339"/>
              <a:ext cx="571500" cy="571500"/>
            </a:xfrm>
            <a:prstGeom prst="ellipse">
              <a:avLst/>
            </a:prstGeom>
            <a:solidFill>
              <a:srgbClr val="1B1D21"/>
            </a:solidFill>
            <a:ln w="19050">
              <a:solidFill>
                <a:srgbClr val="9AA0A6"/>
              </a:solidFill>
            </a:ln>
          </p:spPr>
          <p:txBody>
            <a:bodyPr rtlCol="0" anchor="ctr"/>
            <a:lstStyle/>
            <a:p>
              <a:pPr algn="ctr"/>
            </a:p>
          </p:txBody>
        </p:sp>
        <p:sp>
          <p:nvSpPr>
            <p:cNvPr id="23" name="hub"/>
            <p:cNvSpPr/>
            <p:nvPr/>
          </p:nvSpPr>
          <p:spPr>
            <a:xfrm>
              <a:off x="3848099" y="4080509"/>
              <a:ext cx="137160" cy="137160"/>
            </a:xfrm>
            <a:prstGeom prst="ellipse">
              <a:avLst/>
            </a:prstGeom>
            <a:solidFill>
              <a:srgbClr val="9AA0A6"/>
            </a:solidFill>
            <a:ln>
              <a:noFill/>
            </a:ln>
          </p:spPr>
          <p:txBody>
            <a:bodyPr rtlCol="0" anchor="ctr"/>
            <a:lstStyle/>
            <a:p>
              <a:pPr algn="ctr"/>
            </a:p>
          </p:txBody>
        </p:sp>
        <p:sp>
          <p:nvSpPr>
            <p:cNvPr id="24" name="wheel"/>
            <p:cNvSpPr/>
            <p:nvPr/>
          </p:nvSpPr>
          <p:spPr>
            <a:xfrm>
              <a:off x="4392930" y="3863339"/>
              <a:ext cx="571500" cy="571500"/>
            </a:xfrm>
            <a:prstGeom prst="ellipse">
              <a:avLst/>
            </a:prstGeom>
            <a:solidFill>
              <a:srgbClr val="1B1D21"/>
            </a:solidFill>
            <a:ln w="19050">
              <a:solidFill>
                <a:srgbClr val="9AA0A6"/>
              </a:solidFill>
            </a:ln>
          </p:spPr>
          <p:txBody>
            <a:bodyPr rtlCol="0" anchor="ctr"/>
            <a:lstStyle/>
            <a:p>
              <a:pPr algn="ctr"/>
            </a:p>
          </p:txBody>
        </p:sp>
        <p:sp>
          <p:nvSpPr>
            <p:cNvPr id="25" name="hub"/>
            <p:cNvSpPr/>
            <p:nvPr/>
          </p:nvSpPr>
          <p:spPr>
            <a:xfrm>
              <a:off x="4610099" y="4080509"/>
              <a:ext cx="137160" cy="137160"/>
            </a:xfrm>
            <a:prstGeom prst="ellipse">
              <a:avLst/>
            </a:prstGeom>
            <a:solidFill>
              <a:srgbClr val="9AA0A6"/>
            </a:solidFill>
            <a:ln>
              <a:noFill/>
            </a:ln>
          </p:spPr>
          <p:txBody>
            <a:bodyPr rtlCol="0" anchor="ctr"/>
            <a:lstStyle/>
            <a:p>
              <a:pPr algn="ctr"/>
            </a:p>
          </p:txBody>
        </p:sp>
        <p:sp>
          <p:nvSpPr>
            <p:cNvPr id="26" name="wheel"/>
            <p:cNvSpPr/>
            <p:nvPr/>
          </p:nvSpPr>
          <p:spPr>
            <a:xfrm>
              <a:off x="5154930" y="3863339"/>
              <a:ext cx="571500" cy="571500"/>
            </a:xfrm>
            <a:prstGeom prst="ellipse">
              <a:avLst/>
            </a:prstGeom>
            <a:solidFill>
              <a:srgbClr val="1B1D21"/>
            </a:solidFill>
            <a:ln w="19050">
              <a:solidFill>
                <a:srgbClr val="9AA0A6"/>
              </a:solidFill>
            </a:ln>
          </p:spPr>
          <p:txBody>
            <a:bodyPr rtlCol="0" anchor="ctr"/>
            <a:lstStyle/>
            <a:p>
              <a:pPr algn="ctr"/>
            </a:p>
          </p:txBody>
        </p:sp>
        <p:sp>
          <p:nvSpPr>
            <p:cNvPr id="27" name="hub"/>
            <p:cNvSpPr/>
            <p:nvPr/>
          </p:nvSpPr>
          <p:spPr>
            <a:xfrm>
              <a:off x="5372100" y="4080509"/>
              <a:ext cx="137160" cy="137160"/>
            </a:xfrm>
            <a:prstGeom prst="ellipse">
              <a:avLst/>
            </a:prstGeom>
            <a:solidFill>
              <a:srgbClr val="9AA0A6"/>
            </a:solidFill>
            <a:ln>
              <a:noFill/>
            </a:ln>
          </p:spPr>
          <p:txBody>
            <a:bodyPr rtlCol="0" anchor="ctr"/>
            <a:lstStyle/>
            <a:p>
              <a:pPr algn="ctr"/>
            </a:p>
          </p:txBody>
        </p:sp>
        <p:sp>
          <p:nvSpPr>
            <p:cNvPr id="28" name="bunker"/>
            <p:cNvSpPr/>
            <p:nvPr/>
          </p:nvSpPr>
          <p:spPr>
            <a:xfrm>
              <a:off x="6858000" y="3215944"/>
              <a:ext cx="747064" cy="747064"/>
            </a:xfrm>
            <a:prstGeom prst="roundRect">
              <a:avLst>
                <a:gd name="adj" fmla="val 2631"/>
              </a:avLst>
            </a:prstGeom>
            <a:solidFill>
              <a:srgbClr val="F28C28"/>
            </a:solidFill>
            <a:ln>
              <a:noFill/>
            </a:ln>
          </p:spPr>
          <p:txBody>
            <a:bodyPr rtlCol="0" anchor="ctr"/>
            <a:lstStyle/>
            <a:p>
              <a:pPr algn="ctr"/>
            </a:p>
          </p:txBody>
        </p:sp>
        <p:sp>
          <p:nvSpPr>
            <p:cNvPr id="29" name="bunker coal"/>
            <p:cNvSpPr/>
            <p:nvPr/>
          </p:nvSpPr>
          <p:spPr>
            <a:xfrm>
              <a:off x="6936638" y="3078327"/>
              <a:ext cx="589788" cy="176936"/>
            </a:xfrm>
            <a:prstGeom prst="rect">
              <a:avLst/>
            </a:prstGeom>
            <a:solidFill>
              <a:srgbClr val="1B1D21"/>
            </a:solidFill>
            <a:ln w="12700">
              <a:solidFill>
                <a:srgbClr val="9AA0A6"/>
              </a:solidFill>
            </a:ln>
          </p:spPr>
          <p:txBody>
            <a:bodyPr rtlCol="0" anchor="ctr"/>
            <a:lstStyle/>
            <a:p>
              <a:pPr algn="ctr"/>
            </a:p>
          </p:txBody>
        </p:sp>
        <p:sp>
          <p:nvSpPr>
            <p:cNvPr id="30" name="cab"/>
            <p:cNvSpPr/>
            <p:nvPr/>
          </p:nvSpPr>
          <p:spPr>
            <a:xfrm>
              <a:off x="7565745" y="2862071"/>
              <a:ext cx="786384" cy="1100937"/>
            </a:xfrm>
            <a:prstGeom prst="roundRect">
              <a:avLst>
                <a:gd name="adj" fmla="val 2500"/>
              </a:avLst>
            </a:prstGeom>
            <a:solidFill>
              <a:srgbClr val="F28C28"/>
            </a:solidFill>
            <a:ln>
              <a:noFill/>
            </a:ln>
          </p:spPr>
          <p:txBody>
            <a:bodyPr rtlCol="0" anchor="ctr"/>
            <a:lstStyle/>
            <a:p>
              <a:pPr algn="ctr"/>
            </a:p>
          </p:txBody>
        </p:sp>
        <p:sp>
          <p:nvSpPr>
            <p:cNvPr id="31" name="cab roof"/>
            <p:cNvSpPr/>
            <p:nvPr/>
          </p:nvSpPr>
          <p:spPr>
            <a:xfrm>
              <a:off x="7526426" y="2803093"/>
              <a:ext cx="865022" cy="86502"/>
            </a:xfrm>
            <a:prstGeom prst="rect">
              <a:avLst/>
            </a:prstGeom>
            <a:solidFill>
              <a:srgbClr val="3A3F47"/>
            </a:solidFill>
            <a:ln w="9525">
              <a:solidFill>
                <a:srgbClr val="9AA0A6"/>
              </a:solidFill>
            </a:ln>
          </p:spPr>
          <p:txBody>
            <a:bodyPr rtlCol="0" anchor="ctr"/>
            <a:lstStyle/>
            <a:p>
              <a:pPr algn="ctr"/>
            </a:p>
          </p:txBody>
        </p:sp>
        <p:sp>
          <p:nvSpPr>
            <p:cNvPr id="32" name="cab window"/>
            <p:cNvSpPr/>
            <p:nvPr/>
          </p:nvSpPr>
          <p:spPr>
            <a:xfrm>
              <a:off x="7723022" y="3078327"/>
              <a:ext cx="471830" cy="353872"/>
            </a:xfrm>
            <a:prstGeom prst="rect">
              <a:avLst/>
            </a:prstGeom>
            <a:solidFill>
              <a:srgbClr val="1B1D21"/>
            </a:solidFill>
            <a:ln>
              <a:noFill/>
            </a:ln>
          </p:spPr>
          <p:txBody>
            <a:bodyPr rtlCol="0" anchor="ctr"/>
            <a:lstStyle/>
            <a:p>
              <a:pPr algn="ctr"/>
            </a:p>
          </p:txBody>
        </p:sp>
        <p:sp>
          <p:nvSpPr>
            <p:cNvPr id="33" name="boiler"/>
            <p:cNvSpPr/>
            <p:nvPr/>
          </p:nvSpPr>
          <p:spPr>
            <a:xfrm>
              <a:off x="8352129" y="3097987"/>
              <a:ext cx="2359152" cy="865022"/>
            </a:xfrm>
            <a:prstGeom prst="roundRect">
              <a:avLst>
                <a:gd name="adj" fmla="val 27272"/>
              </a:avLst>
            </a:prstGeom>
            <a:solidFill>
              <a:srgbClr val="F28C28"/>
            </a:solidFill>
            <a:ln>
              <a:noFill/>
            </a:ln>
          </p:spPr>
          <p:txBody>
            <a:bodyPr rtlCol="0" anchor="ctr"/>
            <a:lstStyle/>
            <a:p>
              <a:pPr algn="ctr"/>
            </a:p>
          </p:txBody>
        </p:sp>
        <p:sp>
          <p:nvSpPr>
            <p:cNvPr id="34" name="side tank"/>
            <p:cNvSpPr/>
            <p:nvPr/>
          </p:nvSpPr>
          <p:spPr>
            <a:xfrm>
              <a:off x="8391448" y="3373221"/>
              <a:ext cx="1808683" cy="589788"/>
            </a:xfrm>
            <a:prstGeom prst="roundRect">
              <a:avLst>
                <a:gd name="adj" fmla="val 13333"/>
              </a:avLst>
            </a:prstGeom>
            <a:solidFill>
              <a:srgbClr val="C96F1B"/>
            </a:solidFill>
            <a:ln>
              <a:noFill/>
            </a:ln>
          </p:spPr>
          <p:txBody>
            <a:bodyPr rtlCol="0" anchor="ctr"/>
            <a:lstStyle/>
            <a:p>
              <a:pPr algn="ctr"/>
            </a:p>
          </p:txBody>
        </p:sp>
        <p:sp>
          <p:nvSpPr>
            <p:cNvPr id="35" name="chimney"/>
            <p:cNvSpPr/>
            <p:nvPr/>
          </p:nvSpPr>
          <p:spPr>
            <a:xfrm>
              <a:off x="10200132" y="2744114"/>
              <a:ext cx="275234" cy="373532"/>
            </a:xfrm>
            <a:prstGeom prst="rect">
              <a:avLst/>
            </a:prstGeom>
            <a:solidFill>
              <a:srgbClr val="3A3F47"/>
            </a:solidFill>
            <a:ln w="9525">
              <a:solidFill>
                <a:srgbClr val="9AA0A6"/>
              </a:solidFill>
            </a:ln>
          </p:spPr>
          <p:txBody>
            <a:bodyPr rtlCol="0" anchor="ctr"/>
            <a:lstStyle/>
            <a:p>
              <a:pPr algn="ctr"/>
            </a:p>
          </p:txBody>
        </p:sp>
        <p:sp>
          <p:nvSpPr>
            <p:cNvPr id="36" name="chimney lip"/>
            <p:cNvSpPr/>
            <p:nvPr/>
          </p:nvSpPr>
          <p:spPr>
            <a:xfrm>
              <a:off x="10141153" y="2704795"/>
              <a:ext cx="393192" cy="78638"/>
            </a:xfrm>
            <a:prstGeom prst="rect">
              <a:avLst/>
            </a:prstGeom>
            <a:solidFill>
              <a:srgbClr val="3A3F47"/>
            </a:solidFill>
            <a:ln w="9525">
              <a:solidFill>
                <a:srgbClr val="9AA0A6"/>
              </a:solidFill>
            </a:ln>
          </p:spPr>
          <p:txBody>
            <a:bodyPr rtlCol="0" anchor="ctr"/>
            <a:lstStyle/>
            <a:p>
              <a:pPr algn="ctr"/>
            </a:p>
          </p:txBody>
        </p:sp>
        <p:sp>
          <p:nvSpPr>
            <p:cNvPr id="37" name="dome"/>
            <p:cNvSpPr/>
            <p:nvPr/>
          </p:nvSpPr>
          <p:spPr>
            <a:xfrm>
              <a:off x="10278770" y="3019348"/>
              <a:ext cx="393192" cy="98298"/>
            </a:xfrm>
            <a:prstGeom prst="roundRect">
              <a:avLst>
                <a:gd name="adj" fmla="val 50000"/>
              </a:avLst>
            </a:prstGeom>
            <a:solidFill>
              <a:srgbClr val="F28C28"/>
            </a:solidFill>
            <a:ln>
              <a:noFill/>
            </a:ln>
          </p:spPr>
          <p:txBody>
            <a:bodyPr rtlCol="0" anchor="ctr"/>
            <a:lstStyle/>
            <a:p>
              <a:pPr algn="ctr"/>
            </a:p>
          </p:txBody>
        </p:sp>
        <p:sp>
          <p:nvSpPr>
            <p:cNvPr id="38" name="frame"/>
            <p:cNvSpPr/>
            <p:nvPr/>
          </p:nvSpPr>
          <p:spPr>
            <a:xfrm>
              <a:off x="7565745" y="3963009"/>
              <a:ext cx="3145536" cy="117957"/>
            </a:xfrm>
            <a:prstGeom prst="rect">
              <a:avLst/>
            </a:prstGeom>
            <a:solidFill>
              <a:srgbClr val="3A3F47"/>
            </a:solidFill>
            <a:ln w="9525">
              <a:solidFill>
                <a:srgbClr val="9AA0A6"/>
              </a:solidFill>
            </a:ln>
          </p:spPr>
          <p:txBody>
            <a:bodyPr rtlCol="0" anchor="ctr"/>
            <a:lstStyle/>
            <a:p>
              <a:pPr algn="ctr"/>
            </a:p>
          </p:txBody>
        </p:sp>
        <p:sp>
          <p:nvSpPr>
            <p:cNvPr id="39" name="wheel"/>
            <p:cNvSpPr/>
            <p:nvPr/>
          </p:nvSpPr>
          <p:spPr>
            <a:xfrm>
              <a:off x="8057235" y="3845051"/>
              <a:ext cx="589788" cy="589788"/>
            </a:xfrm>
            <a:prstGeom prst="ellipse">
              <a:avLst/>
            </a:prstGeom>
            <a:solidFill>
              <a:srgbClr val="1B1D21"/>
            </a:solidFill>
            <a:ln w="19050">
              <a:solidFill>
                <a:srgbClr val="9AA0A6"/>
              </a:solidFill>
            </a:ln>
          </p:spPr>
          <p:txBody>
            <a:bodyPr rtlCol="0" anchor="ctr"/>
            <a:lstStyle/>
            <a:p>
              <a:pPr algn="ctr"/>
            </a:p>
          </p:txBody>
        </p:sp>
        <p:sp>
          <p:nvSpPr>
            <p:cNvPr id="40" name="hub"/>
            <p:cNvSpPr/>
            <p:nvPr/>
          </p:nvSpPr>
          <p:spPr>
            <a:xfrm>
              <a:off x="8281355" y="4069171"/>
              <a:ext cx="141549" cy="141549"/>
            </a:xfrm>
            <a:prstGeom prst="ellipse">
              <a:avLst/>
            </a:prstGeom>
            <a:solidFill>
              <a:srgbClr val="9AA0A6"/>
            </a:solidFill>
            <a:ln>
              <a:noFill/>
            </a:ln>
          </p:spPr>
          <p:txBody>
            <a:bodyPr rtlCol="0" anchor="ctr"/>
            <a:lstStyle/>
            <a:p>
              <a:pPr algn="ctr"/>
            </a:p>
          </p:txBody>
        </p:sp>
        <p:sp>
          <p:nvSpPr>
            <p:cNvPr id="41" name="wheel"/>
            <p:cNvSpPr/>
            <p:nvPr/>
          </p:nvSpPr>
          <p:spPr>
            <a:xfrm>
              <a:off x="8843619" y="3845051"/>
              <a:ext cx="589788" cy="589788"/>
            </a:xfrm>
            <a:prstGeom prst="ellipse">
              <a:avLst/>
            </a:prstGeom>
            <a:solidFill>
              <a:srgbClr val="1B1D21"/>
            </a:solidFill>
            <a:ln w="19050">
              <a:solidFill>
                <a:srgbClr val="9AA0A6"/>
              </a:solidFill>
            </a:ln>
          </p:spPr>
          <p:txBody>
            <a:bodyPr rtlCol="0" anchor="ctr"/>
            <a:lstStyle/>
            <a:p>
              <a:pPr algn="ctr"/>
            </a:p>
          </p:txBody>
        </p:sp>
        <p:sp>
          <p:nvSpPr>
            <p:cNvPr id="42" name="hub"/>
            <p:cNvSpPr/>
            <p:nvPr/>
          </p:nvSpPr>
          <p:spPr>
            <a:xfrm>
              <a:off x="9067739" y="4069171"/>
              <a:ext cx="141549" cy="141549"/>
            </a:xfrm>
            <a:prstGeom prst="ellipse">
              <a:avLst/>
            </a:prstGeom>
            <a:solidFill>
              <a:srgbClr val="9AA0A6"/>
            </a:solidFill>
            <a:ln>
              <a:noFill/>
            </a:ln>
          </p:spPr>
          <p:txBody>
            <a:bodyPr rtlCol="0" anchor="ctr"/>
            <a:lstStyle/>
            <a:p>
              <a:pPr algn="ctr"/>
            </a:p>
          </p:txBody>
        </p:sp>
        <p:sp>
          <p:nvSpPr>
            <p:cNvPr id="43" name="wheel"/>
            <p:cNvSpPr/>
            <p:nvPr/>
          </p:nvSpPr>
          <p:spPr>
            <a:xfrm>
              <a:off x="9630003" y="3845051"/>
              <a:ext cx="589788" cy="589788"/>
            </a:xfrm>
            <a:prstGeom prst="ellipse">
              <a:avLst/>
            </a:prstGeom>
            <a:solidFill>
              <a:srgbClr val="1B1D21"/>
            </a:solidFill>
            <a:ln w="19050">
              <a:solidFill>
                <a:srgbClr val="9AA0A6"/>
              </a:solidFill>
            </a:ln>
          </p:spPr>
          <p:txBody>
            <a:bodyPr rtlCol="0" anchor="ctr"/>
            <a:lstStyle/>
            <a:p>
              <a:pPr algn="ctr"/>
            </a:p>
          </p:txBody>
        </p:sp>
        <p:sp>
          <p:nvSpPr>
            <p:cNvPr id="44" name="hub"/>
            <p:cNvSpPr/>
            <p:nvPr/>
          </p:nvSpPr>
          <p:spPr>
            <a:xfrm>
              <a:off x="9854123" y="4069171"/>
              <a:ext cx="141549" cy="141549"/>
            </a:xfrm>
            <a:prstGeom prst="ellipse">
              <a:avLst/>
            </a:prstGeom>
            <a:solidFill>
              <a:srgbClr val="9AA0A6"/>
            </a:solidFill>
            <a:ln>
              <a:noFill/>
            </a:ln>
          </p:spPr>
          <p:txBody>
            <a:bodyPr rtlCol="0" anchor="ctr"/>
            <a:lstStyle/>
            <a:p>
              <a:pPr algn="ctr"/>
            </a:p>
          </p:txBody>
        </p:sp>
        <p:cxnSp>
          <p:nvCxnSpPr>
            <p:cNvPr id="45" name="gantry post"/>
            <p:cNvCxnSpPr/>
            <p:nvPr/>
          </p:nvCxnSpPr>
          <p:spPr>
            <a:xfrm>
              <a:off x="914400" y="2331720"/>
              <a:ext cx="0" cy="2103120"/>
            </a:xfrm>
            <a:prstGeom prst="line">
              <a:avLst/>
            </a:prstGeom>
            <a:ln w="76200">
              <a:solidFill>
                <a:srgbClr val="9AA0A6"/>
              </a:solidFill>
            </a:ln>
          </p:spPr>
        </p:cxnSp>
        <p:cxnSp>
          <p:nvCxnSpPr>
            <p:cNvPr id="46" name="gantry beam"/>
            <p:cNvCxnSpPr/>
            <p:nvPr/>
          </p:nvCxnSpPr>
          <p:spPr>
            <a:xfrm>
              <a:off x="914400" y="2331720"/>
              <a:ext cx="2560320" cy="0"/>
            </a:xfrm>
            <a:prstGeom prst="line">
              <a:avLst/>
            </a:prstGeom>
            <a:ln w="76200">
              <a:solidFill>
                <a:srgbClr val="9AA0A6"/>
              </a:solidFill>
            </a:ln>
          </p:spPr>
        </p:cxnSp>
        <p:cxnSp>
          <p:nvCxnSpPr>
            <p:cNvPr id="47" name="machinery arm"/>
            <p:cNvCxnSpPr/>
            <p:nvPr/>
          </p:nvCxnSpPr>
          <p:spPr>
            <a:xfrm>
              <a:off x="1935480" y="2331720"/>
              <a:ext cx="0" cy="766572"/>
            </a:xfrm>
            <a:prstGeom prst="line">
              <a:avLst/>
            </a:prstGeom>
            <a:ln w="63500">
              <a:solidFill>
                <a:srgbClr val="9AA0A6"/>
              </a:solidFill>
            </a:ln>
          </p:spPr>
        </p:cxnSp>
        <p:sp>
          <p:nvSpPr>
            <p:cNvPr id="48" name="crosshair ring"/>
            <p:cNvSpPr/>
            <p:nvPr/>
          </p:nvSpPr>
          <p:spPr>
            <a:xfrm>
              <a:off x="1780032" y="3098292"/>
              <a:ext cx="310896" cy="310896"/>
            </a:xfrm>
            <a:prstGeom prst="ellipse">
              <a:avLst/>
            </a:prstGeom>
            <a:noFill/>
            <a:ln w="76200">
              <a:solidFill>
                <a:srgbClr val="101418"/>
              </a:solidFill>
            </a:ln>
          </p:spPr>
          <p:txBody>
            <a:bodyPr rtlCol="0" anchor="ctr"/>
            <a:lstStyle/>
            <a:p>
              <a:pPr algn="ctr"/>
            </a:p>
          </p:txBody>
        </p:sp>
        <p:cxnSp>
          <p:nvCxnSpPr>
            <p:cNvPr id="49" name="crosshair"/>
            <p:cNvCxnSpPr/>
            <p:nvPr/>
          </p:nvCxnSpPr>
          <p:spPr>
            <a:xfrm>
              <a:off x="1686763" y="3253740"/>
              <a:ext cx="497433" cy="0"/>
            </a:xfrm>
            <a:prstGeom prst="line">
              <a:avLst/>
            </a:prstGeom>
            <a:ln w="60960">
              <a:solidFill>
                <a:srgbClr val="101418"/>
              </a:solidFill>
            </a:ln>
          </p:spPr>
        </p:cxnSp>
        <p:cxnSp>
          <p:nvCxnSpPr>
            <p:cNvPr id="50" name="crosshair"/>
            <p:cNvCxnSpPr/>
            <p:nvPr/>
          </p:nvCxnSpPr>
          <p:spPr>
            <a:xfrm>
              <a:off x="1935480" y="3005023"/>
              <a:ext cx="0" cy="497433"/>
            </a:xfrm>
            <a:prstGeom prst="line">
              <a:avLst/>
            </a:prstGeom>
            <a:ln w="60960">
              <a:solidFill>
                <a:srgbClr val="101418"/>
              </a:solidFill>
            </a:ln>
          </p:spPr>
        </p:cxnSp>
        <p:sp>
          <p:nvSpPr>
            <p:cNvPr id="51" name="crosshair ring"/>
            <p:cNvSpPr/>
            <p:nvPr/>
          </p:nvSpPr>
          <p:spPr>
            <a:xfrm>
              <a:off x="1780032" y="3098292"/>
              <a:ext cx="310896" cy="310896"/>
            </a:xfrm>
            <a:prstGeom prst="ellipse">
              <a:avLst/>
            </a:prstGeom>
            <a:noFill/>
            <a:ln w="31750">
              <a:solidFill>
                <a:srgbClr val="F2F2F2"/>
              </a:solidFill>
            </a:ln>
          </p:spPr>
          <p:txBody>
            <a:bodyPr rtlCol="0" anchor="ctr"/>
            <a:lstStyle/>
            <a:p>
              <a:pPr algn="ctr"/>
            </a:p>
          </p:txBody>
        </p:sp>
        <p:cxnSp>
          <p:nvCxnSpPr>
            <p:cNvPr id="52" name="crosshair"/>
            <p:cNvCxnSpPr/>
            <p:nvPr/>
          </p:nvCxnSpPr>
          <p:spPr>
            <a:xfrm>
              <a:off x="1686763" y="3253740"/>
              <a:ext cx="497433" cy="0"/>
            </a:xfrm>
            <a:prstGeom prst="line">
              <a:avLst/>
            </a:prstGeom>
            <a:ln w="25400">
              <a:solidFill>
                <a:srgbClr val="F2F2F2"/>
              </a:solidFill>
            </a:ln>
          </p:spPr>
        </p:cxnSp>
        <p:cxnSp>
          <p:nvCxnSpPr>
            <p:cNvPr id="53" name="crosshair"/>
            <p:cNvCxnSpPr/>
            <p:nvPr/>
          </p:nvCxnSpPr>
          <p:spPr>
            <a:xfrm>
              <a:off x="1935480" y="3005023"/>
              <a:ext cx="0" cy="497433"/>
            </a:xfrm>
            <a:prstGeom prst="line">
              <a:avLst/>
            </a:prstGeom>
            <a:ln w="25400">
              <a:solidFill>
                <a:srgbClr val="F2F2F2"/>
              </a:solidFill>
            </a:ln>
          </p:spPr>
        </p:cxnSp>
        <p:cxnSp>
          <p:nvCxnSpPr>
            <p:cNvPr id="54" name="machinery arm"/>
            <p:cNvCxnSpPr/>
            <p:nvPr/>
          </p:nvCxnSpPr>
          <p:spPr>
            <a:xfrm>
              <a:off x="2468880" y="2331720"/>
              <a:ext cx="0" cy="633222"/>
            </a:xfrm>
            <a:prstGeom prst="line">
              <a:avLst/>
            </a:prstGeom>
            <a:ln w="63500">
              <a:solidFill>
                <a:srgbClr val="9AA0A6"/>
              </a:solidFill>
            </a:ln>
          </p:spPr>
        </p:cxnSp>
        <p:sp>
          <p:nvSpPr>
            <p:cNvPr id="55" name="crosshair ring"/>
            <p:cNvSpPr/>
            <p:nvPr/>
          </p:nvSpPr>
          <p:spPr>
            <a:xfrm>
              <a:off x="2313432" y="2964942"/>
              <a:ext cx="310896" cy="310896"/>
            </a:xfrm>
            <a:prstGeom prst="ellipse">
              <a:avLst/>
            </a:prstGeom>
            <a:noFill/>
            <a:ln w="76200">
              <a:solidFill>
                <a:srgbClr val="101418"/>
              </a:solidFill>
            </a:ln>
          </p:spPr>
          <p:txBody>
            <a:bodyPr rtlCol="0" anchor="ctr"/>
            <a:lstStyle/>
            <a:p>
              <a:pPr algn="ctr"/>
            </a:p>
          </p:txBody>
        </p:sp>
        <p:cxnSp>
          <p:nvCxnSpPr>
            <p:cNvPr id="56" name="crosshair"/>
            <p:cNvCxnSpPr/>
            <p:nvPr/>
          </p:nvCxnSpPr>
          <p:spPr>
            <a:xfrm>
              <a:off x="2220163" y="3120390"/>
              <a:ext cx="497433" cy="0"/>
            </a:xfrm>
            <a:prstGeom prst="line">
              <a:avLst/>
            </a:prstGeom>
            <a:ln w="60960">
              <a:solidFill>
                <a:srgbClr val="101418"/>
              </a:solidFill>
            </a:ln>
          </p:spPr>
        </p:cxnSp>
        <p:cxnSp>
          <p:nvCxnSpPr>
            <p:cNvPr id="57" name="crosshair"/>
            <p:cNvCxnSpPr/>
            <p:nvPr/>
          </p:nvCxnSpPr>
          <p:spPr>
            <a:xfrm>
              <a:off x="2468880" y="2871673"/>
              <a:ext cx="0" cy="497433"/>
            </a:xfrm>
            <a:prstGeom prst="line">
              <a:avLst/>
            </a:prstGeom>
            <a:ln w="60960">
              <a:solidFill>
                <a:srgbClr val="101418"/>
              </a:solidFill>
            </a:ln>
          </p:spPr>
        </p:cxnSp>
        <p:sp>
          <p:nvSpPr>
            <p:cNvPr id="58" name="crosshair ring"/>
            <p:cNvSpPr/>
            <p:nvPr/>
          </p:nvSpPr>
          <p:spPr>
            <a:xfrm>
              <a:off x="2313432" y="2964942"/>
              <a:ext cx="310896" cy="310896"/>
            </a:xfrm>
            <a:prstGeom prst="ellipse">
              <a:avLst/>
            </a:prstGeom>
            <a:noFill/>
            <a:ln w="31750">
              <a:solidFill>
                <a:srgbClr val="F2F2F2"/>
              </a:solidFill>
            </a:ln>
          </p:spPr>
          <p:txBody>
            <a:bodyPr rtlCol="0" anchor="ctr"/>
            <a:lstStyle/>
            <a:p>
              <a:pPr algn="ctr"/>
            </a:p>
          </p:txBody>
        </p:sp>
        <p:cxnSp>
          <p:nvCxnSpPr>
            <p:cNvPr id="59" name="crosshair"/>
            <p:cNvCxnSpPr/>
            <p:nvPr/>
          </p:nvCxnSpPr>
          <p:spPr>
            <a:xfrm>
              <a:off x="2220163" y="3120390"/>
              <a:ext cx="497433" cy="0"/>
            </a:xfrm>
            <a:prstGeom prst="line">
              <a:avLst/>
            </a:prstGeom>
            <a:ln w="25400">
              <a:solidFill>
                <a:srgbClr val="F2F2F2"/>
              </a:solidFill>
            </a:ln>
          </p:spPr>
        </p:cxnSp>
        <p:cxnSp>
          <p:nvCxnSpPr>
            <p:cNvPr id="60" name="crosshair"/>
            <p:cNvCxnSpPr/>
            <p:nvPr/>
          </p:nvCxnSpPr>
          <p:spPr>
            <a:xfrm>
              <a:off x="2468880" y="2871673"/>
              <a:ext cx="0" cy="497433"/>
            </a:xfrm>
            <a:prstGeom prst="line">
              <a:avLst/>
            </a:prstGeom>
            <a:ln w="25400">
              <a:solidFill>
                <a:srgbClr val="F2F2F2"/>
              </a:solidFill>
            </a:ln>
          </p:spPr>
        </p:cxnSp>
        <p:cxnSp>
          <p:nvCxnSpPr>
            <p:cNvPr id="61" name="gantry post"/>
            <p:cNvCxnSpPr/>
            <p:nvPr/>
          </p:nvCxnSpPr>
          <p:spPr>
            <a:xfrm>
              <a:off x="6400800" y="2331720"/>
              <a:ext cx="0" cy="2103120"/>
            </a:xfrm>
            <a:prstGeom prst="line">
              <a:avLst/>
            </a:prstGeom>
            <a:ln w="76200">
              <a:solidFill>
                <a:srgbClr val="9AA0A6"/>
              </a:solidFill>
            </a:ln>
          </p:spPr>
        </p:cxnSp>
        <p:cxnSp>
          <p:nvCxnSpPr>
            <p:cNvPr id="62" name="gantry beam"/>
            <p:cNvCxnSpPr/>
            <p:nvPr/>
          </p:nvCxnSpPr>
          <p:spPr>
            <a:xfrm>
              <a:off x="6400800" y="2331720"/>
              <a:ext cx="3108960" cy="0"/>
            </a:xfrm>
            <a:prstGeom prst="line">
              <a:avLst/>
            </a:prstGeom>
            <a:ln w="76200">
              <a:solidFill>
                <a:srgbClr val="9AA0A6"/>
              </a:solidFill>
            </a:ln>
          </p:spPr>
        </p:cxnSp>
        <p:cxnSp>
          <p:nvCxnSpPr>
            <p:cNvPr id="63" name="machinery arm"/>
            <p:cNvCxnSpPr/>
            <p:nvPr/>
          </p:nvCxnSpPr>
          <p:spPr>
            <a:xfrm>
              <a:off x="8981236" y="2331720"/>
              <a:ext cx="0" cy="886053"/>
            </a:xfrm>
            <a:prstGeom prst="line">
              <a:avLst/>
            </a:prstGeom>
            <a:ln w="63500">
              <a:solidFill>
                <a:srgbClr val="9AA0A6"/>
              </a:solidFill>
            </a:ln>
          </p:spPr>
        </p:cxnSp>
        <p:sp>
          <p:nvSpPr>
            <p:cNvPr id="64" name="crosshair ring"/>
            <p:cNvSpPr/>
            <p:nvPr/>
          </p:nvSpPr>
          <p:spPr>
            <a:xfrm>
              <a:off x="8825788" y="3217773"/>
              <a:ext cx="310896" cy="310896"/>
            </a:xfrm>
            <a:prstGeom prst="ellipse">
              <a:avLst/>
            </a:prstGeom>
            <a:noFill/>
            <a:ln w="76200">
              <a:solidFill>
                <a:srgbClr val="101418"/>
              </a:solidFill>
            </a:ln>
          </p:spPr>
          <p:txBody>
            <a:bodyPr rtlCol="0" anchor="ctr"/>
            <a:lstStyle/>
            <a:p>
              <a:pPr algn="ctr"/>
            </a:p>
          </p:txBody>
        </p:sp>
        <p:cxnSp>
          <p:nvCxnSpPr>
            <p:cNvPr id="65" name="crosshair"/>
            <p:cNvCxnSpPr/>
            <p:nvPr/>
          </p:nvCxnSpPr>
          <p:spPr>
            <a:xfrm>
              <a:off x="8732519" y="3373221"/>
              <a:ext cx="497434" cy="0"/>
            </a:xfrm>
            <a:prstGeom prst="line">
              <a:avLst/>
            </a:prstGeom>
            <a:ln w="60960">
              <a:solidFill>
                <a:srgbClr val="101418"/>
              </a:solidFill>
            </a:ln>
          </p:spPr>
        </p:cxnSp>
        <p:cxnSp>
          <p:nvCxnSpPr>
            <p:cNvPr id="66" name="crosshair"/>
            <p:cNvCxnSpPr/>
            <p:nvPr/>
          </p:nvCxnSpPr>
          <p:spPr>
            <a:xfrm>
              <a:off x="8981236" y="3124504"/>
              <a:ext cx="0" cy="497434"/>
            </a:xfrm>
            <a:prstGeom prst="line">
              <a:avLst/>
            </a:prstGeom>
            <a:ln w="60960">
              <a:solidFill>
                <a:srgbClr val="101418"/>
              </a:solidFill>
            </a:ln>
          </p:spPr>
        </p:cxnSp>
        <p:sp>
          <p:nvSpPr>
            <p:cNvPr id="67" name="crosshair ring"/>
            <p:cNvSpPr/>
            <p:nvPr/>
          </p:nvSpPr>
          <p:spPr>
            <a:xfrm>
              <a:off x="8825788" y="3217773"/>
              <a:ext cx="310896" cy="310896"/>
            </a:xfrm>
            <a:prstGeom prst="ellipse">
              <a:avLst/>
            </a:prstGeom>
            <a:noFill/>
            <a:ln w="31750">
              <a:solidFill>
                <a:srgbClr val="F2F2F2"/>
              </a:solidFill>
            </a:ln>
          </p:spPr>
          <p:txBody>
            <a:bodyPr rtlCol="0" anchor="ctr"/>
            <a:lstStyle/>
            <a:p>
              <a:pPr algn="ctr"/>
            </a:p>
          </p:txBody>
        </p:sp>
        <p:cxnSp>
          <p:nvCxnSpPr>
            <p:cNvPr id="68" name="crosshair"/>
            <p:cNvCxnSpPr/>
            <p:nvPr/>
          </p:nvCxnSpPr>
          <p:spPr>
            <a:xfrm>
              <a:off x="8732519" y="3373221"/>
              <a:ext cx="497434" cy="0"/>
            </a:xfrm>
            <a:prstGeom prst="line">
              <a:avLst/>
            </a:prstGeom>
            <a:ln w="25400">
              <a:solidFill>
                <a:srgbClr val="F2F2F2"/>
              </a:solidFill>
            </a:ln>
          </p:spPr>
        </p:cxnSp>
        <p:cxnSp>
          <p:nvCxnSpPr>
            <p:cNvPr id="69" name="crosshair"/>
            <p:cNvCxnSpPr/>
            <p:nvPr/>
          </p:nvCxnSpPr>
          <p:spPr>
            <a:xfrm>
              <a:off x="8981236" y="3124504"/>
              <a:ext cx="0" cy="497434"/>
            </a:xfrm>
            <a:prstGeom prst="line">
              <a:avLst/>
            </a:prstGeom>
            <a:ln w="25400">
              <a:solidFill>
                <a:srgbClr val="F2F2F2"/>
              </a:solidFill>
            </a:ln>
          </p:spPr>
        </p:cxnSp>
        <p:cxnSp>
          <p:nvCxnSpPr>
            <p:cNvPr id="70" name="machinery arm"/>
            <p:cNvCxnSpPr/>
            <p:nvPr/>
          </p:nvCxnSpPr>
          <p:spPr>
            <a:xfrm>
              <a:off x="7231532" y="2331720"/>
              <a:ext cx="0" cy="591159"/>
            </a:xfrm>
            <a:prstGeom prst="line">
              <a:avLst/>
            </a:prstGeom>
            <a:ln w="63500">
              <a:solidFill>
                <a:srgbClr val="9AA0A6"/>
              </a:solidFill>
            </a:ln>
          </p:spPr>
        </p:cxnSp>
        <p:sp>
          <p:nvSpPr>
            <p:cNvPr id="71" name="crosshair ring"/>
            <p:cNvSpPr/>
            <p:nvPr/>
          </p:nvSpPr>
          <p:spPr>
            <a:xfrm>
              <a:off x="7076084" y="2922879"/>
              <a:ext cx="310896" cy="310896"/>
            </a:xfrm>
            <a:prstGeom prst="ellipse">
              <a:avLst/>
            </a:prstGeom>
            <a:noFill/>
            <a:ln w="76200">
              <a:solidFill>
                <a:srgbClr val="101418"/>
              </a:solidFill>
            </a:ln>
          </p:spPr>
          <p:txBody>
            <a:bodyPr rtlCol="0" anchor="ctr"/>
            <a:lstStyle/>
            <a:p>
              <a:pPr algn="ctr"/>
            </a:p>
          </p:txBody>
        </p:sp>
        <p:cxnSp>
          <p:nvCxnSpPr>
            <p:cNvPr id="72" name="crosshair"/>
            <p:cNvCxnSpPr/>
            <p:nvPr/>
          </p:nvCxnSpPr>
          <p:spPr>
            <a:xfrm>
              <a:off x="6982815" y="3078327"/>
              <a:ext cx="497434" cy="0"/>
            </a:xfrm>
            <a:prstGeom prst="line">
              <a:avLst/>
            </a:prstGeom>
            <a:ln w="60960">
              <a:solidFill>
                <a:srgbClr val="101418"/>
              </a:solidFill>
            </a:ln>
          </p:spPr>
        </p:cxnSp>
        <p:cxnSp>
          <p:nvCxnSpPr>
            <p:cNvPr id="73" name="crosshair"/>
            <p:cNvCxnSpPr/>
            <p:nvPr/>
          </p:nvCxnSpPr>
          <p:spPr>
            <a:xfrm>
              <a:off x="7231532" y="2829610"/>
              <a:ext cx="0" cy="497434"/>
            </a:xfrm>
            <a:prstGeom prst="line">
              <a:avLst/>
            </a:prstGeom>
            <a:ln w="60960">
              <a:solidFill>
                <a:srgbClr val="101418"/>
              </a:solidFill>
            </a:ln>
          </p:spPr>
        </p:cxnSp>
        <p:sp>
          <p:nvSpPr>
            <p:cNvPr id="74" name="crosshair ring"/>
            <p:cNvSpPr/>
            <p:nvPr/>
          </p:nvSpPr>
          <p:spPr>
            <a:xfrm>
              <a:off x="7076084" y="2922879"/>
              <a:ext cx="310896" cy="310896"/>
            </a:xfrm>
            <a:prstGeom prst="ellipse">
              <a:avLst/>
            </a:prstGeom>
            <a:noFill/>
            <a:ln w="31750">
              <a:solidFill>
                <a:srgbClr val="F2F2F2"/>
              </a:solidFill>
            </a:ln>
          </p:spPr>
          <p:txBody>
            <a:bodyPr rtlCol="0" anchor="ctr"/>
            <a:lstStyle/>
            <a:p>
              <a:pPr algn="ctr"/>
            </a:p>
          </p:txBody>
        </p:sp>
        <p:cxnSp>
          <p:nvCxnSpPr>
            <p:cNvPr id="75" name="crosshair"/>
            <p:cNvCxnSpPr/>
            <p:nvPr/>
          </p:nvCxnSpPr>
          <p:spPr>
            <a:xfrm>
              <a:off x="6982815" y="3078327"/>
              <a:ext cx="497434" cy="0"/>
            </a:xfrm>
            <a:prstGeom prst="line">
              <a:avLst/>
            </a:prstGeom>
            <a:ln w="25400">
              <a:solidFill>
                <a:srgbClr val="F2F2F2"/>
              </a:solidFill>
            </a:ln>
          </p:spPr>
        </p:cxnSp>
        <p:cxnSp>
          <p:nvCxnSpPr>
            <p:cNvPr id="76" name="crosshair"/>
            <p:cNvCxnSpPr/>
            <p:nvPr/>
          </p:nvCxnSpPr>
          <p:spPr>
            <a:xfrm>
              <a:off x="7231532" y="2829610"/>
              <a:ext cx="0" cy="497434"/>
            </a:xfrm>
            <a:prstGeom prst="line">
              <a:avLst/>
            </a:prstGeom>
            <a:ln w="25400">
              <a:solidFill>
                <a:srgbClr val="F2F2F2"/>
              </a:solidFill>
            </a:ln>
          </p:spPr>
        </p:cxnSp>
        <p:sp>
          <p:nvSpPr>
            <p:cNvPr id="77" name="target label"/>
            <p:cNvSpPr txBox="1"/>
            <p:nvPr/>
          </p:nvSpPr>
          <p:spPr>
            <a:xfrm>
              <a:off x="518160" y="1874519"/>
              <a:ext cx="1417320" cy="365760"/>
            </a:xfrm>
            <a:prstGeom prst="rect">
              <a:avLst/>
            </a:prstGeom>
            <a:noFill/>
          </p:spPr>
          <p:txBody>
            <a:bodyPr wrap="square" anchor="ctr" lIns="18288" tIns="9144" rIns="18288" bIns="9144">
              <a:noAutofit/>
            </a:bodyPr>
            <a:lstStyle/>
            <a:p>
              <a:pPr algn="r"/>
              <a:r>
                <a:rPr sz="1400" b="1" i="0" lang="en-GB">
                  <a:solidFill>
                    <a:srgbClr val="F28C28"/>
                  </a:solidFill>
                  <a:latin typeface="Arial"/>
                </a:rPr>
                <a:t>Water hatch</a:t>
              </a:r>
            </a:p>
          </p:txBody>
        </p:sp>
        <p:sp>
          <p:nvSpPr>
            <p:cNvPr id="78" name="target label"/>
            <p:cNvSpPr txBox="1"/>
            <p:nvPr/>
          </p:nvSpPr>
          <p:spPr>
            <a:xfrm>
              <a:off x="2560320" y="1874519"/>
              <a:ext cx="1371600" cy="365760"/>
            </a:xfrm>
            <a:prstGeom prst="rect">
              <a:avLst/>
            </a:prstGeom>
            <a:noFill/>
          </p:spPr>
          <p:txBody>
            <a:bodyPr wrap="square" anchor="ctr" lIns="18288" tIns="9144" rIns="18288" bIns="9144">
              <a:noAutofit/>
            </a:bodyPr>
            <a:lstStyle/>
            <a:p>
              <a:pPr algn="l"/>
              <a:r>
                <a:rPr sz="1400" b="1" i="0" lang="en-GB">
                  <a:solidFill>
                    <a:srgbClr val="F28C28"/>
                  </a:solidFill>
                  <a:latin typeface="Arial"/>
                </a:rPr>
                <a:t>Coal point</a:t>
              </a:r>
            </a:p>
          </p:txBody>
        </p:sp>
        <p:sp>
          <p:nvSpPr>
            <p:cNvPr id="79" name="target label"/>
            <p:cNvSpPr txBox="1"/>
            <p:nvPr/>
          </p:nvSpPr>
          <p:spPr>
            <a:xfrm>
              <a:off x="6545732" y="1874519"/>
              <a:ext cx="1371600" cy="365760"/>
            </a:xfrm>
            <a:prstGeom prst="rect">
              <a:avLst/>
            </a:prstGeom>
            <a:noFill/>
          </p:spPr>
          <p:txBody>
            <a:bodyPr wrap="square" anchor="ctr" lIns="18288" tIns="9144" rIns="18288" bIns="9144">
              <a:noAutofit/>
            </a:bodyPr>
            <a:lstStyle/>
            <a:p>
              <a:pPr algn="ctr"/>
              <a:r>
                <a:rPr sz="1400" b="1" i="0" lang="en-GB">
                  <a:solidFill>
                    <a:srgbClr val="F28C28"/>
                  </a:solidFill>
                  <a:latin typeface="Arial"/>
                </a:rPr>
                <a:t>Coal point</a:t>
              </a:r>
            </a:p>
          </p:txBody>
        </p:sp>
        <p:sp>
          <p:nvSpPr>
            <p:cNvPr id="80" name="target label"/>
            <p:cNvSpPr txBox="1"/>
            <p:nvPr/>
          </p:nvSpPr>
          <p:spPr>
            <a:xfrm>
              <a:off x="8295436" y="1874519"/>
              <a:ext cx="1371600" cy="365760"/>
            </a:xfrm>
            <a:prstGeom prst="rect">
              <a:avLst/>
            </a:prstGeom>
            <a:noFill/>
          </p:spPr>
          <p:txBody>
            <a:bodyPr wrap="square" anchor="ctr" lIns="18288" tIns="9144" rIns="18288" bIns="9144">
              <a:noAutofit/>
            </a:bodyPr>
            <a:lstStyle/>
            <a:p>
              <a:pPr algn="ctr"/>
              <a:r>
                <a:rPr sz="1400" b="1" i="0" lang="en-GB">
                  <a:solidFill>
                    <a:srgbClr val="F28C28"/>
                  </a:solidFill>
                  <a:latin typeface="Arial"/>
                </a:rPr>
                <a:t>Water hatch</a:t>
              </a:r>
            </a:p>
          </p:txBody>
        </p:sp>
        <p:sp>
          <p:nvSpPr>
            <p:cNvPr id="81" name="engine label"/>
            <p:cNvSpPr txBox="1"/>
            <p:nvPr/>
          </p:nvSpPr>
          <p:spPr>
            <a:xfrm>
              <a:off x="1554480" y="4507992"/>
              <a:ext cx="4572000" cy="320040"/>
            </a:xfrm>
            <a:prstGeom prst="rect">
              <a:avLst/>
            </a:prstGeom>
            <a:noFill/>
          </p:spPr>
          <p:txBody>
            <a:bodyPr wrap="square" anchor="ctr" lIns="18288" tIns="9144" rIns="18288" bIns="9144">
              <a:noAutofit/>
            </a:bodyPr>
            <a:lstStyle/>
            <a:p>
              <a:pPr algn="ctr"/>
              <a:r>
                <a:rPr sz="1400" b="1" i="0" lang="en-GB">
                  <a:solidFill>
                    <a:srgbClr val="F2F2F2"/>
                  </a:solidFill>
                  <a:latin typeface="Arial"/>
                </a:rPr>
                <a:t>Tender engine</a:t>
              </a:r>
            </a:p>
          </p:txBody>
        </p:sp>
        <p:sp>
          <p:nvSpPr>
            <p:cNvPr id="82" name="engine label"/>
            <p:cNvSpPr txBox="1"/>
            <p:nvPr/>
          </p:nvSpPr>
          <p:spPr>
            <a:xfrm>
              <a:off x="6858000" y="4507992"/>
              <a:ext cx="3931920" cy="320040"/>
            </a:xfrm>
            <a:prstGeom prst="rect">
              <a:avLst/>
            </a:prstGeom>
            <a:noFill/>
          </p:spPr>
          <p:txBody>
            <a:bodyPr wrap="square" anchor="ctr" lIns="18288" tIns="9144" rIns="18288" bIns="9144">
              <a:noAutofit/>
            </a:bodyPr>
            <a:lstStyle/>
            <a:p>
              <a:pPr algn="ctr"/>
              <a:r>
                <a:rPr sz="1400" b="1" i="0" lang="en-GB">
                  <a:solidFill>
                    <a:srgbClr val="F2F2F2"/>
                  </a:solidFill>
                  <a:latin typeface="Arial"/>
                </a:rPr>
                <a:t>Tank engine</a:t>
              </a:r>
            </a:p>
          </p:txBody>
        </p:sp>
        <p:sp>
          <p:nvSpPr>
            <p:cNvPr id="83" name="ICHIP"/>
            <p:cNvSpPr/>
            <p:nvPr/>
          </p:nvSpPr>
          <p:spPr>
            <a:xfrm>
              <a:off x="548640" y="5074920"/>
              <a:ext cx="128016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84" name="target list"/>
            <p:cNvSpPr txBox="1"/>
            <p:nvPr/>
          </p:nvSpPr>
          <p:spPr>
            <a:xfrm>
              <a:off x="1965960" y="4956048"/>
              <a:ext cx="9646920" cy="685800"/>
            </a:xfrm>
            <a:prstGeom prst="rect">
              <a:avLst/>
            </a:prstGeom>
            <a:noFill/>
          </p:spPr>
          <p:txBody>
            <a:bodyPr wrap="square" anchor="ctr" lIns="18288" tIns="9144" rIns="18288" bIns="9144">
              <a:noAutofit/>
            </a:bodyPr>
            <a:lstStyle/>
            <a:p>
              <a:pPr algn="l"/>
              <a:r>
                <a:rPr sz="1600" b="0" i="0" lang="en-GB">
                  <a:solidFill>
                    <a:srgbClr val="F2F2F2"/>
                  </a:solidFill>
                  <a:latin typeface="Arial"/>
                </a:rPr>
                <a:t>Target points: water, coal, exhaust, front coupler, rear coupler, cab. Names are suggestions.</a:t>
              </a:r>
            </a:p>
          </p:txBody>
        </p:sp>
      </p:grpSp>
      <p:sp>
        <p:nvSpPr>
          <p:cNvPr id="85"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86"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87"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Every engine model has its own hatches. The machinery finds them.</a:t>
            </a:r>
          </a:p>
        </p:txBody>
      </p:sp>
      <p:sp>
        <p:nvSpPr>
          <p:cNvPr id="88"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126"/>
        </a:solidFill>
        <a:effectLst/>
      </p:bgPr>
    </p:bg>
    <p:spTree>
      <p:nvGrpSpPr>
        <p:cNvPr id="1" name=""/>
        <p:cNvGrpSpPr/>
        <p:nvPr/>
      </p:nvGrpSpPr>
      <p:grpSpPr/>
      <p:sp>
        <p:nvSpPr>
          <p:cNvPr id="2" name="TITLE"/>
          <p:cNvSpPr>
            <a:spLocks noGrp="1"/>
          </p:cNvSpPr>
          <p:nvPr>
            <p:ph type="title"/>
          </p:nvPr>
        </p:nvSpPr>
        <p:spPr>
          <a:xfrm>
            <a:off x="548640" y="365760"/>
            <a:ext cx="9326880" cy="731520"/>
          </a:xfrm>
        </p:spPr>
        <p:txBody>
          <a:bodyPr wrap="square" anchor="ctr" lIns="0" rIns="0" tIns="0" bIns="0">
            <a:noAutofit/>
          </a:bodyPr>
          <a:lstStyle/>
          <a:p>
            <a:pPr algn="l"/>
            <a:r>
              <a:rPr sz="3600" b="1" i="0" lang="en-GB">
                <a:solidFill>
                  <a:srgbClr val="F2F2F2"/>
                </a:solidFill>
                <a:latin typeface="Arial"/>
              </a:rPr>
              <a:t>How long does it take?</a:t>
            </a:r>
          </a:p>
        </p:txBody>
      </p:sp>
      <p:sp>
        <p:nvSpPr>
          <p:cNvPr id="3" name="CHIP"/>
          <p:cNvSpPr/>
          <p:nvPr/>
        </p:nvSpPr>
        <p:spPr>
          <a:xfrm>
            <a:off x="10088575" y="530352"/>
            <a:ext cx="1554480" cy="365760"/>
          </a:xfrm>
          <a:prstGeom prst="roundRect">
            <a:avLst>
              <a:gd name="adj" fmla="val 300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grpSp>
        <p:nvGrpSpPr>
          <p:cNvPr id="4" name="Two time bars" descr="A short bar for a small top-up and a long bar for refilling empty tanks."/>
          <p:cNvGrpSpPr/>
          <p:nvPr/>
        </p:nvGrpSpPr>
        <p:grpSpPr>
          <a:xfrm>
            <a:off x="548640" y="1371600"/>
            <a:ext cx="11091672" cy="3977640"/>
            <a:chOff x="548640" y="1371600"/>
            <a:chExt cx="11091672" cy="3977640"/>
          </a:xfrm>
        </p:grpSpPr>
        <p:sp>
          <p:nvSpPr>
            <p:cNvPr id="5" name="clock"/>
            <p:cNvSpPr/>
            <p:nvPr/>
          </p:nvSpPr>
          <p:spPr>
            <a:xfrm>
              <a:off x="548640" y="2121408"/>
              <a:ext cx="365760" cy="365760"/>
            </a:xfrm>
            <a:prstGeom prst="ellipse">
              <a:avLst/>
            </a:prstGeom>
            <a:noFill/>
            <a:ln w="25400">
              <a:solidFill>
                <a:srgbClr val="A9B0B8"/>
              </a:solidFill>
            </a:ln>
          </p:spPr>
          <p:txBody>
            <a:bodyPr rtlCol="0" anchor="ctr"/>
            <a:lstStyle/>
            <a:p>
              <a:pPr algn="ctr"/>
            </a:p>
          </p:txBody>
        </p:sp>
        <p:cxnSp>
          <p:nvCxnSpPr>
            <p:cNvPr id="6" name="hand"/>
            <p:cNvCxnSpPr/>
            <p:nvPr/>
          </p:nvCxnSpPr>
          <p:spPr>
            <a:xfrm flipV="1">
              <a:off x="731520" y="2185415"/>
              <a:ext cx="0" cy="118873"/>
            </a:xfrm>
            <a:prstGeom prst="line">
              <a:avLst/>
            </a:prstGeom>
            <a:ln w="25400">
              <a:solidFill>
                <a:srgbClr val="A9B0B8"/>
              </a:solidFill>
            </a:ln>
          </p:spPr>
        </p:cxnSp>
        <p:cxnSp>
          <p:nvCxnSpPr>
            <p:cNvPr id="7" name="hand"/>
            <p:cNvCxnSpPr/>
            <p:nvPr/>
          </p:nvCxnSpPr>
          <p:spPr>
            <a:xfrm>
              <a:off x="731520" y="2304288"/>
              <a:ext cx="91440" cy="27432"/>
            </a:xfrm>
            <a:prstGeom prst="line">
              <a:avLst/>
            </a:prstGeom>
            <a:ln w="25400">
              <a:solidFill>
                <a:srgbClr val="A9B0B8"/>
              </a:solidFill>
            </a:ln>
          </p:spPr>
        </p:cxnSp>
        <p:sp>
          <p:nvSpPr>
            <p:cNvPr id="8" name="clock"/>
            <p:cNvSpPr/>
            <p:nvPr/>
          </p:nvSpPr>
          <p:spPr>
            <a:xfrm>
              <a:off x="548640" y="3950207"/>
              <a:ext cx="365760" cy="365760"/>
            </a:xfrm>
            <a:prstGeom prst="ellipse">
              <a:avLst/>
            </a:prstGeom>
            <a:noFill/>
            <a:ln w="25400">
              <a:solidFill>
                <a:srgbClr val="A9B0B8"/>
              </a:solidFill>
            </a:ln>
          </p:spPr>
          <p:txBody>
            <a:bodyPr rtlCol="0" anchor="ctr"/>
            <a:lstStyle/>
            <a:p>
              <a:pPr algn="ctr"/>
            </a:p>
          </p:txBody>
        </p:sp>
        <p:cxnSp>
          <p:nvCxnSpPr>
            <p:cNvPr id="9" name="hand"/>
            <p:cNvCxnSpPr/>
            <p:nvPr/>
          </p:nvCxnSpPr>
          <p:spPr>
            <a:xfrm flipV="1">
              <a:off x="731520" y="4014215"/>
              <a:ext cx="0" cy="118872"/>
            </a:xfrm>
            <a:prstGeom prst="line">
              <a:avLst/>
            </a:prstGeom>
            <a:ln w="25400">
              <a:solidFill>
                <a:srgbClr val="A9B0B8"/>
              </a:solidFill>
            </a:ln>
          </p:spPr>
        </p:cxnSp>
        <p:cxnSp>
          <p:nvCxnSpPr>
            <p:cNvPr id="10" name="hand"/>
            <p:cNvCxnSpPr/>
            <p:nvPr/>
          </p:nvCxnSpPr>
          <p:spPr>
            <a:xfrm>
              <a:off x="731520" y="4133087"/>
              <a:ext cx="91440" cy="27433"/>
            </a:xfrm>
            <a:prstGeom prst="line">
              <a:avLst/>
            </a:prstGeom>
            <a:ln w="25400">
              <a:solidFill>
                <a:srgbClr val="A9B0B8"/>
              </a:solidFill>
            </a:ln>
          </p:spPr>
        </p:cxnSp>
        <p:sp>
          <p:nvSpPr>
            <p:cNvPr id="11" name="bar label"/>
            <p:cNvSpPr txBox="1"/>
            <p:nvPr/>
          </p:nvSpPr>
          <p:spPr>
            <a:xfrm>
              <a:off x="1097280" y="1600199"/>
              <a:ext cx="5120640" cy="411480"/>
            </a:xfrm>
            <a:prstGeom prst="rect">
              <a:avLst/>
            </a:prstGeom>
            <a:noFill/>
          </p:spPr>
          <p:txBody>
            <a:bodyPr wrap="square" anchor="ctr" lIns="18288" tIns="9144" rIns="18288" bIns="9144">
              <a:noAutofit/>
            </a:bodyPr>
            <a:lstStyle/>
            <a:p>
              <a:pPr algn="l"/>
              <a:r>
                <a:rPr sz="2000" b="1" i="0" lang="en-GB">
                  <a:solidFill>
                    <a:srgbClr val="F2F2F2"/>
                  </a:solidFill>
                  <a:latin typeface="Arial"/>
                </a:rPr>
                <a:t>Small top-up</a:t>
              </a:r>
            </a:p>
          </p:txBody>
        </p:sp>
        <p:sp>
          <p:nvSpPr>
            <p:cNvPr id="12" name="time track"/>
            <p:cNvSpPr/>
            <p:nvPr/>
          </p:nvSpPr>
          <p:spPr>
            <a:xfrm>
              <a:off x="1097280" y="2103120"/>
              <a:ext cx="5120640" cy="457200"/>
            </a:xfrm>
            <a:prstGeom prst="roundRect">
              <a:avLst>
                <a:gd name="adj" fmla="val 12000"/>
              </a:avLst>
            </a:prstGeom>
            <a:solidFill>
              <a:srgbClr val="343A43"/>
            </a:solidFill>
            <a:ln w="12700">
              <a:solidFill>
                <a:srgbClr val="4A515B"/>
              </a:solidFill>
            </a:ln>
          </p:spPr>
          <p:txBody>
            <a:bodyPr rtlCol="0" anchor="ctr"/>
            <a:lstStyle/>
            <a:p>
              <a:pPr algn="ctr"/>
            </a:p>
          </p:txBody>
        </p:sp>
        <p:sp>
          <p:nvSpPr>
            <p:cNvPr id="13" name="time fill"/>
            <p:cNvSpPr/>
            <p:nvPr/>
          </p:nvSpPr>
          <p:spPr>
            <a:xfrm>
              <a:off x="1097280" y="2103120"/>
              <a:ext cx="1331366" cy="457200"/>
            </a:xfrm>
            <a:prstGeom prst="roundRect">
              <a:avLst>
                <a:gd name="adj" fmla="val 12000"/>
              </a:avLst>
            </a:prstGeom>
            <a:solidFill>
              <a:srgbClr val="F28C28"/>
            </a:solidFill>
            <a:ln>
              <a:noFill/>
            </a:ln>
          </p:spPr>
          <p:txBody>
            <a:bodyPr rtlCol="0" anchor="ctr"/>
            <a:lstStyle/>
            <a:p>
              <a:pPr algn="ctr"/>
            </a:p>
          </p:txBody>
        </p:sp>
        <p:sp>
          <p:nvSpPr>
            <p:cNvPr id="14" name="bar label"/>
            <p:cNvSpPr txBox="1"/>
            <p:nvPr/>
          </p:nvSpPr>
          <p:spPr>
            <a:xfrm>
              <a:off x="1097280" y="3429000"/>
              <a:ext cx="5120640" cy="411480"/>
            </a:xfrm>
            <a:prstGeom prst="rect">
              <a:avLst/>
            </a:prstGeom>
            <a:noFill/>
          </p:spPr>
          <p:txBody>
            <a:bodyPr wrap="square" anchor="ctr" lIns="18288" tIns="9144" rIns="18288" bIns="9144">
              <a:noAutofit/>
            </a:bodyPr>
            <a:lstStyle/>
            <a:p>
              <a:pPr algn="l"/>
              <a:r>
                <a:rPr sz="2000" b="1" i="0" lang="en-GB">
                  <a:solidFill>
                    <a:srgbClr val="F2F2F2"/>
                  </a:solidFill>
                  <a:latin typeface="Arial"/>
                </a:rPr>
                <a:t>Empty tanks</a:t>
              </a:r>
            </a:p>
          </p:txBody>
        </p:sp>
        <p:sp>
          <p:nvSpPr>
            <p:cNvPr id="15" name="time track"/>
            <p:cNvSpPr/>
            <p:nvPr/>
          </p:nvSpPr>
          <p:spPr>
            <a:xfrm>
              <a:off x="1097280" y="3931920"/>
              <a:ext cx="5120640" cy="457200"/>
            </a:xfrm>
            <a:prstGeom prst="roundRect">
              <a:avLst>
                <a:gd name="adj" fmla="val 12000"/>
              </a:avLst>
            </a:prstGeom>
            <a:solidFill>
              <a:srgbClr val="343A43"/>
            </a:solidFill>
            <a:ln w="12700">
              <a:solidFill>
                <a:srgbClr val="4A515B"/>
              </a:solidFill>
            </a:ln>
          </p:spPr>
          <p:txBody>
            <a:bodyPr rtlCol="0" anchor="ctr"/>
            <a:lstStyle/>
            <a:p>
              <a:pPr algn="ctr"/>
            </a:p>
          </p:txBody>
        </p:sp>
        <p:sp>
          <p:nvSpPr>
            <p:cNvPr id="16" name="time fill"/>
            <p:cNvSpPr/>
            <p:nvPr/>
          </p:nvSpPr>
          <p:spPr>
            <a:xfrm>
              <a:off x="1097280" y="3931920"/>
              <a:ext cx="4864607" cy="457200"/>
            </a:xfrm>
            <a:prstGeom prst="roundRect">
              <a:avLst>
                <a:gd name="adj" fmla="val 12000"/>
              </a:avLst>
            </a:prstGeom>
            <a:solidFill>
              <a:srgbClr val="F28C28"/>
            </a:solidFill>
            <a:ln>
              <a:noFill/>
            </a:ln>
          </p:spPr>
          <p:txBody>
            <a:bodyPr rtlCol="0" anchor="ctr"/>
            <a:lstStyle/>
            <a:p>
              <a:pPr algn="ctr"/>
            </a:p>
          </p:txBody>
        </p:sp>
        <p:sp>
          <p:nvSpPr>
            <p:cNvPr id="17" name="note card"/>
            <p:cNvSpPr/>
            <p:nvPr/>
          </p:nvSpPr>
          <p:spPr>
            <a:xfrm>
              <a:off x="6766560" y="1371600"/>
              <a:ext cx="4873752" cy="1234440"/>
            </a:xfrm>
            <a:prstGeom prst="roundRect">
              <a:avLst>
                <a:gd name="adj" fmla="val 7407"/>
              </a:avLst>
            </a:prstGeom>
            <a:solidFill>
              <a:srgbClr val="2B2F36"/>
            </a:solidFill>
            <a:ln w="12700">
              <a:solidFill>
                <a:srgbClr val="4A515B"/>
              </a:solidFill>
            </a:ln>
          </p:spPr>
          <p:txBody>
            <a:bodyPr rtlCol="0" anchor="ctr"/>
            <a:lstStyle/>
            <a:p>
              <a:pPr algn="ctr"/>
            </a:p>
          </p:txBody>
        </p:sp>
        <p:sp>
          <p:nvSpPr>
            <p:cNvPr id="18" name="ICHIP"/>
            <p:cNvSpPr/>
            <p:nvPr/>
          </p:nvSpPr>
          <p:spPr>
            <a:xfrm>
              <a:off x="6949440" y="1508760"/>
              <a:ext cx="1554480" cy="292608"/>
            </a:xfrm>
            <a:prstGeom prst="roundRect">
              <a:avLst>
                <a:gd name="adj" fmla="val 37500"/>
              </a:avLst>
            </a:prstGeom>
            <a:solidFill>
              <a:srgbClr val="4DA3FF"/>
            </a:solidFill>
            <a:ln>
              <a:noFill/>
            </a:ln>
          </p:spPr>
          <p:txBody>
            <a:bodyPr rtlCol="0" anchor="ctr" wrap="square" lIns="54864" tIns="0" rIns="54864" bIns="0">
              <a:noAutofit/>
            </a:bodyPr>
            <a:lstStyle/>
            <a:p>
              <a:pPr algn="ctr"/>
              <a:r>
                <a:rPr sz="1400" b="1" i="0" lang="en-GB">
                  <a:solidFill>
                    <a:srgbClr val="101418"/>
                  </a:solidFill>
                  <a:latin typeface="Arial"/>
                </a:rPr>
                <a:t>PROVISIONAL</a:t>
              </a:r>
            </a:p>
          </p:txBody>
        </p:sp>
        <p:sp>
          <p:nvSpPr>
            <p:cNvPr id="19" name="note text"/>
            <p:cNvSpPr txBox="1"/>
            <p:nvPr/>
          </p:nvSpPr>
          <p:spPr>
            <a:xfrm>
              <a:off x="6949440" y="1874519"/>
              <a:ext cx="4526280" cy="640080"/>
            </a:xfrm>
            <a:prstGeom prst="rect">
              <a:avLst/>
            </a:prstGeom>
            <a:noFill/>
          </p:spPr>
          <p:txBody>
            <a:bodyPr wrap="square" anchor="t" lIns="18288" tIns="9144" rIns="18288" bIns="9144">
              <a:noAutofit/>
            </a:bodyPr>
            <a:lstStyle/>
            <a:p>
              <a:pPr algn="l"/>
              <a:r>
                <a:rPr sz="1800" b="0" i="0" lang="en-GB">
                  <a:solidFill>
                    <a:srgbClr val="F2F2F2"/>
                  </a:solidFill>
                  <a:latin typeface="Arial"/>
                </a:rPr>
                <a:t>First example: 5 to 15 extra seconds</a:t>
              </a:r>
            </a:p>
          </p:txBody>
        </p:sp>
        <p:sp>
          <p:nvSpPr>
            <p:cNvPr id="20" name="note card"/>
            <p:cNvSpPr/>
            <p:nvPr/>
          </p:nvSpPr>
          <p:spPr>
            <a:xfrm>
              <a:off x="6766560" y="2743200"/>
              <a:ext cx="4873752" cy="1234440"/>
            </a:xfrm>
            <a:prstGeom prst="roundRect">
              <a:avLst>
                <a:gd name="adj" fmla="val 7407"/>
              </a:avLst>
            </a:prstGeom>
            <a:solidFill>
              <a:srgbClr val="2B2F36"/>
            </a:solidFill>
            <a:ln w="12700">
              <a:solidFill>
                <a:srgbClr val="4A515B"/>
              </a:solidFill>
            </a:ln>
          </p:spPr>
          <p:txBody>
            <a:bodyPr rtlCol="0" anchor="ctr"/>
            <a:lstStyle/>
            <a:p>
              <a:pPr algn="ctr"/>
            </a:p>
          </p:txBody>
        </p:sp>
        <p:sp>
          <p:nvSpPr>
            <p:cNvPr id="21" name="ICHIP"/>
            <p:cNvSpPr/>
            <p:nvPr/>
          </p:nvSpPr>
          <p:spPr>
            <a:xfrm>
              <a:off x="6949440" y="2880360"/>
              <a:ext cx="1554480" cy="292608"/>
            </a:xfrm>
            <a:prstGeom prst="roundRect">
              <a:avLst>
                <a:gd name="adj" fmla="val 37500"/>
              </a:avLst>
            </a:prstGeom>
            <a:solidFill>
              <a:srgbClr val="B084F5"/>
            </a:solidFill>
            <a:ln>
              <a:noFill/>
            </a:ln>
          </p:spPr>
          <p:txBody>
            <a:bodyPr rtlCol="0" anchor="ctr" wrap="square" lIns="54864" tIns="0" rIns="54864" bIns="0">
              <a:noAutofit/>
            </a:bodyPr>
            <a:lstStyle/>
            <a:p>
              <a:pPr algn="ctr"/>
              <a:r>
                <a:rPr sz="1400" b="1" i="0" lang="en-GB">
                  <a:solidFill>
                    <a:srgbClr val="101418"/>
                  </a:solidFill>
                  <a:latin typeface="Arial"/>
                </a:rPr>
                <a:t>PROPOSED</a:t>
              </a:r>
            </a:p>
          </p:txBody>
        </p:sp>
        <p:sp>
          <p:nvSpPr>
            <p:cNvPr id="22" name="note text"/>
            <p:cNvSpPr txBox="1"/>
            <p:nvPr/>
          </p:nvSpPr>
          <p:spPr>
            <a:xfrm>
              <a:off x="6949440" y="3246120"/>
              <a:ext cx="4526280" cy="640080"/>
            </a:xfrm>
            <a:prstGeom prst="rect">
              <a:avLst/>
            </a:prstGeom>
            <a:noFill/>
          </p:spPr>
          <p:txBody>
            <a:bodyPr wrap="square" anchor="t" lIns="18288" tIns="9144" rIns="18288" bIns="9144">
              <a:noAutofit/>
            </a:bodyPr>
            <a:lstStyle/>
            <a:p>
              <a:pPr algn="l"/>
              <a:r>
                <a:rPr sz="1800" b="0" i="0" lang="en-GB">
                  <a:solidFill>
                    <a:srgbClr val="F2F2F2"/>
                  </a:solidFill>
                  <a:latin typeface="Arial"/>
                </a:rPr>
                <a:t>Later idea: real transfer rates</a:t>
              </a:r>
            </a:p>
          </p:txBody>
        </p:sp>
        <p:sp>
          <p:nvSpPr>
            <p:cNvPr id="23" name="note card"/>
            <p:cNvSpPr/>
            <p:nvPr/>
          </p:nvSpPr>
          <p:spPr>
            <a:xfrm>
              <a:off x="6766560" y="4114800"/>
              <a:ext cx="4873752" cy="1234440"/>
            </a:xfrm>
            <a:prstGeom prst="roundRect">
              <a:avLst>
                <a:gd name="adj" fmla="val 7407"/>
              </a:avLst>
            </a:prstGeom>
            <a:solidFill>
              <a:srgbClr val="2B2F36"/>
            </a:solidFill>
            <a:ln w="12700">
              <a:solidFill>
                <a:srgbClr val="4A515B"/>
              </a:solidFill>
            </a:ln>
          </p:spPr>
          <p:txBody>
            <a:bodyPr rtlCol="0" anchor="ctr"/>
            <a:lstStyle/>
            <a:p>
              <a:pPr algn="ctr"/>
            </a:p>
          </p:txBody>
        </p:sp>
        <p:sp>
          <p:nvSpPr>
            <p:cNvPr id="24" name="ICHIP"/>
            <p:cNvSpPr/>
            <p:nvPr/>
          </p:nvSpPr>
          <p:spPr>
            <a:xfrm>
              <a:off x="6949440" y="4251960"/>
              <a:ext cx="1554480" cy="292608"/>
            </a:xfrm>
            <a:prstGeom prst="roundRect">
              <a:avLst>
                <a:gd name="adj" fmla="val 37500"/>
              </a:avLst>
            </a:prstGeom>
            <a:noFill/>
            <a:ln w="25400">
              <a:solidFill>
                <a:srgbClr val="A9B0B8"/>
              </a:solidFill>
            </a:ln>
          </p:spPr>
          <p:txBody>
            <a:bodyPr rtlCol="0" anchor="ctr" wrap="square" lIns="54864" tIns="0" rIns="54864" bIns="0">
              <a:noAutofit/>
            </a:bodyPr>
            <a:lstStyle/>
            <a:p>
              <a:pPr algn="ctr"/>
              <a:r>
                <a:rPr sz="1400" b="1" i="0" lang="en-GB">
                  <a:solidFill>
                    <a:srgbClr val="F2F2F2"/>
                  </a:solidFill>
                  <a:latin typeface="Arial"/>
                </a:rPr>
                <a:t>UNDECIDED</a:t>
              </a:r>
            </a:p>
          </p:txBody>
        </p:sp>
        <p:sp>
          <p:nvSpPr>
            <p:cNvPr id="25" name="note text"/>
            <p:cNvSpPr txBox="1"/>
            <p:nvPr/>
          </p:nvSpPr>
          <p:spPr>
            <a:xfrm>
              <a:off x="6949440" y="4617720"/>
              <a:ext cx="4526280" cy="640080"/>
            </a:xfrm>
            <a:prstGeom prst="rect">
              <a:avLst/>
            </a:prstGeom>
            <a:noFill/>
          </p:spPr>
          <p:txBody>
            <a:bodyPr wrap="square" anchor="t" lIns="18288" tIns="9144" rIns="18288" bIns="9144">
              <a:noAutofit/>
            </a:bodyPr>
            <a:lstStyle/>
            <a:p>
              <a:pPr algn="l"/>
              <a:r>
                <a:rPr sz="1800" b="0" i="0" lang="en-GB">
                  <a:solidFill>
                    <a:srgbClr val="F2F2F2"/>
                  </a:solidFill>
                  <a:latin typeface="Arial"/>
                </a:rPr>
                <a:t>Rates and buffers: undecided (OQ08)</a:t>
              </a:r>
            </a:p>
          </p:txBody>
        </p:sp>
      </p:grpSp>
      <p:sp>
        <p:nvSpPr>
          <p:cNvPr id="26" name="CAPTION BAR"/>
          <p:cNvSpPr/>
          <p:nvPr/>
        </p:nvSpPr>
        <p:spPr>
          <a:xfrm>
            <a:off x="548640" y="5760720"/>
            <a:ext cx="11091672" cy="731520"/>
          </a:xfrm>
          <a:prstGeom prst="roundRect">
            <a:avLst>
              <a:gd name="adj" fmla="val 10000"/>
            </a:avLst>
          </a:prstGeom>
          <a:solidFill>
            <a:srgbClr val="2B2F36"/>
          </a:solidFill>
          <a:ln>
            <a:noFill/>
          </a:ln>
        </p:spPr>
        <p:txBody>
          <a:bodyPr rtlCol="0" anchor="ctr"/>
          <a:lstStyle/>
          <a:p>
            <a:pPr algn="ctr"/>
          </a:p>
        </p:txBody>
      </p:sp>
      <p:sp>
        <p:nvSpPr>
          <p:cNvPr id="27" name="CAPTION RULE"/>
          <p:cNvSpPr/>
          <p:nvPr/>
        </p:nvSpPr>
        <p:spPr>
          <a:xfrm>
            <a:off x="548640" y="5815583"/>
            <a:ext cx="73152" cy="621792"/>
          </a:xfrm>
          <a:prstGeom prst="rect">
            <a:avLst/>
          </a:prstGeom>
          <a:solidFill>
            <a:srgbClr val="F28C28"/>
          </a:solidFill>
          <a:ln>
            <a:noFill/>
          </a:ln>
        </p:spPr>
        <p:txBody>
          <a:bodyPr rtlCol="0" anchor="ctr"/>
          <a:lstStyle/>
          <a:p>
            <a:pPr algn="ctr"/>
          </a:p>
        </p:txBody>
      </p:sp>
      <p:sp>
        <p:nvSpPr>
          <p:cNvPr id="28" name="CAPTION"/>
          <p:cNvSpPr txBox="1"/>
          <p:nvPr/>
        </p:nvSpPr>
        <p:spPr>
          <a:xfrm>
            <a:off x="777240" y="5760720"/>
            <a:ext cx="10744200" cy="731520"/>
          </a:xfrm>
          <a:prstGeom prst="rect">
            <a:avLst/>
          </a:prstGeom>
          <a:noFill/>
        </p:spPr>
        <p:txBody>
          <a:bodyPr wrap="square" anchor="ctr" lIns="18288" tIns="9144" rIns="18288" bIns="9144">
            <a:noAutofit/>
          </a:bodyPr>
          <a:lstStyle/>
          <a:p>
            <a:pPr algn="l"/>
            <a:r>
              <a:rPr sz="2000" b="0" i="0" lang="en-GB">
                <a:solidFill>
                  <a:srgbClr val="F2F2F2"/>
                </a:solidFill>
                <a:latin typeface="Arial"/>
              </a:rPr>
              <a:t>A small top-up should be quick. An empty refill takes longer.</a:t>
            </a:r>
          </a:p>
        </p:txBody>
      </p:sp>
      <p:sp>
        <p:nvSpPr>
          <p:cNvPr id="29" name="NUM"/>
          <p:cNvSpPr txBox="1"/>
          <p:nvPr/>
        </p:nvSpPr>
        <p:spPr>
          <a:xfrm>
            <a:off x="10725912" y="6528816"/>
            <a:ext cx="914400" cy="274320"/>
          </a:xfrm>
          <a:prstGeom prst="rect">
            <a:avLst/>
          </a:prstGeom>
          <a:noFill/>
        </p:spPr>
        <p:txBody>
          <a:bodyPr wrap="square" anchor="ctr" lIns="18288" tIns="9144" rIns="18288" bIns="9144">
            <a:noAutofit/>
          </a:bodyPr>
          <a:lstStyle/>
          <a:p>
            <a:pPr algn="r"/>
            <a:r>
              <a:rPr sz="1400" b="0" i="0" lang="en-GB">
                <a:solidFill>
                  <a:srgbClr val="A9B0B8"/>
                </a:solidFill>
                <a:latin typeface="Arial"/>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FC7FF"/>
      </a:hlink>
      <a:folHlink>
        <a:srgbClr val="C9B2F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Coal, Water and Servicing, Explained</dc:title>
  <dc:subject>Read-alone explainer deck 3 for the Early Locomotion mod for Satisfactory</dc:subject>
  <dc:creator>Claude (Early Locomotion project)</dc:creator>
  <cp:keywords>Satisfactory; Early Locomotion; steam; coal; water; servicing</cp:keywords>
  <dc:description>generated using python-pptx</dc:description>
  <cp:lastModifiedBy>Claude (Early Locomotion project)</cp:lastModifiedBy>
  <cp:revision>1</cp:revision>
  <dcterms:created xsi:type="dcterms:W3CDTF">2013-01-27T09:14:16Z</dcterms:created>
  <dcterms:modified xsi:type="dcterms:W3CDTF">2013-01-27T09:15:58Z</dcterms:modified>
  <cp:category/>
  <dc:language>en-GB</dc:language>
</cp:coreProperties>
</file>