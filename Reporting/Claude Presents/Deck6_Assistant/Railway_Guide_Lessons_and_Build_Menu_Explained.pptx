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280160"/>
            <a:ext cx="6035040" cy="2011680"/>
          </a:xfrm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5400" b="1" i="0" lang="en-GB">
                <a:solidFill>
                  <a:srgbClr val="F2F2F2"/>
                </a:solidFill>
                <a:latin typeface="Arial"/>
              </a:rPr>
              <a:t>Your Railway Guide</a:t>
            </a:r>
          </a:p>
        </p:txBody>
      </p:sp>
      <p:sp>
        <p:nvSpPr>
          <p:cNvPr id="3" name="avatar panel"/>
          <p:cNvSpPr/>
          <p:nvPr/>
        </p:nvSpPr>
        <p:spPr>
          <a:xfrm>
            <a:off x="6903720" y="457200"/>
            <a:ext cx="4736592" cy="5852160"/>
          </a:xfrm>
          <a:prstGeom prst="roundRect">
            <a:avLst>
              <a:gd name="adj" fmla="val 1544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Placeholder avatar" descr="Placeholder avatar for the railway guide: a plain round head with no face, a headset and orange shoulders. Her look is undecided (OQ15)."/>
          <p:cNvGrpSpPr/>
          <p:nvPr/>
        </p:nvGrpSpPr>
        <p:grpSpPr>
          <a:xfrm>
            <a:off x="7717536" y="2331720"/>
            <a:ext cx="3108960" cy="3194456"/>
            <a:chOff x="7717536" y="2331720"/>
            <a:chExt cx="3108960" cy="3194456"/>
          </a:xfrm>
        </p:grpSpPr>
        <p:sp>
          <p:nvSpPr>
            <p:cNvPr id="5" name="shoulders"/>
            <p:cNvSpPr/>
            <p:nvPr/>
          </p:nvSpPr>
          <p:spPr>
            <a:xfrm>
              <a:off x="7717536" y="4049420"/>
              <a:ext cx="3108960" cy="147675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neck"/>
            <p:cNvSpPr/>
            <p:nvPr/>
          </p:nvSpPr>
          <p:spPr>
            <a:xfrm>
              <a:off x="8961120" y="3855110"/>
              <a:ext cx="621792" cy="621792"/>
            </a:xfrm>
            <a:prstGeom prst="rect">
              <a:avLst/>
            </a:prstGeom>
            <a:solidFill>
              <a:srgbClr val="B9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ad"/>
            <p:cNvSpPr/>
            <p:nvPr/>
          </p:nvSpPr>
          <p:spPr>
            <a:xfrm>
              <a:off x="8494776" y="2533802"/>
              <a:ext cx="1554480" cy="1554480"/>
            </a:xfrm>
            <a:prstGeom prst="ellipse">
              <a:avLst/>
            </a:prstGeom>
            <a:solidFill>
              <a:srgbClr val="D5D9DE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adset band"/>
            <p:cNvSpPr/>
            <p:nvPr/>
          </p:nvSpPr>
          <p:spPr>
            <a:xfrm>
              <a:off x="8302224" y="2331720"/>
              <a:ext cx="1939583" cy="867776"/>
            </a:xfrm>
            <a:custGeom>
              <a:avLst/>
              <a:gdLst/>
              <a:ahLst/>
              <a:cxnLst/>
              <a:rect l="l" t="t" r="r" b="b"/>
              <a:pathLst>
                <a:path w="1939583" h="867776">
                  <a:moveTo>
                    <a:pt x="1939583" y="843027"/>
                  </a:moveTo>
                  <a:lnTo>
                    <a:pt x="1916478" y="728607"/>
                  </a:lnTo>
                  <a:lnTo>
                    <a:pt x="1879922" y="617750"/>
                  </a:lnTo>
                  <a:lnTo>
                    <a:pt x="1830437" y="512030"/>
                  </a:lnTo>
                  <a:lnTo>
                    <a:pt x="1768724" y="412948"/>
                  </a:lnTo>
                  <a:lnTo>
                    <a:pt x="1695661" y="321913"/>
                  </a:lnTo>
                  <a:lnTo>
                    <a:pt x="1612285" y="240218"/>
                  </a:lnTo>
                  <a:lnTo>
                    <a:pt x="1519781" y="169023"/>
                  </a:lnTo>
                  <a:lnTo>
                    <a:pt x="1419463" y="109341"/>
                  </a:lnTo>
                  <a:lnTo>
                    <a:pt x="1312757" y="62018"/>
                  </a:lnTo>
                  <a:lnTo>
                    <a:pt x="1201179" y="27727"/>
                  </a:lnTo>
                  <a:lnTo>
                    <a:pt x="1086313" y="6956"/>
                  </a:lnTo>
                  <a:lnTo>
                    <a:pt x="969792" y="0"/>
                  </a:lnTo>
                  <a:lnTo>
                    <a:pt x="853270" y="6956"/>
                  </a:lnTo>
                  <a:lnTo>
                    <a:pt x="738404" y="27727"/>
                  </a:lnTo>
                  <a:lnTo>
                    <a:pt x="626826" y="62018"/>
                  </a:lnTo>
                  <a:lnTo>
                    <a:pt x="520120" y="109341"/>
                  </a:lnTo>
                  <a:lnTo>
                    <a:pt x="419802" y="169023"/>
                  </a:lnTo>
                  <a:lnTo>
                    <a:pt x="327298" y="240218"/>
                  </a:lnTo>
                  <a:lnTo>
                    <a:pt x="243922" y="321913"/>
                  </a:lnTo>
                  <a:lnTo>
                    <a:pt x="170859" y="412948"/>
                  </a:lnTo>
                  <a:lnTo>
                    <a:pt x="109146" y="512030"/>
                  </a:lnTo>
                  <a:lnTo>
                    <a:pt x="59661" y="617750"/>
                  </a:lnTo>
                  <a:lnTo>
                    <a:pt x="23105" y="728607"/>
                  </a:lnTo>
                  <a:lnTo>
                    <a:pt x="0" y="843027"/>
                  </a:lnTo>
                  <a:lnTo>
                    <a:pt x="176102" y="867776"/>
                  </a:lnTo>
                  <a:lnTo>
                    <a:pt x="195012" y="774134"/>
                  </a:lnTo>
                  <a:lnTo>
                    <a:pt x="224929" y="683407"/>
                  </a:lnTo>
                  <a:lnTo>
                    <a:pt x="265428" y="596884"/>
                  </a:lnTo>
                  <a:lnTo>
                    <a:pt x="315935" y="515794"/>
                  </a:lnTo>
                  <a:lnTo>
                    <a:pt x="375731" y="441290"/>
                  </a:lnTo>
                  <a:lnTo>
                    <a:pt x="443967" y="374430"/>
                  </a:lnTo>
                  <a:lnTo>
                    <a:pt x="519673" y="316163"/>
                  </a:lnTo>
                  <a:lnTo>
                    <a:pt x="601774" y="267318"/>
                  </a:lnTo>
                  <a:lnTo>
                    <a:pt x="689104" y="228589"/>
                  </a:lnTo>
                  <a:lnTo>
                    <a:pt x="780421" y="200525"/>
                  </a:lnTo>
                  <a:lnTo>
                    <a:pt x="874429" y="183525"/>
                  </a:lnTo>
                  <a:lnTo>
                    <a:pt x="969792" y="177832"/>
                  </a:lnTo>
                  <a:lnTo>
                    <a:pt x="1065154" y="183525"/>
                  </a:lnTo>
                  <a:lnTo>
                    <a:pt x="1159162" y="200525"/>
                  </a:lnTo>
                  <a:lnTo>
                    <a:pt x="1250479" y="228589"/>
                  </a:lnTo>
                  <a:lnTo>
                    <a:pt x="1337809" y="267318"/>
                  </a:lnTo>
                  <a:lnTo>
                    <a:pt x="1419910" y="316163"/>
                  </a:lnTo>
                  <a:lnTo>
                    <a:pt x="1495616" y="374430"/>
                  </a:lnTo>
                  <a:lnTo>
                    <a:pt x="1563852" y="441290"/>
                  </a:lnTo>
                  <a:lnTo>
                    <a:pt x="1623648" y="515794"/>
                  </a:lnTo>
                  <a:lnTo>
                    <a:pt x="1674155" y="596884"/>
                  </a:lnTo>
                  <a:lnTo>
                    <a:pt x="1714654" y="683407"/>
                  </a:lnTo>
                  <a:lnTo>
                    <a:pt x="1744571" y="774134"/>
                  </a:lnTo>
                  <a:lnTo>
                    <a:pt x="1763481" y="867776"/>
                  </a:lnTo>
                  <a:close/>
                </a:path>
              </a:pathLst>
            </a:cu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ear cup"/>
            <p:cNvSpPr/>
            <p:nvPr/>
          </p:nvSpPr>
          <p:spPr>
            <a:xfrm>
              <a:off x="8243727" y="3093415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ear cup"/>
            <p:cNvSpPr/>
            <p:nvPr/>
          </p:nvSpPr>
          <p:spPr>
            <a:xfrm>
              <a:off x="10020498" y="3093415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mic boom"/>
            <p:cNvSpPr/>
            <p:nvPr/>
          </p:nvSpPr>
          <p:spPr>
            <a:xfrm>
              <a:off x="8393734" y="3590848"/>
              <a:ext cx="614020" cy="365541"/>
            </a:xfrm>
            <a:custGeom>
              <a:avLst/>
              <a:gdLst/>
              <a:ahLst/>
              <a:cxnLst/>
              <a:rect l="l" t="t" r="r" b="b"/>
              <a:pathLst>
                <a:path w="614020" h="365541">
                  <a:moveTo>
                    <a:pt x="0" y="0"/>
                  </a:moveTo>
                  <a:lnTo>
                    <a:pt x="783" y="32022"/>
                  </a:lnTo>
                  <a:lnTo>
                    <a:pt x="3133" y="62576"/>
                  </a:lnTo>
                  <a:lnTo>
                    <a:pt x="7049" y="91663"/>
                  </a:lnTo>
                  <a:lnTo>
                    <a:pt x="12531" y="119283"/>
                  </a:lnTo>
                  <a:lnTo>
                    <a:pt x="19580" y="145435"/>
                  </a:lnTo>
                  <a:lnTo>
                    <a:pt x="28195" y="170121"/>
                  </a:lnTo>
                  <a:lnTo>
                    <a:pt x="38377" y="193339"/>
                  </a:lnTo>
                  <a:lnTo>
                    <a:pt x="50124" y="215090"/>
                  </a:lnTo>
                  <a:lnTo>
                    <a:pt x="63439" y="235373"/>
                  </a:lnTo>
                  <a:lnTo>
                    <a:pt x="78319" y="254190"/>
                  </a:lnTo>
                  <a:lnTo>
                    <a:pt x="94766" y="271539"/>
                  </a:lnTo>
                  <a:lnTo>
                    <a:pt x="112779" y="287420"/>
                  </a:lnTo>
                  <a:lnTo>
                    <a:pt x="132359" y="301835"/>
                  </a:lnTo>
                  <a:lnTo>
                    <a:pt x="153505" y="314783"/>
                  </a:lnTo>
                  <a:lnTo>
                    <a:pt x="176218" y="326263"/>
                  </a:lnTo>
                  <a:lnTo>
                    <a:pt x="200496" y="336276"/>
                  </a:lnTo>
                  <a:lnTo>
                    <a:pt x="226342" y="344821"/>
                  </a:lnTo>
                  <a:lnTo>
                    <a:pt x="253753" y="351900"/>
                  </a:lnTo>
                  <a:lnTo>
                    <a:pt x="282731" y="357511"/>
                  </a:lnTo>
                  <a:lnTo>
                    <a:pt x="313276" y="361655"/>
                  </a:lnTo>
                  <a:lnTo>
                    <a:pt x="345386" y="364332"/>
                  </a:lnTo>
                  <a:lnTo>
                    <a:pt x="379063" y="365541"/>
                  </a:lnTo>
                  <a:lnTo>
                    <a:pt x="414307" y="365283"/>
                  </a:lnTo>
                  <a:lnTo>
                    <a:pt x="451117" y="363558"/>
                  </a:lnTo>
                  <a:lnTo>
                    <a:pt x="489493" y="360366"/>
                  </a:lnTo>
                  <a:lnTo>
                    <a:pt x="529436" y="355707"/>
                  </a:lnTo>
                  <a:lnTo>
                    <a:pt x="570945" y="349580"/>
                  </a:lnTo>
                  <a:lnTo>
                    <a:pt x="614020" y="341986"/>
                  </a:lnTo>
                </a:path>
              </a:pathLst>
            </a:custGeom>
            <a:noFill/>
            <a:ln w="69088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mic tip"/>
            <p:cNvSpPr/>
            <p:nvPr/>
          </p:nvSpPr>
          <p:spPr>
            <a:xfrm>
              <a:off x="8914485" y="3839565"/>
              <a:ext cx="186537" cy="1865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guide bubble body"/>
          <p:cNvSpPr/>
          <p:nvPr/>
        </p:nvSpPr>
        <p:spPr>
          <a:xfrm>
            <a:off x="7360920" y="868680"/>
            <a:ext cx="2011680" cy="914400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rIns="109728">
            <a:noAutofit/>
          </a:bodyPr>
          <a:lstStyle/>
          <a:p>
            <a:pPr algn="ctr"/>
            <a:r>
              <a:rPr sz="3600" b="1" i="0" lang="en-GB">
                <a:solidFill>
                  <a:srgbClr val="101418"/>
                </a:solidFill>
                <a:latin typeface="Arial"/>
              </a:rPr>
              <a:t>...</a:t>
            </a:r>
          </a:p>
        </p:txBody>
      </p:sp>
      <p:sp>
        <p:nvSpPr>
          <p:cNvPr id="14" name="guide bubble tail"/>
          <p:cNvSpPr/>
          <p:nvPr/>
        </p:nvSpPr>
        <p:spPr>
          <a:xfrm>
            <a:off x="8503920" y="1764792"/>
            <a:ext cx="365760" cy="402336"/>
          </a:xfrm>
          <a:custGeom>
            <a:avLst/>
            <a:gdLst/>
            <a:ahLst/>
            <a:cxnLst/>
            <a:rect l="l" t="t" r="r" b="b"/>
            <a:pathLst>
              <a:path w="365760" h="402336">
                <a:moveTo>
                  <a:pt x="0" y="0"/>
                </a:moveTo>
                <a:lnTo>
                  <a:pt x="365760" y="0"/>
                </a:lnTo>
                <a:lnTo>
                  <a:pt x="310896" y="402336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PLACEHOLDER LABEL"/>
          <p:cNvSpPr txBox="1"/>
          <p:nvPr/>
        </p:nvSpPr>
        <p:spPr>
          <a:xfrm>
            <a:off x="7178040" y="5486400"/>
            <a:ext cx="4187952" cy="54864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sp>
        <p:nvSpPr>
          <p:cNvPr id="16" name="orange rule"/>
          <p:cNvSpPr/>
          <p:nvPr/>
        </p:nvSpPr>
        <p:spPr>
          <a:xfrm>
            <a:off x="548640" y="3474720"/>
            <a:ext cx="164592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CAPTION"/>
          <p:cNvSpPr txBox="1"/>
          <p:nvPr/>
        </p:nvSpPr>
        <p:spPr>
          <a:xfrm>
            <a:off x="548640" y="3749039"/>
            <a:ext cx="5943600" cy="1371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Meet the mod's friendly guide, her lessons, and where rail parts could live in the build menu.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Tag legend" descr="Legend: five tags and what each means. Agreed is decided, Proposed is suggested, Provisional is a test number, Undecided is an open question, Background is a real-world fact."/>
          <p:cNvGrpSpPr/>
          <p:nvPr/>
        </p:nvGrpSpPr>
        <p:grpSpPr>
          <a:xfrm>
            <a:off x="548640" y="1371600"/>
            <a:ext cx="7315200" cy="4206240"/>
            <a:chOff x="548640" y="1371600"/>
            <a:chExt cx="7315200" cy="4206240"/>
          </a:xfrm>
        </p:grpSpPr>
        <p:sp>
          <p:nvSpPr>
            <p:cNvPr id="4" name="legend panel"/>
            <p:cNvSpPr/>
            <p:nvPr/>
          </p:nvSpPr>
          <p:spPr>
            <a:xfrm>
              <a:off x="548640" y="1371600"/>
              <a:ext cx="7315200" cy="4206240"/>
            </a:xfrm>
            <a:prstGeom prst="roundRect">
              <a:avLst>
                <a:gd name="adj" fmla="val 173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HIP LEGEND"/>
            <p:cNvSpPr/>
            <p:nvPr/>
          </p:nvSpPr>
          <p:spPr>
            <a:xfrm>
              <a:off x="868680" y="1572768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LEGEND TEXT"/>
            <p:cNvSpPr txBox="1"/>
            <p:nvPr/>
          </p:nvSpPr>
          <p:spPr>
            <a:xfrm>
              <a:off x="2743200" y="1481328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CHIP LEGEND"/>
            <p:cNvSpPr/>
            <p:nvPr/>
          </p:nvSpPr>
          <p:spPr>
            <a:xfrm>
              <a:off x="868680" y="2359152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8" name="LEGEND TEXT"/>
            <p:cNvSpPr txBox="1"/>
            <p:nvPr/>
          </p:nvSpPr>
          <p:spPr>
            <a:xfrm>
              <a:off x="2743200" y="2267712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9" name="CHIP LEGEND"/>
            <p:cNvSpPr/>
            <p:nvPr/>
          </p:nvSpPr>
          <p:spPr>
            <a:xfrm>
              <a:off x="868680" y="3145536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0" name="LEGEND TEXT"/>
            <p:cNvSpPr txBox="1"/>
            <p:nvPr/>
          </p:nvSpPr>
          <p:spPr>
            <a:xfrm>
              <a:off x="2743200" y="3054096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1" name="CHIP LEGEND"/>
            <p:cNvSpPr/>
            <p:nvPr/>
          </p:nvSpPr>
          <p:spPr>
            <a:xfrm>
              <a:off x="868680" y="3931920"/>
              <a:ext cx="1554480" cy="365760"/>
            </a:xfrm>
            <a:prstGeom prst="roundRect">
              <a:avLst>
                <a:gd name="adj" fmla="val 3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2" name="LEGEND TEXT"/>
            <p:cNvSpPr txBox="1"/>
            <p:nvPr/>
          </p:nvSpPr>
          <p:spPr>
            <a:xfrm>
              <a:off x="2743200" y="3840480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3" name="CHIP LEGEND"/>
            <p:cNvSpPr/>
            <p:nvPr/>
          </p:nvSpPr>
          <p:spPr>
            <a:xfrm>
              <a:off x="868680" y="4718304"/>
              <a:ext cx="1554480" cy="365760"/>
            </a:xfrm>
            <a:prstGeom prst="roundRect">
              <a:avLst>
                <a:gd name="adj" fmla="val 3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4" name="LEGEND TEXT"/>
            <p:cNvSpPr txBox="1"/>
            <p:nvPr/>
          </p:nvSpPr>
          <p:spPr>
            <a:xfrm>
              <a:off x="2743200" y="4626864"/>
              <a:ext cx="4937760" cy="5486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5" name="Corner sketch" descr="Sketch of a slide with a tag in its top-right corner."/>
          <p:cNvGrpSpPr/>
          <p:nvPr/>
        </p:nvGrpSpPr>
        <p:grpSpPr>
          <a:xfrm>
            <a:off x="8412480" y="1737360"/>
            <a:ext cx="3200400" cy="1801368"/>
            <a:chOff x="8412480" y="1737360"/>
            <a:chExt cx="3200400" cy="1801368"/>
          </a:xfrm>
        </p:grpSpPr>
        <p:sp>
          <p:nvSpPr>
            <p:cNvPr id="16" name="slide sketch"/>
            <p:cNvSpPr/>
            <p:nvPr/>
          </p:nvSpPr>
          <p:spPr>
            <a:xfrm>
              <a:off x="8412480" y="1737360"/>
              <a:ext cx="3200400" cy="1801368"/>
            </a:xfrm>
            <a:prstGeom prst="roundRect">
              <a:avLst>
                <a:gd name="adj" fmla="val 4060"/>
              </a:avLst>
            </a:prstGeom>
            <a:solidFill>
              <a:srgbClr val="1E212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tle line"/>
            <p:cNvSpPr/>
            <p:nvPr/>
          </p:nvSpPr>
          <p:spPr>
            <a:xfrm>
              <a:off x="8641080" y="1965960"/>
              <a:ext cx="137160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ody line"/>
            <p:cNvSpPr/>
            <p:nvPr/>
          </p:nvSpPr>
          <p:spPr>
            <a:xfrm>
              <a:off x="8641080" y="2286000"/>
              <a:ext cx="2011680" cy="7315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body line"/>
            <p:cNvSpPr/>
            <p:nvPr/>
          </p:nvSpPr>
          <p:spPr>
            <a:xfrm>
              <a:off x="8641080" y="2468880"/>
              <a:ext cx="1645920" cy="73152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ag sketch"/>
            <p:cNvSpPr/>
            <p:nvPr/>
          </p:nvSpPr>
          <p:spPr>
            <a:xfrm>
              <a:off x="10698480" y="1920240"/>
              <a:ext cx="731520" cy="237744"/>
            </a:xfrm>
            <a:prstGeom prst="roundRect">
              <a:avLst>
                <a:gd name="adj" fmla="val 30769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pointer"/>
            <p:cNvCxnSpPr/>
            <p:nvPr/>
          </p:nvCxnSpPr>
          <p:spPr>
            <a:xfrm flipV="1">
              <a:off x="10058400" y="2194560"/>
              <a:ext cx="822960" cy="54864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Meet the guide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sp>
        <p:nvSpPr>
          <p:cNvPr id="4" name="avatar panel"/>
          <p:cNvSpPr/>
          <p:nvPr/>
        </p:nvSpPr>
        <p:spPr>
          <a:xfrm>
            <a:off x="548640" y="1371600"/>
            <a:ext cx="4389120" cy="4206240"/>
          </a:xfrm>
          <a:prstGeom prst="roundRect">
            <a:avLst>
              <a:gd name="adj" fmla="val 1739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5" name="Placeholder avatar" descr="Placeholder avatar for the railway guide: a plain round head with no face, a headset and orange shoulders. Her look is undecided (OQ15)."/>
          <p:cNvGrpSpPr/>
          <p:nvPr/>
        </p:nvGrpSpPr>
        <p:grpSpPr>
          <a:xfrm>
            <a:off x="1188720" y="1572768"/>
            <a:ext cx="3108960" cy="3194456"/>
            <a:chOff x="1188720" y="1572768"/>
            <a:chExt cx="3108960" cy="3194456"/>
          </a:xfrm>
        </p:grpSpPr>
        <p:sp>
          <p:nvSpPr>
            <p:cNvPr id="6" name="shoulders"/>
            <p:cNvSpPr/>
            <p:nvPr/>
          </p:nvSpPr>
          <p:spPr>
            <a:xfrm>
              <a:off x="1188720" y="3290468"/>
              <a:ext cx="3108960" cy="1476756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neck"/>
            <p:cNvSpPr/>
            <p:nvPr/>
          </p:nvSpPr>
          <p:spPr>
            <a:xfrm>
              <a:off x="2432304" y="3096158"/>
              <a:ext cx="621792" cy="621792"/>
            </a:xfrm>
            <a:prstGeom prst="rect">
              <a:avLst/>
            </a:prstGeom>
            <a:solidFill>
              <a:srgbClr val="B9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ad"/>
            <p:cNvSpPr/>
            <p:nvPr/>
          </p:nvSpPr>
          <p:spPr>
            <a:xfrm>
              <a:off x="1965960" y="1774850"/>
              <a:ext cx="1554480" cy="1554480"/>
            </a:xfrm>
            <a:prstGeom prst="ellipse">
              <a:avLst/>
            </a:prstGeom>
            <a:solidFill>
              <a:srgbClr val="D5D9DE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adset band"/>
            <p:cNvSpPr/>
            <p:nvPr/>
          </p:nvSpPr>
          <p:spPr>
            <a:xfrm>
              <a:off x="1773408" y="1572768"/>
              <a:ext cx="1939583" cy="867776"/>
            </a:xfrm>
            <a:custGeom>
              <a:avLst/>
              <a:gdLst/>
              <a:ahLst/>
              <a:cxnLst/>
              <a:rect l="l" t="t" r="r" b="b"/>
              <a:pathLst>
                <a:path w="1939583" h="867776">
                  <a:moveTo>
                    <a:pt x="1939583" y="843027"/>
                  </a:moveTo>
                  <a:lnTo>
                    <a:pt x="1916478" y="728607"/>
                  </a:lnTo>
                  <a:lnTo>
                    <a:pt x="1879922" y="617750"/>
                  </a:lnTo>
                  <a:lnTo>
                    <a:pt x="1830437" y="512030"/>
                  </a:lnTo>
                  <a:lnTo>
                    <a:pt x="1768724" y="412948"/>
                  </a:lnTo>
                  <a:lnTo>
                    <a:pt x="1695661" y="321913"/>
                  </a:lnTo>
                  <a:lnTo>
                    <a:pt x="1612285" y="240218"/>
                  </a:lnTo>
                  <a:lnTo>
                    <a:pt x="1519781" y="169023"/>
                  </a:lnTo>
                  <a:lnTo>
                    <a:pt x="1419463" y="109341"/>
                  </a:lnTo>
                  <a:lnTo>
                    <a:pt x="1312757" y="62018"/>
                  </a:lnTo>
                  <a:lnTo>
                    <a:pt x="1201179" y="27727"/>
                  </a:lnTo>
                  <a:lnTo>
                    <a:pt x="1086313" y="6956"/>
                  </a:lnTo>
                  <a:lnTo>
                    <a:pt x="969792" y="0"/>
                  </a:lnTo>
                  <a:lnTo>
                    <a:pt x="853270" y="6956"/>
                  </a:lnTo>
                  <a:lnTo>
                    <a:pt x="738404" y="27727"/>
                  </a:lnTo>
                  <a:lnTo>
                    <a:pt x="626826" y="62018"/>
                  </a:lnTo>
                  <a:lnTo>
                    <a:pt x="520120" y="109341"/>
                  </a:lnTo>
                  <a:lnTo>
                    <a:pt x="419802" y="169023"/>
                  </a:lnTo>
                  <a:lnTo>
                    <a:pt x="327298" y="240218"/>
                  </a:lnTo>
                  <a:lnTo>
                    <a:pt x="243922" y="321913"/>
                  </a:lnTo>
                  <a:lnTo>
                    <a:pt x="170859" y="412948"/>
                  </a:lnTo>
                  <a:lnTo>
                    <a:pt x="109146" y="512030"/>
                  </a:lnTo>
                  <a:lnTo>
                    <a:pt x="59661" y="617750"/>
                  </a:lnTo>
                  <a:lnTo>
                    <a:pt x="23105" y="728607"/>
                  </a:lnTo>
                  <a:lnTo>
                    <a:pt x="0" y="843027"/>
                  </a:lnTo>
                  <a:lnTo>
                    <a:pt x="176102" y="867776"/>
                  </a:lnTo>
                  <a:lnTo>
                    <a:pt x="195012" y="774134"/>
                  </a:lnTo>
                  <a:lnTo>
                    <a:pt x="224929" y="683407"/>
                  </a:lnTo>
                  <a:lnTo>
                    <a:pt x="265428" y="596884"/>
                  </a:lnTo>
                  <a:lnTo>
                    <a:pt x="315935" y="515794"/>
                  </a:lnTo>
                  <a:lnTo>
                    <a:pt x="375731" y="441290"/>
                  </a:lnTo>
                  <a:lnTo>
                    <a:pt x="443967" y="374430"/>
                  </a:lnTo>
                  <a:lnTo>
                    <a:pt x="519673" y="316163"/>
                  </a:lnTo>
                  <a:lnTo>
                    <a:pt x="601774" y="267318"/>
                  </a:lnTo>
                  <a:lnTo>
                    <a:pt x="689104" y="228589"/>
                  </a:lnTo>
                  <a:lnTo>
                    <a:pt x="780421" y="200525"/>
                  </a:lnTo>
                  <a:lnTo>
                    <a:pt x="874429" y="183525"/>
                  </a:lnTo>
                  <a:lnTo>
                    <a:pt x="969792" y="177832"/>
                  </a:lnTo>
                  <a:lnTo>
                    <a:pt x="1065154" y="183525"/>
                  </a:lnTo>
                  <a:lnTo>
                    <a:pt x="1159162" y="200525"/>
                  </a:lnTo>
                  <a:lnTo>
                    <a:pt x="1250479" y="228589"/>
                  </a:lnTo>
                  <a:lnTo>
                    <a:pt x="1337809" y="267318"/>
                  </a:lnTo>
                  <a:lnTo>
                    <a:pt x="1419910" y="316163"/>
                  </a:lnTo>
                  <a:lnTo>
                    <a:pt x="1495616" y="374430"/>
                  </a:lnTo>
                  <a:lnTo>
                    <a:pt x="1563852" y="441290"/>
                  </a:lnTo>
                  <a:lnTo>
                    <a:pt x="1623648" y="515794"/>
                  </a:lnTo>
                  <a:lnTo>
                    <a:pt x="1674155" y="596884"/>
                  </a:lnTo>
                  <a:lnTo>
                    <a:pt x="1714654" y="683407"/>
                  </a:lnTo>
                  <a:lnTo>
                    <a:pt x="1744571" y="774134"/>
                  </a:lnTo>
                  <a:lnTo>
                    <a:pt x="1763481" y="867776"/>
                  </a:lnTo>
                  <a:close/>
                </a:path>
              </a:pathLst>
            </a:cu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ear cup"/>
            <p:cNvSpPr/>
            <p:nvPr/>
          </p:nvSpPr>
          <p:spPr>
            <a:xfrm>
              <a:off x="1714911" y="2334463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ear cup"/>
            <p:cNvSpPr/>
            <p:nvPr/>
          </p:nvSpPr>
          <p:spPr>
            <a:xfrm>
              <a:off x="3491682" y="2334463"/>
              <a:ext cx="279806" cy="528523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mic boom"/>
            <p:cNvSpPr/>
            <p:nvPr/>
          </p:nvSpPr>
          <p:spPr>
            <a:xfrm>
              <a:off x="1864918" y="2831896"/>
              <a:ext cx="614020" cy="365541"/>
            </a:xfrm>
            <a:custGeom>
              <a:avLst/>
              <a:gdLst/>
              <a:ahLst/>
              <a:cxnLst/>
              <a:rect l="l" t="t" r="r" b="b"/>
              <a:pathLst>
                <a:path w="614020" h="365541">
                  <a:moveTo>
                    <a:pt x="0" y="0"/>
                  </a:moveTo>
                  <a:lnTo>
                    <a:pt x="783" y="32022"/>
                  </a:lnTo>
                  <a:lnTo>
                    <a:pt x="3133" y="62576"/>
                  </a:lnTo>
                  <a:lnTo>
                    <a:pt x="7049" y="91663"/>
                  </a:lnTo>
                  <a:lnTo>
                    <a:pt x="12531" y="119283"/>
                  </a:lnTo>
                  <a:lnTo>
                    <a:pt x="19580" y="145435"/>
                  </a:lnTo>
                  <a:lnTo>
                    <a:pt x="28195" y="170121"/>
                  </a:lnTo>
                  <a:lnTo>
                    <a:pt x="38377" y="193339"/>
                  </a:lnTo>
                  <a:lnTo>
                    <a:pt x="50124" y="215090"/>
                  </a:lnTo>
                  <a:lnTo>
                    <a:pt x="63439" y="235373"/>
                  </a:lnTo>
                  <a:lnTo>
                    <a:pt x="78319" y="254190"/>
                  </a:lnTo>
                  <a:lnTo>
                    <a:pt x="94766" y="271539"/>
                  </a:lnTo>
                  <a:lnTo>
                    <a:pt x="112779" y="287420"/>
                  </a:lnTo>
                  <a:lnTo>
                    <a:pt x="132359" y="301835"/>
                  </a:lnTo>
                  <a:lnTo>
                    <a:pt x="153505" y="314783"/>
                  </a:lnTo>
                  <a:lnTo>
                    <a:pt x="176218" y="326263"/>
                  </a:lnTo>
                  <a:lnTo>
                    <a:pt x="200496" y="336276"/>
                  </a:lnTo>
                  <a:lnTo>
                    <a:pt x="226342" y="344821"/>
                  </a:lnTo>
                  <a:lnTo>
                    <a:pt x="253753" y="351900"/>
                  </a:lnTo>
                  <a:lnTo>
                    <a:pt x="282731" y="357511"/>
                  </a:lnTo>
                  <a:lnTo>
                    <a:pt x="313276" y="361655"/>
                  </a:lnTo>
                  <a:lnTo>
                    <a:pt x="345386" y="364332"/>
                  </a:lnTo>
                  <a:lnTo>
                    <a:pt x="379063" y="365541"/>
                  </a:lnTo>
                  <a:lnTo>
                    <a:pt x="414307" y="365283"/>
                  </a:lnTo>
                  <a:lnTo>
                    <a:pt x="451117" y="363558"/>
                  </a:lnTo>
                  <a:lnTo>
                    <a:pt x="489493" y="360366"/>
                  </a:lnTo>
                  <a:lnTo>
                    <a:pt x="529436" y="355707"/>
                  </a:lnTo>
                  <a:lnTo>
                    <a:pt x="570945" y="349580"/>
                  </a:lnTo>
                  <a:lnTo>
                    <a:pt x="614020" y="341986"/>
                  </a:lnTo>
                </a:path>
              </a:pathLst>
            </a:custGeom>
            <a:noFill/>
            <a:ln w="69088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mic tip"/>
            <p:cNvSpPr/>
            <p:nvPr/>
          </p:nvSpPr>
          <p:spPr>
            <a:xfrm>
              <a:off x="2385669" y="3080613"/>
              <a:ext cx="186537" cy="1865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" name="PLACEHOLDER LABEL"/>
          <p:cNvSpPr txBox="1"/>
          <p:nvPr/>
        </p:nvSpPr>
        <p:spPr>
          <a:xfrm>
            <a:off x="777240" y="4919472"/>
            <a:ext cx="3931920" cy="54864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grpSp>
        <p:nvGrpSpPr>
          <p:cNvPr id="15" name="Trait tags" descr="Four small trait tags for the guide: Warm, Bubbly, Expressive, Good teacher."/>
          <p:cNvGrpSpPr/>
          <p:nvPr/>
        </p:nvGrpSpPr>
        <p:grpSpPr>
          <a:xfrm>
            <a:off x="5394960" y="1463040"/>
            <a:ext cx="4289027" cy="1389888"/>
            <a:chOff x="5394960" y="1463040"/>
            <a:chExt cx="4289027" cy="1389888"/>
          </a:xfrm>
        </p:grpSpPr>
        <p:sp>
          <p:nvSpPr>
            <p:cNvPr id="16" name="trait tag"/>
            <p:cNvSpPr/>
            <p:nvPr/>
          </p:nvSpPr>
          <p:spPr>
            <a:xfrm>
              <a:off x="5394960" y="1463040"/>
              <a:ext cx="1244897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Warm</a:t>
              </a:r>
            </a:p>
          </p:txBody>
        </p:sp>
        <p:sp>
          <p:nvSpPr>
            <p:cNvPr id="17" name="trait tag"/>
            <p:cNvSpPr/>
            <p:nvPr/>
          </p:nvSpPr>
          <p:spPr>
            <a:xfrm>
              <a:off x="6949440" y="1463040"/>
              <a:ext cx="1409382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Bubbly</a:t>
              </a:r>
            </a:p>
          </p:txBody>
        </p:sp>
        <p:sp>
          <p:nvSpPr>
            <p:cNvPr id="18" name="trait tag"/>
            <p:cNvSpPr/>
            <p:nvPr/>
          </p:nvSpPr>
          <p:spPr>
            <a:xfrm>
              <a:off x="5394960" y="2286000"/>
              <a:ext cx="1890236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Expressive</a:t>
              </a:r>
            </a:p>
          </p:txBody>
        </p:sp>
        <p:sp>
          <p:nvSpPr>
            <p:cNvPr id="19" name="trait tag"/>
            <p:cNvSpPr/>
            <p:nvPr/>
          </p:nvSpPr>
          <p:spPr>
            <a:xfrm>
              <a:off x="7498079" y="2286000"/>
              <a:ext cx="2185908" cy="566928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45720" tIns="0" rIns="45720" bIns="0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Good teacher</a:t>
              </a:r>
            </a:p>
          </p:txBody>
        </p:sp>
      </p:grpSp>
      <p:grpSp>
        <p:nvGrpSpPr>
          <p:cNvPr id="20" name="Voice note" descr="A note with a microphone icon: voiced by the project's creator."/>
          <p:cNvGrpSpPr/>
          <p:nvPr/>
        </p:nvGrpSpPr>
        <p:grpSpPr>
          <a:xfrm>
            <a:off x="5394960" y="3200400"/>
            <a:ext cx="6245352" cy="1005840"/>
            <a:chOff x="5394960" y="3200400"/>
            <a:chExt cx="6245352" cy="1005840"/>
          </a:xfrm>
        </p:grpSpPr>
        <p:sp>
          <p:nvSpPr>
            <p:cNvPr id="21" name="note card"/>
            <p:cNvSpPr/>
            <p:nvPr/>
          </p:nvSpPr>
          <p:spPr>
            <a:xfrm>
              <a:off x="5394960" y="3200400"/>
              <a:ext cx="6245352" cy="1005840"/>
            </a:xfrm>
            <a:prstGeom prst="roundRect">
              <a:avLst>
                <a:gd name="adj" fmla="val 727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mic head"/>
            <p:cNvSpPr/>
            <p:nvPr/>
          </p:nvSpPr>
          <p:spPr>
            <a:xfrm>
              <a:off x="5864961" y="3268980"/>
              <a:ext cx="248716" cy="466344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mic cradle"/>
            <p:cNvSpPr/>
            <p:nvPr/>
          </p:nvSpPr>
          <p:spPr>
            <a:xfrm>
              <a:off x="5748375" y="3626510"/>
              <a:ext cx="481889" cy="240944"/>
            </a:xfrm>
            <a:custGeom>
              <a:avLst/>
              <a:gdLst/>
              <a:ahLst/>
              <a:cxnLst/>
              <a:rect l="l" t="t" r="r" b="b"/>
              <a:pathLst>
                <a:path w="481889" h="240944">
                  <a:moveTo>
                    <a:pt x="0" y="0"/>
                  </a:moveTo>
                  <a:lnTo>
                    <a:pt x="2061" y="31449"/>
                  </a:lnTo>
                  <a:lnTo>
                    <a:pt x="8210" y="62361"/>
                  </a:lnTo>
                  <a:lnTo>
                    <a:pt x="18341" y="92205"/>
                  </a:lnTo>
                  <a:lnTo>
                    <a:pt x="32281" y="120472"/>
                  </a:lnTo>
                  <a:lnTo>
                    <a:pt x="49790" y="146678"/>
                  </a:lnTo>
                  <a:lnTo>
                    <a:pt x="70571" y="170373"/>
                  </a:lnTo>
                  <a:lnTo>
                    <a:pt x="94267" y="191154"/>
                  </a:lnTo>
                  <a:lnTo>
                    <a:pt x="120472" y="208664"/>
                  </a:lnTo>
                  <a:lnTo>
                    <a:pt x="148739" y="222603"/>
                  </a:lnTo>
                  <a:lnTo>
                    <a:pt x="178584" y="232734"/>
                  </a:lnTo>
                  <a:lnTo>
                    <a:pt x="209495" y="238883"/>
                  </a:lnTo>
                  <a:lnTo>
                    <a:pt x="240945" y="240944"/>
                  </a:lnTo>
                  <a:lnTo>
                    <a:pt x="272394" y="238883"/>
                  </a:lnTo>
                  <a:lnTo>
                    <a:pt x="303305" y="232734"/>
                  </a:lnTo>
                  <a:lnTo>
                    <a:pt x="333150" y="222603"/>
                  </a:lnTo>
                  <a:lnTo>
                    <a:pt x="361417" y="208664"/>
                  </a:lnTo>
                  <a:lnTo>
                    <a:pt x="387622" y="191154"/>
                  </a:lnTo>
                  <a:lnTo>
                    <a:pt x="411318" y="170373"/>
                  </a:lnTo>
                  <a:lnTo>
                    <a:pt x="432099" y="146678"/>
                  </a:lnTo>
                  <a:lnTo>
                    <a:pt x="449608" y="120472"/>
                  </a:lnTo>
                  <a:lnTo>
                    <a:pt x="463548" y="92205"/>
                  </a:lnTo>
                  <a:lnTo>
                    <a:pt x="473679" y="62361"/>
                  </a:lnTo>
                  <a:lnTo>
                    <a:pt x="479828" y="31449"/>
                  </a:lnTo>
                  <a:lnTo>
                    <a:pt x="481889" y="0"/>
                  </a:lnTo>
                  <a:lnTo>
                    <a:pt x="419710" y="0"/>
                  </a:lnTo>
                  <a:lnTo>
                    <a:pt x="418180" y="23333"/>
                  </a:lnTo>
                  <a:lnTo>
                    <a:pt x="413618" y="46268"/>
                  </a:lnTo>
                  <a:lnTo>
                    <a:pt x="406102" y="68410"/>
                  </a:lnTo>
                  <a:lnTo>
                    <a:pt x="395760" y="89383"/>
                  </a:lnTo>
                  <a:lnTo>
                    <a:pt x="382768" y="108825"/>
                  </a:lnTo>
                  <a:lnTo>
                    <a:pt x="367351" y="126406"/>
                  </a:lnTo>
                  <a:lnTo>
                    <a:pt x="349770" y="141824"/>
                  </a:lnTo>
                  <a:lnTo>
                    <a:pt x="330327" y="154815"/>
                  </a:lnTo>
                  <a:lnTo>
                    <a:pt x="309355" y="165157"/>
                  </a:lnTo>
                  <a:lnTo>
                    <a:pt x="287212" y="172674"/>
                  </a:lnTo>
                  <a:lnTo>
                    <a:pt x="264278" y="177236"/>
                  </a:lnTo>
                  <a:lnTo>
                    <a:pt x="240945" y="178765"/>
                  </a:lnTo>
                  <a:lnTo>
                    <a:pt x="217611" y="177236"/>
                  </a:lnTo>
                  <a:lnTo>
                    <a:pt x="194677" y="172674"/>
                  </a:lnTo>
                  <a:lnTo>
                    <a:pt x="172534" y="165157"/>
                  </a:lnTo>
                  <a:lnTo>
                    <a:pt x="151562" y="154815"/>
                  </a:lnTo>
                  <a:lnTo>
                    <a:pt x="132119" y="141824"/>
                  </a:lnTo>
                  <a:lnTo>
                    <a:pt x="114538" y="126406"/>
                  </a:lnTo>
                  <a:lnTo>
                    <a:pt x="99121" y="108825"/>
                  </a:lnTo>
                  <a:lnTo>
                    <a:pt x="86129" y="89383"/>
                  </a:lnTo>
                  <a:lnTo>
                    <a:pt x="75787" y="68410"/>
                  </a:lnTo>
                  <a:lnTo>
                    <a:pt x="68271" y="46268"/>
                  </a:lnTo>
                  <a:lnTo>
                    <a:pt x="63709" y="23333"/>
                  </a:lnTo>
                  <a:lnTo>
                    <a:pt x="62179" y="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mic stem"/>
            <p:cNvSpPr/>
            <p:nvPr/>
          </p:nvSpPr>
          <p:spPr>
            <a:xfrm>
              <a:off x="5958230" y="3859682"/>
              <a:ext cx="62179" cy="139903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mic base"/>
            <p:cNvSpPr/>
            <p:nvPr/>
          </p:nvSpPr>
          <p:spPr>
            <a:xfrm>
              <a:off x="5818327" y="3999585"/>
              <a:ext cx="341985" cy="5440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6583680" y="3200400"/>
              <a:ext cx="4937760" cy="10058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Voiced by the project's creator.</a:t>
              </a:r>
            </a:p>
          </p:txBody>
        </p:sp>
      </p:grpSp>
      <p:sp>
        <p:nvSpPr>
          <p:cNvPr id="27" name="ICHIP"/>
          <p:cNvSpPr/>
          <p:nvPr/>
        </p:nvSpPr>
        <p:spPr>
          <a:xfrm>
            <a:off x="5394960" y="4663440"/>
            <a:ext cx="3215481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Name and look: undecided (OQ15)</a:t>
            </a:r>
          </a:p>
        </p:txBody>
      </p:sp>
      <p:sp>
        <p:nvSpPr>
          <p:cNvPr id="28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Early Locomotion has its own friendly railway guide. She loves trains and loves teaching.</a:t>
            </a:r>
          </a:p>
        </p:txBody>
      </p:sp>
      <p:sp>
        <p:nvSpPr>
          <p:cNvPr id="31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Not the game's ADA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wo speech bubbles" descr="Two speech bubbles. On the left, a cool grey bubble: ADA is colder and corporate. On the right, a warm orange bubble: the guide is warm and friendly. They are separate characters."/>
          <p:cNvGrpSpPr/>
          <p:nvPr/>
        </p:nvGrpSpPr>
        <p:grpSpPr>
          <a:xfrm>
            <a:off x="822960" y="2103120"/>
            <a:ext cx="10515600" cy="3200400"/>
            <a:chOff x="822960" y="2103120"/>
            <a:chExt cx="10515600" cy="3200400"/>
          </a:xfrm>
        </p:grpSpPr>
        <p:sp>
          <p:nvSpPr>
            <p:cNvPr id="5" name="ADA bubble body"/>
            <p:cNvSpPr/>
            <p:nvPr/>
          </p:nvSpPr>
          <p:spPr>
            <a:xfrm>
              <a:off x="822960" y="2103120"/>
              <a:ext cx="4754880" cy="1737360"/>
            </a:xfrm>
            <a:prstGeom prst="roundRect">
              <a:avLst>
                <a:gd name="adj" fmla="val 15789"/>
              </a:avLst>
            </a:prstGeom>
            <a:solidFill>
              <a:srgbClr val="5B6672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ADA: colder, corporate</a:t>
              </a:r>
            </a:p>
          </p:txBody>
        </p:sp>
        <p:sp>
          <p:nvSpPr>
            <p:cNvPr id="6" name="ADA bubble tail"/>
            <p:cNvSpPr/>
            <p:nvPr/>
          </p:nvSpPr>
          <p:spPr>
            <a:xfrm>
              <a:off x="1325880" y="3822191"/>
              <a:ext cx="365760" cy="475488"/>
            </a:xfrm>
            <a:custGeom>
              <a:avLst/>
              <a:gdLst/>
              <a:ahLst/>
              <a:cxnLst/>
              <a:rect l="l" t="t" r="r" b="b"/>
              <a:pathLst>
                <a:path w="365760" h="475488">
                  <a:moveTo>
                    <a:pt x="0" y="0"/>
                  </a:moveTo>
                  <a:lnTo>
                    <a:pt x="365760" y="0"/>
                  </a:lnTo>
                  <a:lnTo>
                    <a:pt x="54864" y="475488"/>
                  </a:lnTo>
                  <a:close/>
                </a:path>
              </a:pathLst>
            </a:cu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guide bubble body"/>
            <p:cNvSpPr/>
            <p:nvPr/>
          </p:nvSpPr>
          <p:spPr>
            <a:xfrm>
              <a:off x="6583680" y="2103120"/>
              <a:ext cx="4754880" cy="1737360"/>
            </a:xfrm>
            <a:prstGeom prst="roundRect">
              <a:avLst>
                <a:gd name="adj" fmla="val 15789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600" b="1" i="0" lang="en-GB">
                  <a:solidFill>
                    <a:srgbClr val="101418"/>
                  </a:solidFill>
                  <a:latin typeface="Arial"/>
                </a:rPr>
                <a:t>The guide: warm, friendly</a:t>
              </a:r>
            </a:p>
          </p:txBody>
        </p:sp>
        <p:sp>
          <p:nvSpPr>
            <p:cNvPr id="8" name="guide bubble tail"/>
            <p:cNvSpPr/>
            <p:nvPr/>
          </p:nvSpPr>
          <p:spPr>
            <a:xfrm>
              <a:off x="10469880" y="3822191"/>
              <a:ext cx="365760" cy="475488"/>
            </a:xfrm>
            <a:custGeom>
              <a:avLst/>
              <a:gdLst/>
              <a:ahLst/>
              <a:cxnLst/>
              <a:rect l="l" t="t" r="r" b="b"/>
              <a:pathLst>
                <a:path w="365760" h="475488">
                  <a:moveTo>
                    <a:pt x="0" y="0"/>
                  </a:moveTo>
                  <a:lnTo>
                    <a:pt x="365760" y="0"/>
                  </a:lnTo>
                  <a:lnTo>
                    <a:pt x="310896" y="475488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ADA dot ring"/>
            <p:cNvSpPr/>
            <p:nvPr/>
          </p:nvSpPr>
          <p:spPr>
            <a:xfrm>
              <a:off x="914400" y="4434840"/>
              <a:ext cx="868680" cy="868680"/>
            </a:xfrm>
            <a:prstGeom prst="ellipse">
              <a:avLst/>
            </a:prstGeom>
            <a:noFill/>
            <a:ln w="76200">
              <a:solidFill>
                <a:srgbClr val="5B667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ADA dot"/>
            <p:cNvSpPr/>
            <p:nvPr/>
          </p:nvSpPr>
          <p:spPr>
            <a:xfrm>
              <a:off x="1216152" y="4736592"/>
              <a:ext cx="265176" cy="265176"/>
            </a:xfrm>
            <a:prstGeom prst="ellipse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guide dot ring"/>
            <p:cNvSpPr/>
            <p:nvPr/>
          </p:nvSpPr>
          <p:spPr>
            <a:xfrm>
              <a:off x="10378440" y="4434840"/>
              <a:ext cx="868680" cy="868680"/>
            </a:xfrm>
            <a:prstGeom prst="ellipse">
              <a:avLst/>
            </a:prstGeom>
            <a:noFill/>
            <a:ln w="762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guide dot"/>
            <p:cNvSpPr/>
            <p:nvPr/>
          </p:nvSpPr>
          <p:spPr>
            <a:xfrm>
              <a:off x="10680192" y="4736592"/>
              <a:ext cx="265176" cy="265176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not equal bar"/>
            <p:cNvCxnSpPr/>
            <p:nvPr/>
          </p:nvCxnSpPr>
          <p:spPr>
            <a:xfrm>
              <a:off x="5742432" y="2743200"/>
              <a:ext cx="676656" cy="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  <p:cxnSp>
          <p:nvCxnSpPr>
            <p:cNvPr id="14" name="not equal bar"/>
            <p:cNvCxnSpPr/>
            <p:nvPr/>
          </p:nvCxnSpPr>
          <p:spPr>
            <a:xfrm>
              <a:off x="5742432" y="3200400"/>
              <a:ext cx="676656" cy="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  <p:cxnSp>
          <p:nvCxnSpPr>
            <p:cNvPr id="15" name="not equal slash"/>
            <p:cNvCxnSpPr/>
            <p:nvPr/>
          </p:nvCxnSpPr>
          <p:spPr>
            <a:xfrm flipV="1">
              <a:off x="5943600" y="2423160"/>
              <a:ext cx="274320" cy="1097280"/>
            </a:xfrm>
            <a:prstGeom prst="line">
              <a:avLst/>
            </a:prstGeom>
            <a:ln w="63500" cap="rnd">
              <a:solidFill>
                <a:srgbClr val="A9B0B8"/>
              </a:solidFill>
            </a:ln>
          </p:spPr>
        </p:cxnSp>
      </p:grpSp>
      <p:sp>
        <p:nvSpPr>
          <p:cNvPr id="16" name="ICHIP"/>
          <p:cNvSpPr/>
          <p:nvPr/>
        </p:nvSpPr>
        <p:spPr>
          <a:xfrm>
            <a:off x="822960" y="1508760"/>
            <a:ext cx="3083520" cy="310896"/>
          </a:xfrm>
          <a:prstGeom prst="roundRect">
            <a:avLst>
              <a:gd name="adj" fmla="val 35294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ADA is the game's own assistant</a:t>
            </a:r>
          </a:p>
        </p:txBody>
      </p:sp>
      <p:sp>
        <p:nvSpPr>
          <p:cNvPr id="1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She is a separate character from ADA. Warmer, friendlier and railway-mad.</a:t>
            </a:r>
          </a:p>
        </p:txBody>
      </p:sp>
      <p:sp>
        <p:nvSpPr>
          <p:cNvPr id="2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What she is not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ix crossed-out cards" descr="Six cards, each crossed out with a red cross: Live AI, Network checker, Route calculator, Signal placer, Automatic fixer and Train driver. She is none of these."/>
          <p:cNvGrpSpPr/>
          <p:nvPr/>
        </p:nvGrpSpPr>
        <p:grpSpPr>
          <a:xfrm>
            <a:off x="548640" y="1289304"/>
            <a:ext cx="11265407" cy="4087368"/>
            <a:chOff x="548640" y="1289304"/>
            <a:chExt cx="11265407" cy="4087368"/>
          </a:xfrm>
        </p:grpSpPr>
        <p:sp>
          <p:nvSpPr>
            <p:cNvPr id="5" name="card"/>
            <p:cNvSpPr/>
            <p:nvPr/>
          </p:nvSpPr>
          <p:spPr>
            <a:xfrm>
              <a:off x="548640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at bubble"/>
            <p:cNvSpPr/>
            <p:nvPr/>
          </p:nvSpPr>
          <p:spPr>
            <a:xfrm>
              <a:off x="896112" y="2066544"/>
              <a:ext cx="768096" cy="493776"/>
            </a:xfrm>
            <a:prstGeom prst="roundRect">
              <a:avLst>
                <a:gd name="adj" fmla="val 25925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chat tail"/>
            <p:cNvSpPr/>
            <p:nvPr/>
          </p:nvSpPr>
          <p:spPr>
            <a:xfrm>
              <a:off x="1024127" y="2542032"/>
              <a:ext cx="201168" cy="237744"/>
            </a:xfrm>
            <a:custGeom>
              <a:avLst/>
              <a:gdLst/>
              <a:ahLst/>
              <a:cxnLst/>
              <a:rect l="l" t="t" r="r" b="b"/>
              <a:pathLst>
                <a:path w="201168" h="237744">
                  <a:moveTo>
                    <a:pt x="54865" y="0"/>
                  </a:moveTo>
                  <a:lnTo>
                    <a:pt x="201168" y="0"/>
                  </a:lnTo>
                  <a:lnTo>
                    <a:pt x="0" y="237744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hat dot"/>
            <p:cNvSpPr/>
            <p:nvPr/>
          </p:nvSpPr>
          <p:spPr>
            <a:xfrm>
              <a:off x="1051560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at dot"/>
            <p:cNvSpPr/>
            <p:nvPr/>
          </p:nvSpPr>
          <p:spPr>
            <a:xfrm>
              <a:off x="1234439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hat dot"/>
            <p:cNvSpPr/>
            <p:nvPr/>
          </p:nvSpPr>
          <p:spPr>
            <a:xfrm>
              <a:off x="1417319" y="2267712"/>
              <a:ext cx="91440" cy="9144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ard label"/>
            <p:cNvSpPr txBox="1"/>
            <p:nvPr/>
          </p:nvSpPr>
          <p:spPr>
            <a:xfrm>
              <a:off x="1965960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Live AI</a:t>
              </a:r>
            </a:p>
          </p:txBody>
        </p:sp>
        <p:sp>
          <p:nvSpPr>
            <p:cNvPr id="12" name="cross disc"/>
            <p:cNvSpPr/>
            <p:nvPr/>
          </p:nvSpPr>
          <p:spPr>
            <a:xfrm>
              <a:off x="3675888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ross bar"/>
            <p:cNvCxnSpPr/>
            <p:nvPr/>
          </p:nvCxnSpPr>
          <p:spPr>
            <a:xfrm>
              <a:off x="3811950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14" name="cross bar"/>
            <p:cNvCxnSpPr/>
            <p:nvPr/>
          </p:nvCxnSpPr>
          <p:spPr>
            <a:xfrm flipV="1">
              <a:off x="3811950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15" name="card"/>
            <p:cNvSpPr/>
            <p:nvPr/>
          </p:nvSpPr>
          <p:spPr>
            <a:xfrm>
              <a:off x="4334255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lens"/>
            <p:cNvSpPr/>
            <p:nvPr/>
          </p:nvSpPr>
          <p:spPr>
            <a:xfrm>
              <a:off x="4700015" y="2011680"/>
              <a:ext cx="530352" cy="530352"/>
            </a:xfrm>
            <a:prstGeom prst="ellipse">
              <a:avLst/>
            </a:prstGeom>
            <a:noFill/>
            <a:ln w="635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handle"/>
            <p:cNvCxnSpPr/>
            <p:nvPr/>
          </p:nvCxnSpPr>
          <p:spPr>
            <a:xfrm>
              <a:off x="5129783" y="2441448"/>
              <a:ext cx="320040" cy="320040"/>
            </a:xfrm>
            <a:prstGeom prst="line">
              <a:avLst/>
            </a:prstGeom>
            <a:ln w="88900" cap="rnd">
              <a:solidFill>
                <a:srgbClr val="9AA0A6"/>
              </a:solidFill>
            </a:ln>
          </p:spPr>
        </p:cxnSp>
        <p:sp>
          <p:nvSpPr>
            <p:cNvPr id="18" name="node"/>
            <p:cNvSpPr/>
            <p:nvPr/>
          </p:nvSpPr>
          <p:spPr>
            <a:xfrm>
              <a:off x="4745735" y="2093976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node"/>
            <p:cNvSpPr/>
            <p:nvPr/>
          </p:nvSpPr>
          <p:spPr>
            <a:xfrm>
              <a:off x="4928615" y="2185416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node"/>
            <p:cNvSpPr/>
            <p:nvPr/>
          </p:nvSpPr>
          <p:spPr>
            <a:xfrm>
              <a:off x="4855463" y="2313432"/>
              <a:ext cx="54864" cy="5486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ard label"/>
            <p:cNvSpPr txBox="1"/>
            <p:nvPr/>
          </p:nvSpPr>
          <p:spPr>
            <a:xfrm>
              <a:off x="5751575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Network checker</a:t>
              </a:r>
            </a:p>
          </p:txBody>
        </p:sp>
        <p:sp>
          <p:nvSpPr>
            <p:cNvPr id="22" name="cross disc"/>
            <p:cNvSpPr/>
            <p:nvPr/>
          </p:nvSpPr>
          <p:spPr>
            <a:xfrm>
              <a:off x="7461504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ross bar"/>
            <p:cNvCxnSpPr/>
            <p:nvPr/>
          </p:nvCxnSpPr>
          <p:spPr>
            <a:xfrm>
              <a:off x="7597566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24" name="cross bar"/>
            <p:cNvCxnSpPr/>
            <p:nvPr/>
          </p:nvCxnSpPr>
          <p:spPr>
            <a:xfrm flipV="1">
              <a:off x="7597566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25" name="card"/>
            <p:cNvSpPr/>
            <p:nvPr/>
          </p:nvSpPr>
          <p:spPr>
            <a:xfrm>
              <a:off x="8119871" y="1463040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alculator"/>
            <p:cNvSpPr/>
            <p:nvPr/>
          </p:nvSpPr>
          <p:spPr>
            <a:xfrm>
              <a:off x="8558784" y="1975104"/>
              <a:ext cx="585216" cy="804672"/>
            </a:xfrm>
            <a:prstGeom prst="roundRect">
              <a:avLst>
                <a:gd name="adj" fmla="val 10937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splay"/>
            <p:cNvSpPr/>
            <p:nvPr/>
          </p:nvSpPr>
          <p:spPr>
            <a:xfrm>
              <a:off x="8631936" y="2048256"/>
              <a:ext cx="438912" cy="164592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key"/>
            <p:cNvSpPr/>
            <p:nvPr/>
          </p:nvSpPr>
          <p:spPr>
            <a:xfrm>
              <a:off x="8650224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key"/>
            <p:cNvSpPr/>
            <p:nvPr/>
          </p:nvSpPr>
          <p:spPr>
            <a:xfrm>
              <a:off x="8805672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key"/>
            <p:cNvSpPr/>
            <p:nvPr/>
          </p:nvSpPr>
          <p:spPr>
            <a:xfrm>
              <a:off x="8961119" y="2286000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key"/>
            <p:cNvSpPr/>
            <p:nvPr/>
          </p:nvSpPr>
          <p:spPr>
            <a:xfrm>
              <a:off x="8650224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key"/>
            <p:cNvSpPr/>
            <p:nvPr/>
          </p:nvSpPr>
          <p:spPr>
            <a:xfrm>
              <a:off x="8805672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key"/>
            <p:cNvSpPr/>
            <p:nvPr/>
          </p:nvSpPr>
          <p:spPr>
            <a:xfrm>
              <a:off x="8961119" y="2441448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key"/>
            <p:cNvSpPr/>
            <p:nvPr/>
          </p:nvSpPr>
          <p:spPr>
            <a:xfrm>
              <a:off x="8650224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key"/>
            <p:cNvSpPr/>
            <p:nvPr/>
          </p:nvSpPr>
          <p:spPr>
            <a:xfrm>
              <a:off x="8805672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key"/>
            <p:cNvSpPr/>
            <p:nvPr/>
          </p:nvSpPr>
          <p:spPr>
            <a:xfrm>
              <a:off x="8961119" y="2596896"/>
              <a:ext cx="109728" cy="109728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card label"/>
            <p:cNvSpPr txBox="1"/>
            <p:nvPr/>
          </p:nvSpPr>
          <p:spPr>
            <a:xfrm>
              <a:off x="9537192" y="1645920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Route calculator</a:t>
              </a:r>
            </a:p>
          </p:txBody>
        </p:sp>
        <p:sp>
          <p:nvSpPr>
            <p:cNvPr id="38" name="cross disc"/>
            <p:cNvSpPr/>
            <p:nvPr/>
          </p:nvSpPr>
          <p:spPr>
            <a:xfrm>
              <a:off x="11247119" y="1289304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ross bar"/>
            <p:cNvCxnSpPr/>
            <p:nvPr/>
          </p:nvCxnSpPr>
          <p:spPr>
            <a:xfrm>
              <a:off x="11383182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40" name="cross bar"/>
            <p:cNvCxnSpPr/>
            <p:nvPr/>
          </p:nvCxnSpPr>
          <p:spPr>
            <a:xfrm flipV="1">
              <a:off x="11383182" y="1425366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41" name="card"/>
            <p:cNvSpPr/>
            <p:nvPr/>
          </p:nvSpPr>
          <p:spPr>
            <a:xfrm>
              <a:off x="548640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icon semaphore post"/>
            <p:cNvSpPr/>
            <p:nvPr/>
          </p:nvSpPr>
          <p:spPr>
            <a:xfrm>
              <a:off x="1145285" y="4005072"/>
              <a:ext cx="86868" cy="868680"/>
            </a:xfrm>
            <a:prstGeom prst="rect">
              <a:avLst/>
            </a:prstGeom>
            <a:solidFill>
              <a:srgbClr val="E8E8E8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icon semaphore foot"/>
            <p:cNvSpPr/>
            <p:nvPr/>
          </p:nvSpPr>
          <p:spPr>
            <a:xfrm>
              <a:off x="997610" y="4821631"/>
              <a:ext cx="382219" cy="52120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icon semaphore arm"/>
            <p:cNvSpPr/>
            <p:nvPr/>
          </p:nvSpPr>
          <p:spPr>
            <a:xfrm>
              <a:off x="1195299" y="3691623"/>
              <a:ext cx="454544" cy="454545"/>
            </a:xfrm>
            <a:custGeom>
              <a:avLst/>
              <a:gdLst/>
              <a:ahLst/>
              <a:cxnLst/>
              <a:rect l="l" t="t" r="r" b="b"/>
              <a:pathLst>
                <a:path w="454544" h="454545">
                  <a:moveTo>
                    <a:pt x="0" y="380835"/>
                  </a:moveTo>
                  <a:lnTo>
                    <a:pt x="380834" y="0"/>
                  </a:lnTo>
                  <a:lnTo>
                    <a:pt x="454544" y="73710"/>
                  </a:lnTo>
                  <a:lnTo>
                    <a:pt x="73709" y="454545"/>
                  </a:lnTo>
                  <a:close/>
                </a:path>
              </a:pathLst>
            </a:cu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icon semaphore lamp"/>
            <p:cNvSpPr/>
            <p:nvPr/>
          </p:nvSpPr>
          <p:spPr>
            <a:xfrm>
              <a:off x="1101851" y="3987698"/>
              <a:ext cx="173736" cy="173736"/>
            </a:xfrm>
            <a:prstGeom prst="ellipse">
              <a:avLst/>
            </a:prstGeom>
            <a:solidFill>
              <a:srgbClr val="3FB950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icon semaphore pivot"/>
            <p:cNvSpPr/>
            <p:nvPr/>
          </p:nvSpPr>
          <p:spPr>
            <a:xfrm>
              <a:off x="1197406" y="4074566"/>
              <a:ext cx="69494" cy="69494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card label"/>
            <p:cNvSpPr txBox="1"/>
            <p:nvPr/>
          </p:nvSpPr>
          <p:spPr>
            <a:xfrm>
              <a:off x="1965960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Signal placer</a:t>
              </a:r>
            </a:p>
          </p:txBody>
        </p:sp>
        <p:sp>
          <p:nvSpPr>
            <p:cNvPr id="48" name="cross disc"/>
            <p:cNvSpPr/>
            <p:nvPr/>
          </p:nvSpPr>
          <p:spPr>
            <a:xfrm>
              <a:off x="3675888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ross bar"/>
            <p:cNvCxnSpPr/>
            <p:nvPr/>
          </p:nvCxnSpPr>
          <p:spPr>
            <a:xfrm>
              <a:off x="3811950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50" name="cross bar"/>
            <p:cNvCxnSpPr/>
            <p:nvPr/>
          </p:nvCxnSpPr>
          <p:spPr>
            <a:xfrm flipV="1">
              <a:off x="3811950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51" name="card"/>
            <p:cNvSpPr/>
            <p:nvPr/>
          </p:nvSpPr>
          <p:spPr>
            <a:xfrm>
              <a:off x="4334255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tooth"/>
            <p:cNvSpPr/>
            <p:nvPr/>
          </p:nvSpPr>
          <p:spPr>
            <a:xfrm>
              <a:off x="5001767" y="4069080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ooth"/>
            <p:cNvSpPr/>
            <p:nvPr/>
          </p:nvSpPr>
          <p:spPr>
            <a:xfrm rot="2700000">
              <a:off x="5215138" y="4157461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tooth"/>
            <p:cNvSpPr/>
            <p:nvPr/>
          </p:nvSpPr>
          <p:spPr>
            <a:xfrm rot="5400000">
              <a:off x="5303519" y="437083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tooth"/>
            <p:cNvSpPr/>
            <p:nvPr/>
          </p:nvSpPr>
          <p:spPr>
            <a:xfrm rot="8100000">
              <a:off x="5215138" y="458420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tooth"/>
            <p:cNvSpPr/>
            <p:nvPr/>
          </p:nvSpPr>
          <p:spPr>
            <a:xfrm rot="10800000">
              <a:off x="5001767" y="4672584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ooth"/>
            <p:cNvSpPr/>
            <p:nvPr/>
          </p:nvSpPr>
          <p:spPr>
            <a:xfrm rot="13500000">
              <a:off x="4788397" y="458420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tooth"/>
            <p:cNvSpPr/>
            <p:nvPr/>
          </p:nvSpPr>
          <p:spPr>
            <a:xfrm rot="16200000">
              <a:off x="4700015" y="4370832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ooth"/>
            <p:cNvSpPr/>
            <p:nvPr/>
          </p:nvSpPr>
          <p:spPr>
            <a:xfrm rot="18900000">
              <a:off x="4788397" y="4157461"/>
              <a:ext cx="128016" cy="18288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gear"/>
            <p:cNvSpPr/>
            <p:nvPr/>
          </p:nvSpPr>
          <p:spPr>
            <a:xfrm>
              <a:off x="4818888" y="4215384"/>
              <a:ext cx="493776" cy="49377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gear hole"/>
            <p:cNvSpPr/>
            <p:nvPr/>
          </p:nvSpPr>
          <p:spPr>
            <a:xfrm>
              <a:off x="4965191" y="4361688"/>
              <a:ext cx="201168" cy="201168"/>
            </a:xfrm>
            <a:prstGeom prst="ellipse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card label"/>
            <p:cNvSpPr txBox="1"/>
            <p:nvPr/>
          </p:nvSpPr>
          <p:spPr>
            <a:xfrm>
              <a:off x="5751575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Automatic fixer</a:t>
              </a:r>
            </a:p>
          </p:txBody>
        </p:sp>
        <p:sp>
          <p:nvSpPr>
            <p:cNvPr id="63" name="cross disc"/>
            <p:cNvSpPr/>
            <p:nvPr/>
          </p:nvSpPr>
          <p:spPr>
            <a:xfrm>
              <a:off x="7461504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cross bar"/>
            <p:cNvCxnSpPr/>
            <p:nvPr/>
          </p:nvCxnSpPr>
          <p:spPr>
            <a:xfrm>
              <a:off x="7597566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65" name="cross bar"/>
            <p:cNvCxnSpPr/>
            <p:nvPr/>
          </p:nvCxnSpPr>
          <p:spPr>
            <a:xfrm flipV="1">
              <a:off x="7597566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sp>
          <p:nvSpPr>
            <p:cNvPr id="66" name="card"/>
            <p:cNvSpPr/>
            <p:nvPr/>
          </p:nvSpPr>
          <p:spPr>
            <a:xfrm>
              <a:off x="8119871" y="3547872"/>
              <a:ext cx="3520440" cy="1828800"/>
            </a:xfrm>
            <a:prstGeom prst="roundRect">
              <a:avLst>
                <a:gd name="adj" fmla="val 4000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icon engine cab"/>
            <p:cNvSpPr/>
            <p:nvPr/>
          </p:nvSpPr>
          <p:spPr>
            <a:xfrm>
              <a:off x="8439912" y="4355287"/>
              <a:ext cx="260604" cy="225856"/>
            </a:xfrm>
            <a:prstGeom prst="roundRect">
              <a:avLst>
                <a:gd name="adj" fmla="val 11538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icon engine boiler"/>
            <p:cNvSpPr/>
            <p:nvPr/>
          </p:nvSpPr>
          <p:spPr>
            <a:xfrm>
              <a:off x="8683142" y="4424781"/>
              <a:ext cx="486460" cy="156362"/>
            </a:xfrm>
            <a:prstGeom prst="roundRect">
              <a:avLst>
                <a:gd name="adj" fmla="val 44444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icon engine chimney"/>
            <p:cNvSpPr/>
            <p:nvPr/>
          </p:nvSpPr>
          <p:spPr>
            <a:xfrm>
              <a:off x="9047988" y="4285792"/>
              <a:ext cx="78181" cy="147675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icon engine frame"/>
            <p:cNvSpPr/>
            <p:nvPr/>
          </p:nvSpPr>
          <p:spPr>
            <a:xfrm>
              <a:off x="8439912" y="4581144"/>
              <a:ext cx="729691" cy="347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icon engine wheel"/>
            <p:cNvSpPr/>
            <p:nvPr/>
          </p:nvSpPr>
          <p:spPr>
            <a:xfrm>
              <a:off x="8509406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icon engine wheel"/>
            <p:cNvSpPr/>
            <p:nvPr/>
          </p:nvSpPr>
          <p:spPr>
            <a:xfrm>
              <a:off x="8691829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icon engine wheel"/>
            <p:cNvSpPr/>
            <p:nvPr/>
          </p:nvSpPr>
          <p:spPr>
            <a:xfrm>
              <a:off x="8874252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icon engine wheel"/>
            <p:cNvSpPr/>
            <p:nvPr/>
          </p:nvSpPr>
          <p:spPr>
            <a:xfrm>
              <a:off x="9030614" y="4572457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card label"/>
            <p:cNvSpPr txBox="1"/>
            <p:nvPr/>
          </p:nvSpPr>
          <p:spPr>
            <a:xfrm>
              <a:off x="9537192" y="3730752"/>
              <a:ext cx="1965960" cy="14630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200" b="1" i="0" lang="en-GB" strike="sngStrike">
                  <a:solidFill>
                    <a:srgbClr val="F2F2F2"/>
                  </a:solidFill>
                  <a:latin typeface="Arial"/>
                </a:rPr>
                <a:t>Train driver</a:t>
              </a:r>
            </a:p>
          </p:txBody>
        </p:sp>
        <p:sp>
          <p:nvSpPr>
            <p:cNvPr id="76" name="cross disc"/>
            <p:cNvSpPr/>
            <p:nvPr/>
          </p:nvSpPr>
          <p:spPr>
            <a:xfrm>
              <a:off x="11247119" y="3374136"/>
              <a:ext cx="566928" cy="566928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7" name="cross bar"/>
            <p:cNvCxnSpPr/>
            <p:nvPr/>
          </p:nvCxnSpPr>
          <p:spPr>
            <a:xfrm>
              <a:off x="11383182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  <p:cxnSp>
          <p:nvCxnSpPr>
            <p:cNvPr id="78" name="cross bar"/>
            <p:cNvCxnSpPr/>
            <p:nvPr/>
          </p:nvCxnSpPr>
          <p:spPr>
            <a:xfrm flipV="1">
              <a:off x="11383182" y="3510198"/>
              <a:ext cx="294803" cy="294803"/>
            </a:xfrm>
            <a:prstGeom prst="line">
              <a:avLst/>
            </a:prstGeom>
            <a:ln w="47244" cap="rnd">
              <a:solidFill>
                <a:srgbClr val="F2F2F2"/>
              </a:solidFill>
            </a:ln>
          </p:spPr>
        </p:cxnSp>
      </p:grpSp>
      <p:sp>
        <p:nvSpPr>
          <p:cNvPr id="7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She teaches. She does not run, check or fix your railway.</a:t>
            </a:r>
          </a:p>
        </p:txBody>
      </p:sp>
      <p:sp>
        <p:nvSpPr>
          <p:cNvPr id="82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Lessons, not answers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Lesson card and refused button" descr="A lesson card titled How blocks work, with a green tick. Beside it, a Fix my railway button with a red cross: she does not fix your railway for you."/>
          <p:cNvGrpSpPr/>
          <p:nvPr/>
        </p:nvGrpSpPr>
        <p:grpSpPr>
          <a:xfrm>
            <a:off x="1005840" y="1257300"/>
            <a:ext cx="10629900" cy="4046219"/>
            <a:chOff x="1005840" y="1257300"/>
            <a:chExt cx="10629900" cy="4046219"/>
          </a:xfrm>
        </p:grpSpPr>
        <p:sp>
          <p:nvSpPr>
            <p:cNvPr id="5" name="lesson card"/>
            <p:cNvSpPr/>
            <p:nvPr/>
          </p:nvSpPr>
          <p:spPr>
            <a:xfrm>
              <a:off x="1005840" y="1554480"/>
              <a:ext cx="4480560" cy="3749039"/>
            </a:xfrm>
            <a:prstGeom prst="roundRect">
              <a:avLst>
                <a:gd name="adj" fmla="val 2439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lesson preview"/>
            <p:cNvSpPr/>
            <p:nvPr/>
          </p:nvSpPr>
          <p:spPr>
            <a:xfrm>
              <a:off x="1371600" y="1920240"/>
              <a:ext cx="3749040" cy="1737360"/>
            </a:xfrm>
            <a:prstGeom prst="roundRect">
              <a:avLst>
                <a:gd name="adj" fmla="val 4210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review loop"/>
            <p:cNvSpPr/>
            <p:nvPr/>
          </p:nvSpPr>
          <p:spPr>
            <a:xfrm>
              <a:off x="1828800" y="2240280"/>
              <a:ext cx="2834640" cy="1097280"/>
            </a:xfrm>
            <a:prstGeom prst="roundRect">
              <a:avLst>
                <a:gd name="adj" fmla="val 50000"/>
              </a:avLst>
            </a:prstGeom>
            <a:noFill/>
            <a:ln w="3810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play disc"/>
            <p:cNvSpPr/>
            <p:nvPr/>
          </p:nvSpPr>
          <p:spPr>
            <a:xfrm>
              <a:off x="2971800" y="2514600"/>
              <a:ext cx="548640" cy="54864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play"/>
            <p:cNvSpPr/>
            <p:nvPr/>
          </p:nvSpPr>
          <p:spPr>
            <a:xfrm>
              <a:off x="3171139" y="2642615"/>
              <a:ext cx="248717" cy="292609"/>
            </a:xfrm>
            <a:custGeom>
              <a:avLst/>
              <a:gdLst/>
              <a:ahLst/>
              <a:cxnLst/>
              <a:rect l="l" t="t" r="r" b="b"/>
              <a:pathLst>
                <a:path w="248717" h="292609">
                  <a:moveTo>
                    <a:pt x="0" y="0"/>
                  </a:moveTo>
                  <a:lnTo>
                    <a:pt x="0" y="292609"/>
                  </a:lnTo>
                  <a:lnTo>
                    <a:pt x="248717" y="146305"/>
                  </a:lnTo>
                  <a:close/>
                </a:path>
              </a:pathLst>
            </a:cu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lesson title"/>
            <p:cNvSpPr txBox="1"/>
            <p:nvPr/>
          </p:nvSpPr>
          <p:spPr>
            <a:xfrm>
              <a:off x="1188720" y="3931920"/>
              <a:ext cx="411480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How blocks work</a:t>
              </a:r>
            </a:p>
          </p:txBody>
        </p:sp>
        <p:sp>
          <p:nvSpPr>
            <p:cNvPr id="11" name="tick disc"/>
            <p:cNvSpPr/>
            <p:nvPr/>
          </p:nvSpPr>
          <p:spPr>
            <a:xfrm>
              <a:off x="5006340" y="1257300"/>
              <a:ext cx="777240" cy="777240"/>
            </a:xfrm>
            <a:prstGeom prst="ellipse">
              <a:avLst/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ick mark"/>
            <p:cNvSpPr/>
            <p:nvPr/>
          </p:nvSpPr>
          <p:spPr>
            <a:xfrm>
              <a:off x="5161788" y="1443837"/>
              <a:ext cx="497433" cy="404165"/>
            </a:xfrm>
            <a:custGeom>
              <a:avLst/>
              <a:gdLst/>
              <a:ahLst/>
              <a:cxnLst/>
              <a:rect l="l" t="t" r="r" b="b"/>
              <a:pathLst>
                <a:path w="497433" h="404165">
                  <a:moveTo>
                    <a:pt x="0" y="217627"/>
                  </a:moveTo>
                  <a:lnTo>
                    <a:pt x="170992" y="404165"/>
                  </a:lnTo>
                  <a:lnTo>
                    <a:pt x="497433" y="0"/>
                  </a:lnTo>
                </a:path>
              </a:pathLst>
            </a:custGeom>
            <a:noFill/>
            <a:ln w="7556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fused button"/>
            <p:cNvSpPr/>
            <p:nvPr/>
          </p:nvSpPr>
          <p:spPr>
            <a:xfrm>
              <a:off x="6858000" y="2743200"/>
              <a:ext cx="4480560" cy="1463040"/>
            </a:xfrm>
            <a:prstGeom prst="roundRect">
              <a:avLst>
                <a:gd name="adj" fmla="val 18749"/>
              </a:avLst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A9B0B8"/>
                  </a:solidFill>
                  <a:latin typeface="Arial"/>
                </a:rPr>
                <a:t>Fix my railway</a:t>
              </a:r>
            </a:p>
          </p:txBody>
        </p:sp>
        <p:sp>
          <p:nvSpPr>
            <p:cNvPr id="14" name="cross disc"/>
            <p:cNvSpPr/>
            <p:nvPr/>
          </p:nvSpPr>
          <p:spPr>
            <a:xfrm>
              <a:off x="10858500" y="2446020"/>
              <a:ext cx="777240" cy="777240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ross bar"/>
            <p:cNvCxnSpPr/>
            <p:nvPr/>
          </p:nvCxnSpPr>
          <p:spPr>
            <a:xfrm>
              <a:off x="11045037" y="2632557"/>
              <a:ext cx="404165" cy="404165"/>
            </a:xfrm>
            <a:prstGeom prst="line">
              <a:avLst/>
            </a:prstGeom>
            <a:ln w="64769" cap="rnd">
              <a:solidFill>
                <a:srgbClr val="F2F2F2"/>
              </a:solidFill>
            </a:ln>
          </p:spPr>
        </p:cxnSp>
        <p:cxnSp>
          <p:nvCxnSpPr>
            <p:cNvPr id="16" name="cross bar"/>
            <p:cNvCxnSpPr/>
            <p:nvPr/>
          </p:nvCxnSpPr>
          <p:spPr>
            <a:xfrm flipV="1">
              <a:off x="11045037" y="2632557"/>
              <a:ext cx="404165" cy="404165"/>
            </a:xfrm>
            <a:prstGeom prst="line">
              <a:avLst/>
            </a:prstGeom>
            <a:ln w="64769" cap="rnd">
              <a:solidFill>
                <a:srgbClr val="F2F2F2"/>
              </a:solidFill>
            </a:ln>
          </p:spPr>
        </p:cxnSp>
      </p:grpSp>
      <p:sp>
        <p:nvSpPr>
          <p:cNvPr id="1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explain how railways work. You still solve your own problems.</a:t>
            </a:r>
          </a:p>
        </p:txBody>
      </p:sp>
      <p:sp>
        <p:nvSpPr>
          <p:cNvPr id="2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railway library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helf of lesson tiles" descr="A shelf of seven lesson tiles. The first four are open and orange. The last three are locked, grey, with padlocks. An arrow shows that tiles open as you unlock technology."/>
          <p:cNvGrpSpPr/>
          <p:nvPr/>
        </p:nvGrpSpPr>
        <p:grpSpPr>
          <a:xfrm>
            <a:off x="608076" y="1627632"/>
            <a:ext cx="10972799" cy="3236976"/>
            <a:chOff x="608076" y="1627632"/>
            <a:chExt cx="10972799" cy="3236976"/>
          </a:xfrm>
        </p:grpSpPr>
        <p:sp>
          <p:nvSpPr>
            <p:cNvPr id="5" name="open tile"/>
            <p:cNvSpPr/>
            <p:nvPr/>
          </p:nvSpPr>
          <p:spPr>
            <a:xfrm>
              <a:off x="79095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ile screen"/>
            <p:cNvSpPr/>
            <p:nvPr/>
          </p:nvSpPr>
          <p:spPr>
            <a:xfrm>
              <a:off x="97383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lay"/>
            <p:cNvSpPr/>
            <p:nvPr/>
          </p:nvSpPr>
          <p:spPr>
            <a:xfrm>
              <a:off x="133045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ile line"/>
            <p:cNvSpPr/>
            <p:nvPr/>
          </p:nvSpPr>
          <p:spPr>
            <a:xfrm>
              <a:off x="97383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ile line"/>
            <p:cNvSpPr/>
            <p:nvPr/>
          </p:nvSpPr>
          <p:spPr>
            <a:xfrm>
              <a:off x="97383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pen tile"/>
            <p:cNvSpPr/>
            <p:nvPr/>
          </p:nvSpPr>
          <p:spPr>
            <a:xfrm>
              <a:off x="234543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ile screen"/>
            <p:cNvSpPr/>
            <p:nvPr/>
          </p:nvSpPr>
          <p:spPr>
            <a:xfrm>
              <a:off x="252831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play"/>
            <p:cNvSpPr/>
            <p:nvPr/>
          </p:nvSpPr>
          <p:spPr>
            <a:xfrm>
              <a:off x="288493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ile line"/>
            <p:cNvSpPr/>
            <p:nvPr/>
          </p:nvSpPr>
          <p:spPr>
            <a:xfrm>
              <a:off x="252831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ile line"/>
            <p:cNvSpPr/>
            <p:nvPr/>
          </p:nvSpPr>
          <p:spPr>
            <a:xfrm>
              <a:off x="252831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open tile"/>
            <p:cNvSpPr/>
            <p:nvPr/>
          </p:nvSpPr>
          <p:spPr>
            <a:xfrm>
              <a:off x="389991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ile screen"/>
            <p:cNvSpPr/>
            <p:nvPr/>
          </p:nvSpPr>
          <p:spPr>
            <a:xfrm>
              <a:off x="408279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play"/>
            <p:cNvSpPr/>
            <p:nvPr/>
          </p:nvSpPr>
          <p:spPr>
            <a:xfrm>
              <a:off x="443941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ile line"/>
            <p:cNvSpPr/>
            <p:nvPr/>
          </p:nvSpPr>
          <p:spPr>
            <a:xfrm>
              <a:off x="408279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ile line"/>
            <p:cNvSpPr/>
            <p:nvPr/>
          </p:nvSpPr>
          <p:spPr>
            <a:xfrm>
              <a:off x="408279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pen tile"/>
            <p:cNvSpPr/>
            <p:nvPr/>
          </p:nvSpPr>
          <p:spPr>
            <a:xfrm>
              <a:off x="545439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ile screen"/>
            <p:cNvSpPr/>
            <p:nvPr/>
          </p:nvSpPr>
          <p:spPr>
            <a:xfrm>
              <a:off x="5637276" y="2514600"/>
              <a:ext cx="914399" cy="822960"/>
            </a:xfrm>
            <a:prstGeom prst="roundRect">
              <a:avLst>
                <a:gd name="adj" fmla="val 5555"/>
              </a:avLst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lay"/>
            <p:cNvSpPr/>
            <p:nvPr/>
          </p:nvSpPr>
          <p:spPr>
            <a:xfrm>
              <a:off x="5993892" y="2743200"/>
              <a:ext cx="310896" cy="365760"/>
            </a:xfrm>
            <a:custGeom>
              <a:avLst/>
              <a:gdLst/>
              <a:ahLst/>
              <a:cxnLst/>
              <a:rect l="l" t="t" r="r" b="b"/>
              <a:pathLst>
                <a:path w="310896" h="365760">
                  <a:moveTo>
                    <a:pt x="0" y="0"/>
                  </a:moveTo>
                  <a:lnTo>
                    <a:pt x="0" y="365760"/>
                  </a:lnTo>
                  <a:lnTo>
                    <a:pt x="310896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ile line"/>
            <p:cNvSpPr/>
            <p:nvPr/>
          </p:nvSpPr>
          <p:spPr>
            <a:xfrm>
              <a:off x="5637276" y="3520440"/>
              <a:ext cx="91439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ile line"/>
            <p:cNvSpPr/>
            <p:nvPr/>
          </p:nvSpPr>
          <p:spPr>
            <a:xfrm>
              <a:off x="5637276" y="3703320"/>
              <a:ext cx="548639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locked tile"/>
            <p:cNvSpPr/>
            <p:nvPr/>
          </p:nvSpPr>
          <p:spPr>
            <a:xfrm>
              <a:off x="700887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padlock shackle"/>
            <p:cNvSpPr/>
            <p:nvPr/>
          </p:nvSpPr>
          <p:spPr>
            <a:xfrm>
              <a:off x="747320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padlock shackle leg"/>
            <p:cNvSpPr/>
            <p:nvPr/>
          </p:nvSpPr>
          <p:spPr>
            <a:xfrm>
              <a:off x="747320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adlock shackle leg"/>
            <p:cNvSpPr/>
            <p:nvPr/>
          </p:nvSpPr>
          <p:spPr>
            <a:xfrm>
              <a:off x="775667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adlock body"/>
            <p:cNvSpPr/>
            <p:nvPr/>
          </p:nvSpPr>
          <p:spPr>
            <a:xfrm>
              <a:off x="736549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padlock keyhole"/>
            <p:cNvSpPr/>
            <p:nvPr/>
          </p:nvSpPr>
          <p:spPr>
            <a:xfrm>
              <a:off x="760927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ile line"/>
            <p:cNvSpPr/>
            <p:nvPr/>
          </p:nvSpPr>
          <p:spPr>
            <a:xfrm>
              <a:off x="719175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locked tile"/>
            <p:cNvSpPr/>
            <p:nvPr/>
          </p:nvSpPr>
          <p:spPr>
            <a:xfrm>
              <a:off x="856335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padlock shackle"/>
            <p:cNvSpPr/>
            <p:nvPr/>
          </p:nvSpPr>
          <p:spPr>
            <a:xfrm>
              <a:off x="902768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padlock shackle leg"/>
            <p:cNvSpPr/>
            <p:nvPr/>
          </p:nvSpPr>
          <p:spPr>
            <a:xfrm>
              <a:off x="902768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padlock shackle leg"/>
            <p:cNvSpPr/>
            <p:nvPr/>
          </p:nvSpPr>
          <p:spPr>
            <a:xfrm>
              <a:off x="931115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padlock body"/>
            <p:cNvSpPr/>
            <p:nvPr/>
          </p:nvSpPr>
          <p:spPr>
            <a:xfrm>
              <a:off x="891997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padlock keyhole"/>
            <p:cNvSpPr/>
            <p:nvPr/>
          </p:nvSpPr>
          <p:spPr>
            <a:xfrm>
              <a:off x="916375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ile line"/>
            <p:cNvSpPr/>
            <p:nvPr/>
          </p:nvSpPr>
          <p:spPr>
            <a:xfrm>
              <a:off x="874623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locked tile"/>
            <p:cNvSpPr/>
            <p:nvPr/>
          </p:nvSpPr>
          <p:spPr>
            <a:xfrm>
              <a:off x="10117836" y="2286000"/>
              <a:ext cx="1280160" cy="1737360"/>
            </a:xfrm>
            <a:prstGeom prst="roundRect">
              <a:avLst>
                <a:gd name="adj" fmla="val 7142"/>
              </a:avLst>
            </a:prstGeom>
            <a:solidFill>
              <a:srgbClr val="4A515B"/>
            </a:solidFill>
            <a:ln w="1905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adlock shackle"/>
            <p:cNvSpPr/>
            <p:nvPr/>
          </p:nvSpPr>
          <p:spPr>
            <a:xfrm>
              <a:off x="10582168" y="2751831"/>
              <a:ext cx="351495" cy="175748"/>
            </a:xfrm>
            <a:custGeom>
              <a:avLst/>
              <a:gdLst/>
              <a:ahLst/>
              <a:cxnLst/>
              <a:rect l="l" t="t" r="r" b="b"/>
              <a:pathLst>
                <a:path w="351495" h="175748">
                  <a:moveTo>
                    <a:pt x="351495" y="175748"/>
                  </a:moveTo>
                  <a:lnTo>
                    <a:pt x="349992" y="152808"/>
                  </a:lnTo>
                  <a:lnTo>
                    <a:pt x="345507" y="130261"/>
                  </a:lnTo>
                  <a:lnTo>
                    <a:pt x="338117" y="108492"/>
                  </a:lnTo>
                  <a:lnTo>
                    <a:pt x="327949" y="87874"/>
                  </a:lnTo>
                  <a:lnTo>
                    <a:pt x="315178" y="68760"/>
                  </a:lnTo>
                  <a:lnTo>
                    <a:pt x="300020" y="51476"/>
                  </a:lnTo>
                  <a:lnTo>
                    <a:pt x="282736" y="36318"/>
                  </a:lnTo>
                  <a:lnTo>
                    <a:pt x="263621" y="23546"/>
                  </a:lnTo>
                  <a:lnTo>
                    <a:pt x="243003" y="13378"/>
                  </a:lnTo>
                  <a:lnTo>
                    <a:pt x="221234" y="5989"/>
                  </a:lnTo>
                  <a:lnTo>
                    <a:pt x="198687" y="1504"/>
                  </a:lnTo>
                  <a:lnTo>
                    <a:pt x="175748" y="0"/>
                  </a:lnTo>
                  <a:lnTo>
                    <a:pt x="152808" y="1504"/>
                  </a:lnTo>
                  <a:lnTo>
                    <a:pt x="130261" y="5989"/>
                  </a:lnTo>
                  <a:lnTo>
                    <a:pt x="108492" y="13378"/>
                  </a:lnTo>
                  <a:lnTo>
                    <a:pt x="87874" y="23546"/>
                  </a:lnTo>
                  <a:lnTo>
                    <a:pt x="68759" y="36318"/>
                  </a:lnTo>
                  <a:lnTo>
                    <a:pt x="51475" y="51476"/>
                  </a:lnTo>
                  <a:lnTo>
                    <a:pt x="36317" y="68760"/>
                  </a:lnTo>
                  <a:lnTo>
                    <a:pt x="23546" y="87874"/>
                  </a:lnTo>
                  <a:lnTo>
                    <a:pt x="13378" y="108492"/>
                  </a:lnTo>
                  <a:lnTo>
                    <a:pt x="5988" y="130261"/>
                  </a:lnTo>
                  <a:lnTo>
                    <a:pt x="1503" y="152808"/>
                  </a:lnTo>
                  <a:lnTo>
                    <a:pt x="0" y="175748"/>
                  </a:lnTo>
                  <a:lnTo>
                    <a:pt x="68031" y="175748"/>
                  </a:lnTo>
                  <a:lnTo>
                    <a:pt x="68953" y="161688"/>
                  </a:lnTo>
                  <a:lnTo>
                    <a:pt x="71702" y="147869"/>
                  </a:lnTo>
                  <a:lnTo>
                    <a:pt x="76231" y="134527"/>
                  </a:lnTo>
                  <a:lnTo>
                    <a:pt x="82462" y="121890"/>
                  </a:lnTo>
                  <a:lnTo>
                    <a:pt x="90290" y="110175"/>
                  </a:lnTo>
                  <a:lnTo>
                    <a:pt x="99581" y="99581"/>
                  </a:lnTo>
                  <a:lnTo>
                    <a:pt x="110174" y="90291"/>
                  </a:lnTo>
                  <a:lnTo>
                    <a:pt x="121889" y="82463"/>
                  </a:lnTo>
                  <a:lnTo>
                    <a:pt x="134526" y="76231"/>
                  </a:lnTo>
                  <a:lnTo>
                    <a:pt x="147868" y="71702"/>
                  </a:lnTo>
                  <a:lnTo>
                    <a:pt x="161688" y="68953"/>
                  </a:lnTo>
                  <a:lnTo>
                    <a:pt x="175748" y="68032"/>
                  </a:lnTo>
                  <a:lnTo>
                    <a:pt x="189807" y="68953"/>
                  </a:lnTo>
                  <a:lnTo>
                    <a:pt x="203627" y="71702"/>
                  </a:lnTo>
                  <a:lnTo>
                    <a:pt x="216969" y="76231"/>
                  </a:lnTo>
                  <a:lnTo>
                    <a:pt x="229606" y="82463"/>
                  </a:lnTo>
                  <a:lnTo>
                    <a:pt x="241321" y="90291"/>
                  </a:lnTo>
                  <a:lnTo>
                    <a:pt x="251914" y="99581"/>
                  </a:lnTo>
                  <a:lnTo>
                    <a:pt x="261205" y="110175"/>
                  </a:lnTo>
                  <a:lnTo>
                    <a:pt x="269033" y="121890"/>
                  </a:lnTo>
                  <a:lnTo>
                    <a:pt x="275264" y="134527"/>
                  </a:lnTo>
                  <a:lnTo>
                    <a:pt x="279793" y="147869"/>
                  </a:lnTo>
                  <a:lnTo>
                    <a:pt x="282542" y="161688"/>
                  </a:lnTo>
                  <a:lnTo>
                    <a:pt x="283464" y="17574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padlock shackle leg"/>
            <p:cNvSpPr/>
            <p:nvPr/>
          </p:nvSpPr>
          <p:spPr>
            <a:xfrm>
              <a:off x="10582168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padlock shackle leg"/>
            <p:cNvSpPr/>
            <p:nvPr/>
          </p:nvSpPr>
          <p:spPr>
            <a:xfrm>
              <a:off x="10865632" y="2927579"/>
              <a:ext cx="68031" cy="15477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padlock body"/>
            <p:cNvSpPr/>
            <p:nvPr/>
          </p:nvSpPr>
          <p:spPr>
            <a:xfrm>
              <a:off x="10474452" y="3016020"/>
              <a:ext cx="566928" cy="442203"/>
            </a:xfrm>
            <a:prstGeom prst="roundRect">
              <a:avLst>
                <a:gd name="adj" fmla="val 1282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padlock keyhole"/>
            <p:cNvSpPr/>
            <p:nvPr/>
          </p:nvSpPr>
          <p:spPr>
            <a:xfrm>
              <a:off x="10718231" y="3126571"/>
              <a:ext cx="79369" cy="79369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ile line"/>
            <p:cNvSpPr/>
            <p:nvPr/>
          </p:nvSpPr>
          <p:spPr>
            <a:xfrm>
              <a:off x="10300716" y="3611880"/>
              <a:ext cx="914399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shelf board"/>
            <p:cNvSpPr/>
            <p:nvPr/>
          </p:nvSpPr>
          <p:spPr>
            <a:xfrm>
              <a:off x="608076" y="4023360"/>
              <a:ext cx="10972799" cy="182880"/>
            </a:xfrm>
            <a:prstGeom prst="roundRect">
              <a:avLst>
                <a:gd name="adj" fmla="val 20000"/>
              </a:avLst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7" name="bracket"/>
            <p:cNvCxnSpPr/>
            <p:nvPr/>
          </p:nvCxnSpPr>
          <p:spPr>
            <a:xfrm>
              <a:off x="790956" y="2103120"/>
              <a:ext cx="5943600" cy="0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cxnSp>
          <p:nvCxnSpPr>
            <p:cNvPr id="48" name="bracket tick"/>
            <p:cNvCxnSpPr/>
            <p:nvPr/>
          </p:nvCxnSpPr>
          <p:spPr>
            <a:xfrm>
              <a:off x="790956" y="2103120"/>
              <a:ext cx="0" cy="128016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cxnSp>
          <p:nvCxnSpPr>
            <p:cNvPr id="49" name="bracket tick"/>
            <p:cNvCxnSpPr/>
            <p:nvPr/>
          </p:nvCxnSpPr>
          <p:spPr>
            <a:xfrm>
              <a:off x="6734556" y="2103120"/>
              <a:ext cx="0" cy="128016"/>
            </a:xfrm>
            <a:prstGeom prst="line">
              <a:avLst/>
            </a:prstGeom>
            <a:ln w="38100">
              <a:solidFill>
                <a:srgbClr val="F28C28"/>
              </a:solidFill>
            </a:ln>
          </p:spPr>
        </p:cxnSp>
        <p:sp>
          <p:nvSpPr>
            <p:cNvPr id="50" name="bracket label"/>
            <p:cNvSpPr txBox="1"/>
            <p:nvPr/>
          </p:nvSpPr>
          <p:spPr>
            <a:xfrm>
              <a:off x="3122676" y="1627632"/>
              <a:ext cx="1280160" cy="38404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Open</a:t>
              </a:r>
            </a:p>
          </p:txBody>
        </p:sp>
        <p:cxnSp>
          <p:nvCxnSpPr>
            <p:cNvPr id="51" name="bracket"/>
            <p:cNvCxnSpPr/>
            <p:nvPr/>
          </p:nvCxnSpPr>
          <p:spPr>
            <a:xfrm>
              <a:off x="7008876" y="2103120"/>
              <a:ext cx="4389120" cy="0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cxnSp>
          <p:nvCxnSpPr>
            <p:cNvPr id="52" name="bracket tick"/>
            <p:cNvCxnSpPr/>
            <p:nvPr/>
          </p:nvCxnSpPr>
          <p:spPr>
            <a:xfrm>
              <a:off x="7008876" y="2103120"/>
              <a:ext cx="0" cy="128016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cxnSp>
          <p:nvCxnSpPr>
            <p:cNvPr id="53" name="bracket tick"/>
            <p:cNvCxnSpPr/>
            <p:nvPr/>
          </p:nvCxnSpPr>
          <p:spPr>
            <a:xfrm>
              <a:off x="11397996" y="2103120"/>
              <a:ext cx="0" cy="128016"/>
            </a:xfrm>
            <a:prstGeom prst="line">
              <a:avLst/>
            </a:prstGeom>
            <a:ln w="38100">
              <a:solidFill>
                <a:srgbClr val="A9B0B8"/>
              </a:solidFill>
            </a:ln>
          </p:spPr>
        </p:cxnSp>
        <p:sp>
          <p:nvSpPr>
            <p:cNvPr id="54" name="bracket label"/>
            <p:cNvSpPr txBox="1"/>
            <p:nvPr/>
          </p:nvSpPr>
          <p:spPr>
            <a:xfrm>
              <a:off x="8563356" y="1627632"/>
              <a:ext cx="1280160" cy="384048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Locked</a:t>
              </a:r>
            </a:p>
          </p:txBody>
        </p:sp>
        <p:cxnSp>
          <p:nvCxnSpPr>
            <p:cNvPr id="55" name="unlock arrow"/>
            <p:cNvCxnSpPr/>
            <p:nvPr/>
          </p:nvCxnSpPr>
          <p:spPr>
            <a:xfrm>
              <a:off x="790956" y="4434840"/>
              <a:ext cx="1060704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56" name="arrow label"/>
            <p:cNvSpPr txBox="1"/>
            <p:nvPr/>
          </p:nvSpPr>
          <p:spPr>
            <a:xfrm>
              <a:off x="4631436" y="4498848"/>
              <a:ext cx="2926080" cy="3657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Opens as you unlock</a:t>
              </a:r>
            </a:p>
          </p:txBody>
        </p:sp>
      </p:grpSp>
      <p:grpSp>
        <p:nvGrpSpPr>
          <p:cNvPr id="57" name="Library note" descr="Note with an open book icon: the library is always open to browse."/>
          <p:cNvGrpSpPr/>
          <p:nvPr/>
        </p:nvGrpSpPr>
        <p:grpSpPr>
          <a:xfrm>
            <a:off x="3168396" y="5029200"/>
            <a:ext cx="5852160" cy="530352"/>
            <a:chOff x="3168396" y="5029200"/>
            <a:chExt cx="5852160" cy="530352"/>
          </a:xfrm>
        </p:grpSpPr>
        <p:sp>
          <p:nvSpPr>
            <p:cNvPr id="58" name="note card"/>
            <p:cNvSpPr/>
            <p:nvPr/>
          </p:nvSpPr>
          <p:spPr>
            <a:xfrm>
              <a:off x="3168396" y="5029200"/>
              <a:ext cx="5852160" cy="530352"/>
            </a:xfrm>
            <a:prstGeom prst="roundRect">
              <a:avLst>
                <a:gd name="adj" fmla="val 1379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book left"/>
            <p:cNvSpPr/>
            <p:nvPr/>
          </p:nvSpPr>
          <p:spPr>
            <a:xfrm>
              <a:off x="3351276" y="5084064"/>
              <a:ext cx="457200" cy="329184"/>
            </a:xfrm>
            <a:custGeom>
              <a:avLst/>
              <a:gdLst/>
              <a:ahLst/>
              <a:cxnLst/>
              <a:rect l="l" t="t" r="r" b="b"/>
              <a:pathLst>
                <a:path w="457200" h="329184">
                  <a:moveTo>
                    <a:pt x="0" y="54864"/>
                  </a:moveTo>
                  <a:lnTo>
                    <a:pt x="228600" y="0"/>
                  </a:lnTo>
                  <a:lnTo>
                    <a:pt x="457200" y="54864"/>
                  </a:lnTo>
                  <a:lnTo>
                    <a:pt x="457200" y="329184"/>
                  </a:lnTo>
                  <a:lnTo>
                    <a:pt x="228600" y="274320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book right"/>
            <p:cNvSpPr/>
            <p:nvPr/>
          </p:nvSpPr>
          <p:spPr>
            <a:xfrm>
              <a:off x="3826763" y="5084064"/>
              <a:ext cx="457201" cy="329184"/>
            </a:xfrm>
            <a:custGeom>
              <a:avLst/>
              <a:gdLst/>
              <a:ahLst/>
              <a:cxnLst/>
              <a:rect l="l" t="t" r="r" b="b"/>
              <a:pathLst>
                <a:path w="457201" h="329184">
                  <a:moveTo>
                    <a:pt x="0" y="54864"/>
                  </a:moveTo>
                  <a:lnTo>
                    <a:pt x="228600" y="0"/>
                  </a:lnTo>
                  <a:lnTo>
                    <a:pt x="457201" y="54864"/>
                  </a:lnTo>
                  <a:lnTo>
                    <a:pt x="457201" y="329184"/>
                  </a:lnTo>
                  <a:lnTo>
                    <a:pt x="228600" y="274320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NOTE"/>
            <p:cNvSpPr txBox="1"/>
            <p:nvPr/>
          </p:nvSpPr>
          <p:spPr>
            <a:xfrm>
              <a:off x="4448556" y="5029200"/>
              <a:ext cx="4480560" cy="530352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The library is always open to browse.</a:t>
              </a:r>
            </a:p>
          </p:txBody>
        </p:sp>
      </p:grpSp>
      <p:sp>
        <p:nvSpPr>
          <p:cNvPr id="6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are optional and can be replayed. New ones open as you unlock technology.</a:t>
            </a:r>
          </a:p>
        </p:txBody>
      </p:sp>
      <p:sp>
        <p:nvSpPr>
          <p:cNvPr id="6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The miniature table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iniature model-railway table" descr="A clean white model-railway table on a dark panel. It holds a small loop of track, a tiny train, a semaphore signal, a signal box and a small station, all drawn from simple shapes."/>
          <p:cNvGrpSpPr/>
          <p:nvPr/>
        </p:nvGrpSpPr>
        <p:grpSpPr>
          <a:xfrm>
            <a:off x="548640" y="1325880"/>
            <a:ext cx="11091672" cy="4297680"/>
            <a:chOff x="548640" y="1325880"/>
            <a:chExt cx="11091672" cy="4297680"/>
          </a:xfrm>
        </p:grpSpPr>
        <p:sp>
          <p:nvSpPr>
            <p:cNvPr id="5" name="dark panel"/>
            <p:cNvSpPr/>
            <p:nvPr/>
          </p:nvSpPr>
          <p:spPr>
            <a:xfrm>
              <a:off x="548640" y="1325880"/>
              <a:ext cx="11091672" cy="4297680"/>
            </a:xfrm>
            <a:prstGeom prst="roundRect">
              <a:avLst>
                <a:gd name="adj" fmla="val 1702"/>
              </a:avLst>
            </a:prstGeom>
            <a:solidFill>
              <a:srgbClr val="1B1D21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able edge"/>
            <p:cNvSpPr/>
            <p:nvPr/>
          </p:nvSpPr>
          <p:spPr>
            <a:xfrm>
              <a:off x="1014984" y="5155387"/>
              <a:ext cx="10158984" cy="201168"/>
            </a:xfrm>
            <a:prstGeom prst="roundRect">
              <a:avLst>
                <a:gd name="adj" fmla="val 18181"/>
              </a:avLst>
            </a:prstGeom>
            <a:solidFill>
              <a:srgbClr val="B5BB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able top"/>
            <p:cNvSpPr/>
            <p:nvPr/>
          </p:nvSpPr>
          <p:spPr>
            <a:xfrm>
              <a:off x="1014984" y="1554480"/>
              <a:ext cx="10158984" cy="3621024"/>
            </a:xfrm>
            <a:prstGeom prst="roundRect">
              <a:avLst>
                <a:gd name="adj" fmla="val 3333"/>
              </a:avLst>
            </a:prstGeom>
            <a:solidFill>
              <a:srgbClr val="F4F5F6"/>
            </a:solidFill>
            <a:ln w="12700">
              <a:solidFill>
                <a:srgbClr val="D5D9D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2775204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2775204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299648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299648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217773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217773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343905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343905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3660343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3660343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3881628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3881628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410291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410291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4324197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4324197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454548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454548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4766767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4766767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4988052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4988052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520933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520933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5430621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5430621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565190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565190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sleeper"/>
            <p:cNvSpPr/>
            <p:nvPr/>
          </p:nvSpPr>
          <p:spPr>
            <a:xfrm>
              <a:off x="5873191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leeper"/>
            <p:cNvSpPr/>
            <p:nvPr/>
          </p:nvSpPr>
          <p:spPr>
            <a:xfrm>
              <a:off x="5873191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leeper"/>
            <p:cNvSpPr/>
            <p:nvPr/>
          </p:nvSpPr>
          <p:spPr>
            <a:xfrm>
              <a:off x="6094476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leeper"/>
            <p:cNvSpPr/>
            <p:nvPr/>
          </p:nvSpPr>
          <p:spPr>
            <a:xfrm>
              <a:off x="6094476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leeper"/>
            <p:cNvSpPr/>
            <p:nvPr/>
          </p:nvSpPr>
          <p:spPr>
            <a:xfrm>
              <a:off x="6315760" y="2288743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leeper"/>
            <p:cNvSpPr/>
            <p:nvPr/>
          </p:nvSpPr>
          <p:spPr>
            <a:xfrm>
              <a:off x="6315760" y="4431182"/>
              <a:ext cx="70408" cy="211226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uter rail"/>
            <p:cNvSpPr/>
            <p:nvPr/>
          </p:nvSpPr>
          <p:spPr>
            <a:xfrm>
              <a:off x="1618488" y="2308860"/>
              <a:ext cx="6035040" cy="2313432"/>
            </a:xfrm>
            <a:prstGeom prst="roundRect">
              <a:avLst>
                <a:gd name="adj" fmla="val 50000"/>
              </a:avLst>
            </a:prstGeom>
            <a:noFill/>
            <a:ln w="4191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inner rail"/>
            <p:cNvSpPr/>
            <p:nvPr/>
          </p:nvSpPr>
          <p:spPr>
            <a:xfrm>
              <a:off x="1769364" y="2459736"/>
              <a:ext cx="5733288" cy="2011679"/>
            </a:xfrm>
            <a:prstGeom prst="roundRect">
              <a:avLst>
                <a:gd name="adj" fmla="val 50000"/>
              </a:avLst>
            </a:prstGeom>
            <a:noFill/>
            <a:ln w="4191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mini train engine"/>
            <p:cNvSpPr/>
            <p:nvPr/>
          </p:nvSpPr>
          <p:spPr>
            <a:xfrm>
              <a:off x="3328415" y="2252532"/>
              <a:ext cx="649772" cy="420441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mini train chimney"/>
            <p:cNvSpPr/>
            <p:nvPr/>
          </p:nvSpPr>
          <p:spPr>
            <a:xfrm>
              <a:off x="3806189" y="2137867"/>
              <a:ext cx="133776" cy="191109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mini train frame"/>
            <p:cNvSpPr/>
            <p:nvPr/>
          </p:nvSpPr>
          <p:spPr>
            <a:xfrm>
              <a:off x="3328415" y="2520086"/>
              <a:ext cx="649772" cy="15288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mini train wagon"/>
            <p:cNvSpPr/>
            <p:nvPr/>
          </p:nvSpPr>
          <p:spPr>
            <a:xfrm>
              <a:off x="4016410" y="2309865"/>
              <a:ext cx="573328" cy="363108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mini train wagon"/>
            <p:cNvSpPr/>
            <p:nvPr/>
          </p:nvSpPr>
          <p:spPr>
            <a:xfrm>
              <a:off x="4627961" y="2309865"/>
              <a:ext cx="573328" cy="363108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mini train wheel"/>
            <p:cNvSpPr/>
            <p:nvPr/>
          </p:nvSpPr>
          <p:spPr>
            <a:xfrm>
              <a:off x="3427792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mini train wheel"/>
            <p:cNvSpPr/>
            <p:nvPr/>
          </p:nvSpPr>
          <p:spPr>
            <a:xfrm>
              <a:off x="3733568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mini train wheel"/>
            <p:cNvSpPr/>
            <p:nvPr/>
          </p:nvSpPr>
          <p:spPr>
            <a:xfrm>
              <a:off x="4096676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mini train wheel"/>
            <p:cNvSpPr/>
            <p:nvPr/>
          </p:nvSpPr>
          <p:spPr>
            <a:xfrm>
              <a:off x="4402451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mini train wheel"/>
            <p:cNvSpPr/>
            <p:nvPr/>
          </p:nvSpPr>
          <p:spPr>
            <a:xfrm>
              <a:off x="4708227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mini train wheel"/>
            <p:cNvSpPr/>
            <p:nvPr/>
          </p:nvSpPr>
          <p:spPr>
            <a:xfrm>
              <a:off x="5014002" y="2600352"/>
              <a:ext cx="145243" cy="145243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platform"/>
            <p:cNvSpPr/>
            <p:nvPr/>
          </p:nvSpPr>
          <p:spPr>
            <a:xfrm>
              <a:off x="3026664" y="4089196"/>
              <a:ext cx="2615184" cy="201168"/>
            </a:xfrm>
            <a:prstGeom prst="rect">
              <a:avLst/>
            </a:prstGeom>
            <a:solidFill>
              <a:srgbClr val="D5D9DE"/>
            </a:solidFill>
            <a:ln w="9525">
              <a:solidFill>
                <a:srgbClr val="8C939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station body"/>
            <p:cNvSpPr/>
            <p:nvPr/>
          </p:nvSpPr>
          <p:spPr>
            <a:xfrm>
              <a:off x="3730752" y="3582253"/>
              <a:ext cx="1207008" cy="506943"/>
            </a:xfrm>
            <a:prstGeom prst="rect">
              <a:avLst/>
            </a:prstGeom>
            <a:solidFill>
              <a:srgbClr val="C9CED3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station roof"/>
            <p:cNvSpPr/>
            <p:nvPr/>
          </p:nvSpPr>
          <p:spPr>
            <a:xfrm>
              <a:off x="3658331" y="3364992"/>
              <a:ext cx="1351849" cy="217261"/>
            </a:xfrm>
            <a:custGeom>
              <a:avLst/>
              <a:gdLst/>
              <a:ahLst/>
              <a:cxnLst/>
              <a:rect l="l" t="t" r="r" b="b"/>
              <a:pathLst>
                <a:path w="1351849" h="217261">
                  <a:moveTo>
                    <a:pt x="0" y="217261"/>
                  </a:moveTo>
                  <a:lnTo>
                    <a:pt x="675925" y="0"/>
                  </a:lnTo>
                  <a:lnTo>
                    <a:pt x="1351849" y="217261"/>
                  </a:lnTo>
                  <a:close/>
                </a:path>
              </a:pathLst>
            </a:cu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station window"/>
            <p:cNvSpPr/>
            <p:nvPr/>
          </p:nvSpPr>
          <p:spPr>
            <a:xfrm>
              <a:off x="3851452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station window"/>
            <p:cNvSpPr/>
            <p:nvPr/>
          </p:nvSpPr>
          <p:spPr>
            <a:xfrm>
              <a:off x="4213555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station window"/>
            <p:cNvSpPr/>
            <p:nvPr/>
          </p:nvSpPr>
          <p:spPr>
            <a:xfrm>
              <a:off x="4575657" y="3727094"/>
              <a:ext cx="241401" cy="20277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semaphore post"/>
            <p:cNvSpPr/>
            <p:nvPr/>
          </p:nvSpPr>
          <p:spPr>
            <a:xfrm>
              <a:off x="8583930" y="3063239"/>
              <a:ext cx="150876" cy="150876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emaphore foot"/>
            <p:cNvSpPr/>
            <p:nvPr/>
          </p:nvSpPr>
          <p:spPr>
            <a:xfrm>
              <a:off x="8327440" y="4481474"/>
              <a:ext cx="663854" cy="90525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emaphore arm"/>
            <p:cNvSpPr/>
            <p:nvPr/>
          </p:nvSpPr>
          <p:spPr>
            <a:xfrm>
              <a:off x="8734805" y="3153765"/>
              <a:ext cx="935431" cy="181051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semaphore arm stripe"/>
            <p:cNvSpPr/>
            <p:nvPr/>
          </p:nvSpPr>
          <p:spPr>
            <a:xfrm>
              <a:off x="9249293" y="3153765"/>
              <a:ext cx="112251" cy="1810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emaphore lamp"/>
            <p:cNvSpPr/>
            <p:nvPr/>
          </p:nvSpPr>
          <p:spPr>
            <a:xfrm>
              <a:off x="8508492" y="3033064"/>
              <a:ext cx="301752" cy="301752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emaphore pivot"/>
            <p:cNvSpPr/>
            <p:nvPr/>
          </p:nvSpPr>
          <p:spPr>
            <a:xfrm>
              <a:off x="8674455" y="3183940"/>
              <a:ext cx="120700" cy="120700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signal box lower"/>
            <p:cNvSpPr/>
            <p:nvPr/>
          </p:nvSpPr>
          <p:spPr>
            <a:xfrm>
              <a:off x="9614916" y="4113336"/>
              <a:ext cx="1106424" cy="458663"/>
            </a:xfrm>
            <a:prstGeom prst="rect">
              <a:avLst/>
            </a:prstGeom>
            <a:solidFill>
              <a:srgbClr val="8C5A3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ignal box upper"/>
            <p:cNvSpPr/>
            <p:nvPr/>
          </p:nvSpPr>
          <p:spPr>
            <a:xfrm>
              <a:off x="9570659" y="3826672"/>
              <a:ext cx="1194937" cy="305775"/>
            </a:xfrm>
            <a:prstGeom prst="rect">
              <a:avLst/>
            </a:prstGeom>
            <a:solidFill>
              <a:srgbClr val="AEB4B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ignal box windows"/>
            <p:cNvSpPr/>
            <p:nvPr/>
          </p:nvSpPr>
          <p:spPr>
            <a:xfrm>
              <a:off x="9703429" y="3884005"/>
              <a:ext cx="929396" cy="171998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ignal box roof"/>
            <p:cNvSpPr/>
            <p:nvPr/>
          </p:nvSpPr>
          <p:spPr>
            <a:xfrm>
              <a:off x="9526402" y="3616452"/>
              <a:ext cx="1283451" cy="210220"/>
            </a:xfrm>
            <a:custGeom>
              <a:avLst/>
              <a:gdLst/>
              <a:ahLst/>
              <a:cxnLst/>
              <a:rect l="l" t="t" r="r" b="b"/>
              <a:pathLst>
                <a:path w="1283451" h="210220">
                  <a:moveTo>
                    <a:pt x="0" y="210220"/>
                  </a:moveTo>
                  <a:lnTo>
                    <a:pt x="641726" y="0"/>
                  </a:lnTo>
                  <a:lnTo>
                    <a:pt x="1283451" y="210220"/>
                  </a:lnTo>
                  <a:close/>
                </a:path>
              </a:pathLst>
            </a:cu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signal box door"/>
            <p:cNvSpPr/>
            <p:nvPr/>
          </p:nvSpPr>
          <p:spPr>
            <a:xfrm>
              <a:off x="10057485" y="4247113"/>
              <a:ext cx="221284" cy="32488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label pill"/>
            <p:cNvSpPr/>
            <p:nvPr/>
          </p:nvSpPr>
          <p:spPr>
            <a:xfrm>
              <a:off x="3934360" y="1775764"/>
              <a:ext cx="699206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</a:t>
              </a:r>
            </a:p>
          </p:txBody>
        </p:sp>
        <p:sp>
          <p:nvSpPr>
            <p:cNvPr id="73" name="label pill"/>
            <p:cNvSpPr/>
            <p:nvPr/>
          </p:nvSpPr>
          <p:spPr>
            <a:xfrm>
              <a:off x="3895829" y="2982772"/>
              <a:ext cx="876853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Station</a:t>
              </a:r>
            </a:p>
          </p:txBody>
        </p:sp>
        <p:sp>
          <p:nvSpPr>
            <p:cNvPr id="74" name="label pill"/>
            <p:cNvSpPr/>
            <p:nvPr/>
          </p:nvSpPr>
          <p:spPr>
            <a:xfrm>
              <a:off x="8038022" y="4672584"/>
              <a:ext cx="1242691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Semaphore</a:t>
              </a:r>
            </a:p>
          </p:txBody>
        </p:sp>
        <p:sp>
          <p:nvSpPr>
            <p:cNvPr id="75" name="label pill"/>
            <p:cNvSpPr/>
            <p:nvPr/>
          </p:nvSpPr>
          <p:spPr>
            <a:xfrm>
              <a:off x="9581467" y="4672584"/>
              <a:ext cx="1173321" cy="274320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 wrap="square" lIns="36576" tIns="0" rIns="36576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 box</a:t>
              </a:r>
            </a:p>
          </p:txBody>
        </p:sp>
      </p:grpSp>
      <p:sp>
        <p:nvSpPr>
          <p:cNvPr id="7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play out on a clean white model-railway table.</a:t>
            </a:r>
          </a:p>
        </p:txBody>
      </p:sp>
      <p:sp>
        <p:nvSpPr>
          <p:cNvPr id="7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a lesson plays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ock lesson window" descr="A mock lesson window. The miniature table is shown with the semaphore highlighted by an orange ring and a short caption bubble beside it. A control bar below has pause, replay, previous and next buttons."/>
          <p:cNvGrpSpPr/>
          <p:nvPr/>
        </p:nvGrpSpPr>
        <p:grpSpPr>
          <a:xfrm>
            <a:off x="548640" y="1325880"/>
            <a:ext cx="11091672" cy="4297680"/>
            <a:chOff x="548640" y="1325880"/>
            <a:chExt cx="11091672" cy="4297680"/>
          </a:xfrm>
        </p:grpSpPr>
        <p:sp>
          <p:nvSpPr>
            <p:cNvPr id="5" name="lesson window"/>
            <p:cNvSpPr/>
            <p:nvPr/>
          </p:nvSpPr>
          <p:spPr>
            <a:xfrm>
              <a:off x="548640" y="1325880"/>
              <a:ext cx="11091672" cy="4297680"/>
            </a:xfrm>
            <a:prstGeom prst="roundRect">
              <a:avLst>
                <a:gd name="adj" fmla="val 1702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window title bar"/>
            <p:cNvSpPr/>
            <p:nvPr/>
          </p:nvSpPr>
          <p:spPr>
            <a:xfrm>
              <a:off x="585216" y="1362456"/>
              <a:ext cx="11018520" cy="29260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window dot"/>
            <p:cNvSpPr/>
            <p:nvPr/>
          </p:nvSpPr>
          <p:spPr>
            <a:xfrm>
              <a:off x="777240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indow dot"/>
            <p:cNvSpPr/>
            <p:nvPr/>
          </p:nvSpPr>
          <p:spPr>
            <a:xfrm>
              <a:off x="1014983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indow dot"/>
            <p:cNvSpPr/>
            <p:nvPr/>
          </p:nvSpPr>
          <p:spPr>
            <a:xfrm>
              <a:off x="1252728" y="1444752"/>
              <a:ext cx="128016" cy="128016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able edge"/>
            <p:cNvSpPr/>
            <p:nvPr/>
          </p:nvSpPr>
          <p:spPr>
            <a:xfrm>
              <a:off x="1819656" y="4786957"/>
              <a:ext cx="8552017" cy="169346"/>
            </a:xfrm>
            <a:prstGeom prst="roundRect">
              <a:avLst>
                <a:gd name="adj" fmla="val 21598"/>
              </a:avLst>
            </a:prstGeom>
            <a:solidFill>
              <a:srgbClr val="B5BBC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able top"/>
            <p:cNvSpPr/>
            <p:nvPr/>
          </p:nvSpPr>
          <p:spPr>
            <a:xfrm>
              <a:off x="1819656" y="1755648"/>
              <a:ext cx="8552017" cy="3048243"/>
            </a:xfrm>
            <a:prstGeom prst="roundRect">
              <a:avLst>
                <a:gd name="adj" fmla="val 3333"/>
              </a:avLst>
            </a:prstGeom>
            <a:solidFill>
              <a:srgbClr val="F4F5F6"/>
            </a:solidFill>
            <a:ln w="12700">
              <a:solidFill>
                <a:srgbClr val="D5D9D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3301441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3301441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>
              <a:off x="3487722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>
              <a:off x="3487722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>
              <a:off x="3674004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>
              <a:off x="3674004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>
              <a:off x="3860285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3860285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4046567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4046567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4232849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4232849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4419130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>
              <a:off x="4419130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4605412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4605412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4791693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4791693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4977975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4977975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5164256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5164256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5350538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5350538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sleeper"/>
            <p:cNvSpPr/>
            <p:nvPr/>
          </p:nvSpPr>
          <p:spPr>
            <a:xfrm>
              <a:off x="5536820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leeper"/>
            <p:cNvSpPr/>
            <p:nvPr/>
          </p:nvSpPr>
          <p:spPr>
            <a:xfrm>
              <a:off x="5536820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leeper"/>
            <p:cNvSpPr/>
            <p:nvPr/>
          </p:nvSpPr>
          <p:spPr>
            <a:xfrm>
              <a:off x="5723101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leeper"/>
            <p:cNvSpPr/>
            <p:nvPr/>
          </p:nvSpPr>
          <p:spPr>
            <a:xfrm>
              <a:off x="5723101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leeper"/>
            <p:cNvSpPr/>
            <p:nvPr/>
          </p:nvSpPr>
          <p:spPr>
            <a:xfrm>
              <a:off x="5909383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leeper"/>
            <p:cNvSpPr/>
            <p:nvPr/>
          </p:nvSpPr>
          <p:spPr>
            <a:xfrm>
              <a:off x="5909383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sleeper"/>
            <p:cNvSpPr/>
            <p:nvPr/>
          </p:nvSpPr>
          <p:spPr>
            <a:xfrm>
              <a:off x="6095664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sleeper"/>
            <p:cNvSpPr/>
            <p:nvPr/>
          </p:nvSpPr>
          <p:spPr>
            <a:xfrm>
              <a:off x="6095664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leeper"/>
            <p:cNvSpPr/>
            <p:nvPr/>
          </p:nvSpPr>
          <p:spPr>
            <a:xfrm>
              <a:off x="6281946" y="2373764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leeper"/>
            <p:cNvSpPr/>
            <p:nvPr/>
          </p:nvSpPr>
          <p:spPr>
            <a:xfrm>
              <a:off x="6281946" y="4177308"/>
              <a:ext cx="59271" cy="177814"/>
            </a:xfrm>
            <a:prstGeom prst="rect">
              <a:avLst/>
            </a:prstGeom>
            <a:solidFill>
              <a:srgbClr val="B9A58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outer rail"/>
            <p:cNvSpPr/>
            <p:nvPr/>
          </p:nvSpPr>
          <p:spPr>
            <a:xfrm>
              <a:off x="2327696" y="2390698"/>
              <a:ext cx="5080406" cy="1947489"/>
            </a:xfrm>
            <a:prstGeom prst="roundRect">
              <a:avLst>
                <a:gd name="adj" fmla="val 50000"/>
              </a:avLst>
            </a:prstGeom>
            <a:noFill/>
            <a:ln w="3528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inner rail"/>
            <p:cNvSpPr/>
            <p:nvPr/>
          </p:nvSpPr>
          <p:spPr>
            <a:xfrm>
              <a:off x="2454706" y="2517708"/>
              <a:ext cx="4826386" cy="1693468"/>
            </a:xfrm>
            <a:prstGeom prst="roundRect">
              <a:avLst>
                <a:gd name="adj" fmla="val 50000"/>
              </a:avLst>
            </a:prstGeom>
            <a:noFill/>
            <a:ln w="3528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mini train engine"/>
            <p:cNvSpPr/>
            <p:nvPr/>
          </p:nvSpPr>
          <p:spPr>
            <a:xfrm>
              <a:off x="3767145" y="2343281"/>
              <a:ext cx="546990" cy="353934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mini train chimney"/>
            <p:cNvSpPr/>
            <p:nvPr/>
          </p:nvSpPr>
          <p:spPr>
            <a:xfrm>
              <a:off x="4169343" y="2246753"/>
              <a:ext cx="112615" cy="160879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mini train frame"/>
            <p:cNvSpPr/>
            <p:nvPr/>
          </p:nvSpPr>
          <p:spPr>
            <a:xfrm>
              <a:off x="3767145" y="2568513"/>
              <a:ext cx="546990" cy="12870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mini train wagon"/>
            <p:cNvSpPr/>
            <p:nvPr/>
          </p:nvSpPr>
          <p:spPr>
            <a:xfrm>
              <a:off x="4346311" y="2391545"/>
              <a:ext cx="482638" cy="305671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mini train wagon"/>
            <p:cNvSpPr/>
            <p:nvPr/>
          </p:nvSpPr>
          <p:spPr>
            <a:xfrm>
              <a:off x="4861125" y="2391545"/>
              <a:ext cx="482638" cy="305671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mini train wheel"/>
            <p:cNvSpPr/>
            <p:nvPr/>
          </p:nvSpPr>
          <p:spPr>
            <a:xfrm>
              <a:off x="3850802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mini train wheel"/>
            <p:cNvSpPr/>
            <p:nvPr/>
          </p:nvSpPr>
          <p:spPr>
            <a:xfrm>
              <a:off x="4108209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mini train wheel"/>
            <p:cNvSpPr/>
            <p:nvPr/>
          </p:nvSpPr>
          <p:spPr>
            <a:xfrm>
              <a:off x="4413880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mini train wheel"/>
            <p:cNvSpPr/>
            <p:nvPr/>
          </p:nvSpPr>
          <p:spPr>
            <a:xfrm>
              <a:off x="4671288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mini train wheel"/>
            <p:cNvSpPr/>
            <p:nvPr/>
          </p:nvSpPr>
          <p:spPr>
            <a:xfrm>
              <a:off x="4928695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mini train wheel"/>
            <p:cNvSpPr/>
            <p:nvPr/>
          </p:nvSpPr>
          <p:spPr>
            <a:xfrm>
              <a:off x="5186102" y="2636082"/>
              <a:ext cx="122268" cy="12226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platform"/>
            <p:cNvSpPr/>
            <p:nvPr/>
          </p:nvSpPr>
          <p:spPr>
            <a:xfrm>
              <a:off x="3513124" y="3889418"/>
              <a:ext cx="2201509" cy="169346"/>
            </a:xfrm>
            <a:prstGeom prst="rect">
              <a:avLst/>
            </a:prstGeom>
            <a:solidFill>
              <a:srgbClr val="D5D9DE"/>
            </a:solidFill>
            <a:ln w="9525">
              <a:solidFill>
                <a:srgbClr val="8C939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station body"/>
            <p:cNvSpPr/>
            <p:nvPr/>
          </p:nvSpPr>
          <p:spPr>
            <a:xfrm>
              <a:off x="4105838" y="3462664"/>
              <a:ext cx="1016081" cy="426754"/>
            </a:xfrm>
            <a:prstGeom prst="rect">
              <a:avLst/>
            </a:prstGeom>
            <a:solidFill>
              <a:srgbClr val="C9CED3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station roof"/>
            <p:cNvSpPr/>
            <p:nvPr/>
          </p:nvSpPr>
          <p:spPr>
            <a:xfrm>
              <a:off x="4044874" y="3279769"/>
              <a:ext cx="1138011" cy="182895"/>
            </a:xfrm>
            <a:custGeom>
              <a:avLst/>
              <a:gdLst/>
              <a:ahLst/>
              <a:cxnLst/>
              <a:rect l="l" t="t" r="r" b="b"/>
              <a:pathLst>
                <a:path w="1138011" h="182895">
                  <a:moveTo>
                    <a:pt x="0" y="182895"/>
                  </a:moveTo>
                  <a:lnTo>
                    <a:pt x="569005" y="0"/>
                  </a:lnTo>
                  <a:lnTo>
                    <a:pt x="1138011" y="182895"/>
                  </a:lnTo>
                  <a:close/>
                </a:path>
              </a:pathLst>
            </a:cu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tation window"/>
            <p:cNvSpPr/>
            <p:nvPr/>
          </p:nvSpPr>
          <p:spPr>
            <a:xfrm>
              <a:off x="4207447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tation window"/>
            <p:cNvSpPr/>
            <p:nvPr/>
          </p:nvSpPr>
          <p:spPr>
            <a:xfrm>
              <a:off x="4512271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station window"/>
            <p:cNvSpPr/>
            <p:nvPr/>
          </p:nvSpPr>
          <p:spPr>
            <a:xfrm>
              <a:off x="4817095" y="3584594"/>
              <a:ext cx="203216" cy="17070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emaphore post"/>
            <p:cNvSpPr/>
            <p:nvPr/>
          </p:nvSpPr>
          <p:spPr>
            <a:xfrm>
              <a:off x="8191332" y="3025749"/>
              <a:ext cx="127010" cy="1270101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emaphore foot"/>
            <p:cNvSpPr/>
            <p:nvPr/>
          </p:nvSpPr>
          <p:spPr>
            <a:xfrm>
              <a:off x="7975415" y="4219645"/>
              <a:ext cx="558844" cy="7620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semaphore arm"/>
            <p:cNvSpPr/>
            <p:nvPr/>
          </p:nvSpPr>
          <p:spPr>
            <a:xfrm>
              <a:off x="8318342" y="3101955"/>
              <a:ext cx="787462" cy="152412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emaphore arm stripe"/>
            <p:cNvSpPr/>
            <p:nvPr/>
          </p:nvSpPr>
          <p:spPr>
            <a:xfrm>
              <a:off x="8751447" y="3101955"/>
              <a:ext cx="94495" cy="15241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emaphore lamp"/>
            <p:cNvSpPr/>
            <p:nvPr/>
          </p:nvSpPr>
          <p:spPr>
            <a:xfrm>
              <a:off x="8127827" y="3000347"/>
              <a:ext cx="254020" cy="254020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emaphore pivot"/>
            <p:cNvSpPr/>
            <p:nvPr/>
          </p:nvSpPr>
          <p:spPr>
            <a:xfrm>
              <a:off x="8267538" y="3127357"/>
              <a:ext cx="101608" cy="101608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signal box lower"/>
            <p:cNvSpPr/>
            <p:nvPr/>
          </p:nvSpPr>
          <p:spPr>
            <a:xfrm>
              <a:off x="9059235" y="3909740"/>
              <a:ext cx="931407" cy="386110"/>
            </a:xfrm>
            <a:prstGeom prst="rect">
              <a:avLst/>
            </a:prstGeom>
            <a:solidFill>
              <a:srgbClr val="8C5A3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signal box upper"/>
            <p:cNvSpPr/>
            <p:nvPr/>
          </p:nvSpPr>
          <p:spPr>
            <a:xfrm>
              <a:off x="9021978" y="3668421"/>
              <a:ext cx="1005920" cy="257407"/>
            </a:xfrm>
            <a:prstGeom prst="rect">
              <a:avLst/>
            </a:prstGeom>
            <a:solidFill>
              <a:srgbClr val="AEB4B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signal box windows"/>
            <p:cNvSpPr/>
            <p:nvPr/>
          </p:nvSpPr>
          <p:spPr>
            <a:xfrm>
              <a:off x="9133747" y="3716684"/>
              <a:ext cx="782382" cy="144791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signal box roof"/>
            <p:cNvSpPr/>
            <p:nvPr/>
          </p:nvSpPr>
          <p:spPr>
            <a:xfrm>
              <a:off x="8984722" y="3491453"/>
              <a:ext cx="1080433" cy="176968"/>
            </a:xfrm>
            <a:custGeom>
              <a:avLst/>
              <a:gdLst/>
              <a:ahLst/>
              <a:cxnLst/>
              <a:rect l="l" t="t" r="r" b="b"/>
              <a:pathLst>
                <a:path w="1080433" h="176968">
                  <a:moveTo>
                    <a:pt x="0" y="176968"/>
                  </a:moveTo>
                  <a:lnTo>
                    <a:pt x="540217" y="0"/>
                  </a:lnTo>
                  <a:lnTo>
                    <a:pt x="1080433" y="176968"/>
                  </a:lnTo>
                  <a:close/>
                </a:path>
              </a:pathLst>
            </a:cu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signal box door"/>
            <p:cNvSpPr/>
            <p:nvPr/>
          </p:nvSpPr>
          <p:spPr>
            <a:xfrm>
              <a:off x="9431798" y="4022355"/>
              <a:ext cx="186281" cy="273495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highlight ring"/>
            <p:cNvSpPr/>
            <p:nvPr/>
          </p:nvSpPr>
          <p:spPr>
            <a:xfrm>
              <a:off x="7815422" y="2794113"/>
              <a:ext cx="1417320" cy="768096"/>
            </a:xfrm>
            <a:prstGeom prst="ellipse">
              <a:avLst/>
            </a:prstGeom>
            <a:noFill/>
            <a:ln w="571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caption bubble body"/>
            <p:cNvSpPr/>
            <p:nvPr/>
          </p:nvSpPr>
          <p:spPr>
            <a:xfrm>
              <a:off x="8001000" y="1828800"/>
              <a:ext cx="2103120" cy="566928"/>
            </a:xfrm>
            <a:prstGeom prst="roundRect">
              <a:avLst>
                <a:gd name="adj" fmla="val 33333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Short caption</a:t>
              </a:r>
            </a:p>
          </p:txBody>
        </p:sp>
        <p:sp>
          <p:nvSpPr>
            <p:cNvPr id="78" name="caption bubble tail"/>
            <p:cNvSpPr/>
            <p:nvPr/>
          </p:nvSpPr>
          <p:spPr>
            <a:xfrm>
              <a:off x="8503920" y="2377440"/>
              <a:ext cx="274320" cy="329184"/>
            </a:xfrm>
            <a:custGeom>
              <a:avLst/>
              <a:gdLst/>
              <a:ahLst/>
              <a:cxnLst/>
              <a:rect l="l" t="t" r="r" b="b"/>
              <a:pathLst>
                <a:path w="274320" h="329184">
                  <a:moveTo>
                    <a:pt x="0" y="0"/>
                  </a:moveTo>
                  <a:lnTo>
                    <a:pt x="274320" y="0"/>
                  </a:lnTo>
                  <a:lnTo>
                    <a:pt x="41148" y="329184"/>
                  </a:lnTo>
                  <a:close/>
                </a:path>
              </a:pathLst>
            </a:cu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control bar"/>
            <p:cNvSpPr/>
            <p:nvPr/>
          </p:nvSpPr>
          <p:spPr>
            <a:xfrm>
              <a:off x="585216" y="5047488"/>
              <a:ext cx="11018520" cy="539496"/>
            </a:xfrm>
            <a:prstGeom prst="rect">
              <a:avLst/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control button"/>
            <p:cNvSpPr/>
            <p:nvPr/>
          </p:nvSpPr>
          <p:spPr>
            <a:xfrm>
              <a:off x="914400" y="5116068"/>
              <a:ext cx="1255391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pause bar"/>
            <p:cNvSpPr/>
            <p:nvPr/>
          </p:nvSpPr>
          <p:spPr>
            <a:xfrm>
              <a:off x="1124712" y="5198364"/>
              <a:ext cx="64008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pause bar"/>
            <p:cNvSpPr/>
            <p:nvPr/>
          </p:nvSpPr>
          <p:spPr>
            <a:xfrm>
              <a:off x="1261872" y="5198364"/>
              <a:ext cx="64008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control label"/>
            <p:cNvSpPr txBox="1"/>
            <p:nvPr/>
          </p:nvSpPr>
          <p:spPr>
            <a:xfrm>
              <a:off x="1444752" y="5116068"/>
              <a:ext cx="688463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Pause</a:t>
              </a:r>
            </a:p>
          </p:txBody>
        </p:sp>
        <p:sp>
          <p:nvSpPr>
            <p:cNvPr id="84" name="control button"/>
            <p:cNvSpPr/>
            <p:nvPr/>
          </p:nvSpPr>
          <p:spPr>
            <a:xfrm>
              <a:off x="2352671" y="5116068"/>
              <a:ext cx="1314592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eplay arc"/>
            <p:cNvSpPr/>
            <p:nvPr/>
          </p:nvSpPr>
          <p:spPr>
            <a:xfrm>
              <a:off x="2535960" y="5189385"/>
              <a:ext cx="251260" cy="255338"/>
            </a:xfrm>
            <a:custGeom>
              <a:avLst/>
              <a:gdLst/>
              <a:ahLst/>
              <a:cxnLst/>
              <a:rect l="l" t="t" r="r" b="b"/>
              <a:pathLst>
                <a:path w="251260" h="255338">
                  <a:moveTo>
                    <a:pt x="171391" y="7555"/>
                  </a:moveTo>
                  <a:lnTo>
                    <a:pt x="146621" y="1254"/>
                  </a:lnTo>
                  <a:lnTo>
                    <a:pt x="121093" y="0"/>
                  </a:lnTo>
                  <a:lnTo>
                    <a:pt x="95824" y="3842"/>
                  </a:lnTo>
                  <a:lnTo>
                    <a:pt x="71823" y="12628"/>
                  </a:lnTo>
                  <a:lnTo>
                    <a:pt x="50045" y="26006"/>
                  </a:lnTo>
                  <a:lnTo>
                    <a:pt x="31359" y="43444"/>
                  </a:lnTo>
                  <a:lnTo>
                    <a:pt x="16509" y="64246"/>
                  </a:lnTo>
                  <a:lnTo>
                    <a:pt x="6088" y="87584"/>
                  </a:lnTo>
                  <a:lnTo>
                    <a:pt x="511" y="112527"/>
                  </a:lnTo>
                  <a:lnTo>
                    <a:pt x="0" y="138080"/>
                  </a:lnTo>
                  <a:lnTo>
                    <a:pt x="4575" y="163226"/>
                  </a:lnTo>
                  <a:lnTo>
                    <a:pt x="14055" y="186962"/>
                  </a:lnTo>
                  <a:lnTo>
                    <a:pt x="28061" y="208341"/>
                  </a:lnTo>
                  <a:lnTo>
                    <a:pt x="46035" y="226512"/>
                  </a:lnTo>
                  <a:lnTo>
                    <a:pt x="67260" y="240751"/>
                  </a:lnTo>
                  <a:lnTo>
                    <a:pt x="90891" y="250488"/>
                  </a:lnTo>
                  <a:lnTo>
                    <a:pt x="115986" y="255338"/>
                  </a:lnTo>
                  <a:lnTo>
                    <a:pt x="141543" y="255106"/>
                  </a:lnTo>
                  <a:lnTo>
                    <a:pt x="166545" y="249801"/>
                  </a:lnTo>
                  <a:lnTo>
                    <a:pt x="189995" y="239635"/>
                  </a:lnTo>
                  <a:lnTo>
                    <a:pt x="210958" y="225013"/>
                  </a:lnTo>
                  <a:lnTo>
                    <a:pt x="228599" y="206518"/>
                  </a:lnTo>
                  <a:lnTo>
                    <a:pt x="242214" y="184888"/>
                  </a:lnTo>
                  <a:lnTo>
                    <a:pt x="251260" y="160983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control label"/>
            <p:cNvSpPr txBox="1"/>
            <p:nvPr/>
          </p:nvSpPr>
          <p:spPr>
            <a:xfrm>
              <a:off x="2883023" y="5116068"/>
              <a:ext cx="747664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Replay</a:t>
              </a:r>
            </a:p>
          </p:txBody>
        </p:sp>
        <p:sp>
          <p:nvSpPr>
            <p:cNvPr id="87" name="control button"/>
            <p:cNvSpPr/>
            <p:nvPr/>
          </p:nvSpPr>
          <p:spPr>
            <a:xfrm>
              <a:off x="3850143" y="5116068"/>
              <a:ext cx="1482586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prev bar"/>
            <p:cNvSpPr/>
            <p:nvPr/>
          </p:nvSpPr>
          <p:spPr>
            <a:xfrm>
              <a:off x="4042167" y="5198364"/>
              <a:ext cx="45720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prev triangle"/>
            <p:cNvSpPr/>
            <p:nvPr/>
          </p:nvSpPr>
          <p:spPr>
            <a:xfrm>
              <a:off x="4097031" y="5198364"/>
              <a:ext cx="182880" cy="237743"/>
            </a:xfrm>
            <a:custGeom>
              <a:avLst/>
              <a:gdLst/>
              <a:ahLst/>
              <a:cxnLst/>
              <a:rect l="l" t="t" r="r" b="b"/>
              <a:pathLst>
                <a:path w="182880" h="237743">
                  <a:moveTo>
                    <a:pt x="182880" y="0"/>
                  </a:moveTo>
                  <a:lnTo>
                    <a:pt x="182880" y="237743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control label"/>
            <p:cNvSpPr txBox="1"/>
            <p:nvPr/>
          </p:nvSpPr>
          <p:spPr>
            <a:xfrm>
              <a:off x="4380495" y="5116068"/>
              <a:ext cx="915658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Previous</a:t>
              </a:r>
            </a:p>
          </p:txBody>
        </p:sp>
        <p:sp>
          <p:nvSpPr>
            <p:cNvPr id="91" name="control button"/>
            <p:cNvSpPr/>
            <p:nvPr/>
          </p:nvSpPr>
          <p:spPr>
            <a:xfrm>
              <a:off x="5515610" y="5116068"/>
              <a:ext cx="1116915" cy="40233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next triangle"/>
            <p:cNvSpPr/>
            <p:nvPr/>
          </p:nvSpPr>
          <p:spPr>
            <a:xfrm>
              <a:off x="5707634" y="5198364"/>
              <a:ext cx="182880" cy="237743"/>
            </a:xfrm>
            <a:custGeom>
              <a:avLst/>
              <a:gdLst/>
              <a:ahLst/>
              <a:cxnLst/>
              <a:rect l="l" t="t" r="r" b="b"/>
              <a:pathLst>
                <a:path w="182880" h="237743">
                  <a:moveTo>
                    <a:pt x="0" y="0"/>
                  </a:moveTo>
                  <a:lnTo>
                    <a:pt x="0" y="237743"/>
                  </a:lnTo>
                  <a:lnTo>
                    <a:pt x="182880" y="11887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next bar"/>
            <p:cNvSpPr/>
            <p:nvPr/>
          </p:nvSpPr>
          <p:spPr>
            <a:xfrm>
              <a:off x="5899658" y="5198364"/>
              <a:ext cx="45720" cy="23774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control label"/>
            <p:cNvSpPr txBox="1"/>
            <p:nvPr/>
          </p:nvSpPr>
          <p:spPr>
            <a:xfrm>
              <a:off x="6045962" y="5116068"/>
              <a:ext cx="549987" cy="402336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Next</a:t>
              </a:r>
            </a:p>
          </p:txBody>
        </p:sp>
      </p:grpSp>
      <p:sp>
        <p:nvSpPr>
          <p:cNvPr id="95" name="ICHIP"/>
          <p:cNvSpPr/>
          <p:nvPr/>
        </p:nvSpPr>
        <p:spPr>
          <a:xfrm>
            <a:off x="7726477" y="5161788"/>
            <a:ext cx="3749242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controls: undecided (OQ15, OQ18)</a:t>
            </a:r>
          </a:p>
        </p:txBody>
      </p:sp>
      <p:sp>
        <p:nvSpPr>
          <p:cNvPr id="9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Lessons pause at the key moment and use short captions. No walls of text.</a:t>
            </a:r>
          </a:p>
        </p:txBody>
      </p:sp>
      <p:sp>
        <p:nvSpPr>
          <p:cNvPr id="9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An older FICSIT look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ock library screen" descr="A mock library screen in a plain, boxy, muted style. It has a title bar, a list of lessons on the left and a lesson pane on the right showing a small model-railway table."/>
          <p:cNvGrpSpPr/>
          <p:nvPr/>
        </p:nvGrpSpPr>
        <p:grpSpPr>
          <a:xfrm>
            <a:off x="548640" y="1325880"/>
            <a:ext cx="11091672" cy="3794760"/>
            <a:chOff x="548640" y="1325880"/>
            <a:chExt cx="11091672" cy="3794760"/>
          </a:xfrm>
        </p:grpSpPr>
        <p:sp>
          <p:nvSpPr>
            <p:cNvPr id="5" name="screen frame"/>
            <p:cNvSpPr/>
            <p:nvPr/>
          </p:nvSpPr>
          <p:spPr>
            <a:xfrm>
              <a:off x="548640" y="1325880"/>
              <a:ext cx="11091672" cy="3794760"/>
            </a:xfrm>
            <a:prstGeom prst="rect">
              <a:avLst/>
            </a:prstGeom>
            <a:solidFill>
              <a:srgbClr val="3A3F47"/>
            </a:solidFill>
            <a:ln w="508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creen inner frame"/>
            <p:cNvSpPr/>
            <p:nvPr/>
          </p:nvSpPr>
          <p:spPr>
            <a:xfrm>
              <a:off x="640080" y="1417320"/>
              <a:ext cx="10908792" cy="3611880"/>
            </a:xfrm>
            <a:prstGeom prst="rect">
              <a:avLst/>
            </a:prstGeom>
            <a:noFill/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itle bar"/>
            <p:cNvSpPr/>
            <p:nvPr/>
          </p:nvSpPr>
          <p:spPr>
            <a:xfrm>
              <a:off x="640080" y="1417320"/>
              <a:ext cx="10908792" cy="438912"/>
            </a:xfrm>
            <a:prstGeom prst="rect">
              <a:avLst/>
            </a:prstGeom>
            <a:solidFill>
              <a:srgbClr val="555C66"/>
            </a:solidFill>
            <a:ln>
              <a:noFill/>
            </a:ln>
          </p:spPr>
          <p:txBody>
            <a:bodyPr rtlCol="0" anchor="ctr" wrap="square" lIns="182880" tIns="0" bIns="0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Railway library</a:t>
              </a:r>
            </a:p>
          </p:txBody>
        </p:sp>
        <p:sp>
          <p:nvSpPr>
            <p:cNvPr id="8" name="title button"/>
            <p:cNvSpPr/>
            <p:nvPr/>
          </p:nvSpPr>
          <p:spPr>
            <a:xfrm>
              <a:off x="11228832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itle button"/>
            <p:cNvSpPr/>
            <p:nvPr/>
          </p:nvSpPr>
          <p:spPr>
            <a:xfrm>
              <a:off x="10881360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itle button"/>
            <p:cNvSpPr/>
            <p:nvPr/>
          </p:nvSpPr>
          <p:spPr>
            <a:xfrm>
              <a:off x="10533888" y="1508760"/>
              <a:ext cx="237744" cy="237744"/>
            </a:xfrm>
            <a:prstGeom prst="rect">
              <a:avLst/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ist box"/>
            <p:cNvSpPr/>
            <p:nvPr/>
          </p:nvSpPr>
          <p:spPr>
            <a:xfrm>
              <a:off x="822959" y="2103120"/>
              <a:ext cx="3200400" cy="274320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list row"/>
            <p:cNvSpPr/>
            <p:nvPr/>
          </p:nvSpPr>
          <p:spPr>
            <a:xfrm>
              <a:off x="960119" y="2240279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list icon"/>
            <p:cNvSpPr/>
            <p:nvPr/>
          </p:nvSpPr>
          <p:spPr>
            <a:xfrm>
              <a:off x="1051560" y="232257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list text bar"/>
            <p:cNvSpPr/>
            <p:nvPr/>
          </p:nvSpPr>
          <p:spPr>
            <a:xfrm>
              <a:off x="1417319" y="238658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list row"/>
            <p:cNvSpPr/>
            <p:nvPr/>
          </p:nvSpPr>
          <p:spPr>
            <a:xfrm>
              <a:off x="960119" y="2743200"/>
              <a:ext cx="2926080" cy="38404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list icon"/>
            <p:cNvSpPr/>
            <p:nvPr/>
          </p:nvSpPr>
          <p:spPr>
            <a:xfrm>
              <a:off x="1051560" y="2825496"/>
              <a:ext cx="219456" cy="219456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ist text bar"/>
            <p:cNvSpPr/>
            <p:nvPr/>
          </p:nvSpPr>
          <p:spPr>
            <a:xfrm>
              <a:off x="1417319" y="2889504"/>
              <a:ext cx="1737360" cy="91440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list row"/>
            <p:cNvSpPr/>
            <p:nvPr/>
          </p:nvSpPr>
          <p:spPr>
            <a:xfrm>
              <a:off x="960119" y="3246120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list icon"/>
            <p:cNvSpPr/>
            <p:nvPr/>
          </p:nvSpPr>
          <p:spPr>
            <a:xfrm>
              <a:off x="1051560" y="332841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list text bar"/>
            <p:cNvSpPr/>
            <p:nvPr/>
          </p:nvSpPr>
          <p:spPr>
            <a:xfrm>
              <a:off x="1417319" y="339242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list row"/>
            <p:cNvSpPr/>
            <p:nvPr/>
          </p:nvSpPr>
          <p:spPr>
            <a:xfrm>
              <a:off x="960119" y="3749039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list icon"/>
            <p:cNvSpPr/>
            <p:nvPr/>
          </p:nvSpPr>
          <p:spPr>
            <a:xfrm>
              <a:off x="1051560" y="3831335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list text bar"/>
            <p:cNvSpPr/>
            <p:nvPr/>
          </p:nvSpPr>
          <p:spPr>
            <a:xfrm>
              <a:off x="1417319" y="389534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list row"/>
            <p:cNvSpPr/>
            <p:nvPr/>
          </p:nvSpPr>
          <p:spPr>
            <a:xfrm>
              <a:off x="960119" y="4251960"/>
              <a:ext cx="2926080" cy="38404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list icon"/>
            <p:cNvSpPr/>
            <p:nvPr/>
          </p:nvSpPr>
          <p:spPr>
            <a:xfrm>
              <a:off x="1051560" y="4334256"/>
              <a:ext cx="219456" cy="219456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list text bar"/>
            <p:cNvSpPr/>
            <p:nvPr/>
          </p:nvSpPr>
          <p:spPr>
            <a:xfrm>
              <a:off x="1417319" y="4398264"/>
              <a:ext cx="15544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lesson pane"/>
            <p:cNvSpPr/>
            <p:nvPr/>
          </p:nvSpPr>
          <p:spPr>
            <a:xfrm>
              <a:off x="4297679" y="2103120"/>
              <a:ext cx="7068312" cy="274320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review table"/>
            <p:cNvSpPr/>
            <p:nvPr/>
          </p:nvSpPr>
          <p:spPr>
            <a:xfrm>
              <a:off x="4526279" y="2331720"/>
              <a:ext cx="4023360" cy="2286000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review loop"/>
            <p:cNvSpPr/>
            <p:nvPr/>
          </p:nvSpPr>
          <p:spPr>
            <a:xfrm>
              <a:off x="4983479" y="2697479"/>
              <a:ext cx="3108960" cy="1280160"/>
            </a:xfrm>
            <a:prstGeom prst="roundRect">
              <a:avLst>
                <a:gd name="adj" fmla="val 50000"/>
              </a:avLst>
            </a:prstGeom>
            <a:noFill/>
            <a:ln w="38100">
              <a:solidFill>
                <a:srgbClr val="7A828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preview train engine"/>
            <p:cNvSpPr/>
            <p:nvPr/>
          </p:nvSpPr>
          <p:spPr>
            <a:xfrm>
              <a:off x="5852159" y="2633472"/>
              <a:ext cx="310896" cy="201168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preview train chimney"/>
            <p:cNvSpPr/>
            <p:nvPr/>
          </p:nvSpPr>
          <p:spPr>
            <a:xfrm>
              <a:off x="6080759" y="2578608"/>
              <a:ext cx="64007" cy="91440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preview train frame"/>
            <p:cNvSpPr/>
            <p:nvPr/>
          </p:nvSpPr>
          <p:spPr>
            <a:xfrm>
              <a:off x="5852159" y="2761488"/>
              <a:ext cx="310896" cy="7315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preview train wagon"/>
            <p:cNvSpPr/>
            <p:nvPr/>
          </p:nvSpPr>
          <p:spPr>
            <a:xfrm>
              <a:off x="6181344" y="2660903"/>
              <a:ext cx="274320" cy="173736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preview train wagon"/>
            <p:cNvSpPr/>
            <p:nvPr/>
          </p:nvSpPr>
          <p:spPr>
            <a:xfrm>
              <a:off x="6473952" y="2660903"/>
              <a:ext cx="274320" cy="173736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preview train wheel"/>
            <p:cNvSpPr/>
            <p:nvPr/>
          </p:nvSpPr>
          <p:spPr>
            <a:xfrm>
              <a:off x="5899708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preview train wheel"/>
            <p:cNvSpPr/>
            <p:nvPr/>
          </p:nvSpPr>
          <p:spPr>
            <a:xfrm>
              <a:off x="6046012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preview train wheel"/>
            <p:cNvSpPr/>
            <p:nvPr/>
          </p:nvSpPr>
          <p:spPr>
            <a:xfrm>
              <a:off x="6219748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preview train wheel"/>
            <p:cNvSpPr/>
            <p:nvPr/>
          </p:nvSpPr>
          <p:spPr>
            <a:xfrm>
              <a:off x="6366052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preview train wheel"/>
            <p:cNvSpPr/>
            <p:nvPr/>
          </p:nvSpPr>
          <p:spPr>
            <a:xfrm>
              <a:off x="6512356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review train wheel"/>
            <p:cNvSpPr/>
            <p:nvPr/>
          </p:nvSpPr>
          <p:spPr>
            <a:xfrm>
              <a:off x="6658660" y="2799892"/>
              <a:ext cx="69494" cy="69494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play disc"/>
            <p:cNvSpPr/>
            <p:nvPr/>
          </p:nvSpPr>
          <p:spPr>
            <a:xfrm>
              <a:off x="6117336" y="3282696"/>
              <a:ext cx="475488" cy="47548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play"/>
            <p:cNvSpPr/>
            <p:nvPr/>
          </p:nvSpPr>
          <p:spPr>
            <a:xfrm>
              <a:off x="6292900" y="3392423"/>
              <a:ext cx="217627" cy="256033"/>
            </a:xfrm>
            <a:custGeom>
              <a:avLst/>
              <a:gdLst/>
              <a:ahLst/>
              <a:cxnLst/>
              <a:rect l="l" t="t" r="r" b="b"/>
              <a:pathLst>
                <a:path w="217627" h="256033">
                  <a:moveTo>
                    <a:pt x="0" y="0"/>
                  </a:moveTo>
                  <a:lnTo>
                    <a:pt x="0" y="256033"/>
                  </a:lnTo>
                  <a:lnTo>
                    <a:pt x="217627" y="128016"/>
                  </a:lnTo>
                  <a:close/>
                </a:path>
              </a:pathLst>
            </a:cu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pane title bar"/>
            <p:cNvSpPr/>
            <p:nvPr/>
          </p:nvSpPr>
          <p:spPr>
            <a:xfrm>
              <a:off x="8778240" y="2377439"/>
              <a:ext cx="1887321" cy="18288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pane text bar"/>
            <p:cNvSpPr/>
            <p:nvPr/>
          </p:nvSpPr>
          <p:spPr>
            <a:xfrm>
              <a:off x="8778240" y="283463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pane text bar"/>
            <p:cNvSpPr/>
            <p:nvPr/>
          </p:nvSpPr>
          <p:spPr>
            <a:xfrm>
              <a:off x="8778240" y="310895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pane text bar"/>
            <p:cNvSpPr/>
            <p:nvPr/>
          </p:nvSpPr>
          <p:spPr>
            <a:xfrm>
              <a:off x="8778240" y="3383279"/>
              <a:ext cx="2359152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pane text bar"/>
            <p:cNvSpPr/>
            <p:nvPr/>
          </p:nvSpPr>
          <p:spPr>
            <a:xfrm>
              <a:off x="8778240" y="3657599"/>
              <a:ext cx="1415491" cy="9144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step square"/>
            <p:cNvSpPr/>
            <p:nvPr/>
          </p:nvSpPr>
          <p:spPr>
            <a:xfrm>
              <a:off x="8778240" y="4114800"/>
              <a:ext cx="182880" cy="1828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step square"/>
            <p:cNvSpPr/>
            <p:nvPr/>
          </p:nvSpPr>
          <p:spPr>
            <a:xfrm>
              <a:off x="9070848" y="4114800"/>
              <a:ext cx="182880" cy="1828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step square"/>
            <p:cNvSpPr/>
            <p:nvPr/>
          </p:nvSpPr>
          <p:spPr>
            <a:xfrm>
              <a:off x="9363456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step square"/>
            <p:cNvSpPr/>
            <p:nvPr/>
          </p:nvSpPr>
          <p:spPr>
            <a:xfrm>
              <a:off x="9656063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step square"/>
            <p:cNvSpPr/>
            <p:nvPr/>
          </p:nvSpPr>
          <p:spPr>
            <a:xfrm>
              <a:off x="9948672" y="4114800"/>
              <a:ext cx="182880" cy="18288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3" name="note card"/>
          <p:cNvSpPr/>
          <p:nvPr/>
        </p:nvSpPr>
        <p:spPr>
          <a:xfrm>
            <a:off x="548640" y="5230368"/>
            <a:ext cx="2788920" cy="411480"/>
          </a:xfrm>
          <a:prstGeom prst="roundRect">
            <a:avLst>
              <a:gd name="adj" fmla="val 17777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54864" tIns="27432" rIns="54864" bIns="27432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A look, not a story.</a:t>
            </a:r>
          </a:p>
        </p:txBody>
      </p:sp>
      <p:sp>
        <p:nvSpPr>
          <p:cNvPr id="54" name="ICHIP"/>
          <p:cNvSpPr/>
          <p:nvPr/>
        </p:nvSpPr>
        <p:spPr>
          <a:xfrm>
            <a:off x="8701601" y="5280660"/>
            <a:ext cx="2938710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Final layout: undecided (OQ15)</a:t>
            </a:r>
          </a:p>
        </p:txBody>
      </p:sp>
      <p:sp>
        <p:nvSpPr>
          <p:cNvPr id="5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library looks like an older, simpler FICSIT screen.</a:t>
            </a:r>
          </a:p>
        </p:txBody>
      </p:sp>
      <p:sp>
        <p:nvSpPr>
          <p:cNvPr id="58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surprise on first unlock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Four-step storyboard" descr="A four-step storyboard. One: the usual announcement. Two: the screen glitches. Three: a retro jingle plays. Four: the guide says hello."/>
          <p:cNvGrpSpPr/>
          <p:nvPr/>
        </p:nvGrpSpPr>
        <p:grpSpPr>
          <a:xfrm>
            <a:off x="548640" y="1417320"/>
            <a:ext cx="11089843" cy="3246120"/>
            <a:chOff x="548640" y="1417320"/>
            <a:chExt cx="11089843" cy="3246120"/>
          </a:xfrm>
        </p:grpSpPr>
        <p:sp>
          <p:nvSpPr>
            <p:cNvPr id="5" name="step card"/>
            <p:cNvSpPr/>
            <p:nvPr/>
          </p:nvSpPr>
          <p:spPr>
            <a:xfrm>
              <a:off x="548640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mock screen"/>
            <p:cNvSpPr/>
            <p:nvPr/>
          </p:nvSpPr>
          <p:spPr>
            <a:xfrm>
              <a:off x="731520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tep badge"/>
            <p:cNvSpPr/>
            <p:nvPr/>
          </p:nvSpPr>
          <p:spPr>
            <a:xfrm>
              <a:off x="640080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8" name="step label"/>
            <p:cNvSpPr txBox="1"/>
            <p:nvPr/>
          </p:nvSpPr>
          <p:spPr>
            <a:xfrm>
              <a:off x="685800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Usual announcement</a:t>
              </a:r>
            </a:p>
          </p:txBody>
        </p:sp>
        <p:sp>
          <p:nvSpPr>
            <p:cNvPr id="9" name="announcement banner"/>
            <p:cNvSpPr/>
            <p:nvPr/>
          </p:nvSpPr>
          <p:spPr>
            <a:xfrm>
              <a:off x="914400" y="2423160"/>
              <a:ext cx="1783080" cy="731520"/>
            </a:xfrm>
            <a:prstGeom prst="roundRect">
              <a:avLst>
                <a:gd name="adj" fmla="val 10000"/>
              </a:avLst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anner dot ring"/>
            <p:cNvSpPr/>
            <p:nvPr/>
          </p:nvSpPr>
          <p:spPr>
            <a:xfrm>
              <a:off x="1024128" y="2560320"/>
              <a:ext cx="457200" cy="457200"/>
            </a:xfrm>
            <a:prstGeom prst="ellipse">
              <a:avLst/>
            </a:prstGeom>
            <a:noFill/>
            <a:ln w="381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anner dot"/>
            <p:cNvSpPr/>
            <p:nvPr/>
          </p:nvSpPr>
          <p:spPr>
            <a:xfrm>
              <a:off x="1188720" y="2724912"/>
              <a:ext cx="128016" cy="128016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banner line"/>
            <p:cNvSpPr/>
            <p:nvPr/>
          </p:nvSpPr>
          <p:spPr>
            <a:xfrm>
              <a:off x="1645920" y="2606039"/>
              <a:ext cx="822960" cy="91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anner line"/>
            <p:cNvSpPr/>
            <p:nvPr/>
          </p:nvSpPr>
          <p:spPr>
            <a:xfrm>
              <a:off x="1645920" y="2816352"/>
              <a:ext cx="594360" cy="9144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step arrow"/>
            <p:cNvCxnSpPr/>
            <p:nvPr/>
          </p:nvCxnSpPr>
          <p:spPr>
            <a:xfrm>
              <a:off x="3090672" y="2788920"/>
              <a:ext cx="28895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5" name="step card"/>
            <p:cNvSpPr/>
            <p:nvPr/>
          </p:nvSpPr>
          <p:spPr>
            <a:xfrm>
              <a:off x="3407054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mock screen"/>
            <p:cNvSpPr/>
            <p:nvPr/>
          </p:nvSpPr>
          <p:spPr>
            <a:xfrm>
              <a:off x="3589934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tep badge"/>
            <p:cNvSpPr/>
            <p:nvPr/>
          </p:nvSpPr>
          <p:spPr>
            <a:xfrm>
              <a:off x="3498494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8" name="step label"/>
            <p:cNvSpPr txBox="1"/>
            <p:nvPr/>
          </p:nvSpPr>
          <p:spPr>
            <a:xfrm>
              <a:off x="3544214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Screen glitches</a:t>
              </a:r>
            </a:p>
          </p:txBody>
        </p:sp>
        <p:sp>
          <p:nvSpPr>
            <p:cNvPr id="19" name="glitch slice"/>
            <p:cNvSpPr/>
            <p:nvPr/>
          </p:nvSpPr>
          <p:spPr>
            <a:xfrm>
              <a:off x="3772814" y="2331720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glitch slice"/>
            <p:cNvSpPr/>
            <p:nvPr/>
          </p:nvSpPr>
          <p:spPr>
            <a:xfrm>
              <a:off x="4028846" y="2487168"/>
              <a:ext cx="1783080" cy="137160"/>
            </a:xfrm>
            <a:prstGeom prst="rect">
              <a:avLst/>
            </a:prstGeom>
            <a:solidFill>
              <a:srgbClr val="7C889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glitch slice"/>
            <p:cNvSpPr/>
            <p:nvPr/>
          </p:nvSpPr>
          <p:spPr>
            <a:xfrm>
              <a:off x="3589934" y="2642615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glitch slice"/>
            <p:cNvSpPr/>
            <p:nvPr/>
          </p:nvSpPr>
          <p:spPr>
            <a:xfrm>
              <a:off x="3937406" y="2798063"/>
              <a:ext cx="1783080" cy="137160"/>
            </a:xfrm>
            <a:prstGeom prst="rect">
              <a:avLst/>
            </a:prstGeom>
            <a:solidFill>
              <a:srgbClr val="7C889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glitch slice"/>
            <p:cNvSpPr/>
            <p:nvPr/>
          </p:nvSpPr>
          <p:spPr>
            <a:xfrm>
              <a:off x="3681374" y="2953512"/>
              <a:ext cx="1783080" cy="137160"/>
            </a:xfrm>
            <a:prstGeom prst="rect">
              <a:avLst/>
            </a:prstGeom>
            <a:solidFill>
              <a:srgbClr val="5B667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glitch noise"/>
            <p:cNvSpPr/>
            <p:nvPr/>
          </p:nvSpPr>
          <p:spPr>
            <a:xfrm>
              <a:off x="3681374" y="3200400"/>
              <a:ext cx="54864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glitch noise"/>
            <p:cNvSpPr/>
            <p:nvPr/>
          </p:nvSpPr>
          <p:spPr>
            <a:xfrm>
              <a:off x="4687214" y="3282696"/>
              <a:ext cx="45720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glitch noise"/>
            <p:cNvSpPr/>
            <p:nvPr/>
          </p:nvSpPr>
          <p:spPr>
            <a:xfrm>
              <a:off x="4047134" y="3364992"/>
              <a:ext cx="365760" cy="36576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glitch zigzag"/>
            <p:cNvSpPr/>
            <p:nvPr/>
          </p:nvSpPr>
          <p:spPr>
            <a:xfrm>
              <a:off x="5235854" y="2194560"/>
              <a:ext cx="182880" cy="640079"/>
            </a:xfrm>
            <a:custGeom>
              <a:avLst/>
              <a:gdLst/>
              <a:ahLst/>
              <a:cxnLst/>
              <a:rect l="l" t="t" r="r" b="b"/>
              <a:pathLst>
                <a:path w="182880" h="640079">
                  <a:moveTo>
                    <a:pt x="0" y="0"/>
                  </a:moveTo>
                  <a:lnTo>
                    <a:pt x="137160" y="228600"/>
                  </a:lnTo>
                  <a:lnTo>
                    <a:pt x="0" y="320040"/>
                  </a:lnTo>
                  <a:lnTo>
                    <a:pt x="182880" y="640079"/>
                  </a:lnTo>
                </a:path>
              </a:pathLst>
            </a:custGeom>
            <a:noFill/>
            <a:ln w="3810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8" name="step arrow"/>
            <p:cNvCxnSpPr/>
            <p:nvPr/>
          </p:nvCxnSpPr>
          <p:spPr>
            <a:xfrm>
              <a:off x="5949086" y="2788920"/>
              <a:ext cx="28895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9" name="step card"/>
            <p:cNvSpPr/>
            <p:nvPr/>
          </p:nvSpPr>
          <p:spPr>
            <a:xfrm>
              <a:off x="6265468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mock screen"/>
            <p:cNvSpPr/>
            <p:nvPr/>
          </p:nvSpPr>
          <p:spPr>
            <a:xfrm>
              <a:off x="6448348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tep badge"/>
            <p:cNvSpPr/>
            <p:nvPr/>
          </p:nvSpPr>
          <p:spPr>
            <a:xfrm>
              <a:off x="6356908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32" name="step label"/>
            <p:cNvSpPr txBox="1"/>
            <p:nvPr/>
          </p:nvSpPr>
          <p:spPr>
            <a:xfrm>
              <a:off x="6402628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 retro jingle plays</a:t>
              </a:r>
            </a:p>
          </p:txBody>
        </p:sp>
        <p:sp>
          <p:nvSpPr>
            <p:cNvPr id="33" name="note head"/>
            <p:cNvSpPr/>
            <p:nvPr/>
          </p:nvSpPr>
          <p:spPr>
            <a:xfrm>
              <a:off x="7074712" y="3008376"/>
              <a:ext cx="219456" cy="1554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note stem"/>
            <p:cNvSpPr/>
            <p:nvPr/>
          </p:nvSpPr>
          <p:spPr>
            <a:xfrm>
              <a:off x="7266736" y="2624328"/>
              <a:ext cx="41148" cy="4754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note head"/>
            <p:cNvSpPr/>
            <p:nvPr/>
          </p:nvSpPr>
          <p:spPr>
            <a:xfrm>
              <a:off x="7413040" y="2944368"/>
              <a:ext cx="219456" cy="1554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note stem"/>
            <p:cNvSpPr/>
            <p:nvPr/>
          </p:nvSpPr>
          <p:spPr>
            <a:xfrm>
              <a:off x="7605064" y="2560320"/>
              <a:ext cx="41148" cy="475488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note beam"/>
            <p:cNvSpPr/>
            <p:nvPr/>
          </p:nvSpPr>
          <p:spPr>
            <a:xfrm>
              <a:off x="7266736" y="2551176"/>
              <a:ext cx="338328" cy="182880"/>
            </a:xfrm>
            <a:custGeom>
              <a:avLst/>
              <a:gdLst/>
              <a:ahLst/>
              <a:cxnLst/>
              <a:rect l="l" t="t" r="r" b="b"/>
              <a:pathLst>
                <a:path w="338328" h="182880">
                  <a:moveTo>
                    <a:pt x="0" y="73152"/>
                  </a:moveTo>
                  <a:lnTo>
                    <a:pt x="338328" y="0"/>
                  </a:lnTo>
                  <a:lnTo>
                    <a:pt x="338328" y="109728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ound arc"/>
            <p:cNvSpPr/>
            <p:nvPr/>
          </p:nvSpPr>
          <p:spPr>
            <a:xfrm>
              <a:off x="7915790" y="2640022"/>
              <a:ext cx="64178" cy="352659"/>
            </a:xfrm>
            <a:custGeom>
              <a:avLst/>
              <a:gdLst/>
              <a:ahLst/>
              <a:cxnLst/>
              <a:rect l="l" t="t" r="r" b="b"/>
              <a:pathLst>
                <a:path w="64178" h="352659">
                  <a:moveTo>
                    <a:pt x="0" y="352659"/>
                  </a:moveTo>
                  <a:lnTo>
                    <a:pt x="9897" y="340142"/>
                  </a:lnTo>
                  <a:lnTo>
                    <a:pt x="19049" y="327071"/>
                  </a:lnTo>
                  <a:lnTo>
                    <a:pt x="27426" y="313490"/>
                  </a:lnTo>
                  <a:lnTo>
                    <a:pt x="35000" y="299444"/>
                  </a:lnTo>
                  <a:lnTo>
                    <a:pt x="41743" y="284982"/>
                  </a:lnTo>
                  <a:lnTo>
                    <a:pt x="47635" y="270152"/>
                  </a:lnTo>
                  <a:lnTo>
                    <a:pt x="52654" y="255005"/>
                  </a:lnTo>
                  <a:lnTo>
                    <a:pt x="56784" y="239592"/>
                  </a:lnTo>
                  <a:lnTo>
                    <a:pt x="60011" y="223965"/>
                  </a:lnTo>
                  <a:lnTo>
                    <a:pt x="62323" y="208176"/>
                  </a:lnTo>
                  <a:lnTo>
                    <a:pt x="63714" y="192280"/>
                  </a:lnTo>
                  <a:lnTo>
                    <a:pt x="64178" y="176330"/>
                  </a:lnTo>
                  <a:lnTo>
                    <a:pt x="63714" y="160379"/>
                  </a:lnTo>
                  <a:lnTo>
                    <a:pt x="62323" y="144483"/>
                  </a:lnTo>
                  <a:lnTo>
                    <a:pt x="60011" y="128694"/>
                  </a:lnTo>
                  <a:lnTo>
                    <a:pt x="56784" y="113067"/>
                  </a:lnTo>
                  <a:lnTo>
                    <a:pt x="52654" y="97654"/>
                  </a:lnTo>
                  <a:lnTo>
                    <a:pt x="47635" y="82507"/>
                  </a:lnTo>
                  <a:lnTo>
                    <a:pt x="41743" y="67677"/>
                  </a:lnTo>
                  <a:lnTo>
                    <a:pt x="35000" y="53215"/>
                  </a:lnTo>
                  <a:lnTo>
                    <a:pt x="27426" y="39170"/>
                  </a:lnTo>
                  <a:lnTo>
                    <a:pt x="19049" y="25588"/>
                  </a:lnTo>
                  <a:lnTo>
                    <a:pt x="9897" y="12517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ound arc"/>
            <p:cNvSpPr/>
            <p:nvPr/>
          </p:nvSpPr>
          <p:spPr>
            <a:xfrm>
              <a:off x="8055884" y="2522469"/>
              <a:ext cx="106964" cy="587765"/>
            </a:xfrm>
            <a:custGeom>
              <a:avLst/>
              <a:gdLst/>
              <a:ahLst/>
              <a:cxnLst/>
              <a:rect l="l" t="t" r="r" b="b"/>
              <a:pathLst>
                <a:path w="106964" h="587765">
                  <a:moveTo>
                    <a:pt x="0" y="587765"/>
                  </a:moveTo>
                  <a:lnTo>
                    <a:pt x="16495" y="566903"/>
                  </a:lnTo>
                  <a:lnTo>
                    <a:pt x="31749" y="545118"/>
                  </a:lnTo>
                  <a:lnTo>
                    <a:pt x="45711" y="522483"/>
                  </a:lnTo>
                  <a:lnTo>
                    <a:pt x="58333" y="499073"/>
                  </a:lnTo>
                  <a:lnTo>
                    <a:pt x="69573" y="474970"/>
                  </a:lnTo>
                  <a:lnTo>
                    <a:pt x="79392" y="450254"/>
                  </a:lnTo>
                  <a:lnTo>
                    <a:pt x="87757" y="425009"/>
                  </a:lnTo>
                  <a:lnTo>
                    <a:pt x="94640" y="399320"/>
                  </a:lnTo>
                  <a:lnTo>
                    <a:pt x="100018" y="373274"/>
                  </a:lnTo>
                  <a:lnTo>
                    <a:pt x="103873" y="346960"/>
                  </a:lnTo>
                  <a:lnTo>
                    <a:pt x="106191" y="320466"/>
                  </a:lnTo>
                  <a:lnTo>
                    <a:pt x="106964" y="293883"/>
                  </a:lnTo>
                  <a:lnTo>
                    <a:pt x="106191" y="267299"/>
                  </a:lnTo>
                  <a:lnTo>
                    <a:pt x="103873" y="240805"/>
                  </a:lnTo>
                  <a:lnTo>
                    <a:pt x="100018" y="214491"/>
                  </a:lnTo>
                  <a:lnTo>
                    <a:pt x="94640" y="188445"/>
                  </a:lnTo>
                  <a:lnTo>
                    <a:pt x="87757" y="162756"/>
                  </a:lnTo>
                  <a:lnTo>
                    <a:pt x="79392" y="137511"/>
                  </a:lnTo>
                  <a:lnTo>
                    <a:pt x="69573" y="112795"/>
                  </a:lnTo>
                  <a:lnTo>
                    <a:pt x="58333" y="88692"/>
                  </a:lnTo>
                  <a:lnTo>
                    <a:pt x="45711" y="65283"/>
                  </a:lnTo>
                  <a:lnTo>
                    <a:pt x="31749" y="42647"/>
                  </a:lnTo>
                  <a:lnTo>
                    <a:pt x="16495" y="20862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ound arc"/>
            <p:cNvSpPr/>
            <p:nvPr/>
          </p:nvSpPr>
          <p:spPr>
            <a:xfrm>
              <a:off x="8195978" y="2404916"/>
              <a:ext cx="149750" cy="822871"/>
            </a:xfrm>
            <a:custGeom>
              <a:avLst/>
              <a:gdLst/>
              <a:ahLst/>
              <a:cxnLst/>
              <a:rect l="l" t="t" r="r" b="b"/>
              <a:pathLst>
                <a:path w="149750" h="822871">
                  <a:moveTo>
                    <a:pt x="0" y="822871"/>
                  </a:moveTo>
                  <a:lnTo>
                    <a:pt x="23093" y="793665"/>
                  </a:lnTo>
                  <a:lnTo>
                    <a:pt x="44449" y="763165"/>
                  </a:lnTo>
                  <a:lnTo>
                    <a:pt x="63996" y="731476"/>
                  </a:lnTo>
                  <a:lnTo>
                    <a:pt x="81667" y="698703"/>
                  </a:lnTo>
                  <a:lnTo>
                    <a:pt x="97402" y="664958"/>
                  </a:lnTo>
                  <a:lnTo>
                    <a:pt x="111149" y="630356"/>
                  </a:lnTo>
                  <a:lnTo>
                    <a:pt x="122860" y="595013"/>
                  </a:lnTo>
                  <a:lnTo>
                    <a:pt x="132497" y="559048"/>
                  </a:lnTo>
                  <a:lnTo>
                    <a:pt x="140026" y="522584"/>
                  </a:lnTo>
                  <a:lnTo>
                    <a:pt x="145422" y="485744"/>
                  </a:lnTo>
                  <a:lnTo>
                    <a:pt x="148667" y="448653"/>
                  </a:lnTo>
                  <a:lnTo>
                    <a:pt x="149750" y="411436"/>
                  </a:lnTo>
                  <a:lnTo>
                    <a:pt x="148667" y="374218"/>
                  </a:lnTo>
                  <a:lnTo>
                    <a:pt x="145422" y="337127"/>
                  </a:lnTo>
                  <a:lnTo>
                    <a:pt x="140026" y="300287"/>
                  </a:lnTo>
                  <a:lnTo>
                    <a:pt x="132497" y="263823"/>
                  </a:lnTo>
                  <a:lnTo>
                    <a:pt x="122860" y="227858"/>
                  </a:lnTo>
                  <a:lnTo>
                    <a:pt x="111149" y="192515"/>
                  </a:lnTo>
                  <a:lnTo>
                    <a:pt x="97402" y="157913"/>
                  </a:lnTo>
                  <a:lnTo>
                    <a:pt x="81667" y="124168"/>
                  </a:lnTo>
                  <a:lnTo>
                    <a:pt x="63996" y="91396"/>
                  </a:lnTo>
                  <a:lnTo>
                    <a:pt x="44449" y="59706"/>
                  </a:lnTo>
                  <a:lnTo>
                    <a:pt x="23093" y="29206"/>
                  </a:ln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step arrow"/>
            <p:cNvCxnSpPr/>
            <p:nvPr/>
          </p:nvCxnSpPr>
          <p:spPr>
            <a:xfrm>
              <a:off x="8807500" y="2788920"/>
              <a:ext cx="288951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42" name="step card"/>
            <p:cNvSpPr/>
            <p:nvPr/>
          </p:nvSpPr>
          <p:spPr>
            <a:xfrm>
              <a:off x="9123883" y="1417320"/>
              <a:ext cx="2514600" cy="3246120"/>
            </a:xfrm>
            <a:prstGeom prst="roundRect">
              <a:avLst>
                <a:gd name="adj" fmla="val 2909"/>
              </a:avLst>
            </a:prstGeom>
            <a:solidFill>
              <a:srgbClr val="2B2F3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mock screen"/>
            <p:cNvSpPr/>
            <p:nvPr/>
          </p:nvSpPr>
          <p:spPr>
            <a:xfrm>
              <a:off x="9306763" y="1965960"/>
              <a:ext cx="2148840" cy="1645920"/>
            </a:xfrm>
            <a:prstGeom prst="roundRect">
              <a:avLst>
                <a:gd name="adj" fmla="val 3333"/>
              </a:avLst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tep badge"/>
            <p:cNvSpPr/>
            <p:nvPr/>
          </p:nvSpPr>
          <p:spPr>
            <a:xfrm>
              <a:off x="9215323" y="1508760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4</a:t>
              </a:r>
            </a:p>
          </p:txBody>
        </p:sp>
        <p:sp>
          <p:nvSpPr>
            <p:cNvPr id="45" name="step label"/>
            <p:cNvSpPr txBox="1"/>
            <p:nvPr/>
          </p:nvSpPr>
          <p:spPr>
            <a:xfrm>
              <a:off x="9261043" y="3749039"/>
              <a:ext cx="224028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guide says hello</a:t>
              </a:r>
            </a:p>
          </p:txBody>
        </p:sp>
        <p:grpSp>
          <p:nvGrpSpPr>
            <p:cNvPr id="46" name="Placeholder avatar (small)" descr="Placeholder avatar for the railway guide: a plain round head with no face, a headset and orange shoulders. Her look is undecided (OQ15)."/>
            <p:cNvGrpSpPr/>
            <p:nvPr/>
          </p:nvGrpSpPr>
          <p:grpSpPr>
            <a:xfrm>
              <a:off x="9398203" y="2408758"/>
              <a:ext cx="1188720" cy="1221410"/>
              <a:chOff x="9398203" y="2408758"/>
              <a:chExt cx="1188720" cy="1221410"/>
            </a:xfrm>
          </p:grpSpPr>
          <p:sp>
            <p:nvSpPr>
              <p:cNvPr id="47" name="shoulders"/>
              <p:cNvSpPr/>
              <p:nvPr/>
            </p:nvSpPr>
            <p:spPr>
              <a:xfrm>
                <a:off x="9398203" y="3065526"/>
                <a:ext cx="1188720" cy="564642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neck"/>
              <p:cNvSpPr/>
              <p:nvPr/>
            </p:nvSpPr>
            <p:spPr>
              <a:xfrm>
                <a:off x="9873691" y="2991231"/>
                <a:ext cx="237744" cy="237744"/>
              </a:xfrm>
              <a:prstGeom prst="rect">
                <a:avLst/>
              </a:prstGeom>
              <a:solidFill>
                <a:srgbClr val="B9BEC4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head"/>
              <p:cNvSpPr/>
              <p:nvPr/>
            </p:nvSpPr>
            <p:spPr>
              <a:xfrm>
                <a:off x="9695383" y="2486025"/>
                <a:ext cx="594360" cy="594360"/>
              </a:xfrm>
              <a:prstGeom prst="ellipse">
                <a:avLst/>
              </a:prstGeom>
              <a:solidFill>
                <a:srgbClr val="D5D9DE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headset band"/>
              <p:cNvSpPr/>
              <p:nvPr/>
            </p:nvSpPr>
            <p:spPr>
              <a:xfrm>
                <a:off x="9621760" y="2408758"/>
                <a:ext cx="741605" cy="331797"/>
              </a:xfrm>
              <a:custGeom>
                <a:avLst/>
                <a:gdLst/>
                <a:ahLst/>
                <a:cxnLst/>
                <a:rect l="l" t="t" r="r" b="b"/>
                <a:pathLst>
                  <a:path w="741605" h="331797">
                    <a:moveTo>
                      <a:pt x="741605" y="322334"/>
                    </a:moveTo>
                    <a:lnTo>
                      <a:pt x="732771" y="278585"/>
                    </a:lnTo>
                    <a:lnTo>
                      <a:pt x="718794" y="236198"/>
                    </a:lnTo>
                    <a:lnTo>
                      <a:pt x="699873" y="195776"/>
                    </a:lnTo>
                    <a:lnTo>
                      <a:pt x="676277" y="157892"/>
                    </a:lnTo>
                    <a:lnTo>
                      <a:pt x="648341" y="123084"/>
                    </a:lnTo>
                    <a:lnTo>
                      <a:pt x="616462" y="91848"/>
                    </a:lnTo>
                    <a:lnTo>
                      <a:pt x="581093" y="64626"/>
                    </a:lnTo>
                    <a:lnTo>
                      <a:pt x="542736" y="41807"/>
                    </a:lnTo>
                    <a:lnTo>
                      <a:pt x="501937" y="23713"/>
                    </a:lnTo>
                    <a:lnTo>
                      <a:pt x="459274" y="10602"/>
                    </a:lnTo>
                    <a:lnTo>
                      <a:pt x="415355" y="2660"/>
                    </a:lnTo>
                    <a:lnTo>
                      <a:pt x="370803" y="0"/>
                    </a:lnTo>
                    <a:lnTo>
                      <a:pt x="326250" y="2660"/>
                    </a:lnTo>
                    <a:lnTo>
                      <a:pt x="282331" y="10602"/>
                    </a:lnTo>
                    <a:lnTo>
                      <a:pt x="239669" y="23713"/>
                    </a:lnTo>
                    <a:lnTo>
                      <a:pt x="198869" y="41807"/>
                    </a:lnTo>
                    <a:lnTo>
                      <a:pt x="160513" y="64626"/>
                    </a:lnTo>
                    <a:lnTo>
                      <a:pt x="125143" y="91848"/>
                    </a:lnTo>
                    <a:lnTo>
                      <a:pt x="93265" y="123084"/>
                    </a:lnTo>
                    <a:lnTo>
                      <a:pt x="65329" y="157892"/>
                    </a:lnTo>
                    <a:lnTo>
                      <a:pt x="41732" y="195776"/>
                    </a:lnTo>
                    <a:lnTo>
                      <a:pt x="22811" y="236198"/>
                    </a:lnTo>
                    <a:lnTo>
                      <a:pt x="8834" y="278585"/>
                    </a:lnTo>
                    <a:lnTo>
                      <a:pt x="0" y="322334"/>
                    </a:lnTo>
                    <a:lnTo>
                      <a:pt x="67333" y="331797"/>
                    </a:lnTo>
                    <a:lnTo>
                      <a:pt x="74563" y="295992"/>
                    </a:lnTo>
                    <a:lnTo>
                      <a:pt x="86002" y="261303"/>
                    </a:lnTo>
                    <a:lnTo>
                      <a:pt x="101487" y="228220"/>
                    </a:lnTo>
                    <a:lnTo>
                      <a:pt x="120799" y="197215"/>
                    </a:lnTo>
                    <a:lnTo>
                      <a:pt x="143662" y="168728"/>
                    </a:lnTo>
                    <a:lnTo>
                      <a:pt x="169752" y="143164"/>
                    </a:lnTo>
                    <a:lnTo>
                      <a:pt x="198699" y="120886"/>
                    </a:lnTo>
                    <a:lnTo>
                      <a:pt x="230090" y="102210"/>
                    </a:lnTo>
                    <a:lnTo>
                      <a:pt x="263481" y="87401"/>
                    </a:lnTo>
                    <a:lnTo>
                      <a:pt x="298396" y="76671"/>
                    </a:lnTo>
                    <a:lnTo>
                      <a:pt x="334341" y="70171"/>
                    </a:lnTo>
                    <a:lnTo>
                      <a:pt x="370803" y="67994"/>
                    </a:lnTo>
                    <a:lnTo>
                      <a:pt x="407265" y="70171"/>
                    </a:lnTo>
                    <a:lnTo>
                      <a:pt x="443209" y="76671"/>
                    </a:lnTo>
                    <a:lnTo>
                      <a:pt x="478124" y="87401"/>
                    </a:lnTo>
                    <a:lnTo>
                      <a:pt x="511515" y="102210"/>
                    </a:lnTo>
                    <a:lnTo>
                      <a:pt x="542907" y="120886"/>
                    </a:lnTo>
                    <a:lnTo>
                      <a:pt x="571853" y="143164"/>
                    </a:lnTo>
                    <a:lnTo>
                      <a:pt x="597943" y="168728"/>
                    </a:lnTo>
                    <a:lnTo>
                      <a:pt x="620807" y="197215"/>
                    </a:lnTo>
                    <a:lnTo>
                      <a:pt x="640118" y="228220"/>
                    </a:lnTo>
                    <a:lnTo>
                      <a:pt x="655603" y="261303"/>
                    </a:lnTo>
                    <a:lnTo>
                      <a:pt x="667042" y="295992"/>
                    </a:lnTo>
                    <a:lnTo>
                      <a:pt x="674272" y="331797"/>
                    </a:lnTo>
                    <a:close/>
                  </a:path>
                </a:pathLst>
              </a:cu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ear cup"/>
              <p:cNvSpPr/>
              <p:nvPr/>
            </p:nvSpPr>
            <p:spPr>
              <a:xfrm>
                <a:off x="9599394" y="2699994"/>
                <a:ext cx="106984" cy="202082"/>
              </a:xfrm>
              <a:prstGeom prst="roundRect">
                <a:avLst>
                  <a:gd name="adj" fmla="val 38888"/>
                </a:avLst>
              </a:pr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ear cup"/>
              <p:cNvSpPr/>
              <p:nvPr/>
            </p:nvSpPr>
            <p:spPr>
              <a:xfrm>
                <a:off x="10278747" y="2699994"/>
                <a:ext cx="106984" cy="202082"/>
              </a:xfrm>
              <a:prstGeom prst="roundRect">
                <a:avLst>
                  <a:gd name="adj" fmla="val 38888"/>
                </a:avLst>
              </a:prstGeom>
              <a:solidFill>
                <a:srgbClr val="3A3F47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mic boom"/>
              <p:cNvSpPr/>
              <p:nvPr/>
            </p:nvSpPr>
            <p:spPr>
              <a:xfrm>
                <a:off x="9656749" y="2890189"/>
                <a:ext cx="234773" cy="139766"/>
              </a:xfrm>
              <a:custGeom>
                <a:avLst/>
                <a:gdLst/>
                <a:ahLst/>
                <a:cxnLst/>
                <a:rect l="l" t="t" r="r" b="b"/>
                <a:pathLst>
                  <a:path w="234773" h="139766">
                    <a:moveTo>
                      <a:pt x="0" y="0"/>
                    </a:moveTo>
                    <a:lnTo>
                      <a:pt x="300" y="12244"/>
                    </a:lnTo>
                    <a:lnTo>
                      <a:pt x="1198" y="23926"/>
                    </a:lnTo>
                    <a:lnTo>
                      <a:pt x="2695" y="35048"/>
                    </a:lnTo>
                    <a:lnTo>
                      <a:pt x="4792" y="45608"/>
                    </a:lnTo>
                    <a:lnTo>
                      <a:pt x="7487" y="55608"/>
                    </a:lnTo>
                    <a:lnTo>
                      <a:pt x="10781" y="65046"/>
                    </a:lnTo>
                    <a:lnTo>
                      <a:pt x="14674" y="73924"/>
                    </a:lnTo>
                    <a:lnTo>
                      <a:pt x="19165" y="82240"/>
                    </a:lnTo>
                    <a:lnTo>
                      <a:pt x="24256" y="89996"/>
                    </a:lnTo>
                    <a:lnTo>
                      <a:pt x="29946" y="97190"/>
                    </a:lnTo>
                    <a:lnTo>
                      <a:pt x="36234" y="103824"/>
                    </a:lnTo>
                    <a:lnTo>
                      <a:pt x="43122" y="109896"/>
                    </a:lnTo>
                    <a:lnTo>
                      <a:pt x="50608" y="115408"/>
                    </a:lnTo>
                    <a:lnTo>
                      <a:pt x="58693" y="120358"/>
                    </a:lnTo>
                    <a:lnTo>
                      <a:pt x="67378" y="124748"/>
                    </a:lnTo>
                    <a:lnTo>
                      <a:pt x="76661" y="128576"/>
                    </a:lnTo>
                    <a:lnTo>
                      <a:pt x="86543" y="131844"/>
                    </a:lnTo>
                    <a:lnTo>
                      <a:pt x="97024" y="134550"/>
                    </a:lnTo>
                    <a:lnTo>
                      <a:pt x="108103" y="136696"/>
                    </a:lnTo>
                    <a:lnTo>
                      <a:pt x="119782" y="138280"/>
                    </a:lnTo>
                    <a:lnTo>
                      <a:pt x="132060" y="139303"/>
                    </a:lnTo>
                    <a:lnTo>
                      <a:pt x="144936" y="139766"/>
                    </a:lnTo>
                    <a:lnTo>
                      <a:pt x="158412" y="139667"/>
                    </a:lnTo>
                    <a:lnTo>
                      <a:pt x="172486" y="139008"/>
                    </a:lnTo>
                    <a:lnTo>
                      <a:pt x="187159" y="137787"/>
                    </a:lnTo>
                    <a:lnTo>
                      <a:pt x="202431" y="136006"/>
                    </a:lnTo>
                    <a:lnTo>
                      <a:pt x="218303" y="133663"/>
                    </a:lnTo>
                    <a:lnTo>
                      <a:pt x="234773" y="130760"/>
                    </a:lnTo>
                  </a:path>
                </a:pathLst>
              </a:custGeom>
              <a:noFill/>
              <a:ln w="26416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mic tip"/>
              <p:cNvSpPr/>
              <p:nvPr/>
            </p:nvSpPr>
            <p:spPr>
              <a:xfrm>
                <a:off x="9855860" y="2985287"/>
                <a:ext cx="71323" cy="71323"/>
              </a:xfrm>
              <a:prstGeom prst="ellipse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55" name="small bubble body"/>
            <p:cNvSpPr/>
            <p:nvPr/>
          </p:nvSpPr>
          <p:spPr>
            <a:xfrm>
              <a:off x="10404043" y="2148839"/>
              <a:ext cx="777240" cy="420624"/>
            </a:xfrm>
            <a:prstGeom prst="roundRect">
              <a:avLst>
                <a:gd name="adj" fmla="val 33333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 wrap="square" lIns="109728" rIns="109728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...</a:t>
              </a:r>
            </a:p>
          </p:txBody>
        </p:sp>
        <p:sp>
          <p:nvSpPr>
            <p:cNvPr id="56" name="small bubble tail"/>
            <p:cNvSpPr/>
            <p:nvPr/>
          </p:nvSpPr>
          <p:spPr>
            <a:xfrm>
              <a:off x="10906963" y="2551175"/>
              <a:ext cx="182880" cy="219457"/>
            </a:xfrm>
            <a:custGeom>
              <a:avLst/>
              <a:gdLst/>
              <a:ahLst/>
              <a:cxnLst/>
              <a:rect l="l" t="t" r="r" b="b"/>
              <a:pathLst>
                <a:path w="182880" h="219457">
                  <a:moveTo>
                    <a:pt x="0" y="0"/>
                  </a:moveTo>
                  <a:lnTo>
                    <a:pt x="182880" y="0"/>
                  </a:lnTo>
                  <a:lnTo>
                    <a:pt x="27432" y="219457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7" name="NOTE"/>
          <p:cNvSpPr txBox="1"/>
          <p:nvPr/>
        </p:nvSpPr>
        <p:spPr>
          <a:xfrm>
            <a:off x="548640" y="4937760"/>
            <a:ext cx="2743200" cy="36576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Funny, not sinister.</a:t>
            </a:r>
          </a:p>
        </p:txBody>
      </p:sp>
      <p:sp>
        <p:nvSpPr>
          <p:cNvPr id="58" name="ICHIP"/>
          <p:cNvSpPr/>
          <p:nvPr/>
        </p:nvSpPr>
        <p:spPr>
          <a:xfrm>
            <a:off x="3246120" y="4965192"/>
            <a:ext cx="2188366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sequence: open</a:t>
            </a:r>
          </a:p>
        </p:txBody>
      </p:sp>
      <p:sp>
        <p:nvSpPr>
          <p:cNvPr id="59" name="PLACEHOLDER LABEL"/>
          <p:cNvSpPr txBox="1"/>
          <p:nvPr/>
        </p:nvSpPr>
        <p:spPr>
          <a:xfrm>
            <a:off x="6766560" y="4892040"/>
            <a:ext cx="4873752" cy="45720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sp>
        <p:nvSpPr>
          <p:cNvPr id="60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 your first unlock, the game's usual announcer could be playfully interrupted.</a:t>
            </a:r>
          </a:p>
        </p:txBody>
      </p:sp>
      <p:sp>
        <p:nvSpPr>
          <p:cNvPr id="63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2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8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542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An original jingle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ound-wave icon and jingle card" descr="A sound-wave icon, a speaker with an audio waveform, beside a card reading: Original retro start-up jingle."/>
          <p:cNvGrpSpPr/>
          <p:nvPr/>
        </p:nvGrpSpPr>
        <p:grpSpPr>
          <a:xfrm>
            <a:off x="822960" y="1737360"/>
            <a:ext cx="10789920" cy="3291840"/>
            <a:chOff x="822960" y="1737360"/>
            <a:chExt cx="10789920" cy="3291840"/>
          </a:xfrm>
        </p:grpSpPr>
        <p:sp>
          <p:nvSpPr>
            <p:cNvPr id="5" name="icon panel"/>
            <p:cNvSpPr/>
            <p:nvPr/>
          </p:nvSpPr>
          <p:spPr>
            <a:xfrm>
              <a:off x="822960" y="1737360"/>
              <a:ext cx="5120640" cy="3291840"/>
            </a:xfrm>
            <a:prstGeom prst="roundRect">
              <a:avLst>
                <a:gd name="adj" fmla="val 2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peaker box"/>
            <p:cNvSpPr/>
            <p:nvPr/>
          </p:nvSpPr>
          <p:spPr>
            <a:xfrm>
              <a:off x="1280160" y="3063240"/>
              <a:ext cx="411480" cy="64008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peaker cone"/>
            <p:cNvSpPr/>
            <p:nvPr/>
          </p:nvSpPr>
          <p:spPr>
            <a:xfrm>
              <a:off x="1691640" y="2606040"/>
              <a:ext cx="640080" cy="1554480"/>
            </a:xfrm>
            <a:custGeom>
              <a:avLst/>
              <a:gdLst/>
              <a:ahLst/>
              <a:cxnLst/>
              <a:rect l="l" t="t" r="r" b="b"/>
              <a:pathLst>
                <a:path w="640080" h="1554480">
                  <a:moveTo>
                    <a:pt x="0" y="457200"/>
                  </a:moveTo>
                  <a:lnTo>
                    <a:pt x="640080" y="0"/>
                  </a:lnTo>
                  <a:lnTo>
                    <a:pt x="640080" y="15544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ave bar"/>
            <p:cNvSpPr/>
            <p:nvPr/>
          </p:nvSpPr>
          <p:spPr>
            <a:xfrm>
              <a:off x="2697480" y="3154680"/>
              <a:ext cx="164592" cy="45720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ave bar"/>
            <p:cNvSpPr/>
            <p:nvPr/>
          </p:nvSpPr>
          <p:spPr>
            <a:xfrm>
              <a:off x="2990088" y="2880360"/>
              <a:ext cx="164592" cy="100584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wave bar"/>
            <p:cNvSpPr/>
            <p:nvPr/>
          </p:nvSpPr>
          <p:spPr>
            <a:xfrm>
              <a:off x="3282696" y="3017520"/>
              <a:ext cx="164592" cy="73152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wave bar"/>
            <p:cNvSpPr/>
            <p:nvPr/>
          </p:nvSpPr>
          <p:spPr>
            <a:xfrm>
              <a:off x="3575304" y="2606040"/>
              <a:ext cx="164592" cy="15544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wave bar"/>
            <p:cNvSpPr/>
            <p:nvPr/>
          </p:nvSpPr>
          <p:spPr>
            <a:xfrm>
              <a:off x="3867912" y="2834640"/>
              <a:ext cx="164592" cy="10972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wave bar"/>
            <p:cNvSpPr/>
            <p:nvPr/>
          </p:nvSpPr>
          <p:spPr>
            <a:xfrm>
              <a:off x="4160520" y="2423160"/>
              <a:ext cx="164592" cy="192024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wave bar"/>
            <p:cNvSpPr/>
            <p:nvPr/>
          </p:nvSpPr>
          <p:spPr>
            <a:xfrm>
              <a:off x="4453128" y="2743200"/>
              <a:ext cx="164592" cy="12801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wave bar"/>
            <p:cNvSpPr/>
            <p:nvPr/>
          </p:nvSpPr>
          <p:spPr>
            <a:xfrm>
              <a:off x="4745736" y="2971800"/>
              <a:ext cx="164592" cy="8229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wave bar"/>
            <p:cNvSpPr/>
            <p:nvPr/>
          </p:nvSpPr>
          <p:spPr>
            <a:xfrm>
              <a:off x="5038344" y="2697480"/>
              <a:ext cx="164592" cy="137160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wave bar"/>
            <p:cNvSpPr/>
            <p:nvPr/>
          </p:nvSpPr>
          <p:spPr>
            <a:xfrm>
              <a:off x="5330952" y="3063240"/>
              <a:ext cx="164592" cy="64008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wave bar"/>
            <p:cNvSpPr/>
            <p:nvPr/>
          </p:nvSpPr>
          <p:spPr>
            <a:xfrm>
              <a:off x="5623560" y="3200400"/>
              <a:ext cx="164592" cy="3657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jingle card"/>
            <p:cNvSpPr/>
            <p:nvPr/>
          </p:nvSpPr>
          <p:spPr>
            <a:xfrm>
              <a:off x="6583680" y="2286000"/>
              <a:ext cx="5029200" cy="219456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38100">
              <a:solidFill>
                <a:srgbClr val="F28C28"/>
              </a:solidFill>
            </a:ln>
          </p:spPr>
          <p:txBody>
            <a:bodyPr rtlCol="0" anchor="ctr" wrap="square" lIns="320040" tIns="91440" rIns="320040" bIns="91440">
              <a:noAutofit/>
            </a:bodyPr>
            <a:lstStyle/>
            <a:p>
              <a:pPr algn="ctr"/>
              <a:r>
                <a:rPr sz="3000" b="1" i="0" lang="en-GB">
                  <a:solidFill>
                    <a:srgbClr val="F2F2F2"/>
                  </a:solidFill>
                  <a:latin typeface="Arial"/>
                </a:rPr>
                <a:t>Original retro</a:t>
              </a:r>
            </a:p>
            <a:p>
              <a:pPr algn="ctr"/>
              <a:r>
                <a:rPr sz="3000" b="1" i="0" lang="en-GB">
                  <a:solidFill>
                    <a:srgbClr val="F2F2F2"/>
                  </a:solidFill>
                  <a:latin typeface="Arial"/>
                </a:rPr>
                <a:t>start-up jingle</a:t>
              </a:r>
            </a:p>
          </p:txBody>
        </p:sp>
        <p:cxnSp>
          <p:nvCxnSpPr>
            <p:cNvPr id="20" name="link arrow"/>
            <p:cNvCxnSpPr/>
            <p:nvPr/>
          </p:nvCxnSpPr>
          <p:spPr>
            <a:xfrm>
              <a:off x="6035040" y="3383280"/>
              <a:ext cx="4572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start-up jingle is original. No borrowed sounds.</a:t>
            </a:r>
          </a:p>
        </p:txBody>
      </p:sp>
      <p:sp>
        <p:nvSpPr>
          <p:cNvPr id="24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Can the surprise be done?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Two undecided paths" descr="Two possible paths, each with a question mark: intercept the game's announcer, or recreate it ourselves. Neither is decided or tested."/>
          <p:cNvGrpSpPr/>
          <p:nvPr/>
        </p:nvGrpSpPr>
        <p:grpSpPr>
          <a:xfrm>
            <a:off x="640080" y="1600199"/>
            <a:ext cx="10972800" cy="3474721"/>
            <a:chOff x="640080" y="1600199"/>
            <a:chExt cx="10972800" cy="3474721"/>
          </a:xfrm>
        </p:grpSpPr>
        <p:sp>
          <p:nvSpPr>
            <p:cNvPr id="5" name="origin"/>
            <p:cNvSpPr/>
            <p:nvPr/>
          </p:nvSpPr>
          <p:spPr>
            <a:xfrm>
              <a:off x="640080" y="2926080"/>
              <a:ext cx="2468880" cy="822960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54864" tIns="27432" rIns="54864" bIns="27432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surprise</a:t>
              </a:r>
            </a:p>
          </p:txBody>
        </p:sp>
        <p:sp>
          <p:nvSpPr>
            <p:cNvPr id="6" name="path"/>
            <p:cNvSpPr/>
            <p:nvPr/>
          </p:nvSpPr>
          <p:spPr>
            <a:xfrm>
              <a:off x="3108960" y="2331720"/>
              <a:ext cx="1554480" cy="1005840"/>
            </a:xfrm>
            <a:custGeom>
              <a:avLst/>
              <a:gdLst/>
              <a:ahLst/>
              <a:cxnLst/>
              <a:rect l="l" t="t" r="r" b="b"/>
              <a:pathLst>
                <a:path w="1554480" h="1005840">
                  <a:moveTo>
                    <a:pt x="0" y="1005840"/>
                  </a:moveTo>
                  <a:lnTo>
                    <a:pt x="731520" y="1005840"/>
                  </a:lnTo>
                  <a:lnTo>
                    <a:pt x="731520" y="0"/>
                  </a:lnTo>
                  <a:lnTo>
                    <a:pt x="1554480" y="0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prstDash val="dash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ath card"/>
            <p:cNvSpPr/>
            <p:nvPr/>
          </p:nvSpPr>
          <p:spPr>
            <a:xfrm>
              <a:off x="4754880" y="1600199"/>
              <a:ext cx="6858000" cy="1463040"/>
            </a:xfrm>
            <a:prstGeom prst="roundRect">
              <a:avLst>
                <a:gd name="adj" fmla="val 6250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365760" tIns="91440" rIns="1371600" bIns="91440">
              <a:noAutofit/>
            </a:bodyPr>
            <a:lstStyle/>
            <a:p>
              <a:pPr algn="l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Intercept the game's announcer?</a:t>
              </a:r>
            </a:p>
          </p:txBody>
        </p:sp>
        <p:sp>
          <p:nvSpPr>
            <p:cNvPr id="8" name="question disc"/>
            <p:cNvSpPr/>
            <p:nvPr/>
          </p:nvSpPr>
          <p:spPr>
            <a:xfrm>
              <a:off x="10241280" y="1920239"/>
              <a:ext cx="822960" cy="822960"/>
            </a:xfrm>
            <a:prstGeom prst="ellipse">
              <a:avLst/>
            </a:prstGeom>
            <a:noFill/>
            <a:ln w="381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3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9" name="path"/>
            <p:cNvSpPr/>
            <p:nvPr/>
          </p:nvSpPr>
          <p:spPr>
            <a:xfrm>
              <a:off x="3108960" y="3337560"/>
              <a:ext cx="1554480" cy="1005840"/>
            </a:xfrm>
            <a:custGeom>
              <a:avLst/>
              <a:gdLst/>
              <a:ahLst/>
              <a:cxnLst/>
              <a:rect l="l" t="t" r="r" b="b"/>
              <a:pathLst>
                <a:path w="1554480" h="1005840">
                  <a:moveTo>
                    <a:pt x="0" y="0"/>
                  </a:moveTo>
                  <a:lnTo>
                    <a:pt x="731520" y="0"/>
                  </a:lnTo>
                  <a:lnTo>
                    <a:pt x="731520" y="1005840"/>
                  </a:lnTo>
                  <a:lnTo>
                    <a:pt x="1554480" y="1005840"/>
                  </a:lnTo>
                </a:path>
              </a:pathLst>
            </a:custGeom>
            <a:noFill/>
            <a:ln w="38100">
              <a:solidFill>
                <a:srgbClr val="F28C28"/>
              </a:solidFill>
              <a:prstDash val="dash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ath card"/>
            <p:cNvSpPr/>
            <p:nvPr/>
          </p:nvSpPr>
          <p:spPr>
            <a:xfrm>
              <a:off x="4754880" y="3611880"/>
              <a:ext cx="6858000" cy="1463040"/>
            </a:xfrm>
            <a:prstGeom prst="roundRect">
              <a:avLst>
                <a:gd name="adj" fmla="val 6250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 wrap="square" lIns="365760" tIns="91440" rIns="1371600" bIns="91440">
              <a:noAutofit/>
            </a:bodyPr>
            <a:lstStyle/>
            <a:p>
              <a:pPr algn="l"/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Recreate it ourselves?</a:t>
              </a:r>
            </a:p>
          </p:txBody>
        </p:sp>
        <p:sp>
          <p:nvSpPr>
            <p:cNvPr id="11" name="question disc"/>
            <p:cNvSpPr/>
            <p:nvPr/>
          </p:nvSpPr>
          <p:spPr>
            <a:xfrm>
              <a:off x="10241280" y="3931920"/>
              <a:ext cx="822960" cy="822960"/>
            </a:xfrm>
            <a:prstGeom prst="ellipse">
              <a:avLst/>
            </a:prstGeom>
            <a:noFill/>
            <a:ln w="381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3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</p:grpSp>
      <p:sp>
        <p:nvSpPr>
          <p:cNvPr id="12" name="FOOTER"/>
          <p:cNvSpPr txBox="1"/>
          <p:nvPr/>
        </p:nvSpPr>
        <p:spPr>
          <a:xfrm>
            <a:off x="640080" y="5120640"/>
            <a:ext cx="1828800" cy="36576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1800" b="1" i="0" lang="en-GB">
                <a:solidFill>
                  <a:srgbClr val="A9B0B8"/>
                </a:solidFill>
                <a:latin typeface="Arial"/>
              </a:rPr>
              <a:t>OQ18</a:t>
            </a:r>
          </a:p>
        </p:txBody>
      </p:sp>
      <p:sp>
        <p:nvSpPr>
          <p:cNvPr id="13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to pull off the surprise is not decided or tested.</a:t>
            </a:r>
          </a:p>
        </p:txBody>
      </p:sp>
      <p:sp>
        <p:nvSpPr>
          <p:cNvPr id="16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hint of an older FICSIT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Older look and modern look" descr="Two mock panels. On the left, an older look: boxy and plain. On the right, a modern look: sleek. A dotted double arrow with a question mark sits between them, and a note says it is a hint only, not a backstory."/>
          <p:cNvGrpSpPr/>
          <p:nvPr/>
        </p:nvGrpSpPr>
        <p:grpSpPr>
          <a:xfrm>
            <a:off x="822960" y="1417320"/>
            <a:ext cx="10543032" cy="3291840"/>
            <a:chOff x="822960" y="1417320"/>
            <a:chExt cx="10543032" cy="3291840"/>
          </a:xfrm>
        </p:grpSpPr>
        <p:sp>
          <p:nvSpPr>
            <p:cNvPr id="5" name="panel label"/>
            <p:cNvSpPr txBox="1"/>
            <p:nvPr/>
          </p:nvSpPr>
          <p:spPr>
            <a:xfrm>
              <a:off x="822960" y="1417320"/>
              <a:ext cx="420624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Older look</a:t>
              </a:r>
            </a:p>
          </p:txBody>
        </p:sp>
        <p:sp>
          <p:nvSpPr>
            <p:cNvPr id="6" name="older panel"/>
            <p:cNvSpPr/>
            <p:nvPr/>
          </p:nvSpPr>
          <p:spPr>
            <a:xfrm>
              <a:off x="822960" y="1920240"/>
              <a:ext cx="4206240" cy="2788920"/>
            </a:xfrm>
            <a:prstGeom prst="rect">
              <a:avLst/>
            </a:prstGeom>
            <a:solidFill>
              <a:srgbClr val="3A3F47"/>
            </a:solidFill>
            <a:ln w="508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lder title bar"/>
            <p:cNvSpPr/>
            <p:nvPr/>
          </p:nvSpPr>
          <p:spPr>
            <a:xfrm>
              <a:off x="914400" y="2011680"/>
              <a:ext cx="4023359" cy="36576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lder list row"/>
            <p:cNvSpPr/>
            <p:nvPr/>
          </p:nvSpPr>
          <p:spPr>
            <a:xfrm>
              <a:off x="1097280" y="265176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lder list row"/>
            <p:cNvSpPr/>
            <p:nvPr/>
          </p:nvSpPr>
          <p:spPr>
            <a:xfrm>
              <a:off x="1097280" y="315468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lder list row"/>
            <p:cNvSpPr/>
            <p:nvPr/>
          </p:nvSpPr>
          <p:spPr>
            <a:xfrm>
              <a:off x="1097280" y="3657600"/>
              <a:ext cx="1463040" cy="320040"/>
            </a:xfrm>
            <a:prstGeom prst="rect">
              <a:avLst/>
            </a:prstGeom>
            <a:solidFill>
              <a:srgbClr val="4A515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lder pane"/>
            <p:cNvSpPr/>
            <p:nvPr/>
          </p:nvSpPr>
          <p:spPr>
            <a:xfrm>
              <a:off x="2743200" y="2651760"/>
              <a:ext cx="2103120" cy="1463040"/>
            </a:xfrm>
            <a:prstGeom prst="rect">
              <a:avLst/>
            </a:prstGeom>
            <a:solidFill>
              <a:srgbClr val="2F343B"/>
            </a:solidFill>
            <a:ln w="19050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lder footer bar"/>
            <p:cNvSpPr/>
            <p:nvPr/>
          </p:nvSpPr>
          <p:spPr>
            <a:xfrm>
              <a:off x="1097280" y="4251960"/>
              <a:ext cx="3749039" cy="274320"/>
            </a:xfrm>
            <a:prstGeom prst="rect">
              <a:avLst/>
            </a:pr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panel label"/>
            <p:cNvSpPr txBox="1"/>
            <p:nvPr/>
          </p:nvSpPr>
          <p:spPr>
            <a:xfrm>
              <a:off x="7159752" y="1417320"/>
              <a:ext cx="4206240" cy="411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Modern look</a:t>
              </a:r>
            </a:p>
          </p:txBody>
        </p:sp>
        <p:sp>
          <p:nvSpPr>
            <p:cNvPr id="14" name="modern panel"/>
            <p:cNvSpPr/>
            <p:nvPr/>
          </p:nvSpPr>
          <p:spPr>
            <a:xfrm>
              <a:off x="7159752" y="1920240"/>
              <a:ext cx="4206240" cy="2788920"/>
            </a:xfrm>
            <a:prstGeom prst="roundRect">
              <a:avLst>
                <a:gd name="adj" fmla="val 9836"/>
              </a:avLst>
            </a:prstGeom>
            <a:solidFill>
              <a:srgbClr val="1B1D21"/>
            </a:solidFill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modern header"/>
            <p:cNvSpPr/>
            <p:nvPr/>
          </p:nvSpPr>
          <p:spPr>
            <a:xfrm>
              <a:off x="7434072" y="2148840"/>
              <a:ext cx="1280160" cy="109728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modern list row"/>
            <p:cNvSpPr/>
            <p:nvPr/>
          </p:nvSpPr>
          <p:spPr>
            <a:xfrm>
              <a:off x="7434072" y="265176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modern list row"/>
            <p:cNvSpPr/>
            <p:nvPr/>
          </p:nvSpPr>
          <p:spPr>
            <a:xfrm>
              <a:off x="7434072" y="315468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modern list row"/>
            <p:cNvSpPr/>
            <p:nvPr/>
          </p:nvSpPr>
          <p:spPr>
            <a:xfrm>
              <a:off x="7434072" y="3657600"/>
              <a:ext cx="1463040" cy="320040"/>
            </a:xfrm>
            <a:prstGeom prst="roundRect">
              <a:avLst>
                <a:gd name="adj" fmla="val 4857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modern pane"/>
            <p:cNvSpPr/>
            <p:nvPr/>
          </p:nvSpPr>
          <p:spPr>
            <a:xfrm>
              <a:off x="9079992" y="2651760"/>
              <a:ext cx="2011680" cy="146304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modern footer bar"/>
            <p:cNvSpPr/>
            <p:nvPr/>
          </p:nvSpPr>
          <p:spPr>
            <a:xfrm>
              <a:off x="7434072" y="4251960"/>
              <a:ext cx="3657600" cy="128016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modern dot"/>
            <p:cNvSpPr/>
            <p:nvPr/>
          </p:nvSpPr>
          <p:spPr>
            <a:xfrm>
              <a:off x="10817352" y="2121408"/>
              <a:ext cx="182880" cy="18288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dotted arrow left"/>
            <p:cNvCxnSpPr/>
            <p:nvPr/>
          </p:nvCxnSpPr>
          <p:spPr>
            <a:xfrm>
              <a:off x="5138928" y="3314700"/>
              <a:ext cx="498348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ot"/>
              <a:headEnd type="triangle" w="med" len="med"/>
            </a:ln>
          </p:spPr>
        </p:cxnSp>
        <p:cxnSp>
          <p:nvCxnSpPr>
            <p:cNvPr id="23" name="dotted arrow right"/>
            <p:cNvCxnSpPr/>
            <p:nvPr/>
          </p:nvCxnSpPr>
          <p:spPr>
            <a:xfrm flipH="1">
              <a:off x="6551676" y="3314700"/>
              <a:ext cx="498348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ot"/>
              <a:headEnd type="triangle" w="med" len="med"/>
            </a:ln>
          </p:spPr>
        </p:cxnSp>
        <p:sp>
          <p:nvSpPr>
            <p:cNvPr id="24" name="question disc"/>
            <p:cNvSpPr/>
            <p:nvPr/>
          </p:nvSpPr>
          <p:spPr>
            <a:xfrm>
              <a:off x="5728716" y="2948940"/>
              <a:ext cx="731520" cy="73152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28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  <p:sp>
          <p:nvSpPr>
            <p:cNvPr id="25" name="hint note"/>
            <p:cNvSpPr txBox="1"/>
            <p:nvPr/>
          </p:nvSpPr>
          <p:spPr>
            <a:xfrm>
              <a:off x="5134356" y="3817620"/>
              <a:ext cx="1920240" cy="7315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A hint only, not a backstory.</a:t>
              </a:r>
            </a:p>
          </p:txBody>
        </p:sp>
      </p:grpSp>
      <p:sp>
        <p:nvSpPr>
          <p:cNvPr id="26" name="ICHIP"/>
          <p:cNvSpPr/>
          <p:nvPr/>
        </p:nvSpPr>
        <p:spPr>
          <a:xfrm>
            <a:off x="4930994" y="4937760"/>
            <a:ext cx="2336107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Lore: undecided (OQ16)</a:t>
            </a:r>
          </a:p>
        </p:txBody>
      </p:sp>
      <p:sp>
        <p:nvSpPr>
          <p:cNvPr id="2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Her style could hint at an older FICSIT. It is not a story.</a:t>
            </a:r>
          </a:p>
        </p:txBody>
      </p:sp>
      <p:sp>
        <p:nvSpPr>
          <p:cNvPr id="3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More lessons later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Four proposed lesson tiles" descr="Four proposed lesson tiles with simple icons: Common mistakes, Junctions, Passing loops and Advanced signalling."/>
          <p:cNvGrpSpPr/>
          <p:nvPr/>
        </p:nvGrpSpPr>
        <p:grpSpPr>
          <a:xfrm>
            <a:off x="548640" y="1463040"/>
            <a:ext cx="11091672" cy="3749039"/>
            <a:chOff x="548640" y="1463040"/>
            <a:chExt cx="11091672" cy="3749039"/>
          </a:xfrm>
        </p:grpSpPr>
        <p:sp>
          <p:nvSpPr>
            <p:cNvPr id="5" name="proposed tile"/>
            <p:cNvSpPr/>
            <p:nvPr/>
          </p:nvSpPr>
          <p:spPr>
            <a:xfrm>
              <a:off x="548640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con panel"/>
            <p:cNvSpPr/>
            <p:nvPr/>
          </p:nvSpPr>
          <p:spPr>
            <a:xfrm>
              <a:off x="777240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warning triangle"/>
            <p:cNvSpPr/>
            <p:nvPr/>
          </p:nvSpPr>
          <p:spPr>
            <a:xfrm>
              <a:off x="1234440" y="2286000"/>
              <a:ext cx="1188720" cy="1005840"/>
            </a:xfrm>
            <a:custGeom>
              <a:avLst/>
              <a:gdLst/>
              <a:ahLst/>
              <a:cxnLst/>
              <a:rect l="l" t="t" r="r" b="b"/>
              <a:pathLst>
                <a:path w="1188720" h="1005840">
                  <a:moveTo>
                    <a:pt x="594360" y="0"/>
                  </a:moveTo>
                  <a:lnTo>
                    <a:pt x="1188720" y="1005840"/>
                  </a:lnTo>
                  <a:lnTo>
                    <a:pt x="0" y="1005840"/>
                  </a:lnTo>
                  <a:close/>
                </a:path>
              </a:pathLst>
            </a:cu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warning bar"/>
            <p:cNvSpPr/>
            <p:nvPr/>
          </p:nvSpPr>
          <p:spPr>
            <a:xfrm>
              <a:off x="1783080" y="2651760"/>
              <a:ext cx="91440" cy="347472"/>
            </a:xfrm>
            <a:prstGeom prst="roundRect">
              <a:avLst>
                <a:gd name="adj" fmla="val 40000"/>
              </a:avLst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warning dot"/>
            <p:cNvSpPr/>
            <p:nvPr/>
          </p:nvSpPr>
          <p:spPr>
            <a:xfrm>
              <a:off x="1773936" y="3054096"/>
              <a:ext cx="109728" cy="109728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ile label"/>
            <p:cNvSpPr txBox="1"/>
            <p:nvPr/>
          </p:nvSpPr>
          <p:spPr>
            <a:xfrm>
              <a:off x="685800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Common mistakes</a:t>
              </a:r>
            </a:p>
          </p:txBody>
        </p:sp>
        <p:sp>
          <p:nvSpPr>
            <p:cNvPr id="11" name="proposed tile"/>
            <p:cNvSpPr/>
            <p:nvPr/>
          </p:nvSpPr>
          <p:spPr>
            <a:xfrm>
              <a:off x="3392424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icon panel"/>
            <p:cNvSpPr/>
            <p:nvPr/>
          </p:nvSpPr>
          <p:spPr>
            <a:xfrm>
              <a:off x="3621024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trunk"/>
            <p:cNvCxnSpPr/>
            <p:nvPr/>
          </p:nvCxnSpPr>
          <p:spPr>
            <a:xfrm>
              <a:off x="3986783" y="3063240"/>
              <a:ext cx="640081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cxnSp>
          <p:nvCxnSpPr>
            <p:cNvPr id="14" name="branch up"/>
            <p:cNvCxnSpPr/>
            <p:nvPr/>
          </p:nvCxnSpPr>
          <p:spPr>
            <a:xfrm flipV="1">
              <a:off x="4626864" y="2514600"/>
              <a:ext cx="731519" cy="54864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cxnSp>
          <p:nvCxnSpPr>
            <p:cNvPr id="15" name="branch straight"/>
            <p:cNvCxnSpPr/>
            <p:nvPr/>
          </p:nvCxnSpPr>
          <p:spPr>
            <a:xfrm>
              <a:off x="4626864" y="3063240"/>
              <a:ext cx="731519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sp>
          <p:nvSpPr>
            <p:cNvPr id="16" name="junction point"/>
            <p:cNvSpPr/>
            <p:nvPr/>
          </p:nvSpPr>
          <p:spPr>
            <a:xfrm>
              <a:off x="4544568" y="2935224"/>
              <a:ext cx="256032" cy="256032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ile label"/>
            <p:cNvSpPr txBox="1"/>
            <p:nvPr/>
          </p:nvSpPr>
          <p:spPr>
            <a:xfrm>
              <a:off x="3529584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Junctions</a:t>
              </a:r>
            </a:p>
          </p:txBody>
        </p:sp>
        <p:sp>
          <p:nvSpPr>
            <p:cNvPr id="18" name="proposed tile"/>
            <p:cNvSpPr/>
            <p:nvPr/>
          </p:nvSpPr>
          <p:spPr>
            <a:xfrm>
              <a:off x="6236207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icon panel"/>
            <p:cNvSpPr/>
            <p:nvPr/>
          </p:nvSpPr>
          <p:spPr>
            <a:xfrm>
              <a:off x="6464807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main line"/>
            <p:cNvCxnSpPr/>
            <p:nvPr/>
          </p:nvCxnSpPr>
          <p:spPr>
            <a:xfrm>
              <a:off x="6784847" y="3108960"/>
              <a:ext cx="1463041" cy="0"/>
            </a:xfrm>
            <a:prstGeom prst="line">
              <a:avLst/>
            </a:prstGeom>
            <a:ln w="76200" cap="rnd">
              <a:solidFill>
                <a:srgbClr val="9AA0A6"/>
              </a:solidFill>
            </a:ln>
          </p:spPr>
        </p:cxnSp>
        <p:sp>
          <p:nvSpPr>
            <p:cNvPr id="21" name="passing loop"/>
            <p:cNvSpPr/>
            <p:nvPr/>
          </p:nvSpPr>
          <p:spPr>
            <a:xfrm>
              <a:off x="7150607" y="2606040"/>
              <a:ext cx="731520" cy="502920"/>
            </a:xfrm>
            <a:custGeom>
              <a:avLst/>
              <a:gdLst/>
              <a:ahLst/>
              <a:cxnLst/>
              <a:rect l="l" t="t" r="r" b="b"/>
              <a:pathLst>
                <a:path w="731520" h="502920">
                  <a:moveTo>
                    <a:pt x="0" y="502920"/>
                  </a:moveTo>
                  <a:lnTo>
                    <a:pt x="182881" y="0"/>
                  </a:lnTo>
                  <a:lnTo>
                    <a:pt x="548640" y="0"/>
                  </a:lnTo>
                  <a:lnTo>
                    <a:pt x="731520" y="502920"/>
                  </a:lnTo>
                </a:path>
              </a:pathLst>
            </a:custGeom>
            <a:noFill/>
            <a:ln w="762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loop train"/>
            <p:cNvSpPr/>
            <p:nvPr/>
          </p:nvSpPr>
          <p:spPr>
            <a:xfrm>
              <a:off x="7388351" y="2478024"/>
              <a:ext cx="256032" cy="256032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ile label"/>
            <p:cNvSpPr txBox="1"/>
            <p:nvPr/>
          </p:nvSpPr>
          <p:spPr>
            <a:xfrm>
              <a:off x="6373368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Passing loops</a:t>
              </a:r>
            </a:p>
          </p:txBody>
        </p:sp>
        <p:sp>
          <p:nvSpPr>
            <p:cNvPr id="24" name="proposed tile"/>
            <p:cNvSpPr/>
            <p:nvPr/>
          </p:nvSpPr>
          <p:spPr>
            <a:xfrm>
              <a:off x="9079992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icon panel"/>
            <p:cNvSpPr/>
            <p:nvPr/>
          </p:nvSpPr>
          <p:spPr>
            <a:xfrm>
              <a:off x="9308592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icon semaphore post"/>
            <p:cNvSpPr/>
            <p:nvPr/>
          </p:nvSpPr>
          <p:spPr>
            <a:xfrm>
              <a:off x="10115550" y="2331720"/>
              <a:ext cx="123444" cy="1234440"/>
            </a:xfrm>
            <a:prstGeom prst="rect">
              <a:avLst/>
            </a:prstGeom>
            <a:solidFill>
              <a:srgbClr val="E8E8E8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con semaphore foot"/>
            <p:cNvSpPr/>
            <p:nvPr/>
          </p:nvSpPr>
          <p:spPr>
            <a:xfrm>
              <a:off x="9905695" y="3492093"/>
              <a:ext cx="543153" cy="7406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icon semaphore arm"/>
            <p:cNvSpPr/>
            <p:nvPr/>
          </p:nvSpPr>
          <p:spPr>
            <a:xfrm>
              <a:off x="10186621" y="1886293"/>
              <a:ext cx="645932" cy="645932"/>
            </a:xfrm>
            <a:custGeom>
              <a:avLst/>
              <a:gdLst/>
              <a:ahLst/>
              <a:cxnLst/>
              <a:rect l="l" t="t" r="r" b="b"/>
              <a:pathLst>
                <a:path w="645932" h="645932">
                  <a:moveTo>
                    <a:pt x="0" y="541186"/>
                  </a:moveTo>
                  <a:lnTo>
                    <a:pt x="541186" y="0"/>
                  </a:lnTo>
                  <a:lnTo>
                    <a:pt x="645932" y="104746"/>
                  </a:lnTo>
                  <a:lnTo>
                    <a:pt x="104745" y="645932"/>
                  </a:lnTo>
                  <a:close/>
                </a:path>
              </a:pathLst>
            </a:cu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con semaphore lamp"/>
            <p:cNvSpPr/>
            <p:nvPr/>
          </p:nvSpPr>
          <p:spPr>
            <a:xfrm>
              <a:off x="10053828" y="2307031"/>
              <a:ext cx="246888" cy="246888"/>
            </a:xfrm>
            <a:prstGeom prst="ellipse">
              <a:avLst/>
            </a:prstGeom>
            <a:solidFill>
              <a:srgbClr val="3FB950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icon semaphore pivot"/>
            <p:cNvSpPr/>
            <p:nvPr/>
          </p:nvSpPr>
          <p:spPr>
            <a:xfrm>
              <a:off x="10189616" y="2430475"/>
              <a:ext cx="98755" cy="98755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ile label"/>
            <p:cNvSpPr txBox="1"/>
            <p:nvPr/>
          </p:nvSpPr>
          <p:spPr>
            <a:xfrm>
              <a:off x="9217152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Advanced signalling</a:t>
              </a:r>
            </a:p>
          </p:txBody>
        </p:sp>
      </p:grpSp>
      <p:sp>
        <p:nvSpPr>
          <p:cNvPr id="32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More lessons could cover common mistakes, junctions and passing loops.</a:t>
            </a:r>
          </a:p>
        </p:txBody>
      </p:sp>
      <p:sp>
        <p:nvSpPr>
          <p:cNvPr id="35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How the list could look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Vertical list of subjects" descr="A simple vertical list of five subject rows drawn as grey bars, each with a small plain icon and a scroll bar on the right. The subject names are not decided."/>
          <p:cNvGrpSpPr/>
          <p:nvPr/>
        </p:nvGrpSpPr>
        <p:grpSpPr>
          <a:xfrm>
            <a:off x="2926080" y="1371600"/>
            <a:ext cx="6309360" cy="3611880"/>
            <a:chOff x="2926080" y="1371600"/>
            <a:chExt cx="6309360" cy="3611880"/>
          </a:xfrm>
        </p:grpSpPr>
        <p:sp>
          <p:nvSpPr>
            <p:cNvPr id="5" name="list panel"/>
            <p:cNvSpPr/>
            <p:nvPr/>
          </p:nvSpPr>
          <p:spPr>
            <a:xfrm>
              <a:off x="2926080" y="1371600"/>
              <a:ext cx="6309360" cy="3611880"/>
            </a:xfrm>
            <a:prstGeom prst="roundRect">
              <a:avLst>
                <a:gd name="adj" fmla="val 2531"/>
              </a:avLst>
            </a:prstGeom>
            <a:solidFill>
              <a:srgbClr val="2B2F36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ubject bar"/>
            <p:cNvSpPr/>
            <p:nvPr/>
          </p:nvSpPr>
          <p:spPr>
            <a:xfrm>
              <a:off x="3154680" y="1536192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ubject icon"/>
            <p:cNvSpPr/>
            <p:nvPr/>
          </p:nvSpPr>
          <p:spPr>
            <a:xfrm>
              <a:off x="3291840" y="1645919"/>
              <a:ext cx="329184" cy="329184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ubject text bar"/>
            <p:cNvSpPr/>
            <p:nvPr/>
          </p:nvSpPr>
          <p:spPr>
            <a:xfrm>
              <a:off x="3840480" y="1764792"/>
              <a:ext cx="20116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ubject bar"/>
            <p:cNvSpPr/>
            <p:nvPr/>
          </p:nvSpPr>
          <p:spPr>
            <a:xfrm>
              <a:off x="3154680" y="2231136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ubject icon"/>
            <p:cNvSpPr/>
            <p:nvPr/>
          </p:nvSpPr>
          <p:spPr>
            <a:xfrm>
              <a:off x="3291840" y="2340864"/>
              <a:ext cx="329184" cy="32918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ubject text bar"/>
            <p:cNvSpPr/>
            <p:nvPr/>
          </p:nvSpPr>
          <p:spPr>
            <a:xfrm>
              <a:off x="3840480" y="2459736"/>
              <a:ext cx="24688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ubject bar"/>
            <p:cNvSpPr/>
            <p:nvPr/>
          </p:nvSpPr>
          <p:spPr>
            <a:xfrm>
              <a:off x="3154680" y="2926080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ubject icon"/>
            <p:cNvSpPr/>
            <p:nvPr/>
          </p:nvSpPr>
          <p:spPr>
            <a:xfrm>
              <a:off x="3291840" y="3035808"/>
              <a:ext cx="329184" cy="329184"/>
            </a:xfrm>
            <a:prstGeom prst="triangl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ubject text bar"/>
            <p:cNvSpPr/>
            <p:nvPr/>
          </p:nvSpPr>
          <p:spPr>
            <a:xfrm>
              <a:off x="3840480" y="3154680"/>
              <a:ext cx="29260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ubject bar"/>
            <p:cNvSpPr/>
            <p:nvPr/>
          </p:nvSpPr>
          <p:spPr>
            <a:xfrm>
              <a:off x="3154680" y="3621024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ubject icon"/>
            <p:cNvSpPr/>
            <p:nvPr/>
          </p:nvSpPr>
          <p:spPr>
            <a:xfrm>
              <a:off x="3291840" y="3730752"/>
              <a:ext cx="329184" cy="329184"/>
            </a:xfrm>
            <a:prstGeom prst="diamond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ubject text bar"/>
            <p:cNvSpPr/>
            <p:nvPr/>
          </p:nvSpPr>
          <p:spPr>
            <a:xfrm>
              <a:off x="3840480" y="3849624"/>
              <a:ext cx="20116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ubject bar"/>
            <p:cNvSpPr/>
            <p:nvPr/>
          </p:nvSpPr>
          <p:spPr>
            <a:xfrm>
              <a:off x="3154680" y="4315968"/>
              <a:ext cx="5440680" cy="548640"/>
            </a:xfrm>
            <a:prstGeom prst="roundRect">
              <a:avLst>
                <a:gd name="adj" fmla="val 13333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ubject icon"/>
            <p:cNvSpPr/>
            <p:nvPr/>
          </p:nvSpPr>
          <p:spPr>
            <a:xfrm>
              <a:off x="3291840" y="4425696"/>
              <a:ext cx="329184" cy="329184"/>
            </a:xfrm>
            <a:prstGeom prst="hexagon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ubject text bar"/>
            <p:cNvSpPr/>
            <p:nvPr/>
          </p:nvSpPr>
          <p:spPr>
            <a:xfrm>
              <a:off x="3840480" y="4544568"/>
              <a:ext cx="2468880" cy="91440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croll track"/>
            <p:cNvSpPr/>
            <p:nvPr/>
          </p:nvSpPr>
          <p:spPr>
            <a:xfrm>
              <a:off x="8778240" y="1536192"/>
              <a:ext cx="146304" cy="3291840"/>
            </a:xfrm>
            <a:prstGeom prst="roundRect">
              <a:avLst>
                <a:gd name="adj" fmla="val 5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croll thumb"/>
            <p:cNvSpPr/>
            <p:nvPr/>
          </p:nvSpPr>
          <p:spPr>
            <a:xfrm>
              <a:off x="8778240" y="1536192"/>
              <a:ext cx="146304" cy="1371600"/>
            </a:xfrm>
            <a:prstGeom prst="roundRect">
              <a:avLst>
                <a:gd name="adj" fmla="val 5000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ICHIP"/>
          <p:cNvSpPr/>
          <p:nvPr/>
        </p:nvSpPr>
        <p:spPr>
          <a:xfrm>
            <a:off x="4734809" y="5166360"/>
            <a:ext cx="2691901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Subjects: undecided (OQ17)</a:t>
            </a:r>
          </a:p>
        </p:txBody>
      </p:sp>
      <p:sp>
        <p:nvSpPr>
          <p:cNvPr id="24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One idea is a simple vertical list of subjects.</a:t>
            </a:r>
          </a:p>
        </p:txBody>
      </p:sp>
      <p:sp>
        <p:nvSpPr>
          <p:cNvPr id="27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A home for rail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Mock build menu tab strip" descr="A mock build menu. A strip of grey tabs includes the vanilla Transport tab. Beside it is a highlighted extra tab with a train icon, labelled: Rail tab, name undecided. Below the strip is an empty grid of build items."/>
          <p:cNvGrpSpPr/>
          <p:nvPr/>
        </p:nvGrpSpPr>
        <p:grpSpPr>
          <a:xfrm>
            <a:off x="822960" y="1508760"/>
            <a:ext cx="10543032" cy="3429000"/>
            <a:chOff x="822960" y="1508760"/>
            <a:chExt cx="10543032" cy="3429000"/>
          </a:xfrm>
        </p:grpSpPr>
        <p:sp>
          <p:nvSpPr>
            <p:cNvPr id="5" name="build menu panel"/>
            <p:cNvSpPr/>
            <p:nvPr/>
          </p:nvSpPr>
          <p:spPr>
            <a:xfrm>
              <a:off x="822960" y="1508760"/>
              <a:ext cx="10543032" cy="3429000"/>
            </a:xfrm>
            <a:prstGeom prst="roundRect">
              <a:avLst>
                <a:gd name="adj" fmla="val 2666"/>
              </a:avLst>
            </a:prstGeom>
            <a:solidFill>
              <a:srgbClr val="2B2F36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ther tab"/>
            <p:cNvSpPr/>
            <p:nvPr/>
          </p:nvSpPr>
          <p:spPr>
            <a:xfrm>
              <a:off x="1097280" y="1691640"/>
              <a:ext cx="1051560" cy="77724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ther tab icon"/>
            <p:cNvSpPr/>
            <p:nvPr/>
          </p:nvSpPr>
          <p:spPr>
            <a:xfrm>
              <a:off x="1371600" y="1965960"/>
              <a:ext cx="502920" cy="201168"/>
            </a:xfrm>
            <a:prstGeom prst="roundRect">
              <a:avLst>
                <a:gd name="adj" fmla="val 22727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ther tab"/>
            <p:cNvSpPr/>
            <p:nvPr/>
          </p:nvSpPr>
          <p:spPr>
            <a:xfrm>
              <a:off x="2258568" y="1691640"/>
              <a:ext cx="1051560" cy="77724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ther tab icon"/>
            <p:cNvSpPr/>
            <p:nvPr/>
          </p:nvSpPr>
          <p:spPr>
            <a:xfrm>
              <a:off x="2532887" y="1965960"/>
              <a:ext cx="502920" cy="201168"/>
            </a:xfrm>
            <a:prstGeom prst="roundRect">
              <a:avLst>
                <a:gd name="adj" fmla="val 22727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ther tab"/>
            <p:cNvSpPr/>
            <p:nvPr/>
          </p:nvSpPr>
          <p:spPr>
            <a:xfrm>
              <a:off x="3419856" y="1691640"/>
              <a:ext cx="1051560" cy="77724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ther tab icon"/>
            <p:cNvSpPr/>
            <p:nvPr/>
          </p:nvSpPr>
          <p:spPr>
            <a:xfrm>
              <a:off x="3694176" y="1965960"/>
              <a:ext cx="502920" cy="201168"/>
            </a:xfrm>
            <a:prstGeom prst="roundRect">
              <a:avLst>
                <a:gd name="adj" fmla="val 22727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ransport tab"/>
            <p:cNvSpPr/>
            <p:nvPr/>
          </p:nvSpPr>
          <p:spPr>
            <a:xfrm>
              <a:off x="4581144" y="1691640"/>
              <a:ext cx="1920240" cy="77724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4A515B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ab label"/>
            <p:cNvSpPr txBox="1"/>
            <p:nvPr/>
          </p:nvSpPr>
          <p:spPr>
            <a:xfrm>
              <a:off x="4581144" y="1691640"/>
              <a:ext cx="1920240" cy="77724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Transport</a:t>
              </a:r>
            </a:p>
          </p:txBody>
        </p:sp>
        <p:sp>
          <p:nvSpPr>
            <p:cNvPr id="14" name="Rail tab"/>
            <p:cNvSpPr/>
            <p:nvPr/>
          </p:nvSpPr>
          <p:spPr>
            <a:xfrm>
              <a:off x="6684264" y="1600200"/>
              <a:ext cx="4434840" cy="86868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ab train cab"/>
            <p:cNvSpPr/>
            <p:nvPr/>
          </p:nvSpPr>
          <p:spPr>
            <a:xfrm>
              <a:off x="6912864" y="1959559"/>
              <a:ext cx="260604" cy="225856"/>
            </a:xfrm>
            <a:prstGeom prst="roundRect">
              <a:avLst>
                <a:gd name="adj" fmla="val 11538"/>
              </a:avLst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ab train boiler"/>
            <p:cNvSpPr/>
            <p:nvPr/>
          </p:nvSpPr>
          <p:spPr>
            <a:xfrm>
              <a:off x="7156094" y="2029053"/>
              <a:ext cx="486460" cy="156362"/>
            </a:xfrm>
            <a:prstGeom prst="roundRect">
              <a:avLst>
                <a:gd name="adj" fmla="val 44444"/>
              </a:avLst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ab train chimney"/>
            <p:cNvSpPr/>
            <p:nvPr/>
          </p:nvSpPr>
          <p:spPr>
            <a:xfrm>
              <a:off x="7520940" y="1890064"/>
              <a:ext cx="78181" cy="147675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ab train frame"/>
            <p:cNvSpPr/>
            <p:nvPr/>
          </p:nvSpPr>
          <p:spPr>
            <a:xfrm>
              <a:off x="6912864" y="2185416"/>
              <a:ext cx="729691" cy="34747"/>
            </a:xfrm>
            <a:prstGeom prst="rect">
              <a:avLst/>
            </a:prstGeom>
            <a:solidFill>
              <a:srgbClr val="3A3F47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ab train wheel"/>
            <p:cNvSpPr/>
            <p:nvPr/>
          </p:nvSpPr>
          <p:spPr>
            <a:xfrm>
              <a:off x="6982358" y="2176729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ab train wheel"/>
            <p:cNvSpPr/>
            <p:nvPr/>
          </p:nvSpPr>
          <p:spPr>
            <a:xfrm>
              <a:off x="7164781" y="2176729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ab train wheel"/>
            <p:cNvSpPr/>
            <p:nvPr/>
          </p:nvSpPr>
          <p:spPr>
            <a:xfrm>
              <a:off x="7347204" y="2176729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ab train wheel"/>
            <p:cNvSpPr/>
            <p:nvPr/>
          </p:nvSpPr>
          <p:spPr>
            <a:xfrm>
              <a:off x="7503566" y="2176729"/>
              <a:ext cx="121615" cy="121615"/>
            </a:xfrm>
            <a:prstGeom prst="ellipse">
              <a:avLst/>
            </a:prstGeom>
            <a:solidFill>
              <a:srgbClr val="1B1D21"/>
            </a:solidFill>
            <a:ln w="1587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ab label"/>
            <p:cNvSpPr txBox="1"/>
            <p:nvPr/>
          </p:nvSpPr>
          <p:spPr>
            <a:xfrm>
              <a:off x="7918704" y="1600200"/>
              <a:ext cx="3108960" cy="8686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Rail tab: name undecided</a:t>
              </a:r>
            </a:p>
          </p:txBody>
        </p:sp>
        <p:sp>
          <p:nvSpPr>
            <p:cNvPr id="24" name="strip rule"/>
            <p:cNvSpPr/>
            <p:nvPr/>
          </p:nvSpPr>
          <p:spPr>
            <a:xfrm>
              <a:off x="1097280" y="2468880"/>
              <a:ext cx="5586983" cy="54864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active rule"/>
            <p:cNvSpPr/>
            <p:nvPr/>
          </p:nvSpPr>
          <p:spPr>
            <a:xfrm>
              <a:off x="6684264" y="2468880"/>
              <a:ext cx="4434840" cy="54864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item slot"/>
            <p:cNvSpPr/>
            <p:nvPr/>
          </p:nvSpPr>
          <p:spPr>
            <a:xfrm>
              <a:off x="1097280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tem slot"/>
            <p:cNvSpPr/>
            <p:nvPr/>
          </p:nvSpPr>
          <p:spPr>
            <a:xfrm>
              <a:off x="2226564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item slot"/>
            <p:cNvSpPr/>
            <p:nvPr/>
          </p:nvSpPr>
          <p:spPr>
            <a:xfrm>
              <a:off x="3355848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tem slot"/>
            <p:cNvSpPr/>
            <p:nvPr/>
          </p:nvSpPr>
          <p:spPr>
            <a:xfrm>
              <a:off x="4485132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item slot"/>
            <p:cNvSpPr/>
            <p:nvPr/>
          </p:nvSpPr>
          <p:spPr>
            <a:xfrm>
              <a:off x="5614416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item slot"/>
            <p:cNvSpPr/>
            <p:nvPr/>
          </p:nvSpPr>
          <p:spPr>
            <a:xfrm>
              <a:off x="6743700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item slot"/>
            <p:cNvSpPr/>
            <p:nvPr/>
          </p:nvSpPr>
          <p:spPr>
            <a:xfrm>
              <a:off x="7872983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item slot"/>
            <p:cNvSpPr/>
            <p:nvPr/>
          </p:nvSpPr>
          <p:spPr>
            <a:xfrm>
              <a:off x="9002268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item slot"/>
            <p:cNvSpPr/>
            <p:nvPr/>
          </p:nvSpPr>
          <p:spPr>
            <a:xfrm>
              <a:off x="10131552" y="30175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item slot"/>
            <p:cNvSpPr/>
            <p:nvPr/>
          </p:nvSpPr>
          <p:spPr>
            <a:xfrm>
              <a:off x="1097280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item slot"/>
            <p:cNvSpPr/>
            <p:nvPr/>
          </p:nvSpPr>
          <p:spPr>
            <a:xfrm>
              <a:off x="2226564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item slot"/>
            <p:cNvSpPr/>
            <p:nvPr/>
          </p:nvSpPr>
          <p:spPr>
            <a:xfrm>
              <a:off x="3355848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item slot"/>
            <p:cNvSpPr/>
            <p:nvPr/>
          </p:nvSpPr>
          <p:spPr>
            <a:xfrm>
              <a:off x="4485132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item slot"/>
            <p:cNvSpPr/>
            <p:nvPr/>
          </p:nvSpPr>
          <p:spPr>
            <a:xfrm>
              <a:off x="5614416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item slot"/>
            <p:cNvSpPr/>
            <p:nvPr/>
          </p:nvSpPr>
          <p:spPr>
            <a:xfrm>
              <a:off x="6743700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item slot"/>
            <p:cNvSpPr/>
            <p:nvPr/>
          </p:nvSpPr>
          <p:spPr>
            <a:xfrm>
              <a:off x="7872983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item slot"/>
            <p:cNvSpPr/>
            <p:nvPr/>
          </p:nvSpPr>
          <p:spPr>
            <a:xfrm>
              <a:off x="9002268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item slot"/>
            <p:cNvSpPr/>
            <p:nvPr/>
          </p:nvSpPr>
          <p:spPr>
            <a:xfrm>
              <a:off x="10131552" y="3931920"/>
              <a:ext cx="987552" cy="731520"/>
            </a:xfrm>
            <a:prstGeom prst="roundRect">
              <a:avLst>
                <a:gd name="adj" fmla="val 7500"/>
              </a:avLst>
            </a:prstGeom>
            <a:solidFill>
              <a:srgbClr val="343A43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vanilla note"/>
            <p:cNvSpPr txBox="1"/>
            <p:nvPr/>
          </p:nvSpPr>
          <p:spPr>
            <a:xfrm>
              <a:off x="4581144" y="2560320"/>
              <a:ext cx="1920240" cy="27432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The game's own tab</a:t>
              </a:r>
            </a:p>
          </p:txBody>
        </p:sp>
      </p:grpSp>
      <p:sp>
        <p:nvSpPr>
          <p:cNvPr id="45" name="ICHIP"/>
          <p:cNvSpPr/>
          <p:nvPr/>
        </p:nvSpPr>
        <p:spPr>
          <a:xfrm>
            <a:off x="822960" y="5120640"/>
            <a:ext cx="2998287" cy="310896"/>
          </a:xfrm>
          <a:prstGeom prst="roundRect">
            <a:avLst>
              <a:gd name="adj" fmla="val 35294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Exact layout: undecided (OQ19)</a:t>
            </a:r>
          </a:p>
        </p:txBody>
      </p:sp>
      <p:sp>
        <p:nvSpPr>
          <p:cNvPr id="46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Rail could get its own build menu tab instead of hiding in Transport.</a:t>
            </a:r>
          </a:p>
        </p:txBody>
      </p:sp>
      <p:sp>
        <p:nvSpPr>
          <p:cNvPr id="49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Four groups?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Four proposed group cards" descr="Four proposed group cards with simple icons: Railway Infrastructure, Stations and Servicing, Signalling and Rolling Stock."/>
          <p:cNvGrpSpPr/>
          <p:nvPr/>
        </p:nvGrpSpPr>
        <p:grpSpPr>
          <a:xfrm>
            <a:off x="548640" y="1463040"/>
            <a:ext cx="11091672" cy="3749039"/>
            <a:chOff x="548640" y="1463040"/>
            <a:chExt cx="11091672" cy="3749039"/>
          </a:xfrm>
        </p:grpSpPr>
        <p:sp>
          <p:nvSpPr>
            <p:cNvPr id="5" name="proposed card"/>
            <p:cNvSpPr/>
            <p:nvPr/>
          </p:nvSpPr>
          <p:spPr>
            <a:xfrm>
              <a:off x="548640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con panel"/>
            <p:cNvSpPr/>
            <p:nvPr/>
          </p:nvSpPr>
          <p:spPr>
            <a:xfrm>
              <a:off x="777240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>
              <a:off x="100584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>
              <a:off x="128016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>
              <a:off x="155448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>
              <a:off x="182880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>
              <a:off x="210312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>
              <a:off x="237744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>
              <a:off x="2651760" y="2514600"/>
              <a:ext cx="91440" cy="8229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ail"/>
            <p:cNvSpPr/>
            <p:nvPr/>
          </p:nvSpPr>
          <p:spPr>
            <a:xfrm>
              <a:off x="914400" y="2697480"/>
              <a:ext cx="1828800" cy="731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ail"/>
            <p:cNvSpPr/>
            <p:nvPr/>
          </p:nvSpPr>
          <p:spPr>
            <a:xfrm>
              <a:off x="914400" y="3063240"/>
              <a:ext cx="1828800" cy="7315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rd label"/>
            <p:cNvSpPr txBox="1"/>
            <p:nvPr/>
          </p:nvSpPr>
          <p:spPr>
            <a:xfrm>
              <a:off x="685800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Railway Infrastructure</a:t>
              </a:r>
            </a:p>
          </p:txBody>
        </p:sp>
        <p:sp>
          <p:nvSpPr>
            <p:cNvPr id="17" name="proposed card"/>
            <p:cNvSpPr/>
            <p:nvPr/>
          </p:nvSpPr>
          <p:spPr>
            <a:xfrm>
              <a:off x="3392424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icon panel"/>
            <p:cNvSpPr/>
            <p:nvPr/>
          </p:nvSpPr>
          <p:spPr>
            <a:xfrm>
              <a:off x="3621024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tation body"/>
            <p:cNvSpPr/>
            <p:nvPr/>
          </p:nvSpPr>
          <p:spPr>
            <a:xfrm>
              <a:off x="3803903" y="2610612"/>
              <a:ext cx="1005840" cy="544068"/>
            </a:xfrm>
            <a:prstGeom prst="rect">
              <a:avLst/>
            </a:prstGeom>
            <a:solidFill>
              <a:srgbClr val="C9CED3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tation roof"/>
            <p:cNvSpPr/>
            <p:nvPr/>
          </p:nvSpPr>
          <p:spPr>
            <a:xfrm>
              <a:off x="3743553" y="2377440"/>
              <a:ext cx="1126541" cy="233172"/>
            </a:xfrm>
            <a:custGeom>
              <a:avLst/>
              <a:gdLst/>
              <a:ahLst/>
              <a:cxnLst/>
              <a:rect l="l" t="t" r="r" b="b"/>
              <a:pathLst>
                <a:path w="1126541" h="233172">
                  <a:moveTo>
                    <a:pt x="0" y="233172"/>
                  </a:moveTo>
                  <a:lnTo>
                    <a:pt x="563270" y="0"/>
                  </a:lnTo>
                  <a:lnTo>
                    <a:pt x="1126541" y="233172"/>
                  </a:lnTo>
                  <a:close/>
                </a:path>
              </a:pathLst>
            </a:custGeom>
            <a:solidFill>
              <a:srgbClr val="6B707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tation window"/>
            <p:cNvSpPr/>
            <p:nvPr/>
          </p:nvSpPr>
          <p:spPr>
            <a:xfrm>
              <a:off x="3904487" y="2766060"/>
              <a:ext cx="201168" cy="21762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tation window"/>
            <p:cNvSpPr/>
            <p:nvPr/>
          </p:nvSpPr>
          <p:spPr>
            <a:xfrm>
              <a:off x="4206240" y="2766060"/>
              <a:ext cx="201168" cy="21762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tation window"/>
            <p:cNvSpPr/>
            <p:nvPr/>
          </p:nvSpPr>
          <p:spPr>
            <a:xfrm>
              <a:off x="4507992" y="2766060"/>
              <a:ext cx="201168" cy="217627"/>
            </a:xfrm>
            <a:prstGeom prst="rect">
              <a:avLst/>
            </a:prstGeom>
            <a:solidFill>
              <a:srgbClr val="4DA3FF">
                <a:alpha val="75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platform"/>
            <p:cNvSpPr/>
            <p:nvPr/>
          </p:nvSpPr>
          <p:spPr>
            <a:xfrm>
              <a:off x="3712463" y="3154680"/>
              <a:ext cx="1188720" cy="128016"/>
            </a:xfrm>
            <a:prstGeom prst="rect">
              <a:avLst/>
            </a:prstGeom>
            <a:solidFill>
              <a:srgbClr val="D5D9D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rop point"/>
            <p:cNvSpPr/>
            <p:nvPr/>
          </p:nvSpPr>
          <p:spPr>
            <a:xfrm>
              <a:off x="5038344" y="2514600"/>
              <a:ext cx="457200" cy="365760"/>
            </a:xfrm>
            <a:custGeom>
              <a:avLst/>
              <a:gdLst/>
              <a:ahLst/>
              <a:cxnLst/>
              <a:rect l="l" t="t" r="r" b="b"/>
              <a:pathLst>
                <a:path w="457200" h="365760">
                  <a:moveTo>
                    <a:pt x="228600" y="0"/>
                  </a:moveTo>
                  <a:lnTo>
                    <a:pt x="457200" y="365760"/>
                  </a:lnTo>
                  <a:lnTo>
                    <a:pt x="0" y="365760"/>
                  </a:lnTo>
                  <a:close/>
                </a:path>
              </a:pathLst>
            </a:cu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rop body"/>
            <p:cNvSpPr/>
            <p:nvPr/>
          </p:nvSpPr>
          <p:spPr>
            <a:xfrm>
              <a:off x="5038344" y="2724912"/>
              <a:ext cx="457200" cy="457200"/>
            </a:xfrm>
            <a:prstGeom prst="ellipse">
              <a:avLst/>
            </a:prstGeom>
            <a:solidFill>
              <a:srgbClr val="4DA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ard label"/>
            <p:cNvSpPr txBox="1"/>
            <p:nvPr/>
          </p:nvSpPr>
          <p:spPr>
            <a:xfrm>
              <a:off x="3529584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Stations and Servicing</a:t>
              </a:r>
            </a:p>
          </p:txBody>
        </p:sp>
        <p:sp>
          <p:nvSpPr>
            <p:cNvPr id="28" name="proposed card"/>
            <p:cNvSpPr/>
            <p:nvPr/>
          </p:nvSpPr>
          <p:spPr>
            <a:xfrm>
              <a:off x="6236207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con panel"/>
            <p:cNvSpPr/>
            <p:nvPr/>
          </p:nvSpPr>
          <p:spPr>
            <a:xfrm>
              <a:off x="6464807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icon semaphore post"/>
            <p:cNvSpPr/>
            <p:nvPr/>
          </p:nvSpPr>
          <p:spPr>
            <a:xfrm>
              <a:off x="7271766" y="2331720"/>
              <a:ext cx="123444" cy="1234440"/>
            </a:xfrm>
            <a:prstGeom prst="rect">
              <a:avLst/>
            </a:prstGeom>
            <a:solidFill>
              <a:srgbClr val="E8E8E8"/>
            </a:solidFill>
            <a:ln w="9525">
              <a:solidFill>
                <a:srgbClr val="6B707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icon semaphore foot"/>
            <p:cNvSpPr/>
            <p:nvPr/>
          </p:nvSpPr>
          <p:spPr>
            <a:xfrm>
              <a:off x="7061911" y="3492093"/>
              <a:ext cx="543153" cy="74066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icon semaphore arm"/>
            <p:cNvSpPr/>
            <p:nvPr/>
          </p:nvSpPr>
          <p:spPr>
            <a:xfrm>
              <a:off x="7342837" y="1886293"/>
              <a:ext cx="645932" cy="645932"/>
            </a:xfrm>
            <a:custGeom>
              <a:avLst/>
              <a:gdLst/>
              <a:ahLst/>
              <a:cxnLst/>
              <a:rect l="l" t="t" r="r" b="b"/>
              <a:pathLst>
                <a:path w="645932" h="645932">
                  <a:moveTo>
                    <a:pt x="0" y="541186"/>
                  </a:moveTo>
                  <a:lnTo>
                    <a:pt x="541186" y="0"/>
                  </a:lnTo>
                  <a:lnTo>
                    <a:pt x="645932" y="104746"/>
                  </a:lnTo>
                  <a:lnTo>
                    <a:pt x="104745" y="645932"/>
                  </a:lnTo>
                  <a:close/>
                </a:path>
              </a:pathLst>
            </a:cu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icon semaphore lamp"/>
            <p:cNvSpPr/>
            <p:nvPr/>
          </p:nvSpPr>
          <p:spPr>
            <a:xfrm>
              <a:off x="7210044" y="2307031"/>
              <a:ext cx="246888" cy="246888"/>
            </a:xfrm>
            <a:prstGeom prst="ellipse">
              <a:avLst/>
            </a:prstGeom>
            <a:solidFill>
              <a:srgbClr val="3FB950"/>
            </a:solidFill>
            <a:ln w="12700">
              <a:solidFill>
                <a:srgbClr val="2B2F3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icon semaphore pivot"/>
            <p:cNvSpPr/>
            <p:nvPr/>
          </p:nvSpPr>
          <p:spPr>
            <a:xfrm>
              <a:off x="7345832" y="2430475"/>
              <a:ext cx="98755" cy="98755"/>
            </a:xfrm>
            <a:prstGeom prst="ellipse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card label"/>
            <p:cNvSpPr txBox="1"/>
            <p:nvPr/>
          </p:nvSpPr>
          <p:spPr>
            <a:xfrm>
              <a:off x="6373368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Signalling</a:t>
              </a:r>
            </a:p>
          </p:txBody>
        </p:sp>
        <p:sp>
          <p:nvSpPr>
            <p:cNvPr id="36" name="proposed card"/>
            <p:cNvSpPr/>
            <p:nvPr/>
          </p:nvSpPr>
          <p:spPr>
            <a:xfrm>
              <a:off x="9079992" y="1463040"/>
              <a:ext cx="2560320" cy="3749039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B084F5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icon panel"/>
            <p:cNvSpPr/>
            <p:nvPr/>
          </p:nvSpPr>
          <p:spPr>
            <a:xfrm>
              <a:off x="9308592" y="1737360"/>
              <a:ext cx="2103120" cy="2194560"/>
            </a:xfrm>
            <a:prstGeom prst="roundRect">
              <a:avLst>
                <a:gd name="adj" fmla="val 3478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rain icon engine"/>
            <p:cNvSpPr/>
            <p:nvPr/>
          </p:nvSpPr>
          <p:spPr>
            <a:xfrm>
              <a:off x="9445752" y="2670048"/>
              <a:ext cx="621792" cy="402336"/>
            </a:xfrm>
            <a:prstGeom prst="roundRect">
              <a:avLst>
                <a:gd name="adj" fmla="val 18181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rain icon chimney"/>
            <p:cNvSpPr/>
            <p:nvPr/>
          </p:nvSpPr>
          <p:spPr>
            <a:xfrm>
              <a:off x="9902952" y="2560320"/>
              <a:ext cx="128015" cy="182880"/>
            </a:xfrm>
            <a:prstGeom prst="rect">
              <a:avLst/>
            </a:prstGeom>
            <a:solidFill>
              <a:srgbClr val="3A3F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rain icon frame"/>
            <p:cNvSpPr/>
            <p:nvPr/>
          </p:nvSpPr>
          <p:spPr>
            <a:xfrm>
              <a:off x="9445752" y="2926080"/>
              <a:ext cx="621792" cy="14630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rain icon wagon"/>
            <p:cNvSpPr/>
            <p:nvPr/>
          </p:nvSpPr>
          <p:spPr>
            <a:xfrm>
              <a:off x="10104120" y="2724912"/>
              <a:ext cx="548640" cy="347472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rain icon wagon"/>
            <p:cNvSpPr/>
            <p:nvPr/>
          </p:nvSpPr>
          <p:spPr>
            <a:xfrm>
              <a:off x="10689336" y="2724912"/>
              <a:ext cx="548640" cy="347472"/>
            </a:xfrm>
            <a:prstGeom prst="roundRect">
              <a:avLst>
                <a:gd name="adj" fmla="val 10526"/>
              </a:avLst>
            </a:prstGeom>
            <a:solidFill>
              <a:srgbClr val="6C7480"/>
            </a:solidFill>
            <a:ln w="9525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rain icon wheel"/>
            <p:cNvSpPr/>
            <p:nvPr/>
          </p:nvSpPr>
          <p:spPr>
            <a:xfrm>
              <a:off x="9540849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rain icon wheel"/>
            <p:cNvSpPr/>
            <p:nvPr/>
          </p:nvSpPr>
          <p:spPr>
            <a:xfrm>
              <a:off x="9833457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rain icon wheel"/>
            <p:cNvSpPr/>
            <p:nvPr/>
          </p:nvSpPr>
          <p:spPr>
            <a:xfrm>
              <a:off x="10180929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rain icon wheel"/>
            <p:cNvSpPr/>
            <p:nvPr/>
          </p:nvSpPr>
          <p:spPr>
            <a:xfrm>
              <a:off x="10473537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rain icon wheel"/>
            <p:cNvSpPr/>
            <p:nvPr/>
          </p:nvSpPr>
          <p:spPr>
            <a:xfrm>
              <a:off x="10766145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rain icon wheel"/>
            <p:cNvSpPr/>
            <p:nvPr/>
          </p:nvSpPr>
          <p:spPr>
            <a:xfrm>
              <a:off x="11058753" y="3002889"/>
              <a:ext cx="138988" cy="138988"/>
            </a:xfrm>
            <a:prstGeom prst="ellipse">
              <a:avLst/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ail"/>
            <p:cNvSpPr/>
            <p:nvPr/>
          </p:nvSpPr>
          <p:spPr>
            <a:xfrm>
              <a:off x="9354312" y="3182112"/>
              <a:ext cx="20116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card label"/>
            <p:cNvSpPr txBox="1"/>
            <p:nvPr/>
          </p:nvSpPr>
          <p:spPr>
            <a:xfrm>
              <a:off x="9217152" y="4114800"/>
              <a:ext cx="2286000" cy="91440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Rolling Stock</a:t>
              </a:r>
            </a:p>
          </p:txBody>
        </p:sp>
      </p:grpSp>
      <p:sp>
        <p:nvSpPr>
          <p:cNvPr id="51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Parts could sit in four groups: track, stations, signals and trains.</a:t>
            </a:r>
          </a:p>
        </p:txBody>
      </p:sp>
      <p:sp>
        <p:nvSpPr>
          <p:cNvPr id="54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Can the game do it?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Question card" descr="A question card with a big question mark: does the game allow a new top-level tab? Not yet checked."/>
          <p:cNvGrpSpPr/>
          <p:nvPr/>
        </p:nvGrpSpPr>
        <p:grpSpPr>
          <a:xfrm>
            <a:off x="1280160" y="1600200"/>
            <a:ext cx="9628632" cy="3246120"/>
            <a:chOff x="1280160" y="1600200"/>
            <a:chExt cx="9628632" cy="3246120"/>
          </a:xfrm>
        </p:grpSpPr>
        <p:sp>
          <p:nvSpPr>
            <p:cNvPr id="5" name="question card"/>
            <p:cNvSpPr/>
            <p:nvPr/>
          </p:nvSpPr>
          <p:spPr>
            <a:xfrm>
              <a:off x="1280160" y="1600200"/>
              <a:ext cx="9628632" cy="3246120"/>
            </a:xfrm>
            <a:prstGeom prst="roundRect">
              <a:avLst>
                <a:gd name="adj" fmla="val 3380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ghost tab"/>
            <p:cNvSpPr/>
            <p:nvPr/>
          </p:nvSpPr>
          <p:spPr>
            <a:xfrm>
              <a:off x="1645920" y="1920240"/>
              <a:ext cx="914400" cy="50292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ghost tab"/>
            <p:cNvSpPr/>
            <p:nvPr/>
          </p:nvSpPr>
          <p:spPr>
            <a:xfrm>
              <a:off x="2651760" y="1920240"/>
              <a:ext cx="914400" cy="50292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ghost tab"/>
            <p:cNvSpPr/>
            <p:nvPr/>
          </p:nvSpPr>
          <p:spPr>
            <a:xfrm>
              <a:off x="3657600" y="1920240"/>
              <a:ext cx="914400" cy="502920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ashed new tab"/>
            <p:cNvSpPr/>
            <p:nvPr/>
          </p:nvSpPr>
          <p:spPr>
            <a:xfrm>
              <a:off x="4663440" y="1828800"/>
              <a:ext cx="1371600" cy="594360"/>
            </a:xfrm>
            <a:prstGeom prst="round2SameRect">
              <a:avLst>
                <a:gd name="adj1" fmla="val 22000"/>
                <a:gd name="adj2" fmla="val 0"/>
              </a:avLst>
            </a:prstGeom>
            <a:noFill/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QUESTION"/>
            <p:cNvSpPr txBox="1"/>
            <p:nvPr/>
          </p:nvSpPr>
          <p:spPr>
            <a:xfrm>
              <a:off x="1645920" y="2834640"/>
              <a:ext cx="6126480" cy="15544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3400" b="1" i="0" lang="en-GB">
                  <a:solidFill>
                    <a:srgbClr val="F2F2F2"/>
                  </a:solidFill>
                  <a:latin typeface="Arial"/>
                </a:rPr>
                <a:t>Does the game allow a new top-level tab?</a:t>
              </a:r>
            </a:p>
          </p:txBody>
        </p:sp>
        <p:sp>
          <p:nvSpPr>
            <p:cNvPr id="11" name="question disc"/>
            <p:cNvSpPr/>
            <p:nvPr/>
          </p:nvSpPr>
          <p:spPr>
            <a:xfrm>
              <a:off x="8138160" y="2057400"/>
              <a:ext cx="2194560" cy="2194560"/>
            </a:xfrm>
            <a:prstGeom prst="ellipse">
              <a:avLst/>
            </a:prstGeom>
            <a:noFill/>
            <a:ln w="50800">
              <a:solidFill>
                <a:srgbClr val="A9B0B8"/>
              </a:solidFill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9600" b="1" i="0" lang="en-GB">
                  <a:solidFill>
                    <a:srgbClr val="F2F2F2"/>
                  </a:solidFill>
                  <a:latin typeface="Arial"/>
                </a:rPr>
                <a:t>?</a:t>
              </a:r>
            </a:p>
          </p:txBody>
        </p:sp>
      </p:grpSp>
      <p:sp>
        <p:nvSpPr>
          <p:cNvPr id="12" name="FOOTER"/>
          <p:cNvSpPr txBox="1"/>
          <p:nvPr/>
        </p:nvSpPr>
        <p:spPr>
          <a:xfrm>
            <a:off x="1280160" y="5029200"/>
            <a:ext cx="1828800" cy="36576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1800" b="1" i="0" lang="en-GB">
                <a:solidFill>
                  <a:srgbClr val="A9B0B8"/>
                </a:solidFill>
                <a:latin typeface="Arial"/>
              </a:rPr>
              <a:t>OQ19</a:t>
            </a:r>
          </a:p>
        </p:txBody>
      </p:sp>
      <p:sp>
        <p:nvSpPr>
          <p:cNvPr id="13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Whether the game allows a new tab is not yet checked.</a:t>
            </a:r>
          </a:p>
        </p:txBody>
      </p:sp>
      <p:sp>
        <p:nvSpPr>
          <p:cNvPr id="16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Reactions to your trains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Placeholder avatar" descr="Placeholder avatar for the railway guide: a plain round head with no face, a headset and orange shoulders. Her look is undecided (OQ15)."/>
          <p:cNvGrpSpPr/>
          <p:nvPr/>
        </p:nvGrpSpPr>
        <p:grpSpPr>
          <a:xfrm>
            <a:off x="2606039" y="1554480"/>
            <a:ext cx="3200400" cy="3288410"/>
            <a:chOff x="2606039" y="1554480"/>
            <a:chExt cx="3200400" cy="3288410"/>
          </a:xfrm>
        </p:grpSpPr>
        <p:sp>
          <p:nvSpPr>
            <p:cNvPr id="5" name="shoulders"/>
            <p:cNvSpPr/>
            <p:nvPr/>
          </p:nvSpPr>
          <p:spPr>
            <a:xfrm>
              <a:off x="2606039" y="3322701"/>
              <a:ext cx="3200400" cy="1520189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neck"/>
            <p:cNvSpPr/>
            <p:nvPr/>
          </p:nvSpPr>
          <p:spPr>
            <a:xfrm>
              <a:off x="3886200" y="3122676"/>
              <a:ext cx="640080" cy="640080"/>
            </a:xfrm>
            <a:prstGeom prst="rect">
              <a:avLst/>
            </a:prstGeom>
            <a:solidFill>
              <a:srgbClr val="B9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ad"/>
            <p:cNvSpPr/>
            <p:nvPr/>
          </p:nvSpPr>
          <p:spPr>
            <a:xfrm>
              <a:off x="3406139" y="1762506"/>
              <a:ext cx="1600200" cy="1600200"/>
            </a:xfrm>
            <a:prstGeom prst="ellipse">
              <a:avLst/>
            </a:prstGeom>
            <a:solidFill>
              <a:srgbClr val="D5D9DE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adset band"/>
            <p:cNvSpPr/>
            <p:nvPr/>
          </p:nvSpPr>
          <p:spPr>
            <a:xfrm>
              <a:off x="3207925" y="1554480"/>
              <a:ext cx="1996629" cy="893299"/>
            </a:xfrm>
            <a:custGeom>
              <a:avLst/>
              <a:gdLst/>
              <a:ahLst/>
              <a:cxnLst/>
              <a:rect l="l" t="t" r="r" b="b"/>
              <a:pathLst>
                <a:path w="1996629" h="893299">
                  <a:moveTo>
                    <a:pt x="1996629" y="867821"/>
                  </a:moveTo>
                  <a:lnTo>
                    <a:pt x="1972844" y="750037"/>
                  </a:lnTo>
                  <a:lnTo>
                    <a:pt x="1935214" y="635919"/>
                  </a:lnTo>
                  <a:lnTo>
                    <a:pt x="1884273" y="527089"/>
                  </a:lnTo>
                  <a:lnTo>
                    <a:pt x="1820745" y="425094"/>
                  </a:lnTo>
                  <a:lnTo>
                    <a:pt x="1745533" y="331381"/>
                  </a:lnTo>
                  <a:lnTo>
                    <a:pt x="1659705" y="247283"/>
                  </a:lnTo>
                  <a:lnTo>
                    <a:pt x="1564480" y="173995"/>
                  </a:lnTo>
                  <a:lnTo>
                    <a:pt x="1461212" y="112557"/>
                  </a:lnTo>
                  <a:lnTo>
                    <a:pt x="1351368" y="63842"/>
                  </a:lnTo>
                  <a:lnTo>
                    <a:pt x="1236507" y="28543"/>
                  </a:lnTo>
                  <a:lnTo>
                    <a:pt x="1118263" y="7161"/>
                  </a:lnTo>
                  <a:lnTo>
                    <a:pt x="998315" y="0"/>
                  </a:lnTo>
                  <a:lnTo>
                    <a:pt x="878366" y="7161"/>
                  </a:lnTo>
                  <a:lnTo>
                    <a:pt x="760122" y="28543"/>
                  </a:lnTo>
                  <a:lnTo>
                    <a:pt x="645261" y="63842"/>
                  </a:lnTo>
                  <a:lnTo>
                    <a:pt x="535417" y="112557"/>
                  </a:lnTo>
                  <a:lnTo>
                    <a:pt x="432149" y="173995"/>
                  </a:lnTo>
                  <a:lnTo>
                    <a:pt x="336924" y="247283"/>
                  </a:lnTo>
                  <a:lnTo>
                    <a:pt x="251096" y="331381"/>
                  </a:lnTo>
                  <a:lnTo>
                    <a:pt x="175884" y="425094"/>
                  </a:lnTo>
                  <a:lnTo>
                    <a:pt x="112356" y="527089"/>
                  </a:lnTo>
                  <a:lnTo>
                    <a:pt x="61415" y="635919"/>
                  </a:lnTo>
                  <a:lnTo>
                    <a:pt x="23785" y="750037"/>
                  </a:lnTo>
                  <a:lnTo>
                    <a:pt x="0" y="867821"/>
                  </a:lnTo>
                  <a:lnTo>
                    <a:pt x="181281" y="893299"/>
                  </a:lnTo>
                  <a:lnTo>
                    <a:pt x="200747" y="796903"/>
                  </a:lnTo>
                  <a:lnTo>
                    <a:pt x="231544" y="703507"/>
                  </a:lnTo>
                  <a:lnTo>
                    <a:pt x="273235" y="614439"/>
                  </a:lnTo>
                  <a:lnTo>
                    <a:pt x="325227" y="530965"/>
                  </a:lnTo>
                  <a:lnTo>
                    <a:pt x="386782" y="454269"/>
                  </a:lnTo>
                  <a:lnTo>
                    <a:pt x="457024" y="385442"/>
                  </a:lnTo>
                  <a:lnTo>
                    <a:pt x="534957" y="325462"/>
                  </a:lnTo>
                  <a:lnTo>
                    <a:pt x="619473" y="275180"/>
                  </a:lnTo>
                  <a:lnTo>
                    <a:pt x="709371" y="235312"/>
                  </a:lnTo>
                  <a:lnTo>
                    <a:pt x="803374" y="206423"/>
                  </a:lnTo>
                  <a:lnTo>
                    <a:pt x="900147" y="188923"/>
                  </a:lnTo>
                  <a:lnTo>
                    <a:pt x="998315" y="183062"/>
                  </a:lnTo>
                  <a:lnTo>
                    <a:pt x="1096482" y="188923"/>
                  </a:lnTo>
                  <a:lnTo>
                    <a:pt x="1193255" y="206423"/>
                  </a:lnTo>
                  <a:lnTo>
                    <a:pt x="1287258" y="235312"/>
                  </a:lnTo>
                  <a:lnTo>
                    <a:pt x="1377156" y="275180"/>
                  </a:lnTo>
                  <a:lnTo>
                    <a:pt x="1461672" y="325462"/>
                  </a:lnTo>
                  <a:lnTo>
                    <a:pt x="1539605" y="385442"/>
                  </a:lnTo>
                  <a:lnTo>
                    <a:pt x="1609847" y="454269"/>
                  </a:lnTo>
                  <a:lnTo>
                    <a:pt x="1671402" y="530965"/>
                  </a:lnTo>
                  <a:lnTo>
                    <a:pt x="1723394" y="614439"/>
                  </a:lnTo>
                  <a:lnTo>
                    <a:pt x="1765085" y="703507"/>
                  </a:lnTo>
                  <a:lnTo>
                    <a:pt x="1795882" y="796903"/>
                  </a:lnTo>
                  <a:lnTo>
                    <a:pt x="1815348" y="893299"/>
                  </a:lnTo>
                  <a:close/>
                </a:path>
              </a:pathLst>
            </a:cu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ear cup"/>
            <p:cNvSpPr/>
            <p:nvPr/>
          </p:nvSpPr>
          <p:spPr>
            <a:xfrm>
              <a:off x="3147707" y="2338578"/>
              <a:ext cx="288036" cy="544068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ear cup"/>
            <p:cNvSpPr/>
            <p:nvPr/>
          </p:nvSpPr>
          <p:spPr>
            <a:xfrm>
              <a:off x="4976736" y="2338578"/>
              <a:ext cx="288036" cy="544068"/>
            </a:xfrm>
            <a:prstGeom prst="roundRect">
              <a:avLst>
                <a:gd name="adj" fmla="val 38888"/>
              </a:avLst>
            </a:prstGeom>
            <a:solidFill>
              <a:srgbClr val="3A3F47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mic boom"/>
            <p:cNvSpPr/>
            <p:nvPr/>
          </p:nvSpPr>
          <p:spPr>
            <a:xfrm>
              <a:off x="3302126" y="2850642"/>
              <a:ext cx="632079" cy="376291"/>
            </a:xfrm>
            <a:custGeom>
              <a:avLst/>
              <a:gdLst/>
              <a:ahLst/>
              <a:cxnLst/>
              <a:rect l="l" t="t" r="r" b="b"/>
              <a:pathLst>
                <a:path w="632079" h="376291">
                  <a:moveTo>
                    <a:pt x="0" y="0"/>
                  </a:moveTo>
                  <a:lnTo>
                    <a:pt x="807" y="32963"/>
                  </a:lnTo>
                  <a:lnTo>
                    <a:pt x="3225" y="64416"/>
                  </a:lnTo>
                  <a:lnTo>
                    <a:pt x="7257" y="94358"/>
                  </a:lnTo>
                  <a:lnTo>
                    <a:pt x="12900" y="122790"/>
                  </a:lnTo>
                  <a:lnTo>
                    <a:pt x="20156" y="149712"/>
                  </a:lnTo>
                  <a:lnTo>
                    <a:pt x="29025" y="175123"/>
                  </a:lnTo>
                  <a:lnTo>
                    <a:pt x="39505" y="199024"/>
                  </a:lnTo>
                  <a:lnTo>
                    <a:pt x="51599" y="221415"/>
                  </a:lnTo>
                  <a:lnTo>
                    <a:pt x="65305" y="242295"/>
                  </a:lnTo>
                  <a:lnTo>
                    <a:pt x="80623" y="261665"/>
                  </a:lnTo>
                  <a:lnTo>
                    <a:pt x="97554" y="279524"/>
                  </a:lnTo>
                  <a:lnTo>
                    <a:pt x="116097" y="295873"/>
                  </a:lnTo>
                  <a:lnTo>
                    <a:pt x="136252" y="310712"/>
                  </a:lnTo>
                  <a:lnTo>
                    <a:pt x="158020" y="324040"/>
                  </a:lnTo>
                  <a:lnTo>
                    <a:pt x="181401" y="335858"/>
                  </a:lnTo>
                  <a:lnTo>
                    <a:pt x="206394" y="346165"/>
                  </a:lnTo>
                  <a:lnTo>
                    <a:pt x="232999" y="354962"/>
                  </a:lnTo>
                  <a:lnTo>
                    <a:pt x="261217" y="362249"/>
                  </a:lnTo>
                  <a:lnTo>
                    <a:pt x="291047" y="368025"/>
                  </a:lnTo>
                  <a:lnTo>
                    <a:pt x="322490" y="372291"/>
                  </a:lnTo>
                  <a:lnTo>
                    <a:pt x="355545" y="375046"/>
                  </a:lnTo>
                  <a:lnTo>
                    <a:pt x="390213" y="376291"/>
                  </a:lnTo>
                  <a:lnTo>
                    <a:pt x="426493" y="376026"/>
                  </a:lnTo>
                  <a:lnTo>
                    <a:pt x="464385" y="374250"/>
                  </a:lnTo>
                  <a:lnTo>
                    <a:pt x="503890" y="370964"/>
                  </a:lnTo>
                  <a:lnTo>
                    <a:pt x="545007" y="366168"/>
                  </a:lnTo>
                  <a:lnTo>
                    <a:pt x="587737" y="359861"/>
                  </a:lnTo>
                  <a:lnTo>
                    <a:pt x="632079" y="352044"/>
                  </a:lnTo>
                </a:path>
              </a:pathLst>
            </a:custGeom>
            <a:noFill/>
            <a:ln w="7112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mic tip"/>
            <p:cNvSpPr/>
            <p:nvPr/>
          </p:nvSpPr>
          <p:spPr>
            <a:xfrm>
              <a:off x="3838193" y="3106674"/>
              <a:ext cx="192024" cy="19202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guide bubble body"/>
          <p:cNvSpPr/>
          <p:nvPr/>
        </p:nvSpPr>
        <p:spPr>
          <a:xfrm>
            <a:off x="6126480" y="2011680"/>
            <a:ext cx="3108960" cy="1234440"/>
          </a:xfrm>
          <a:prstGeom prst="roundRect">
            <a:avLst>
              <a:gd name="adj" fmla="val 22222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square" lIns="109728" rIns="109728">
            <a:noAutofit/>
          </a:bodyPr>
          <a:lstStyle/>
          <a:p>
            <a:pPr algn="ctr"/>
            <a:r>
              <a:rPr sz="4800" b="1" i="0" lang="en-GB">
                <a:solidFill>
                  <a:srgbClr val="101418"/>
                </a:solidFill>
                <a:latin typeface="Arial"/>
              </a:rPr>
              <a:t>...</a:t>
            </a:r>
          </a:p>
        </p:txBody>
      </p:sp>
      <p:sp>
        <p:nvSpPr>
          <p:cNvPr id="14" name="guide bubble tail"/>
          <p:cNvSpPr/>
          <p:nvPr/>
        </p:nvSpPr>
        <p:spPr>
          <a:xfrm>
            <a:off x="5669280" y="2606040"/>
            <a:ext cx="475488" cy="365760"/>
          </a:xfrm>
          <a:custGeom>
            <a:avLst/>
            <a:gdLst/>
            <a:ahLst/>
            <a:cxnLst/>
            <a:rect l="l" t="t" r="r" b="b"/>
            <a:pathLst>
              <a:path w="475488" h="365760">
                <a:moveTo>
                  <a:pt x="475488" y="0"/>
                </a:moveTo>
                <a:lnTo>
                  <a:pt x="475488" y="365760"/>
                </a:lnTo>
                <a:lnTo>
                  <a:pt x="0" y="256032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dialogue note"/>
          <p:cNvSpPr/>
          <p:nvPr/>
        </p:nvSpPr>
        <p:spPr>
          <a:xfrm>
            <a:off x="6126480" y="3611880"/>
            <a:ext cx="3108960" cy="502920"/>
          </a:xfrm>
          <a:prstGeom prst="roundRect">
            <a:avLst>
              <a:gd name="adj" fmla="val 14545"/>
            </a:avLst>
          </a:prstGeom>
          <a:solidFill>
            <a:srgbClr val="2B2F36"/>
          </a:solidFill>
          <a:ln w="25400">
            <a:solidFill>
              <a:srgbClr val="A9B0B8"/>
            </a:solidFill>
            <a:prstDash val="dash"/>
          </a:ln>
        </p:spPr>
        <p:txBody>
          <a:bodyPr rtlCol="0" anchor="ctr" wrap="square" lIns="54864" tIns="27432" rIns="54864" bIns="27432">
            <a:noAutofit/>
          </a:bodyPr>
          <a:lstStyle/>
          <a:p>
            <a:pPr algn="ctr"/>
            <a:r>
              <a:rPr sz="1800" b="1" i="0" lang="en-GB">
                <a:solidFill>
                  <a:srgbClr val="F2F2F2"/>
                </a:solidFill>
                <a:latin typeface="Arial"/>
              </a:rPr>
              <a:t>Dialogue not written yet.</a:t>
            </a:r>
          </a:p>
        </p:txBody>
      </p:sp>
      <p:sp>
        <p:nvSpPr>
          <p:cNvPr id="16" name="PLACEHOLDER LABEL"/>
          <p:cNvSpPr txBox="1"/>
          <p:nvPr/>
        </p:nvSpPr>
        <p:spPr>
          <a:xfrm>
            <a:off x="2103120" y="4983480"/>
            <a:ext cx="4206240" cy="5029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1400" b="0" i="0" lang="en-GB">
                <a:solidFill>
                  <a:srgbClr val="A9B0B8"/>
                </a:solidFill>
                <a:latin typeface="Arial"/>
              </a:rPr>
              <a:t>Placeholder avatar. Her look is undecided (OQ15).</a:t>
            </a:r>
          </a:p>
        </p:txBody>
      </p:sp>
      <p:sp>
        <p:nvSpPr>
          <p:cNvPr id="17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She might react to special liveries and famous engines. Rarely, not on every placement.</a:t>
            </a:r>
          </a:p>
        </p:txBody>
      </p:sp>
      <p:sp>
        <p:nvSpPr>
          <p:cNvPr id="20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Where this stands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Four planned steps" descr="A row of four steps, all planned and none built yet: guide script, character art, lessons and build menu tab. Dashed outlines show they are not built."/>
          <p:cNvGrpSpPr/>
          <p:nvPr/>
        </p:nvGrpSpPr>
        <p:grpSpPr>
          <a:xfrm>
            <a:off x="548640" y="1554480"/>
            <a:ext cx="11091672" cy="3108960"/>
            <a:chOff x="548640" y="1554480"/>
            <a:chExt cx="11091672" cy="3108960"/>
          </a:xfrm>
        </p:grpSpPr>
        <p:sp>
          <p:nvSpPr>
            <p:cNvPr id="5" name="planned step"/>
            <p:cNvSpPr/>
            <p:nvPr/>
          </p:nvSpPr>
          <p:spPr>
            <a:xfrm>
              <a:off x="548640" y="1554480"/>
              <a:ext cx="2560320" cy="3108960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planned disc"/>
            <p:cNvSpPr/>
            <p:nvPr/>
          </p:nvSpPr>
          <p:spPr>
            <a:xfrm>
              <a:off x="1234440" y="1874519"/>
              <a:ext cx="1188720" cy="1188720"/>
            </a:xfrm>
            <a:prstGeom prst="ellipse">
              <a:avLst/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cript page"/>
            <p:cNvSpPr/>
            <p:nvPr/>
          </p:nvSpPr>
          <p:spPr>
            <a:xfrm>
              <a:off x="1554480" y="2103120"/>
              <a:ext cx="548640" cy="731520"/>
            </a:xfrm>
            <a:prstGeom prst="roundRect">
              <a:avLst>
                <a:gd name="adj" fmla="val 8333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cript line"/>
            <p:cNvSpPr/>
            <p:nvPr/>
          </p:nvSpPr>
          <p:spPr>
            <a:xfrm>
              <a:off x="1645920" y="2212848"/>
              <a:ext cx="365760" cy="6400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cript line"/>
            <p:cNvSpPr/>
            <p:nvPr/>
          </p:nvSpPr>
          <p:spPr>
            <a:xfrm>
              <a:off x="1645920" y="2368296"/>
              <a:ext cx="365760" cy="6400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cript line"/>
            <p:cNvSpPr/>
            <p:nvPr/>
          </p:nvSpPr>
          <p:spPr>
            <a:xfrm>
              <a:off x="1645920" y="2523744"/>
              <a:ext cx="365760" cy="6400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cript line"/>
            <p:cNvSpPr/>
            <p:nvPr/>
          </p:nvSpPr>
          <p:spPr>
            <a:xfrm>
              <a:off x="1645920" y="2679191"/>
              <a:ext cx="219456" cy="64008"/>
            </a:xfrm>
            <a:prstGeom prst="rect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tep label"/>
            <p:cNvSpPr txBox="1"/>
            <p:nvPr/>
          </p:nvSpPr>
          <p:spPr>
            <a:xfrm>
              <a:off x="685800" y="3383280"/>
              <a:ext cx="228600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Guide script: planned</a:t>
              </a:r>
            </a:p>
          </p:txBody>
        </p:sp>
        <p:cxnSp>
          <p:nvCxnSpPr>
            <p:cNvPr id="13" name="planned link"/>
            <p:cNvCxnSpPr/>
            <p:nvPr/>
          </p:nvCxnSpPr>
          <p:spPr>
            <a:xfrm>
              <a:off x="3145536" y="2468880"/>
              <a:ext cx="210312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ash"/>
              <a:tailEnd type="triangle" w="med" len="med"/>
            </a:ln>
          </p:spPr>
        </p:cxnSp>
        <p:sp>
          <p:nvSpPr>
            <p:cNvPr id="14" name="planned step"/>
            <p:cNvSpPr/>
            <p:nvPr/>
          </p:nvSpPr>
          <p:spPr>
            <a:xfrm>
              <a:off x="3392424" y="1554480"/>
              <a:ext cx="2560320" cy="3108960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planned disc"/>
            <p:cNvSpPr/>
            <p:nvPr/>
          </p:nvSpPr>
          <p:spPr>
            <a:xfrm>
              <a:off x="4078223" y="1874519"/>
              <a:ext cx="1188720" cy="1188720"/>
            </a:xfrm>
            <a:prstGeom prst="ellipse">
              <a:avLst/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art frame"/>
            <p:cNvSpPr/>
            <p:nvPr/>
          </p:nvSpPr>
          <p:spPr>
            <a:xfrm>
              <a:off x="4288536" y="2176272"/>
              <a:ext cx="768096" cy="585216"/>
            </a:xfrm>
            <a:prstGeom prst="roundRect">
              <a:avLst>
                <a:gd name="adj" fmla="val 7812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art hills"/>
            <p:cNvSpPr/>
            <p:nvPr/>
          </p:nvSpPr>
          <p:spPr>
            <a:xfrm>
              <a:off x="4361688" y="2414016"/>
              <a:ext cx="621791" cy="274320"/>
            </a:xfrm>
            <a:custGeom>
              <a:avLst/>
              <a:gdLst/>
              <a:ahLst/>
              <a:cxnLst/>
              <a:rect l="l" t="t" r="r" b="b"/>
              <a:pathLst>
                <a:path w="621791" h="274320">
                  <a:moveTo>
                    <a:pt x="0" y="274320"/>
                  </a:moveTo>
                  <a:lnTo>
                    <a:pt x="237743" y="0"/>
                  </a:lnTo>
                  <a:lnTo>
                    <a:pt x="384048" y="164592"/>
                  </a:lnTo>
                  <a:lnTo>
                    <a:pt x="493776" y="36576"/>
                  </a:lnTo>
                  <a:lnTo>
                    <a:pt x="621791" y="274320"/>
                  </a:lnTo>
                  <a:close/>
                </a:path>
              </a:pathLst>
            </a:cu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art sun"/>
            <p:cNvSpPr/>
            <p:nvPr/>
          </p:nvSpPr>
          <p:spPr>
            <a:xfrm>
              <a:off x="4782312" y="2240280"/>
              <a:ext cx="146304" cy="146304"/>
            </a:xfrm>
            <a:prstGeom prst="ellipse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tep label"/>
            <p:cNvSpPr txBox="1"/>
            <p:nvPr/>
          </p:nvSpPr>
          <p:spPr>
            <a:xfrm>
              <a:off x="3529584" y="3383280"/>
              <a:ext cx="228600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Character art: planned</a:t>
              </a:r>
            </a:p>
          </p:txBody>
        </p:sp>
        <p:cxnSp>
          <p:nvCxnSpPr>
            <p:cNvPr id="20" name="planned link"/>
            <p:cNvCxnSpPr/>
            <p:nvPr/>
          </p:nvCxnSpPr>
          <p:spPr>
            <a:xfrm>
              <a:off x="5989320" y="2468880"/>
              <a:ext cx="210311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ash"/>
              <a:tailEnd type="triangle" w="med" len="med"/>
            </a:ln>
          </p:spPr>
        </p:cxnSp>
        <p:sp>
          <p:nvSpPr>
            <p:cNvPr id="21" name="planned step"/>
            <p:cNvSpPr/>
            <p:nvPr/>
          </p:nvSpPr>
          <p:spPr>
            <a:xfrm>
              <a:off x="6236207" y="1554480"/>
              <a:ext cx="2560320" cy="3108960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lanned disc"/>
            <p:cNvSpPr/>
            <p:nvPr/>
          </p:nvSpPr>
          <p:spPr>
            <a:xfrm>
              <a:off x="6922007" y="1874519"/>
              <a:ext cx="1188720" cy="1188720"/>
            </a:xfrm>
            <a:prstGeom prst="ellipse">
              <a:avLst/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lesson screen"/>
            <p:cNvSpPr/>
            <p:nvPr/>
          </p:nvSpPr>
          <p:spPr>
            <a:xfrm>
              <a:off x="7150607" y="2148840"/>
              <a:ext cx="731520" cy="640080"/>
            </a:xfrm>
            <a:prstGeom prst="roundRect">
              <a:avLst>
                <a:gd name="adj" fmla="val 8571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play"/>
            <p:cNvSpPr/>
            <p:nvPr/>
          </p:nvSpPr>
          <p:spPr>
            <a:xfrm>
              <a:off x="7425842" y="2313432"/>
              <a:ext cx="264261" cy="310896"/>
            </a:xfrm>
            <a:custGeom>
              <a:avLst/>
              <a:gdLst/>
              <a:ahLst/>
              <a:cxnLst/>
              <a:rect l="l" t="t" r="r" b="b"/>
              <a:pathLst>
                <a:path w="264261" h="310896">
                  <a:moveTo>
                    <a:pt x="0" y="0"/>
                  </a:moveTo>
                  <a:lnTo>
                    <a:pt x="0" y="310896"/>
                  </a:lnTo>
                  <a:lnTo>
                    <a:pt x="264261" y="155448"/>
                  </a:lnTo>
                  <a:close/>
                </a:path>
              </a:pathLst>
            </a:cu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tep label"/>
            <p:cNvSpPr txBox="1"/>
            <p:nvPr/>
          </p:nvSpPr>
          <p:spPr>
            <a:xfrm>
              <a:off x="6373368" y="3383280"/>
              <a:ext cx="228600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Lessons: planned</a:t>
              </a:r>
            </a:p>
          </p:txBody>
        </p:sp>
        <p:cxnSp>
          <p:nvCxnSpPr>
            <p:cNvPr id="26" name="planned link"/>
            <p:cNvCxnSpPr/>
            <p:nvPr/>
          </p:nvCxnSpPr>
          <p:spPr>
            <a:xfrm>
              <a:off x="8833103" y="2468880"/>
              <a:ext cx="210313" cy="0"/>
            </a:xfrm>
            <a:prstGeom prst="line">
              <a:avLst/>
            </a:prstGeom>
            <a:ln w="38100">
              <a:solidFill>
                <a:srgbClr val="A9B0B8"/>
              </a:solidFill>
              <a:prstDash val="sysDash"/>
              <a:tailEnd type="triangle" w="med" len="med"/>
            </a:ln>
          </p:spPr>
        </p:cxnSp>
        <p:sp>
          <p:nvSpPr>
            <p:cNvPr id="27" name="planned step"/>
            <p:cNvSpPr/>
            <p:nvPr/>
          </p:nvSpPr>
          <p:spPr>
            <a:xfrm>
              <a:off x="9079992" y="1554480"/>
              <a:ext cx="2560320" cy="3108960"/>
            </a:xfrm>
            <a:prstGeom prst="roundRect">
              <a:avLst>
                <a:gd name="adj" fmla="val 3571"/>
              </a:avLst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lanned disc"/>
            <p:cNvSpPr/>
            <p:nvPr/>
          </p:nvSpPr>
          <p:spPr>
            <a:xfrm>
              <a:off x="9765792" y="1874519"/>
              <a:ext cx="1188720" cy="1188720"/>
            </a:xfrm>
            <a:prstGeom prst="ellipse">
              <a:avLst/>
            </a:prstGeom>
            <a:solidFill>
              <a:srgbClr val="343A43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menu tab"/>
            <p:cNvSpPr/>
            <p:nvPr/>
          </p:nvSpPr>
          <p:spPr>
            <a:xfrm>
              <a:off x="9976104" y="2148840"/>
              <a:ext cx="457200" cy="237744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menu tab"/>
            <p:cNvSpPr/>
            <p:nvPr/>
          </p:nvSpPr>
          <p:spPr>
            <a:xfrm>
              <a:off x="10469880" y="2148840"/>
              <a:ext cx="274320" cy="237744"/>
            </a:xfrm>
            <a:prstGeom prst="round2SameRect">
              <a:avLst>
                <a:gd name="adj1" fmla="val 22000"/>
                <a:gd name="adj2" fmla="val 0"/>
              </a:avLst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menu body"/>
            <p:cNvSpPr/>
            <p:nvPr/>
          </p:nvSpPr>
          <p:spPr>
            <a:xfrm>
              <a:off x="9976104" y="2386584"/>
              <a:ext cx="768096" cy="420624"/>
            </a:xfrm>
            <a:prstGeom prst="roundRect">
              <a:avLst>
                <a:gd name="adj" fmla="val 8695"/>
              </a:avLst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tep label"/>
            <p:cNvSpPr txBox="1"/>
            <p:nvPr/>
          </p:nvSpPr>
          <p:spPr>
            <a:xfrm>
              <a:off x="9217152" y="3383280"/>
              <a:ext cx="2286000" cy="109728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ctr"/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Build menu tab: planned</a:t>
              </a:r>
            </a:p>
          </p:txBody>
        </p:sp>
      </p:grpSp>
      <p:sp>
        <p:nvSpPr>
          <p:cNvPr id="33" name="ICHIP"/>
          <p:cNvSpPr/>
          <p:nvPr/>
        </p:nvSpPr>
        <p:spPr>
          <a:xfrm>
            <a:off x="548640" y="5029200"/>
            <a:ext cx="1862339" cy="310896"/>
          </a:xfrm>
          <a:prstGeom prst="roundRect">
            <a:avLst>
              <a:gd name="adj" fmla="val 35294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Plans can change.</a:t>
            </a:r>
          </a:p>
        </p:txBody>
      </p:sp>
      <p:sp>
        <p:nvSpPr>
          <p:cNvPr id="34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guide, lessons and menu are planned. They are not built yet.</a:t>
            </a:r>
          </a:p>
        </p:txBody>
      </p:sp>
      <p:sp>
        <p:nvSpPr>
          <p:cNvPr id="37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Still undecided</a:t>
            </a:r>
          </a:p>
        </p:txBody>
      </p:sp>
      <p:sp>
        <p:nvSpPr>
          <p:cNvPr id="3" name="CHIP"/>
          <p:cNvSpPr/>
          <p:nvPr/>
        </p:nvSpPr>
        <p:spPr>
          <a:xfrm>
            <a:off x="10088575" y="530352"/>
            <a:ext cx="1554480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54864" tIns="0" rIns="54864" bIns="0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Eight open questions" descr="A grid of eight cards, each with an Undecided tag and an open question: her name, her look, library layout, origin story, which lessons and when, milestone voice lines, how the surprise works, and build menu layout."/>
          <p:cNvGrpSpPr/>
          <p:nvPr/>
        </p:nvGrpSpPr>
        <p:grpSpPr>
          <a:xfrm>
            <a:off x="548640" y="1463040"/>
            <a:ext cx="11091672" cy="3931920"/>
            <a:chOff x="548640" y="1463040"/>
            <a:chExt cx="11091672" cy="3931920"/>
          </a:xfrm>
        </p:grpSpPr>
        <p:sp>
          <p:nvSpPr>
            <p:cNvPr id="5" name="question card"/>
            <p:cNvSpPr/>
            <p:nvPr/>
          </p:nvSpPr>
          <p:spPr>
            <a:xfrm>
              <a:off x="548640" y="146304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IP CARD"/>
            <p:cNvSpPr/>
            <p:nvPr/>
          </p:nvSpPr>
          <p:spPr>
            <a:xfrm>
              <a:off x="731520" y="1645920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7" name="question"/>
            <p:cNvSpPr txBox="1"/>
            <p:nvPr/>
          </p:nvSpPr>
          <p:spPr>
            <a:xfrm>
              <a:off x="731520" y="210312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Her name (OQ15)</a:t>
              </a:r>
            </a:p>
          </p:txBody>
        </p:sp>
        <p:sp>
          <p:nvSpPr>
            <p:cNvPr id="8" name="question card"/>
            <p:cNvSpPr/>
            <p:nvPr/>
          </p:nvSpPr>
          <p:spPr>
            <a:xfrm>
              <a:off x="3392424" y="146304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IP CARD"/>
            <p:cNvSpPr/>
            <p:nvPr/>
          </p:nvSpPr>
          <p:spPr>
            <a:xfrm>
              <a:off x="3575304" y="1645920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0" name="question"/>
            <p:cNvSpPr txBox="1"/>
            <p:nvPr/>
          </p:nvSpPr>
          <p:spPr>
            <a:xfrm>
              <a:off x="3575304" y="210312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Her look (OQ15)</a:t>
              </a:r>
            </a:p>
          </p:txBody>
        </p:sp>
        <p:sp>
          <p:nvSpPr>
            <p:cNvPr id="11" name="question card"/>
            <p:cNvSpPr/>
            <p:nvPr/>
          </p:nvSpPr>
          <p:spPr>
            <a:xfrm>
              <a:off x="6236207" y="146304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P CARD"/>
            <p:cNvSpPr/>
            <p:nvPr/>
          </p:nvSpPr>
          <p:spPr>
            <a:xfrm>
              <a:off x="6419088" y="1645920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3" name="question"/>
            <p:cNvSpPr txBox="1"/>
            <p:nvPr/>
          </p:nvSpPr>
          <p:spPr>
            <a:xfrm>
              <a:off x="6419088" y="210312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Library layout (OQ15)</a:t>
              </a:r>
            </a:p>
          </p:txBody>
        </p:sp>
        <p:sp>
          <p:nvSpPr>
            <p:cNvPr id="14" name="question card"/>
            <p:cNvSpPr/>
            <p:nvPr/>
          </p:nvSpPr>
          <p:spPr>
            <a:xfrm>
              <a:off x="9079992" y="146304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HIP CARD"/>
            <p:cNvSpPr/>
            <p:nvPr/>
          </p:nvSpPr>
          <p:spPr>
            <a:xfrm>
              <a:off x="9262872" y="1645920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6" name="question"/>
            <p:cNvSpPr txBox="1"/>
            <p:nvPr/>
          </p:nvSpPr>
          <p:spPr>
            <a:xfrm>
              <a:off x="9262872" y="210312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Origin story (OQ16)</a:t>
              </a:r>
            </a:p>
          </p:txBody>
        </p:sp>
        <p:sp>
          <p:nvSpPr>
            <p:cNvPr id="17" name="question card"/>
            <p:cNvSpPr/>
            <p:nvPr/>
          </p:nvSpPr>
          <p:spPr>
            <a:xfrm>
              <a:off x="548640" y="356616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CHIP CARD"/>
            <p:cNvSpPr/>
            <p:nvPr/>
          </p:nvSpPr>
          <p:spPr>
            <a:xfrm>
              <a:off x="731520" y="3749039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9" name="question"/>
            <p:cNvSpPr txBox="1"/>
            <p:nvPr/>
          </p:nvSpPr>
          <p:spPr>
            <a:xfrm>
              <a:off x="731520" y="420624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Which lessons, and when (OQ17)</a:t>
              </a:r>
            </a:p>
          </p:txBody>
        </p:sp>
        <p:sp>
          <p:nvSpPr>
            <p:cNvPr id="20" name="question card"/>
            <p:cNvSpPr/>
            <p:nvPr/>
          </p:nvSpPr>
          <p:spPr>
            <a:xfrm>
              <a:off x="3392424" y="356616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HIP CARD"/>
            <p:cNvSpPr/>
            <p:nvPr/>
          </p:nvSpPr>
          <p:spPr>
            <a:xfrm>
              <a:off x="3575304" y="3749039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2" name="question"/>
            <p:cNvSpPr txBox="1"/>
            <p:nvPr/>
          </p:nvSpPr>
          <p:spPr>
            <a:xfrm>
              <a:off x="3575304" y="420624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Milestone voice lines (OQ17)</a:t>
              </a:r>
            </a:p>
          </p:txBody>
        </p:sp>
        <p:sp>
          <p:nvSpPr>
            <p:cNvPr id="23" name="question card"/>
            <p:cNvSpPr/>
            <p:nvPr/>
          </p:nvSpPr>
          <p:spPr>
            <a:xfrm>
              <a:off x="6236207" y="356616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CHIP CARD"/>
            <p:cNvSpPr/>
            <p:nvPr/>
          </p:nvSpPr>
          <p:spPr>
            <a:xfrm>
              <a:off x="6419088" y="3749039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5" name="question"/>
            <p:cNvSpPr txBox="1"/>
            <p:nvPr/>
          </p:nvSpPr>
          <p:spPr>
            <a:xfrm>
              <a:off x="6419088" y="420624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How the surprise works (OQ18)</a:t>
              </a:r>
            </a:p>
          </p:txBody>
        </p:sp>
        <p:sp>
          <p:nvSpPr>
            <p:cNvPr id="26" name="question card"/>
            <p:cNvSpPr/>
            <p:nvPr/>
          </p:nvSpPr>
          <p:spPr>
            <a:xfrm>
              <a:off x="9079992" y="3566160"/>
              <a:ext cx="2560320" cy="1828800"/>
            </a:xfrm>
            <a:prstGeom prst="roundRect">
              <a:avLst>
                <a:gd name="adj" fmla="val 5000"/>
              </a:avLst>
            </a:prstGeom>
            <a:solidFill>
              <a:srgbClr val="2B2F36"/>
            </a:solidFill>
            <a:ln w="25400">
              <a:solidFill>
                <a:srgbClr val="A9B0B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HIP CARD"/>
            <p:cNvSpPr/>
            <p:nvPr/>
          </p:nvSpPr>
          <p:spPr>
            <a:xfrm>
              <a:off x="9262872" y="3749039"/>
              <a:ext cx="1417320" cy="310896"/>
            </a:xfrm>
            <a:prstGeom prst="roundRect">
              <a:avLst>
                <a:gd name="adj" fmla="val 35294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54864" tIns="0" rIns="54864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8" name="question"/>
            <p:cNvSpPr txBox="1"/>
            <p:nvPr/>
          </p:nvSpPr>
          <p:spPr>
            <a:xfrm>
              <a:off x="9262872" y="4206240"/>
              <a:ext cx="2194560" cy="1051560"/>
            </a:xfrm>
            <a:prstGeom prst="rect">
              <a:avLst/>
            </a:prstGeom>
            <a:noFill/>
          </p:spPr>
          <p:txBody>
            <a:bodyPr wrap="square" anchor="ctr" lIns="18288" tIns="9144" rIns="18288" bIns="9144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Build menu layout (OQ19)</a:t>
              </a:r>
            </a:p>
          </p:txBody>
        </p:sp>
      </p:grpSp>
      <p:sp>
        <p:nvSpPr>
          <p:cNvPr id="29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These questions are open. Nothing here has been chosen yet.</a:t>
            </a:r>
          </a:p>
        </p:txBody>
      </p:sp>
      <p:sp>
        <p:nvSpPr>
          <p:cNvPr id="32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365760"/>
            <a:ext cx="932688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 lang="en-GB">
                <a:solidFill>
                  <a:srgbClr val="F2F2F2"/>
                </a:solidFill>
                <a:latin typeface="Arial"/>
              </a:rPr>
              <a:t>Image credits</a:t>
            </a:r>
          </a:p>
        </p:txBody>
      </p:sp>
      <p:sp>
        <p:nvSpPr>
          <p:cNvPr id="3" name="second line panel"/>
          <p:cNvSpPr/>
          <p:nvPr/>
        </p:nvSpPr>
        <p:spPr>
          <a:xfrm>
            <a:off x="548640" y="2697480"/>
            <a:ext cx="11091672" cy="1554480"/>
          </a:xfrm>
          <a:prstGeom prst="roundRect">
            <a:avLst>
              <a:gd name="adj" fmla="val 4705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ECOND LINE"/>
          <p:cNvSpPr txBox="1"/>
          <p:nvPr/>
        </p:nvSpPr>
        <p:spPr>
          <a:xfrm>
            <a:off x="822960" y="2697480"/>
            <a:ext cx="10543032" cy="155448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ctr"/>
            <a:r>
              <a:rPr sz="2800" b="1" i="0" lang="en-GB">
                <a:solidFill>
                  <a:srgbClr val="F2F2F2"/>
                </a:solidFill>
                <a:latin typeface="Arial"/>
              </a:rPr>
              <a:t>All drawings are native shapes made for this deck.</a:t>
            </a:r>
          </a:p>
        </p:txBody>
      </p:sp>
      <p:sp>
        <p:nvSpPr>
          <p:cNvPr id="5" name="CAPTION BAR"/>
          <p:cNvSpPr/>
          <p:nvPr/>
        </p:nvSpPr>
        <p:spPr>
          <a:xfrm>
            <a:off x="548640" y="576072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2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PTION RULE"/>
          <p:cNvSpPr/>
          <p:nvPr/>
        </p:nvSpPr>
        <p:spPr>
          <a:xfrm>
            <a:off x="548640" y="5815583"/>
            <a:ext cx="73152" cy="6217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PTION"/>
          <p:cNvSpPr txBox="1"/>
          <p:nvPr/>
        </p:nvSpPr>
        <p:spPr>
          <a:xfrm>
            <a:off x="777240" y="5760720"/>
            <a:ext cx="10744200" cy="7315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This deck uses no photographs.</a:t>
            </a:r>
          </a:p>
        </p:txBody>
      </p:sp>
      <p:sp>
        <p:nvSpPr>
          <p:cNvPr id="8" name="NUM"/>
          <p:cNvSpPr txBox="1"/>
          <p:nvPr/>
        </p:nvSpPr>
        <p:spPr>
          <a:xfrm>
            <a:off x="10725912" y="6528816"/>
            <a:ext cx="914400" cy="274320"/>
          </a:xfrm>
          <a:prstGeom prst="rect">
            <a:avLst/>
          </a:prstGeom>
          <a:noFill/>
        </p:spPr>
        <p:txBody>
          <a:bodyPr wrap="square" anchor="ctr" lIns="18288" tIns="9144" rIns="18288" bIns="9144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Railway Guide: Lessons and the Build Menu, Explained</dc:title>
  <dc:subject>Read-alone explainer deck 6 for the Early Locomotion mod for Satisfactory</dc:subject>
  <dc:creator>Claude (Early Locomotion project)</dc:creator>
  <cp:keywords>Satisfactory; Early Locomotion; railway guide; lessons; build menu</cp:keywords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