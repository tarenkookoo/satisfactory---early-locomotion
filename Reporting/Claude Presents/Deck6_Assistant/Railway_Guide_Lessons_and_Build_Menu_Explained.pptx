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280160"/>
            <a:ext cx="6035040" cy="2011680"/>
          </a:xfrm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5400" b="1" i="0" lang="en-GB">
                <a:solidFill>
                  <a:srgbClr val="F2F2F2"/>
                </a:solidFill>
                <a:latin typeface="Arial"/>
              </a:rPr>
              <a:t>Your Railway Guide</a:t>
            </a:r>
          </a:p>
        </p:txBody>
      </p:sp>
      <p:sp>
        <p:nvSpPr>
          <p:cNvPr id="3" name="avatar panel"/>
          <p:cNvSpPr/>
          <p:nvPr/>
        </p:nvSpPr>
        <p:spPr>
          <a:xfrm>
            <a:off x="6903720" y="457200"/>
            <a:ext cx="4736592" cy="5852160"/>
          </a:xfrm>
          <a:prstGeom prst="roundRect">
            <a:avLst>
              <a:gd name="adj" fmla="val 1544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Placeholder avatar" descr="Placeholder avatar for the railway guide: a plain round head with no face, a headset and orange shoulders. Her look is undecided (OQ15)."/>
          <p:cNvGrpSpPr/>
          <p:nvPr/>
        </p:nvGrpSpPr>
        <p:grpSpPr>
          <a:xfrm>
            <a:off x="7717536" y="2331720"/>
            <a:ext cx="3108960" cy="3194456"/>
            <a:chOff x="7717536" y="2331720"/>
            <a:chExt cx="3108960" cy="3194456"/>
          </a:xfrm>
        </p:grpSpPr>
        <p:sp>
          <p:nvSpPr>
            <p:cNvPr id="5" name="shoulders"/>
            <p:cNvSpPr/>
            <p:nvPr/>
          </p:nvSpPr>
          <p:spPr>
            <a:xfrm>
              <a:off x="7717536" y="4049420"/>
              <a:ext cx="3108960" cy="147675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neck"/>
            <p:cNvSpPr/>
            <p:nvPr/>
          </p:nvSpPr>
          <p:spPr>
            <a:xfrm>
              <a:off x="8961120" y="3855110"/>
              <a:ext cx="621792" cy="621792"/>
            </a:xfrm>
            <a:prstGeom prst="rect">
              <a:avLst/>
            </a:prstGeom>
            <a:solidFill>
              <a:srgbClr val="B9BEC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ad"/>
            <p:cNvSpPr/>
            <p:nvPr/>
          </p:nvSpPr>
          <p:spPr>
            <a:xfrm>
              <a:off x="8494776" y="2533802"/>
              <a:ext cx="1554480" cy="1554480"/>
            </a:xfrm>
            <a:prstGeom prst="ellipse">
              <a:avLst/>
            </a:prstGeom>
            <a:solidFill>
              <a:srgbClr val="D5D9DE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adset band"/>
            <p:cNvSpPr/>
            <p:nvPr/>
          </p:nvSpPr>
          <p:spPr>
            <a:xfrm>
              <a:off x="8302224" y="2331720"/>
              <a:ext cx="1939583" cy="867776"/>
            </a:xfrm>
            <a:custGeom>
              <a:avLst/>
              <a:gdLst/>
              <a:ahLst/>
              <a:cxnLst/>
              <a:rect l="l" t="t" r="r" b="b"/>
              <a:pathLst>
                <a:path w="1939583" h="867776">
                  <a:moveTo>
                    <a:pt x="1939583" y="843027"/>
                  </a:moveTo>
                  <a:lnTo>
                    <a:pt x="1916478" y="728607"/>
                  </a:lnTo>
                  <a:lnTo>
                    <a:pt x="1879922" y="617750"/>
                  </a:lnTo>
                  <a:lnTo>
                    <a:pt x="1830437" y="512030"/>
                  </a:lnTo>
                  <a:lnTo>
                    <a:pt x="1768724" y="412948"/>
                  </a:lnTo>
                  <a:lnTo>
                    <a:pt x="1695661" y="321913"/>
                  </a:lnTo>
                  <a:lnTo>
                    <a:pt x="1612285" y="240218"/>
                  </a:lnTo>
                  <a:lnTo>
                    <a:pt x="1519781" y="169023"/>
                  </a:lnTo>
                  <a:lnTo>
                    <a:pt x="1419463" y="109341"/>
                  </a:lnTo>
                  <a:lnTo>
                    <a:pt x="1312757" y="62018"/>
                  </a:lnTo>
                  <a:lnTo>
                    <a:pt x="1201179" y="27727"/>
                  </a:lnTo>
                  <a:lnTo>
                    <a:pt x="1086313" y="6956"/>
                  </a:lnTo>
                  <a:lnTo>
                    <a:pt x="969792" y="0"/>
                  </a:lnTo>
                  <a:lnTo>
                    <a:pt x="853270" y="6956"/>
                  </a:lnTo>
                  <a:lnTo>
                    <a:pt x="738404" y="27727"/>
                  </a:lnTo>
                  <a:lnTo>
                    <a:pt x="626826" y="62018"/>
                  </a:lnTo>
                  <a:lnTo>
                    <a:pt x="520120" y="109341"/>
                  </a:lnTo>
                  <a:lnTo>
                    <a:pt x="419802" y="169023"/>
                  </a:lnTo>
                  <a:lnTo>
                    <a:pt x="327298" y="240218"/>
                  </a:lnTo>
                  <a:lnTo>
                    <a:pt x="243922" y="321913"/>
                  </a:lnTo>
                  <a:lnTo>
                    <a:pt x="170859" y="412948"/>
                  </a:lnTo>
                  <a:lnTo>
                    <a:pt x="109146" y="512030"/>
                  </a:lnTo>
                  <a:lnTo>
                    <a:pt x="59661" y="617750"/>
                  </a:lnTo>
                  <a:lnTo>
                    <a:pt x="23105" y="728607"/>
                  </a:lnTo>
                  <a:lnTo>
                    <a:pt x="0" y="843027"/>
                  </a:lnTo>
                  <a:lnTo>
                    <a:pt x="176102" y="867776"/>
                  </a:lnTo>
                  <a:lnTo>
                    <a:pt x="195012" y="774134"/>
                  </a:lnTo>
                  <a:lnTo>
                    <a:pt x="224929" y="683407"/>
                  </a:lnTo>
                  <a:lnTo>
                    <a:pt x="265428" y="596884"/>
                  </a:lnTo>
                  <a:lnTo>
                    <a:pt x="315935" y="515794"/>
                  </a:lnTo>
                  <a:lnTo>
                    <a:pt x="375731" y="441290"/>
                  </a:lnTo>
                  <a:lnTo>
                    <a:pt x="443967" y="374430"/>
                  </a:lnTo>
                  <a:lnTo>
                    <a:pt x="519673" y="316163"/>
                  </a:lnTo>
                  <a:lnTo>
                    <a:pt x="601774" y="267318"/>
                  </a:lnTo>
                  <a:lnTo>
                    <a:pt x="689104" y="228589"/>
                  </a:lnTo>
                  <a:lnTo>
                    <a:pt x="780421" y="200525"/>
                  </a:lnTo>
                  <a:lnTo>
                    <a:pt x="874429" y="183525"/>
                  </a:lnTo>
                  <a:lnTo>
                    <a:pt x="969792" y="177832"/>
                  </a:lnTo>
                  <a:lnTo>
                    <a:pt x="1065154" y="183525"/>
                  </a:lnTo>
                  <a:lnTo>
                    <a:pt x="1159162" y="200525"/>
                  </a:lnTo>
                  <a:lnTo>
                    <a:pt x="1250479" y="228589"/>
                  </a:lnTo>
                  <a:lnTo>
                    <a:pt x="1337809" y="267318"/>
                  </a:lnTo>
                  <a:lnTo>
                    <a:pt x="1419910" y="316163"/>
                  </a:lnTo>
                  <a:lnTo>
                    <a:pt x="1495616" y="374430"/>
                  </a:lnTo>
                  <a:lnTo>
                    <a:pt x="1563852" y="441290"/>
                  </a:lnTo>
                  <a:lnTo>
                    <a:pt x="1623648" y="515794"/>
                  </a:lnTo>
                  <a:lnTo>
                    <a:pt x="1674155" y="596884"/>
                  </a:lnTo>
                  <a:lnTo>
                    <a:pt x="1714654" y="683407"/>
                  </a:lnTo>
                  <a:lnTo>
                    <a:pt x="1744571" y="774134"/>
                  </a:lnTo>
                  <a:lnTo>
                    <a:pt x="1763481" y="867776"/>
                  </a:lnTo>
                  <a:close/>
                </a:path>
              </a:pathLst>
            </a:custGeom>
            <a:solidFill>
              <a:srgbClr val="3A3F47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ear cup"/>
            <p:cNvSpPr/>
            <p:nvPr/>
          </p:nvSpPr>
          <p:spPr>
            <a:xfrm>
              <a:off x="8243727" y="3093415"/>
              <a:ext cx="279806" cy="528523"/>
            </a:xfrm>
            <a:prstGeom prst="roundRect">
              <a:avLst>
                <a:gd name="adj" fmla="val 38888"/>
              </a:avLst>
            </a:prstGeom>
            <a:solidFill>
              <a:srgbClr val="3A3F47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ear cup"/>
            <p:cNvSpPr/>
            <p:nvPr/>
          </p:nvSpPr>
          <p:spPr>
            <a:xfrm>
              <a:off x="10020498" y="3093415"/>
              <a:ext cx="279806" cy="528523"/>
            </a:xfrm>
            <a:prstGeom prst="roundRect">
              <a:avLst>
                <a:gd name="adj" fmla="val 38888"/>
              </a:avLst>
            </a:prstGeom>
            <a:solidFill>
              <a:srgbClr val="3A3F47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mic boom"/>
            <p:cNvSpPr/>
            <p:nvPr/>
          </p:nvSpPr>
          <p:spPr>
            <a:xfrm>
              <a:off x="8393734" y="3590848"/>
              <a:ext cx="614020" cy="365541"/>
            </a:xfrm>
            <a:custGeom>
              <a:avLst/>
              <a:gdLst/>
              <a:ahLst/>
              <a:cxnLst/>
              <a:rect l="l" t="t" r="r" b="b"/>
              <a:pathLst>
                <a:path w="614020" h="365541">
                  <a:moveTo>
                    <a:pt x="0" y="0"/>
                  </a:moveTo>
                  <a:lnTo>
                    <a:pt x="783" y="32022"/>
                  </a:lnTo>
                  <a:lnTo>
                    <a:pt x="3133" y="62576"/>
                  </a:lnTo>
                  <a:lnTo>
                    <a:pt x="7049" y="91663"/>
                  </a:lnTo>
                  <a:lnTo>
                    <a:pt x="12531" y="119283"/>
                  </a:lnTo>
                  <a:lnTo>
                    <a:pt x="19580" y="145435"/>
                  </a:lnTo>
                  <a:lnTo>
                    <a:pt x="28195" y="170121"/>
                  </a:lnTo>
                  <a:lnTo>
                    <a:pt x="38377" y="193339"/>
                  </a:lnTo>
                  <a:lnTo>
                    <a:pt x="50124" y="215090"/>
                  </a:lnTo>
                  <a:lnTo>
                    <a:pt x="63439" y="235373"/>
                  </a:lnTo>
                  <a:lnTo>
                    <a:pt x="78319" y="254190"/>
                  </a:lnTo>
                  <a:lnTo>
                    <a:pt x="94766" y="271539"/>
                  </a:lnTo>
                  <a:lnTo>
                    <a:pt x="112779" y="287420"/>
                  </a:lnTo>
                  <a:lnTo>
                    <a:pt x="132359" y="301835"/>
                  </a:lnTo>
                  <a:lnTo>
                    <a:pt x="153505" y="314783"/>
                  </a:lnTo>
                  <a:lnTo>
                    <a:pt x="176218" y="326263"/>
                  </a:lnTo>
                  <a:lnTo>
                    <a:pt x="200496" y="336276"/>
                  </a:lnTo>
                  <a:lnTo>
                    <a:pt x="226342" y="344821"/>
                  </a:lnTo>
                  <a:lnTo>
                    <a:pt x="253753" y="351900"/>
                  </a:lnTo>
                  <a:lnTo>
                    <a:pt x="282731" y="357511"/>
                  </a:lnTo>
                  <a:lnTo>
                    <a:pt x="313276" y="361655"/>
                  </a:lnTo>
                  <a:lnTo>
                    <a:pt x="345386" y="364332"/>
                  </a:lnTo>
                  <a:lnTo>
                    <a:pt x="379063" y="365541"/>
                  </a:lnTo>
                  <a:lnTo>
                    <a:pt x="414307" y="365283"/>
                  </a:lnTo>
                  <a:lnTo>
                    <a:pt x="451117" y="363558"/>
                  </a:lnTo>
                  <a:lnTo>
                    <a:pt x="489493" y="360366"/>
                  </a:lnTo>
                  <a:lnTo>
                    <a:pt x="529436" y="355707"/>
                  </a:lnTo>
                  <a:lnTo>
                    <a:pt x="570945" y="349580"/>
                  </a:lnTo>
                  <a:lnTo>
                    <a:pt x="614020" y="341986"/>
                  </a:lnTo>
                </a:path>
              </a:pathLst>
            </a:custGeom>
            <a:noFill/>
            <a:ln w="69088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mic tip"/>
            <p:cNvSpPr/>
            <p:nvPr/>
          </p:nvSpPr>
          <p:spPr>
            <a:xfrm>
              <a:off x="8914485" y="3839565"/>
              <a:ext cx="186537" cy="18653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guide bubble body"/>
          <p:cNvSpPr/>
          <p:nvPr/>
        </p:nvSpPr>
        <p:spPr>
          <a:xfrm>
            <a:off x="7360920" y="868680"/>
            <a:ext cx="2011680" cy="914400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>
            <a:noAutofit/>
          </a:bodyPr>
          <a:lstStyle/>
          <a:p>
            <a:pPr algn="ctr"/>
            <a:r>
              <a:rPr sz="3600" b="1" i="0" lang="en-GB">
                <a:solidFill>
                  <a:srgbClr val="101418"/>
                </a:solidFill>
                <a:latin typeface="Arial"/>
              </a:rPr>
              <a:t>...</a:t>
            </a:r>
          </a:p>
        </p:txBody>
      </p:sp>
      <p:sp>
        <p:nvSpPr>
          <p:cNvPr id="14" name="guide bubble tail"/>
          <p:cNvSpPr/>
          <p:nvPr/>
        </p:nvSpPr>
        <p:spPr>
          <a:xfrm>
            <a:off x="8503920" y="1764792"/>
            <a:ext cx="365760" cy="402336"/>
          </a:xfrm>
          <a:custGeom>
            <a:avLst/>
            <a:gdLst/>
            <a:ahLst/>
            <a:cxnLst/>
            <a:rect l="l" t="t" r="r" b="b"/>
            <a:pathLst>
              <a:path w="365760" h="402336">
                <a:moveTo>
                  <a:pt x="0" y="0"/>
                </a:moveTo>
                <a:lnTo>
                  <a:pt x="365760" y="0"/>
                </a:lnTo>
                <a:lnTo>
                  <a:pt x="310896" y="402336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LACEHOLDER LABEL"/>
          <p:cNvSpPr txBox="1"/>
          <p:nvPr/>
        </p:nvSpPr>
        <p:spPr>
          <a:xfrm>
            <a:off x="7178040" y="5486400"/>
            <a:ext cx="4187952" cy="54864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ctr"/>
            <a:r>
              <a:rPr sz="1400" b="0" i="0" lang="en-GB">
                <a:solidFill>
                  <a:srgbClr val="A9B0B8"/>
                </a:solidFill>
                <a:latin typeface="Arial"/>
              </a:rPr>
              <a:t>Placeholder avatar. Her look is undecided (OQ15).</a:t>
            </a:r>
          </a:p>
        </p:txBody>
      </p:sp>
      <p:sp>
        <p:nvSpPr>
          <p:cNvPr id="16" name="orange rule"/>
          <p:cNvSpPr/>
          <p:nvPr/>
        </p:nvSpPr>
        <p:spPr>
          <a:xfrm>
            <a:off x="548640" y="3474720"/>
            <a:ext cx="164592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APTION"/>
          <p:cNvSpPr txBox="1"/>
          <p:nvPr/>
        </p:nvSpPr>
        <p:spPr>
          <a:xfrm>
            <a:off x="548640" y="3749039"/>
            <a:ext cx="5943600" cy="1371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Meet the mod's friendly guide, her lessons, and where rail parts could live in the build menu.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How to read this guide</a:t>
            </a:r>
          </a:p>
        </p:txBody>
      </p:sp>
      <p:grpSp>
        <p:nvGrpSpPr>
          <p:cNvPr id="3" name="Tag legend" descr="Legend: five tags and what each means. Agreed is decided, Proposed is suggested, Provisional is a test number, Undecided is an open question, Background is a real-world fact."/>
          <p:cNvGrpSpPr/>
          <p:nvPr/>
        </p:nvGrpSpPr>
        <p:grpSpPr>
          <a:xfrm>
            <a:off x="548640" y="1371600"/>
            <a:ext cx="7315200" cy="4206240"/>
            <a:chOff x="548640" y="1371600"/>
            <a:chExt cx="7315200" cy="4206240"/>
          </a:xfrm>
        </p:grpSpPr>
        <p:sp>
          <p:nvSpPr>
            <p:cNvPr id="4" name="legend panel"/>
            <p:cNvSpPr/>
            <p:nvPr/>
          </p:nvSpPr>
          <p:spPr>
            <a:xfrm>
              <a:off x="548640" y="1371600"/>
              <a:ext cx="7315200" cy="4206240"/>
            </a:xfrm>
            <a:prstGeom prst="roundRect">
              <a:avLst>
                <a:gd name="adj" fmla="val 173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HIP LEGEND"/>
            <p:cNvSpPr/>
            <p:nvPr/>
          </p:nvSpPr>
          <p:spPr>
            <a:xfrm>
              <a:off x="868680" y="1572768"/>
              <a:ext cx="1554480" cy="365760"/>
            </a:xfrm>
            <a:prstGeom prst="roundRect">
              <a:avLst>
                <a:gd name="adj" fmla="val 30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AGREED</a:t>
              </a:r>
            </a:p>
          </p:txBody>
        </p:sp>
        <p:sp>
          <p:nvSpPr>
            <p:cNvPr id="6" name="LEGEND TEXT"/>
            <p:cNvSpPr txBox="1"/>
            <p:nvPr/>
          </p:nvSpPr>
          <p:spPr>
            <a:xfrm>
              <a:off x="2743200" y="1481328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Decided.</a:t>
              </a:r>
            </a:p>
          </p:txBody>
        </p:sp>
        <p:sp>
          <p:nvSpPr>
            <p:cNvPr id="7" name="CHIP LEGEND"/>
            <p:cNvSpPr/>
            <p:nvPr/>
          </p:nvSpPr>
          <p:spPr>
            <a:xfrm>
              <a:off x="868680" y="2359152"/>
              <a:ext cx="1554480" cy="365760"/>
            </a:xfrm>
            <a:prstGeom prst="roundRect">
              <a:avLst>
                <a:gd name="adj" fmla="val 30000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  <p:sp>
          <p:nvSpPr>
            <p:cNvPr id="8" name="LEGEND TEXT"/>
            <p:cNvSpPr txBox="1"/>
            <p:nvPr/>
          </p:nvSpPr>
          <p:spPr>
            <a:xfrm>
              <a:off x="2743200" y="2267712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Suggested, not confirmed.</a:t>
              </a:r>
            </a:p>
          </p:txBody>
        </p:sp>
        <p:sp>
          <p:nvSpPr>
            <p:cNvPr id="9" name="CHIP LEGEND"/>
            <p:cNvSpPr/>
            <p:nvPr/>
          </p:nvSpPr>
          <p:spPr>
            <a:xfrm>
              <a:off x="868680" y="3145536"/>
              <a:ext cx="1554480" cy="365760"/>
            </a:xfrm>
            <a:prstGeom prst="roundRect">
              <a:avLst>
                <a:gd name="adj" fmla="val 30000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PROVISIONAL</a:t>
              </a:r>
            </a:p>
          </p:txBody>
        </p:sp>
        <p:sp>
          <p:nvSpPr>
            <p:cNvPr id="10" name="LEGEND TEXT"/>
            <p:cNvSpPr txBox="1"/>
            <p:nvPr/>
          </p:nvSpPr>
          <p:spPr>
            <a:xfrm>
              <a:off x="2743200" y="3054096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test number that may change.</a:t>
              </a:r>
            </a:p>
          </p:txBody>
        </p:sp>
        <p:sp>
          <p:nvSpPr>
            <p:cNvPr id="11" name="CHIP LEGEND"/>
            <p:cNvSpPr/>
            <p:nvPr/>
          </p:nvSpPr>
          <p:spPr>
            <a:xfrm>
              <a:off x="868680" y="3931920"/>
              <a:ext cx="1554480" cy="365760"/>
            </a:xfrm>
            <a:prstGeom prst="roundRect">
              <a:avLst>
                <a:gd name="adj" fmla="val 3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2" name="LEGEND TEXT"/>
            <p:cNvSpPr txBox="1"/>
            <p:nvPr/>
          </p:nvSpPr>
          <p:spPr>
            <a:xfrm>
              <a:off x="2743200" y="3840480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Still an open question.</a:t>
              </a:r>
            </a:p>
          </p:txBody>
        </p:sp>
        <p:sp>
          <p:nvSpPr>
            <p:cNvPr id="13" name="CHIP LEGEND"/>
            <p:cNvSpPr/>
            <p:nvPr/>
          </p:nvSpPr>
          <p:spPr>
            <a:xfrm>
              <a:off x="868680" y="4718304"/>
              <a:ext cx="1554480" cy="365760"/>
            </a:xfrm>
            <a:prstGeom prst="roundRect">
              <a:avLst>
                <a:gd name="adj" fmla="val 30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BACKGROUND</a:t>
              </a:r>
            </a:p>
          </p:txBody>
        </p:sp>
        <p:sp>
          <p:nvSpPr>
            <p:cNvPr id="14" name="LEGEND TEXT"/>
            <p:cNvSpPr txBox="1"/>
            <p:nvPr/>
          </p:nvSpPr>
          <p:spPr>
            <a:xfrm>
              <a:off x="2743200" y="4626864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real-world fact.</a:t>
              </a:r>
            </a:p>
          </p:txBody>
        </p:sp>
      </p:grpSp>
      <p:grpSp>
        <p:nvGrpSpPr>
          <p:cNvPr id="15" name="Corner sketch" descr="Sketch of a slide with a tag in its top-right corner."/>
          <p:cNvGrpSpPr/>
          <p:nvPr/>
        </p:nvGrpSpPr>
        <p:grpSpPr>
          <a:xfrm>
            <a:off x="8412480" y="1737360"/>
            <a:ext cx="3200400" cy="1801368"/>
            <a:chOff x="8412480" y="1737360"/>
            <a:chExt cx="3200400" cy="1801368"/>
          </a:xfrm>
        </p:grpSpPr>
        <p:sp>
          <p:nvSpPr>
            <p:cNvPr id="16" name="slide sketch"/>
            <p:cNvSpPr/>
            <p:nvPr/>
          </p:nvSpPr>
          <p:spPr>
            <a:xfrm>
              <a:off x="8412480" y="1737360"/>
              <a:ext cx="3200400" cy="1801368"/>
            </a:xfrm>
            <a:prstGeom prst="roundRect">
              <a:avLst>
                <a:gd name="adj" fmla="val 4060"/>
              </a:avLst>
            </a:prstGeom>
            <a:solidFill>
              <a:srgbClr val="1E2126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itle line"/>
            <p:cNvSpPr/>
            <p:nvPr/>
          </p:nvSpPr>
          <p:spPr>
            <a:xfrm>
              <a:off x="8641080" y="1965960"/>
              <a:ext cx="1371600" cy="109728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ody line"/>
            <p:cNvSpPr/>
            <p:nvPr/>
          </p:nvSpPr>
          <p:spPr>
            <a:xfrm>
              <a:off x="8641080" y="2286000"/>
              <a:ext cx="2011680" cy="73152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ody line"/>
            <p:cNvSpPr/>
            <p:nvPr/>
          </p:nvSpPr>
          <p:spPr>
            <a:xfrm>
              <a:off x="8641080" y="2468880"/>
              <a:ext cx="1645920" cy="73152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ag sketch"/>
            <p:cNvSpPr/>
            <p:nvPr/>
          </p:nvSpPr>
          <p:spPr>
            <a:xfrm>
              <a:off x="10698480" y="1920240"/>
              <a:ext cx="731520" cy="237744"/>
            </a:xfrm>
            <a:prstGeom prst="roundRect">
              <a:avLst>
                <a:gd name="adj" fmla="val 30769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pointer"/>
            <p:cNvCxnSpPr/>
            <p:nvPr/>
          </p:nvCxnSpPr>
          <p:spPr>
            <a:xfrm flipV="1">
              <a:off x="10058400" y="2194560"/>
              <a:ext cx="822960" cy="548640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</p:grpSp>
      <p:sp>
        <p:nvSpPr>
          <p:cNvPr id="2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Every idea carries a tag in the top-right corner.</a:t>
            </a:r>
          </a:p>
        </p:txBody>
      </p:sp>
      <p:sp>
        <p:nvSpPr>
          <p:cNvPr id="25" name="NUM"/>
          <p:cNvSpPr txBox="1"/>
          <p:nvPr/>
        </p:nvSpPr>
        <p:spPr>
          <a:xfrm>
            <a:off x="10725912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Meet the guide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sp>
        <p:nvSpPr>
          <p:cNvPr id="4" name="avatar panel"/>
          <p:cNvSpPr/>
          <p:nvPr/>
        </p:nvSpPr>
        <p:spPr>
          <a:xfrm>
            <a:off x="548640" y="137160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Placeholder avatar" descr="Placeholder avatar for the railway guide: a plain round head with no face, a headset and orange shoulders. Her look is undecided (OQ15)."/>
          <p:cNvGrpSpPr/>
          <p:nvPr/>
        </p:nvGrpSpPr>
        <p:grpSpPr>
          <a:xfrm>
            <a:off x="1188720" y="1572768"/>
            <a:ext cx="3108960" cy="3194456"/>
            <a:chOff x="1188720" y="1572768"/>
            <a:chExt cx="3108960" cy="3194456"/>
          </a:xfrm>
        </p:grpSpPr>
        <p:sp>
          <p:nvSpPr>
            <p:cNvPr id="6" name="shoulders"/>
            <p:cNvSpPr/>
            <p:nvPr/>
          </p:nvSpPr>
          <p:spPr>
            <a:xfrm>
              <a:off x="1188720" y="3290468"/>
              <a:ext cx="3108960" cy="147675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neck"/>
            <p:cNvSpPr/>
            <p:nvPr/>
          </p:nvSpPr>
          <p:spPr>
            <a:xfrm>
              <a:off x="2432304" y="3096158"/>
              <a:ext cx="621792" cy="621792"/>
            </a:xfrm>
            <a:prstGeom prst="rect">
              <a:avLst/>
            </a:prstGeom>
            <a:solidFill>
              <a:srgbClr val="B9BEC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ad"/>
            <p:cNvSpPr/>
            <p:nvPr/>
          </p:nvSpPr>
          <p:spPr>
            <a:xfrm>
              <a:off x="1965960" y="1774850"/>
              <a:ext cx="1554480" cy="1554480"/>
            </a:xfrm>
            <a:prstGeom prst="ellipse">
              <a:avLst/>
            </a:prstGeom>
            <a:solidFill>
              <a:srgbClr val="D5D9DE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adset band"/>
            <p:cNvSpPr/>
            <p:nvPr/>
          </p:nvSpPr>
          <p:spPr>
            <a:xfrm>
              <a:off x="1773408" y="1572768"/>
              <a:ext cx="1939583" cy="867776"/>
            </a:xfrm>
            <a:custGeom>
              <a:avLst/>
              <a:gdLst/>
              <a:ahLst/>
              <a:cxnLst/>
              <a:rect l="l" t="t" r="r" b="b"/>
              <a:pathLst>
                <a:path w="1939583" h="867776">
                  <a:moveTo>
                    <a:pt x="1939583" y="843027"/>
                  </a:moveTo>
                  <a:lnTo>
                    <a:pt x="1916478" y="728607"/>
                  </a:lnTo>
                  <a:lnTo>
                    <a:pt x="1879922" y="617750"/>
                  </a:lnTo>
                  <a:lnTo>
                    <a:pt x="1830437" y="512030"/>
                  </a:lnTo>
                  <a:lnTo>
                    <a:pt x="1768724" y="412948"/>
                  </a:lnTo>
                  <a:lnTo>
                    <a:pt x="1695661" y="321913"/>
                  </a:lnTo>
                  <a:lnTo>
                    <a:pt x="1612285" y="240218"/>
                  </a:lnTo>
                  <a:lnTo>
                    <a:pt x="1519781" y="169023"/>
                  </a:lnTo>
                  <a:lnTo>
                    <a:pt x="1419463" y="109341"/>
                  </a:lnTo>
                  <a:lnTo>
                    <a:pt x="1312757" y="62018"/>
                  </a:lnTo>
                  <a:lnTo>
                    <a:pt x="1201179" y="27727"/>
                  </a:lnTo>
                  <a:lnTo>
                    <a:pt x="1086313" y="6956"/>
                  </a:lnTo>
                  <a:lnTo>
                    <a:pt x="969792" y="0"/>
                  </a:lnTo>
                  <a:lnTo>
                    <a:pt x="853270" y="6956"/>
                  </a:lnTo>
                  <a:lnTo>
                    <a:pt x="738404" y="27727"/>
                  </a:lnTo>
                  <a:lnTo>
                    <a:pt x="626826" y="62018"/>
                  </a:lnTo>
                  <a:lnTo>
                    <a:pt x="520120" y="109341"/>
                  </a:lnTo>
                  <a:lnTo>
                    <a:pt x="419802" y="169023"/>
                  </a:lnTo>
                  <a:lnTo>
                    <a:pt x="327298" y="240218"/>
                  </a:lnTo>
                  <a:lnTo>
                    <a:pt x="243922" y="321913"/>
                  </a:lnTo>
                  <a:lnTo>
                    <a:pt x="170859" y="412948"/>
                  </a:lnTo>
                  <a:lnTo>
                    <a:pt x="109146" y="512030"/>
                  </a:lnTo>
                  <a:lnTo>
                    <a:pt x="59661" y="617750"/>
                  </a:lnTo>
                  <a:lnTo>
                    <a:pt x="23105" y="728607"/>
                  </a:lnTo>
                  <a:lnTo>
                    <a:pt x="0" y="843027"/>
                  </a:lnTo>
                  <a:lnTo>
                    <a:pt x="176102" y="867776"/>
                  </a:lnTo>
                  <a:lnTo>
                    <a:pt x="195012" y="774134"/>
                  </a:lnTo>
                  <a:lnTo>
                    <a:pt x="224929" y="683407"/>
                  </a:lnTo>
                  <a:lnTo>
                    <a:pt x="265428" y="596884"/>
                  </a:lnTo>
                  <a:lnTo>
                    <a:pt x="315935" y="515794"/>
                  </a:lnTo>
                  <a:lnTo>
                    <a:pt x="375731" y="441290"/>
                  </a:lnTo>
                  <a:lnTo>
                    <a:pt x="443967" y="374430"/>
                  </a:lnTo>
                  <a:lnTo>
                    <a:pt x="519673" y="316163"/>
                  </a:lnTo>
                  <a:lnTo>
                    <a:pt x="601774" y="267318"/>
                  </a:lnTo>
                  <a:lnTo>
                    <a:pt x="689104" y="228589"/>
                  </a:lnTo>
                  <a:lnTo>
                    <a:pt x="780421" y="200525"/>
                  </a:lnTo>
                  <a:lnTo>
                    <a:pt x="874429" y="183525"/>
                  </a:lnTo>
                  <a:lnTo>
                    <a:pt x="969792" y="177832"/>
                  </a:lnTo>
                  <a:lnTo>
                    <a:pt x="1065154" y="183525"/>
                  </a:lnTo>
                  <a:lnTo>
                    <a:pt x="1159162" y="200525"/>
                  </a:lnTo>
                  <a:lnTo>
                    <a:pt x="1250479" y="228589"/>
                  </a:lnTo>
                  <a:lnTo>
                    <a:pt x="1337809" y="267318"/>
                  </a:lnTo>
                  <a:lnTo>
                    <a:pt x="1419910" y="316163"/>
                  </a:lnTo>
                  <a:lnTo>
                    <a:pt x="1495616" y="374430"/>
                  </a:lnTo>
                  <a:lnTo>
                    <a:pt x="1563852" y="441290"/>
                  </a:lnTo>
                  <a:lnTo>
                    <a:pt x="1623648" y="515794"/>
                  </a:lnTo>
                  <a:lnTo>
                    <a:pt x="1674155" y="596884"/>
                  </a:lnTo>
                  <a:lnTo>
                    <a:pt x="1714654" y="683407"/>
                  </a:lnTo>
                  <a:lnTo>
                    <a:pt x="1744571" y="774134"/>
                  </a:lnTo>
                  <a:lnTo>
                    <a:pt x="1763481" y="867776"/>
                  </a:lnTo>
                  <a:close/>
                </a:path>
              </a:pathLst>
            </a:custGeom>
            <a:solidFill>
              <a:srgbClr val="3A3F47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ear cup"/>
            <p:cNvSpPr/>
            <p:nvPr/>
          </p:nvSpPr>
          <p:spPr>
            <a:xfrm>
              <a:off x="1714911" y="2334463"/>
              <a:ext cx="279806" cy="528523"/>
            </a:xfrm>
            <a:prstGeom prst="roundRect">
              <a:avLst>
                <a:gd name="adj" fmla="val 38888"/>
              </a:avLst>
            </a:prstGeom>
            <a:solidFill>
              <a:srgbClr val="3A3F47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ear cup"/>
            <p:cNvSpPr/>
            <p:nvPr/>
          </p:nvSpPr>
          <p:spPr>
            <a:xfrm>
              <a:off x="3491682" y="2334463"/>
              <a:ext cx="279806" cy="528523"/>
            </a:xfrm>
            <a:prstGeom prst="roundRect">
              <a:avLst>
                <a:gd name="adj" fmla="val 38888"/>
              </a:avLst>
            </a:prstGeom>
            <a:solidFill>
              <a:srgbClr val="3A3F47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mic boom"/>
            <p:cNvSpPr/>
            <p:nvPr/>
          </p:nvSpPr>
          <p:spPr>
            <a:xfrm>
              <a:off x="1864918" y="2831896"/>
              <a:ext cx="614020" cy="365541"/>
            </a:xfrm>
            <a:custGeom>
              <a:avLst/>
              <a:gdLst/>
              <a:ahLst/>
              <a:cxnLst/>
              <a:rect l="l" t="t" r="r" b="b"/>
              <a:pathLst>
                <a:path w="614020" h="365541">
                  <a:moveTo>
                    <a:pt x="0" y="0"/>
                  </a:moveTo>
                  <a:lnTo>
                    <a:pt x="783" y="32022"/>
                  </a:lnTo>
                  <a:lnTo>
                    <a:pt x="3133" y="62576"/>
                  </a:lnTo>
                  <a:lnTo>
                    <a:pt x="7049" y="91663"/>
                  </a:lnTo>
                  <a:lnTo>
                    <a:pt x="12531" y="119283"/>
                  </a:lnTo>
                  <a:lnTo>
                    <a:pt x="19580" y="145435"/>
                  </a:lnTo>
                  <a:lnTo>
                    <a:pt x="28195" y="170121"/>
                  </a:lnTo>
                  <a:lnTo>
                    <a:pt x="38377" y="193339"/>
                  </a:lnTo>
                  <a:lnTo>
                    <a:pt x="50124" y="215090"/>
                  </a:lnTo>
                  <a:lnTo>
                    <a:pt x="63439" y="235373"/>
                  </a:lnTo>
                  <a:lnTo>
                    <a:pt x="78319" y="254190"/>
                  </a:lnTo>
                  <a:lnTo>
                    <a:pt x="94766" y="271539"/>
                  </a:lnTo>
                  <a:lnTo>
                    <a:pt x="112779" y="287420"/>
                  </a:lnTo>
                  <a:lnTo>
                    <a:pt x="132359" y="301835"/>
                  </a:lnTo>
                  <a:lnTo>
                    <a:pt x="153505" y="314783"/>
                  </a:lnTo>
                  <a:lnTo>
                    <a:pt x="176218" y="326263"/>
                  </a:lnTo>
                  <a:lnTo>
                    <a:pt x="200496" y="336276"/>
                  </a:lnTo>
                  <a:lnTo>
                    <a:pt x="226342" y="344821"/>
                  </a:lnTo>
                  <a:lnTo>
                    <a:pt x="253753" y="351900"/>
                  </a:lnTo>
                  <a:lnTo>
                    <a:pt x="282731" y="357511"/>
                  </a:lnTo>
                  <a:lnTo>
                    <a:pt x="313276" y="361655"/>
                  </a:lnTo>
                  <a:lnTo>
                    <a:pt x="345386" y="364332"/>
                  </a:lnTo>
                  <a:lnTo>
                    <a:pt x="379063" y="365541"/>
                  </a:lnTo>
                  <a:lnTo>
                    <a:pt x="414307" y="365283"/>
                  </a:lnTo>
                  <a:lnTo>
                    <a:pt x="451117" y="363558"/>
                  </a:lnTo>
                  <a:lnTo>
                    <a:pt x="489493" y="360366"/>
                  </a:lnTo>
                  <a:lnTo>
                    <a:pt x="529436" y="355707"/>
                  </a:lnTo>
                  <a:lnTo>
                    <a:pt x="570945" y="349580"/>
                  </a:lnTo>
                  <a:lnTo>
                    <a:pt x="614020" y="341986"/>
                  </a:lnTo>
                </a:path>
              </a:pathLst>
            </a:custGeom>
            <a:noFill/>
            <a:ln w="69088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mic tip"/>
            <p:cNvSpPr/>
            <p:nvPr/>
          </p:nvSpPr>
          <p:spPr>
            <a:xfrm>
              <a:off x="2385669" y="3080613"/>
              <a:ext cx="186537" cy="18653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PLACEHOLDER LABEL"/>
          <p:cNvSpPr txBox="1"/>
          <p:nvPr/>
        </p:nvSpPr>
        <p:spPr>
          <a:xfrm>
            <a:off x="777240" y="4919472"/>
            <a:ext cx="3931920" cy="54864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ctr"/>
            <a:r>
              <a:rPr sz="1400" b="0" i="0" lang="en-GB">
                <a:solidFill>
                  <a:srgbClr val="A9B0B8"/>
                </a:solidFill>
                <a:latin typeface="Arial"/>
              </a:rPr>
              <a:t>Placeholder avatar. Her look is undecided (OQ15).</a:t>
            </a:r>
          </a:p>
        </p:txBody>
      </p:sp>
      <p:grpSp>
        <p:nvGrpSpPr>
          <p:cNvPr id="15" name="Trait tags" descr="Four small trait tags for the guide: Warm, Bubbly, Expressive, Good teacher."/>
          <p:cNvGrpSpPr/>
          <p:nvPr/>
        </p:nvGrpSpPr>
        <p:grpSpPr>
          <a:xfrm>
            <a:off x="5394960" y="1463040"/>
            <a:ext cx="4289027" cy="1389888"/>
            <a:chOff x="5394960" y="1463040"/>
            <a:chExt cx="4289027" cy="1389888"/>
          </a:xfrm>
        </p:grpSpPr>
        <p:sp>
          <p:nvSpPr>
            <p:cNvPr id="16" name="trait tag"/>
            <p:cNvSpPr/>
            <p:nvPr/>
          </p:nvSpPr>
          <p:spPr>
            <a:xfrm>
              <a:off x="5394960" y="1463040"/>
              <a:ext cx="1244897" cy="566928"/>
            </a:xfrm>
            <a:prstGeom prst="roundRect">
              <a:avLst>
                <a:gd name="adj" fmla="val 50000"/>
              </a:avLst>
            </a:prstGeom>
            <a:solidFill>
              <a:srgbClr val="2B2F36"/>
            </a:solidFill>
            <a:ln w="31750">
              <a:solidFill>
                <a:srgbClr val="F28C28"/>
              </a:solidFill>
            </a:ln>
          </p:spPr>
          <p:txBody>
            <a:bodyPr rtlCol="0" anchor="ctr" wrap="square" lIns="45720" tIns="0" rIns="45720" bIns="0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Warm</a:t>
              </a:r>
            </a:p>
          </p:txBody>
        </p:sp>
        <p:sp>
          <p:nvSpPr>
            <p:cNvPr id="17" name="trait tag"/>
            <p:cNvSpPr/>
            <p:nvPr/>
          </p:nvSpPr>
          <p:spPr>
            <a:xfrm>
              <a:off x="6949440" y="1463040"/>
              <a:ext cx="1409382" cy="566928"/>
            </a:xfrm>
            <a:prstGeom prst="roundRect">
              <a:avLst>
                <a:gd name="adj" fmla="val 50000"/>
              </a:avLst>
            </a:prstGeom>
            <a:solidFill>
              <a:srgbClr val="2B2F36"/>
            </a:solidFill>
            <a:ln w="31750">
              <a:solidFill>
                <a:srgbClr val="F28C28"/>
              </a:solidFill>
            </a:ln>
          </p:spPr>
          <p:txBody>
            <a:bodyPr rtlCol="0" anchor="ctr" wrap="square" lIns="45720" tIns="0" rIns="45720" bIns="0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Bubbly</a:t>
              </a:r>
            </a:p>
          </p:txBody>
        </p:sp>
        <p:sp>
          <p:nvSpPr>
            <p:cNvPr id="18" name="trait tag"/>
            <p:cNvSpPr/>
            <p:nvPr/>
          </p:nvSpPr>
          <p:spPr>
            <a:xfrm>
              <a:off x="5394960" y="2286000"/>
              <a:ext cx="1890236" cy="566928"/>
            </a:xfrm>
            <a:prstGeom prst="roundRect">
              <a:avLst>
                <a:gd name="adj" fmla="val 50000"/>
              </a:avLst>
            </a:prstGeom>
            <a:solidFill>
              <a:srgbClr val="2B2F36"/>
            </a:solidFill>
            <a:ln w="31750">
              <a:solidFill>
                <a:srgbClr val="F28C28"/>
              </a:solidFill>
            </a:ln>
          </p:spPr>
          <p:txBody>
            <a:bodyPr rtlCol="0" anchor="ctr" wrap="square" lIns="45720" tIns="0" rIns="45720" bIns="0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Expressive</a:t>
              </a:r>
            </a:p>
          </p:txBody>
        </p:sp>
        <p:sp>
          <p:nvSpPr>
            <p:cNvPr id="19" name="trait tag"/>
            <p:cNvSpPr/>
            <p:nvPr/>
          </p:nvSpPr>
          <p:spPr>
            <a:xfrm>
              <a:off x="7498079" y="2286000"/>
              <a:ext cx="2185908" cy="566928"/>
            </a:xfrm>
            <a:prstGeom prst="roundRect">
              <a:avLst>
                <a:gd name="adj" fmla="val 50000"/>
              </a:avLst>
            </a:prstGeom>
            <a:solidFill>
              <a:srgbClr val="2B2F36"/>
            </a:solidFill>
            <a:ln w="31750">
              <a:solidFill>
                <a:srgbClr val="F28C28"/>
              </a:solidFill>
            </a:ln>
          </p:spPr>
          <p:txBody>
            <a:bodyPr rtlCol="0" anchor="ctr" wrap="square" lIns="45720" tIns="0" rIns="45720" bIns="0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Good teacher</a:t>
              </a:r>
            </a:p>
          </p:txBody>
        </p:sp>
      </p:grpSp>
      <p:grpSp>
        <p:nvGrpSpPr>
          <p:cNvPr id="20" name="Voice note" descr="A note with a microphone icon: voiced by the project's creator."/>
          <p:cNvGrpSpPr/>
          <p:nvPr/>
        </p:nvGrpSpPr>
        <p:grpSpPr>
          <a:xfrm>
            <a:off x="5394960" y="3200400"/>
            <a:ext cx="6245352" cy="1005840"/>
            <a:chOff x="5394960" y="3200400"/>
            <a:chExt cx="6245352" cy="1005840"/>
          </a:xfrm>
        </p:grpSpPr>
        <p:sp>
          <p:nvSpPr>
            <p:cNvPr id="21" name="note card"/>
            <p:cNvSpPr/>
            <p:nvPr/>
          </p:nvSpPr>
          <p:spPr>
            <a:xfrm>
              <a:off x="5394960" y="3200400"/>
              <a:ext cx="6245352" cy="1005840"/>
            </a:xfrm>
            <a:prstGeom prst="roundRect">
              <a:avLst>
                <a:gd name="adj" fmla="val 727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mic head"/>
            <p:cNvSpPr/>
            <p:nvPr/>
          </p:nvSpPr>
          <p:spPr>
            <a:xfrm>
              <a:off x="5864961" y="3268980"/>
              <a:ext cx="248716" cy="466344"/>
            </a:xfrm>
            <a:prstGeom prst="roundRect">
              <a:avLst>
                <a:gd name="adj" fmla="val 50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mic cradle"/>
            <p:cNvSpPr/>
            <p:nvPr/>
          </p:nvSpPr>
          <p:spPr>
            <a:xfrm>
              <a:off x="5748375" y="3626510"/>
              <a:ext cx="481889" cy="240944"/>
            </a:xfrm>
            <a:custGeom>
              <a:avLst/>
              <a:gdLst/>
              <a:ahLst/>
              <a:cxnLst/>
              <a:rect l="l" t="t" r="r" b="b"/>
              <a:pathLst>
                <a:path w="481889" h="240944">
                  <a:moveTo>
                    <a:pt x="0" y="0"/>
                  </a:moveTo>
                  <a:lnTo>
                    <a:pt x="2061" y="31449"/>
                  </a:lnTo>
                  <a:lnTo>
                    <a:pt x="8210" y="62361"/>
                  </a:lnTo>
                  <a:lnTo>
                    <a:pt x="18341" y="92205"/>
                  </a:lnTo>
                  <a:lnTo>
                    <a:pt x="32281" y="120472"/>
                  </a:lnTo>
                  <a:lnTo>
                    <a:pt x="49790" y="146678"/>
                  </a:lnTo>
                  <a:lnTo>
                    <a:pt x="70571" y="170373"/>
                  </a:lnTo>
                  <a:lnTo>
                    <a:pt x="94267" y="191154"/>
                  </a:lnTo>
                  <a:lnTo>
                    <a:pt x="120472" y="208664"/>
                  </a:lnTo>
                  <a:lnTo>
                    <a:pt x="148739" y="222603"/>
                  </a:lnTo>
                  <a:lnTo>
                    <a:pt x="178584" y="232734"/>
                  </a:lnTo>
                  <a:lnTo>
                    <a:pt x="209495" y="238883"/>
                  </a:lnTo>
                  <a:lnTo>
                    <a:pt x="240945" y="240944"/>
                  </a:lnTo>
                  <a:lnTo>
                    <a:pt x="272394" y="238883"/>
                  </a:lnTo>
                  <a:lnTo>
                    <a:pt x="303305" y="232734"/>
                  </a:lnTo>
                  <a:lnTo>
                    <a:pt x="333150" y="222603"/>
                  </a:lnTo>
                  <a:lnTo>
                    <a:pt x="361417" y="208664"/>
                  </a:lnTo>
                  <a:lnTo>
                    <a:pt x="387622" y="191154"/>
                  </a:lnTo>
                  <a:lnTo>
                    <a:pt x="411318" y="170373"/>
                  </a:lnTo>
                  <a:lnTo>
                    <a:pt x="432099" y="146678"/>
                  </a:lnTo>
                  <a:lnTo>
                    <a:pt x="449608" y="120472"/>
                  </a:lnTo>
                  <a:lnTo>
                    <a:pt x="463548" y="92205"/>
                  </a:lnTo>
                  <a:lnTo>
                    <a:pt x="473679" y="62361"/>
                  </a:lnTo>
                  <a:lnTo>
                    <a:pt x="479828" y="31449"/>
                  </a:lnTo>
                  <a:lnTo>
                    <a:pt x="481889" y="0"/>
                  </a:lnTo>
                  <a:lnTo>
                    <a:pt x="419710" y="0"/>
                  </a:lnTo>
                  <a:lnTo>
                    <a:pt x="418180" y="23333"/>
                  </a:lnTo>
                  <a:lnTo>
                    <a:pt x="413618" y="46268"/>
                  </a:lnTo>
                  <a:lnTo>
                    <a:pt x="406102" y="68410"/>
                  </a:lnTo>
                  <a:lnTo>
                    <a:pt x="395760" y="89383"/>
                  </a:lnTo>
                  <a:lnTo>
                    <a:pt x="382768" y="108825"/>
                  </a:lnTo>
                  <a:lnTo>
                    <a:pt x="367351" y="126406"/>
                  </a:lnTo>
                  <a:lnTo>
                    <a:pt x="349770" y="141824"/>
                  </a:lnTo>
                  <a:lnTo>
                    <a:pt x="330327" y="154815"/>
                  </a:lnTo>
                  <a:lnTo>
                    <a:pt x="309355" y="165157"/>
                  </a:lnTo>
                  <a:lnTo>
                    <a:pt x="287212" y="172674"/>
                  </a:lnTo>
                  <a:lnTo>
                    <a:pt x="264278" y="177236"/>
                  </a:lnTo>
                  <a:lnTo>
                    <a:pt x="240945" y="178765"/>
                  </a:lnTo>
                  <a:lnTo>
                    <a:pt x="217611" y="177236"/>
                  </a:lnTo>
                  <a:lnTo>
                    <a:pt x="194677" y="172674"/>
                  </a:lnTo>
                  <a:lnTo>
                    <a:pt x="172534" y="165157"/>
                  </a:lnTo>
                  <a:lnTo>
                    <a:pt x="151562" y="154815"/>
                  </a:lnTo>
                  <a:lnTo>
                    <a:pt x="132119" y="141824"/>
                  </a:lnTo>
                  <a:lnTo>
                    <a:pt x="114538" y="126406"/>
                  </a:lnTo>
                  <a:lnTo>
                    <a:pt x="99121" y="108825"/>
                  </a:lnTo>
                  <a:lnTo>
                    <a:pt x="86129" y="89383"/>
                  </a:lnTo>
                  <a:lnTo>
                    <a:pt x="75787" y="68410"/>
                  </a:lnTo>
                  <a:lnTo>
                    <a:pt x="68271" y="46268"/>
                  </a:lnTo>
                  <a:lnTo>
                    <a:pt x="63709" y="23333"/>
                  </a:lnTo>
                  <a:lnTo>
                    <a:pt x="62179" y="0"/>
                  </a:lnTo>
                  <a:close/>
                </a:path>
              </a:pathLst>
            </a:cu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mic stem"/>
            <p:cNvSpPr/>
            <p:nvPr/>
          </p:nvSpPr>
          <p:spPr>
            <a:xfrm>
              <a:off x="5958230" y="3859682"/>
              <a:ext cx="62179" cy="139903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mic base"/>
            <p:cNvSpPr/>
            <p:nvPr/>
          </p:nvSpPr>
          <p:spPr>
            <a:xfrm>
              <a:off x="5818327" y="3999585"/>
              <a:ext cx="341985" cy="54406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NOTE"/>
            <p:cNvSpPr txBox="1"/>
            <p:nvPr/>
          </p:nvSpPr>
          <p:spPr>
            <a:xfrm>
              <a:off x="6583680" y="3200400"/>
              <a:ext cx="4937760" cy="10058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Voiced by the project's creator.</a:t>
              </a:r>
            </a:p>
          </p:txBody>
        </p:sp>
      </p:grpSp>
      <p:sp>
        <p:nvSpPr>
          <p:cNvPr id="27" name="ICHIP"/>
          <p:cNvSpPr/>
          <p:nvPr/>
        </p:nvSpPr>
        <p:spPr>
          <a:xfrm>
            <a:off x="5394960" y="4663440"/>
            <a:ext cx="3215481" cy="310896"/>
          </a:xfrm>
          <a:prstGeom prst="roundRect">
            <a:avLst>
              <a:gd name="adj" fmla="val 35294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Name and look: undecided (OQ15)</a:t>
            </a:r>
          </a:p>
        </p:txBody>
      </p:sp>
      <p:sp>
        <p:nvSpPr>
          <p:cNvPr id="28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Early Locomotion has its own friendly railway guide. She loves trains and loves teaching.</a:t>
            </a:r>
          </a:p>
        </p:txBody>
      </p:sp>
      <p:sp>
        <p:nvSpPr>
          <p:cNvPr id="31" name="NUM"/>
          <p:cNvSpPr txBox="1"/>
          <p:nvPr/>
        </p:nvSpPr>
        <p:spPr>
          <a:xfrm>
            <a:off x="10725912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Not the game's ADA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Two speech bubbles" descr="Two speech bubbles. On the left, a cool grey bubble: ADA is colder and corporate. On the right, a warm orange bubble: the guide is warm and friendly. They are separate characters."/>
          <p:cNvGrpSpPr/>
          <p:nvPr/>
        </p:nvGrpSpPr>
        <p:grpSpPr>
          <a:xfrm>
            <a:off x="822960" y="2103120"/>
            <a:ext cx="10515600" cy="3200400"/>
            <a:chOff x="822960" y="2103120"/>
            <a:chExt cx="10515600" cy="3200400"/>
          </a:xfrm>
        </p:grpSpPr>
        <p:sp>
          <p:nvSpPr>
            <p:cNvPr id="5" name="ADA bubble body"/>
            <p:cNvSpPr/>
            <p:nvPr/>
          </p:nvSpPr>
          <p:spPr>
            <a:xfrm>
              <a:off x="822960" y="2103120"/>
              <a:ext cx="4754880" cy="1737360"/>
            </a:xfrm>
            <a:prstGeom prst="roundRect">
              <a:avLst>
                <a:gd name="adj" fmla="val 15789"/>
              </a:avLst>
            </a:prstGeom>
            <a:solidFill>
              <a:srgbClr val="5B6672"/>
            </a:solidFill>
            <a:ln>
              <a:noFill/>
            </a:ln>
          </p:spPr>
          <p:txBody>
            <a:bodyPr rtlCol="0" anchor="ctr" wrap="square" lIns="109728" rIns="109728">
              <a:noAutofit/>
            </a:bodyPr>
            <a:lstStyle/>
            <a:p>
              <a:pPr algn="ctr"/>
              <a:r>
                <a:rPr sz="2600" b="1" i="0" lang="en-GB">
                  <a:solidFill>
                    <a:srgbClr val="F2F2F2"/>
                  </a:solidFill>
                  <a:latin typeface="Arial"/>
                </a:rPr>
                <a:t>ADA: colder, corporate</a:t>
              </a:r>
            </a:p>
          </p:txBody>
        </p:sp>
        <p:sp>
          <p:nvSpPr>
            <p:cNvPr id="6" name="ADA bubble tail"/>
            <p:cNvSpPr/>
            <p:nvPr/>
          </p:nvSpPr>
          <p:spPr>
            <a:xfrm>
              <a:off x="1325880" y="3822191"/>
              <a:ext cx="365760" cy="475488"/>
            </a:xfrm>
            <a:custGeom>
              <a:avLst/>
              <a:gdLst/>
              <a:ahLst/>
              <a:cxnLst/>
              <a:rect l="l" t="t" r="r" b="b"/>
              <a:pathLst>
                <a:path w="365760" h="475488">
                  <a:moveTo>
                    <a:pt x="0" y="0"/>
                  </a:moveTo>
                  <a:lnTo>
                    <a:pt x="365760" y="0"/>
                  </a:lnTo>
                  <a:lnTo>
                    <a:pt x="54864" y="475488"/>
                  </a:lnTo>
                  <a:close/>
                </a:path>
              </a:pathLst>
            </a:custGeom>
            <a:solidFill>
              <a:srgbClr val="5B667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guide bubble body"/>
            <p:cNvSpPr/>
            <p:nvPr/>
          </p:nvSpPr>
          <p:spPr>
            <a:xfrm>
              <a:off x="6583680" y="2103120"/>
              <a:ext cx="4754880" cy="1737360"/>
            </a:xfrm>
            <a:prstGeom prst="roundRect">
              <a:avLst>
                <a:gd name="adj" fmla="val 15789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109728" rIns="109728">
              <a:noAutofit/>
            </a:bodyPr>
            <a:lstStyle/>
            <a:p>
              <a:pPr algn="ctr"/>
              <a:r>
                <a:rPr sz="2600" b="1" i="0" lang="en-GB">
                  <a:solidFill>
                    <a:srgbClr val="101418"/>
                  </a:solidFill>
                  <a:latin typeface="Arial"/>
                </a:rPr>
                <a:t>The guide: warm, friendly</a:t>
              </a:r>
            </a:p>
          </p:txBody>
        </p:sp>
        <p:sp>
          <p:nvSpPr>
            <p:cNvPr id="8" name="guide bubble tail"/>
            <p:cNvSpPr/>
            <p:nvPr/>
          </p:nvSpPr>
          <p:spPr>
            <a:xfrm>
              <a:off x="10469880" y="3822191"/>
              <a:ext cx="365760" cy="475488"/>
            </a:xfrm>
            <a:custGeom>
              <a:avLst/>
              <a:gdLst/>
              <a:ahLst/>
              <a:cxnLst/>
              <a:rect l="l" t="t" r="r" b="b"/>
              <a:pathLst>
                <a:path w="365760" h="475488">
                  <a:moveTo>
                    <a:pt x="0" y="0"/>
                  </a:moveTo>
                  <a:lnTo>
                    <a:pt x="365760" y="0"/>
                  </a:lnTo>
                  <a:lnTo>
                    <a:pt x="310896" y="475488"/>
                  </a:lnTo>
                  <a:close/>
                </a:path>
              </a:pathLst>
            </a:cu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ADA dot ring"/>
            <p:cNvSpPr/>
            <p:nvPr/>
          </p:nvSpPr>
          <p:spPr>
            <a:xfrm>
              <a:off x="914400" y="4434840"/>
              <a:ext cx="868680" cy="868680"/>
            </a:xfrm>
            <a:prstGeom prst="ellipse">
              <a:avLst/>
            </a:prstGeom>
            <a:noFill/>
            <a:ln w="76200">
              <a:solidFill>
                <a:srgbClr val="5B667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ADA dot"/>
            <p:cNvSpPr/>
            <p:nvPr/>
          </p:nvSpPr>
          <p:spPr>
            <a:xfrm>
              <a:off x="1216152" y="4736592"/>
              <a:ext cx="265176" cy="265176"/>
            </a:xfrm>
            <a:prstGeom prst="ellipse">
              <a:avLst/>
            </a:prstGeom>
            <a:solidFill>
              <a:srgbClr val="5B667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guide dot ring"/>
            <p:cNvSpPr/>
            <p:nvPr/>
          </p:nvSpPr>
          <p:spPr>
            <a:xfrm>
              <a:off x="10378440" y="4434840"/>
              <a:ext cx="868680" cy="868680"/>
            </a:xfrm>
            <a:prstGeom prst="ellipse">
              <a:avLst/>
            </a:prstGeom>
            <a:noFill/>
            <a:ln w="762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guide dot"/>
            <p:cNvSpPr/>
            <p:nvPr/>
          </p:nvSpPr>
          <p:spPr>
            <a:xfrm>
              <a:off x="10680192" y="4736592"/>
              <a:ext cx="265176" cy="265176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not equal bar"/>
            <p:cNvCxnSpPr/>
            <p:nvPr/>
          </p:nvCxnSpPr>
          <p:spPr>
            <a:xfrm>
              <a:off x="5742432" y="2743200"/>
              <a:ext cx="676656" cy="0"/>
            </a:xfrm>
            <a:prstGeom prst="line">
              <a:avLst/>
            </a:prstGeom>
            <a:ln w="63500" cap="rnd">
              <a:solidFill>
                <a:srgbClr val="A9B0B8"/>
              </a:solidFill>
            </a:ln>
          </p:spPr>
        </p:cxnSp>
        <p:cxnSp>
          <p:nvCxnSpPr>
            <p:cNvPr id="14" name="not equal bar"/>
            <p:cNvCxnSpPr/>
            <p:nvPr/>
          </p:nvCxnSpPr>
          <p:spPr>
            <a:xfrm>
              <a:off x="5742432" y="3200400"/>
              <a:ext cx="676656" cy="0"/>
            </a:xfrm>
            <a:prstGeom prst="line">
              <a:avLst/>
            </a:prstGeom>
            <a:ln w="63500" cap="rnd">
              <a:solidFill>
                <a:srgbClr val="A9B0B8"/>
              </a:solidFill>
            </a:ln>
          </p:spPr>
        </p:cxnSp>
        <p:cxnSp>
          <p:nvCxnSpPr>
            <p:cNvPr id="15" name="not equal slash"/>
            <p:cNvCxnSpPr/>
            <p:nvPr/>
          </p:nvCxnSpPr>
          <p:spPr>
            <a:xfrm flipV="1">
              <a:off x="5943600" y="2423160"/>
              <a:ext cx="274320" cy="1097280"/>
            </a:xfrm>
            <a:prstGeom prst="line">
              <a:avLst/>
            </a:prstGeom>
            <a:ln w="63500" cap="rnd">
              <a:solidFill>
                <a:srgbClr val="A9B0B8"/>
              </a:solidFill>
            </a:ln>
          </p:spPr>
        </p:cxnSp>
      </p:grpSp>
      <p:sp>
        <p:nvSpPr>
          <p:cNvPr id="16" name="ICHIP"/>
          <p:cNvSpPr/>
          <p:nvPr/>
        </p:nvSpPr>
        <p:spPr>
          <a:xfrm>
            <a:off x="822960" y="1508760"/>
            <a:ext cx="3083520" cy="310896"/>
          </a:xfrm>
          <a:prstGeom prst="roundRect">
            <a:avLst>
              <a:gd name="adj" fmla="val 35294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ADA is the game's own assistant</a:t>
            </a:r>
          </a:p>
        </p:txBody>
      </p:sp>
      <p:sp>
        <p:nvSpPr>
          <p:cNvPr id="17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She is a separate character from ADA. Warmer, friendlier and railway-mad.</a:t>
            </a:r>
          </a:p>
        </p:txBody>
      </p:sp>
      <p:sp>
        <p:nvSpPr>
          <p:cNvPr id="20" name="NUM"/>
          <p:cNvSpPr txBox="1"/>
          <p:nvPr/>
        </p:nvSpPr>
        <p:spPr>
          <a:xfrm>
            <a:off x="10725912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What she is not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Six crossed-out cards" descr="Six cards, each crossed out with a red cross: Live AI, Network checker, Route calculator, Signal placer, Automatic fixer and Train driver. She is none of these."/>
          <p:cNvGrpSpPr/>
          <p:nvPr/>
        </p:nvGrpSpPr>
        <p:grpSpPr>
          <a:xfrm>
            <a:off x="548640" y="1289304"/>
            <a:ext cx="11265407" cy="4087368"/>
            <a:chOff x="548640" y="1289304"/>
            <a:chExt cx="11265407" cy="4087368"/>
          </a:xfrm>
        </p:grpSpPr>
        <p:sp>
          <p:nvSpPr>
            <p:cNvPr id="5" name="card"/>
            <p:cNvSpPr/>
            <p:nvPr/>
          </p:nvSpPr>
          <p:spPr>
            <a:xfrm>
              <a:off x="548640" y="1463040"/>
              <a:ext cx="3520440" cy="1828800"/>
            </a:xfrm>
            <a:prstGeom prst="roundRect">
              <a:avLst>
                <a:gd name="adj" fmla="val 4000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chat bubble"/>
            <p:cNvSpPr/>
            <p:nvPr/>
          </p:nvSpPr>
          <p:spPr>
            <a:xfrm>
              <a:off x="896112" y="2066544"/>
              <a:ext cx="768096" cy="493776"/>
            </a:xfrm>
            <a:prstGeom prst="roundRect">
              <a:avLst>
                <a:gd name="adj" fmla="val 25925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chat tail"/>
            <p:cNvSpPr/>
            <p:nvPr/>
          </p:nvSpPr>
          <p:spPr>
            <a:xfrm>
              <a:off x="1024127" y="2542032"/>
              <a:ext cx="201168" cy="237744"/>
            </a:xfrm>
            <a:custGeom>
              <a:avLst/>
              <a:gdLst/>
              <a:ahLst/>
              <a:cxnLst/>
              <a:rect l="l" t="t" r="r" b="b"/>
              <a:pathLst>
                <a:path w="201168" h="237744">
                  <a:moveTo>
                    <a:pt x="54865" y="0"/>
                  </a:moveTo>
                  <a:lnTo>
                    <a:pt x="201168" y="0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chat dot"/>
            <p:cNvSpPr/>
            <p:nvPr/>
          </p:nvSpPr>
          <p:spPr>
            <a:xfrm>
              <a:off x="1051560" y="2267712"/>
              <a:ext cx="91440" cy="9144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chat dot"/>
            <p:cNvSpPr/>
            <p:nvPr/>
          </p:nvSpPr>
          <p:spPr>
            <a:xfrm>
              <a:off x="1234439" y="2267712"/>
              <a:ext cx="91440" cy="9144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chat dot"/>
            <p:cNvSpPr/>
            <p:nvPr/>
          </p:nvSpPr>
          <p:spPr>
            <a:xfrm>
              <a:off x="1417319" y="2267712"/>
              <a:ext cx="91440" cy="9144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ard label"/>
            <p:cNvSpPr txBox="1"/>
            <p:nvPr/>
          </p:nvSpPr>
          <p:spPr>
            <a:xfrm>
              <a:off x="1965960" y="1645920"/>
              <a:ext cx="1965960" cy="1463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200" b="1" i="0" lang="en-GB" strike="sngStrike">
                  <a:solidFill>
                    <a:srgbClr val="F2F2F2"/>
                  </a:solidFill>
                  <a:latin typeface="Arial"/>
                </a:rPr>
                <a:t>Live AI</a:t>
              </a:r>
            </a:p>
          </p:txBody>
        </p:sp>
        <p:sp>
          <p:nvSpPr>
            <p:cNvPr id="12" name="cross disc"/>
            <p:cNvSpPr/>
            <p:nvPr/>
          </p:nvSpPr>
          <p:spPr>
            <a:xfrm>
              <a:off x="3675888" y="1289304"/>
              <a:ext cx="566928" cy="566928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ross bar"/>
            <p:cNvCxnSpPr/>
            <p:nvPr/>
          </p:nvCxnSpPr>
          <p:spPr>
            <a:xfrm>
              <a:off x="3811950" y="1425366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cxnSp>
          <p:nvCxnSpPr>
            <p:cNvPr id="14" name="cross bar"/>
            <p:cNvCxnSpPr/>
            <p:nvPr/>
          </p:nvCxnSpPr>
          <p:spPr>
            <a:xfrm flipV="1">
              <a:off x="3811950" y="1425366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sp>
          <p:nvSpPr>
            <p:cNvPr id="15" name="card"/>
            <p:cNvSpPr/>
            <p:nvPr/>
          </p:nvSpPr>
          <p:spPr>
            <a:xfrm>
              <a:off x="4334255" y="1463040"/>
              <a:ext cx="3520440" cy="1828800"/>
            </a:xfrm>
            <a:prstGeom prst="roundRect">
              <a:avLst>
                <a:gd name="adj" fmla="val 4000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lens"/>
            <p:cNvSpPr/>
            <p:nvPr/>
          </p:nvSpPr>
          <p:spPr>
            <a:xfrm>
              <a:off x="4700015" y="2011680"/>
              <a:ext cx="530352" cy="530352"/>
            </a:xfrm>
            <a:prstGeom prst="ellipse">
              <a:avLst/>
            </a:prstGeom>
            <a:noFill/>
            <a:ln w="635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handle"/>
            <p:cNvCxnSpPr/>
            <p:nvPr/>
          </p:nvCxnSpPr>
          <p:spPr>
            <a:xfrm>
              <a:off x="5129783" y="2441448"/>
              <a:ext cx="320040" cy="320040"/>
            </a:xfrm>
            <a:prstGeom prst="line">
              <a:avLst/>
            </a:prstGeom>
            <a:ln w="88900" cap="rnd">
              <a:solidFill>
                <a:srgbClr val="9AA0A6"/>
              </a:solidFill>
            </a:ln>
          </p:spPr>
        </p:cxnSp>
        <p:sp>
          <p:nvSpPr>
            <p:cNvPr id="18" name="node"/>
            <p:cNvSpPr/>
            <p:nvPr/>
          </p:nvSpPr>
          <p:spPr>
            <a:xfrm>
              <a:off x="4745735" y="2093976"/>
              <a:ext cx="54864" cy="5486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node"/>
            <p:cNvSpPr/>
            <p:nvPr/>
          </p:nvSpPr>
          <p:spPr>
            <a:xfrm>
              <a:off x="4928615" y="2185416"/>
              <a:ext cx="54864" cy="5486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node"/>
            <p:cNvSpPr/>
            <p:nvPr/>
          </p:nvSpPr>
          <p:spPr>
            <a:xfrm>
              <a:off x="4855463" y="2313432"/>
              <a:ext cx="54864" cy="5486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card label"/>
            <p:cNvSpPr txBox="1"/>
            <p:nvPr/>
          </p:nvSpPr>
          <p:spPr>
            <a:xfrm>
              <a:off x="5751575" y="1645920"/>
              <a:ext cx="1965960" cy="1463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200" b="1" i="0" lang="en-GB" strike="sngStrike">
                  <a:solidFill>
                    <a:srgbClr val="F2F2F2"/>
                  </a:solidFill>
                  <a:latin typeface="Arial"/>
                </a:rPr>
                <a:t>Network checker</a:t>
              </a:r>
            </a:p>
          </p:txBody>
        </p:sp>
        <p:sp>
          <p:nvSpPr>
            <p:cNvPr id="22" name="cross disc"/>
            <p:cNvSpPr/>
            <p:nvPr/>
          </p:nvSpPr>
          <p:spPr>
            <a:xfrm>
              <a:off x="7461504" y="1289304"/>
              <a:ext cx="566928" cy="566928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ross bar"/>
            <p:cNvCxnSpPr/>
            <p:nvPr/>
          </p:nvCxnSpPr>
          <p:spPr>
            <a:xfrm>
              <a:off x="7597566" y="1425366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cxnSp>
          <p:nvCxnSpPr>
            <p:cNvPr id="24" name="cross bar"/>
            <p:cNvCxnSpPr/>
            <p:nvPr/>
          </p:nvCxnSpPr>
          <p:spPr>
            <a:xfrm flipV="1">
              <a:off x="7597566" y="1425366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sp>
          <p:nvSpPr>
            <p:cNvPr id="25" name="card"/>
            <p:cNvSpPr/>
            <p:nvPr/>
          </p:nvSpPr>
          <p:spPr>
            <a:xfrm>
              <a:off x="8119871" y="1463040"/>
              <a:ext cx="3520440" cy="1828800"/>
            </a:xfrm>
            <a:prstGeom prst="roundRect">
              <a:avLst>
                <a:gd name="adj" fmla="val 4000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calculator"/>
            <p:cNvSpPr/>
            <p:nvPr/>
          </p:nvSpPr>
          <p:spPr>
            <a:xfrm>
              <a:off x="8558784" y="1975104"/>
              <a:ext cx="585216" cy="804672"/>
            </a:xfrm>
            <a:prstGeom prst="roundRect">
              <a:avLst>
                <a:gd name="adj" fmla="val 10937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splay"/>
            <p:cNvSpPr/>
            <p:nvPr/>
          </p:nvSpPr>
          <p:spPr>
            <a:xfrm>
              <a:off x="8631936" y="2048256"/>
              <a:ext cx="438912" cy="164592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key"/>
            <p:cNvSpPr/>
            <p:nvPr/>
          </p:nvSpPr>
          <p:spPr>
            <a:xfrm>
              <a:off x="8650224" y="2286000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key"/>
            <p:cNvSpPr/>
            <p:nvPr/>
          </p:nvSpPr>
          <p:spPr>
            <a:xfrm>
              <a:off x="8805672" y="2286000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key"/>
            <p:cNvSpPr/>
            <p:nvPr/>
          </p:nvSpPr>
          <p:spPr>
            <a:xfrm>
              <a:off x="8961119" y="2286000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key"/>
            <p:cNvSpPr/>
            <p:nvPr/>
          </p:nvSpPr>
          <p:spPr>
            <a:xfrm>
              <a:off x="8650224" y="2441448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key"/>
            <p:cNvSpPr/>
            <p:nvPr/>
          </p:nvSpPr>
          <p:spPr>
            <a:xfrm>
              <a:off x="8805672" y="2441448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key"/>
            <p:cNvSpPr/>
            <p:nvPr/>
          </p:nvSpPr>
          <p:spPr>
            <a:xfrm>
              <a:off x="8961119" y="2441448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key"/>
            <p:cNvSpPr/>
            <p:nvPr/>
          </p:nvSpPr>
          <p:spPr>
            <a:xfrm>
              <a:off x="8650224" y="2596896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key"/>
            <p:cNvSpPr/>
            <p:nvPr/>
          </p:nvSpPr>
          <p:spPr>
            <a:xfrm>
              <a:off x="8805672" y="2596896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key"/>
            <p:cNvSpPr/>
            <p:nvPr/>
          </p:nvSpPr>
          <p:spPr>
            <a:xfrm>
              <a:off x="8961119" y="2596896"/>
              <a:ext cx="109728" cy="109728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card label"/>
            <p:cNvSpPr txBox="1"/>
            <p:nvPr/>
          </p:nvSpPr>
          <p:spPr>
            <a:xfrm>
              <a:off x="9537192" y="1645920"/>
              <a:ext cx="1965960" cy="1463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200" b="1" i="0" lang="en-GB" strike="sngStrike">
                  <a:solidFill>
                    <a:srgbClr val="F2F2F2"/>
                  </a:solidFill>
                  <a:latin typeface="Arial"/>
                </a:rPr>
                <a:t>Route calculator</a:t>
              </a:r>
            </a:p>
          </p:txBody>
        </p:sp>
        <p:sp>
          <p:nvSpPr>
            <p:cNvPr id="38" name="cross disc"/>
            <p:cNvSpPr/>
            <p:nvPr/>
          </p:nvSpPr>
          <p:spPr>
            <a:xfrm>
              <a:off x="11247119" y="1289304"/>
              <a:ext cx="566928" cy="566928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ross bar"/>
            <p:cNvCxnSpPr/>
            <p:nvPr/>
          </p:nvCxnSpPr>
          <p:spPr>
            <a:xfrm>
              <a:off x="11383182" y="1425366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cxnSp>
          <p:nvCxnSpPr>
            <p:cNvPr id="40" name="cross bar"/>
            <p:cNvCxnSpPr/>
            <p:nvPr/>
          </p:nvCxnSpPr>
          <p:spPr>
            <a:xfrm flipV="1">
              <a:off x="11383182" y="1425366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sp>
          <p:nvSpPr>
            <p:cNvPr id="41" name="card"/>
            <p:cNvSpPr/>
            <p:nvPr/>
          </p:nvSpPr>
          <p:spPr>
            <a:xfrm>
              <a:off x="548640" y="3547872"/>
              <a:ext cx="3520440" cy="1828800"/>
            </a:xfrm>
            <a:prstGeom prst="roundRect">
              <a:avLst>
                <a:gd name="adj" fmla="val 4000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icon semaphore post"/>
            <p:cNvSpPr/>
            <p:nvPr/>
          </p:nvSpPr>
          <p:spPr>
            <a:xfrm>
              <a:off x="1145285" y="4005072"/>
              <a:ext cx="86868" cy="868680"/>
            </a:xfrm>
            <a:prstGeom prst="rect">
              <a:avLst/>
            </a:prstGeom>
            <a:solidFill>
              <a:srgbClr val="E8E8E8"/>
            </a:solidFill>
            <a:ln w="9525">
              <a:solidFill>
                <a:srgbClr val="6B707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icon semaphore foot"/>
            <p:cNvSpPr/>
            <p:nvPr/>
          </p:nvSpPr>
          <p:spPr>
            <a:xfrm>
              <a:off x="997610" y="4821631"/>
              <a:ext cx="382219" cy="52120"/>
            </a:xfrm>
            <a:prstGeom prst="rect">
              <a:avLst/>
            </a:prstGeom>
            <a:solidFill>
              <a:srgbClr val="3A3F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icon semaphore arm"/>
            <p:cNvSpPr/>
            <p:nvPr/>
          </p:nvSpPr>
          <p:spPr>
            <a:xfrm>
              <a:off x="1195299" y="3691623"/>
              <a:ext cx="454544" cy="454545"/>
            </a:xfrm>
            <a:custGeom>
              <a:avLst/>
              <a:gdLst/>
              <a:ahLst/>
              <a:cxnLst/>
              <a:rect l="l" t="t" r="r" b="b"/>
              <a:pathLst>
                <a:path w="454544" h="454545">
                  <a:moveTo>
                    <a:pt x="0" y="380835"/>
                  </a:moveTo>
                  <a:lnTo>
                    <a:pt x="380834" y="0"/>
                  </a:lnTo>
                  <a:lnTo>
                    <a:pt x="454544" y="73710"/>
                  </a:lnTo>
                  <a:lnTo>
                    <a:pt x="73709" y="454545"/>
                  </a:lnTo>
                  <a:close/>
                </a:path>
              </a:pathLst>
            </a:cu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icon semaphore lamp"/>
            <p:cNvSpPr/>
            <p:nvPr/>
          </p:nvSpPr>
          <p:spPr>
            <a:xfrm>
              <a:off x="1101851" y="3987698"/>
              <a:ext cx="173736" cy="173736"/>
            </a:xfrm>
            <a:prstGeom prst="ellipse">
              <a:avLst/>
            </a:prstGeom>
            <a:solidFill>
              <a:srgbClr val="3FB950"/>
            </a:solidFill>
            <a:ln w="12700">
              <a:solidFill>
                <a:srgbClr val="2B2F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icon semaphore pivot"/>
            <p:cNvSpPr/>
            <p:nvPr/>
          </p:nvSpPr>
          <p:spPr>
            <a:xfrm>
              <a:off x="1197406" y="4074566"/>
              <a:ext cx="69494" cy="69494"/>
            </a:xfrm>
            <a:prstGeom prst="ellipse">
              <a:avLst/>
            </a:prstGeom>
            <a:solidFill>
              <a:srgbClr val="3A3F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card label"/>
            <p:cNvSpPr txBox="1"/>
            <p:nvPr/>
          </p:nvSpPr>
          <p:spPr>
            <a:xfrm>
              <a:off x="1965960" y="3730752"/>
              <a:ext cx="1965960" cy="1463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200" b="1" i="0" lang="en-GB" strike="sngStrike">
                  <a:solidFill>
                    <a:srgbClr val="F2F2F2"/>
                  </a:solidFill>
                  <a:latin typeface="Arial"/>
                </a:rPr>
                <a:t>Signal placer</a:t>
              </a:r>
            </a:p>
          </p:txBody>
        </p:sp>
        <p:sp>
          <p:nvSpPr>
            <p:cNvPr id="48" name="cross disc"/>
            <p:cNvSpPr/>
            <p:nvPr/>
          </p:nvSpPr>
          <p:spPr>
            <a:xfrm>
              <a:off x="3675888" y="3374136"/>
              <a:ext cx="566928" cy="566928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cross bar"/>
            <p:cNvCxnSpPr/>
            <p:nvPr/>
          </p:nvCxnSpPr>
          <p:spPr>
            <a:xfrm>
              <a:off x="3811950" y="3510198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cxnSp>
          <p:nvCxnSpPr>
            <p:cNvPr id="50" name="cross bar"/>
            <p:cNvCxnSpPr/>
            <p:nvPr/>
          </p:nvCxnSpPr>
          <p:spPr>
            <a:xfrm flipV="1">
              <a:off x="3811950" y="3510198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sp>
          <p:nvSpPr>
            <p:cNvPr id="51" name="card"/>
            <p:cNvSpPr/>
            <p:nvPr/>
          </p:nvSpPr>
          <p:spPr>
            <a:xfrm>
              <a:off x="4334255" y="3547872"/>
              <a:ext cx="3520440" cy="1828800"/>
            </a:xfrm>
            <a:prstGeom prst="roundRect">
              <a:avLst>
                <a:gd name="adj" fmla="val 4000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tooth"/>
            <p:cNvSpPr/>
            <p:nvPr/>
          </p:nvSpPr>
          <p:spPr>
            <a:xfrm>
              <a:off x="5001767" y="4069080"/>
              <a:ext cx="128016" cy="1828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ooth"/>
            <p:cNvSpPr/>
            <p:nvPr/>
          </p:nvSpPr>
          <p:spPr>
            <a:xfrm rot="2700000">
              <a:off x="5215138" y="4157461"/>
              <a:ext cx="128016" cy="1828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tooth"/>
            <p:cNvSpPr/>
            <p:nvPr/>
          </p:nvSpPr>
          <p:spPr>
            <a:xfrm rot="5400000">
              <a:off x="5303519" y="4370832"/>
              <a:ext cx="128016" cy="1828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ooth"/>
            <p:cNvSpPr/>
            <p:nvPr/>
          </p:nvSpPr>
          <p:spPr>
            <a:xfrm rot="8100000">
              <a:off x="5215138" y="4584202"/>
              <a:ext cx="128016" cy="1828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ooth"/>
            <p:cNvSpPr/>
            <p:nvPr/>
          </p:nvSpPr>
          <p:spPr>
            <a:xfrm rot="10800000">
              <a:off x="5001767" y="4672584"/>
              <a:ext cx="128016" cy="1828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ooth"/>
            <p:cNvSpPr/>
            <p:nvPr/>
          </p:nvSpPr>
          <p:spPr>
            <a:xfrm rot="13500000">
              <a:off x="4788397" y="4584202"/>
              <a:ext cx="128016" cy="1828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tooth"/>
            <p:cNvSpPr/>
            <p:nvPr/>
          </p:nvSpPr>
          <p:spPr>
            <a:xfrm rot="16200000">
              <a:off x="4700015" y="4370832"/>
              <a:ext cx="128016" cy="1828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ooth"/>
            <p:cNvSpPr/>
            <p:nvPr/>
          </p:nvSpPr>
          <p:spPr>
            <a:xfrm rot="18900000">
              <a:off x="4788397" y="4157461"/>
              <a:ext cx="128016" cy="1828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gear"/>
            <p:cNvSpPr/>
            <p:nvPr/>
          </p:nvSpPr>
          <p:spPr>
            <a:xfrm>
              <a:off x="4818888" y="4215384"/>
              <a:ext cx="493776" cy="49377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gear hole"/>
            <p:cNvSpPr/>
            <p:nvPr/>
          </p:nvSpPr>
          <p:spPr>
            <a:xfrm>
              <a:off x="4965191" y="4361688"/>
              <a:ext cx="201168" cy="201168"/>
            </a:xfrm>
            <a:prstGeom prst="ellipse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card label"/>
            <p:cNvSpPr txBox="1"/>
            <p:nvPr/>
          </p:nvSpPr>
          <p:spPr>
            <a:xfrm>
              <a:off x="5751575" y="3730752"/>
              <a:ext cx="1965960" cy="1463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200" b="1" i="0" lang="en-GB" strike="sngStrike">
                  <a:solidFill>
                    <a:srgbClr val="F2F2F2"/>
                  </a:solidFill>
                  <a:latin typeface="Arial"/>
                </a:rPr>
                <a:t>Automatic fixer</a:t>
              </a:r>
            </a:p>
          </p:txBody>
        </p:sp>
        <p:sp>
          <p:nvSpPr>
            <p:cNvPr id="63" name="cross disc"/>
            <p:cNvSpPr/>
            <p:nvPr/>
          </p:nvSpPr>
          <p:spPr>
            <a:xfrm>
              <a:off x="7461504" y="3374136"/>
              <a:ext cx="566928" cy="566928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ross bar"/>
            <p:cNvCxnSpPr/>
            <p:nvPr/>
          </p:nvCxnSpPr>
          <p:spPr>
            <a:xfrm>
              <a:off x="7597566" y="3510198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cxnSp>
          <p:nvCxnSpPr>
            <p:cNvPr id="65" name="cross bar"/>
            <p:cNvCxnSpPr/>
            <p:nvPr/>
          </p:nvCxnSpPr>
          <p:spPr>
            <a:xfrm flipV="1">
              <a:off x="7597566" y="3510198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sp>
          <p:nvSpPr>
            <p:cNvPr id="66" name="card"/>
            <p:cNvSpPr/>
            <p:nvPr/>
          </p:nvSpPr>
          <p:spPr>
            <a:xfrm>
              <a:off x="8119871" y="3547872"/>
              <a:ext cx="3520440" cy="1828800"/>
            </a:xfrm>
            <a:prstGeom prst="roundRect">
              <a:avLst>
                <a:gd name="adj" fmla="val 4000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icon engine cab"/>
            <p:cNvSpPr/>
            <p:nvPr/>
          </p:nvSpPr>
          <p:spPr>
            <a:xfrm>
              <a:off x="8439912" y="4355287"/>
              <a:ext cx="260604" cy="225856"/>
            </a:xfrm>
            <a:prstGeom prst="roundRect">
              <a:avLst>
                <a:gd name="adj" fmla="val 11538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icon engine boiler"/>
            <p:cNvSpPr/>
            <p:nvPr/>
          </p:nvSpPr>
          <p:spPr>
            <a:xfrm>
              <a:off x="8683142" y="4424781"/>
              <a:ext cx="486460" cy="156362"/>
            </a:xfrm>
            <a:prstGeom prst="roundRect">
              <a:avLst>
                <a:gd name="adj" fmla="val 44444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icon engine chimney"/>
            <p:cNvSpPr/>
            <p:nvPr/>
          </p:nvSpPr>
          <p:spPr>
            <a:xfrm>
              <a:off x="9047988" y="4285792"/>
              <a:ext cx="78181" cy="147675"/>
            </a:xfrm>
            <a:prstGeom prst="rect">
              <a:avLst/>
            </a:prstGeom>
            <a:solidFill>
              <a:srgbClr val="3A3F47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icon engine frame"/>
            <p:cNvSpPr/>
            <p:nvPr/>
          </p:nvSpPr>
          <p:spPr>
            <a:xfrm>
              <a:off x="8439912" y="4581144"/>
              <a:ext cx="729691" cy="34747"/>
            </a:xfrm>
            <a:prstGeom prst="rect">
              <a:avLst/>
            </a:prstGeom>
            <a:solidFill>
              <a:srgbClr val="3A3F47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icon engine wheel"/>
            <p:cNvSpPr/>
            <p:nvPr/>
          </p:nvSpPr>
          <p:spPr>
            <a:xfrm>
              <a:off x="8509406" y="4572457"/>
              <a:ext cx="121615" cy="121615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icon engine wheel"/>
            <p:cNvSpPr/>
            <p:nvPr/>
          </p:nvSpPr>
          <p:spPr>
            <a:xfrm>
              <a:off x="8691829" y="4572457"/>
              <a:ext cx="121615" cy="121615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icon engine wheel"/>
            <p:cNvSpPr/>
            <p:nvPr/>
          </p:nvSpPr>
          <p:spPr>
            <a:xfrm>
              <a:off x="8874252" y="4572457"/>
              <a:ext cx="121615" cy="121615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icon engine wheel"/>
            <p:cNvSpPr/>
            <p:nvPr/>
          </p:nvSpPr>
          <p:spPr>
            <a:xfrm>
              <a:off x="9030614" y="4572457"/>
              <a:ext cx="121615" cy="121615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card label"/>
            <p:cNvSpPr txBox="1"/>
            <p:nvPr/>
          </p:nvSpPr>
          <p:spPr>
            <a:xfrm>
              <a:off x="9537192" y="3730752"/>
              <a:ext cx="1965960" cy="1463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200" b="1" i="0" lang="en-GB" strike="sngStrike">
                  <a:solidFill>
                    <a:srgbClr val="F2F2F2"/>
                  </a:solidFill>
                  <a:latin typeface="Arial"/>
                </a:rPr>
                <a:t>Train driver</a:t>
              </a:r>
            </a:p>
          </p:txBody>
        </p:sp>
        <p:sp>
          <p:nvSpPr>
            <p:cNvPr id="76" name="cross disc"/>
            <p:cNvSpPr/>
            <p:nvPr/>
          </p:nvSpPr>
          <p:spPr>
            <a:xfrm>
              <a:off x="11247119" y="3374136"/>
              <a:ext cx="566928" cy="566928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7" name="cross bar"/>
            <p:cNvCxnSpPr/>
            <p:nvPr/>
          </p:nvCxnSpPr>
          <p:spPr>
            <a:xfrm>
              <a:off x="11383182" y="3510198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  <p:cxnSp>
          <p:nvCxnSpPr>
            <p:cNvPr id="78" name="cross bar"/>
            <p:cNvCxnSpPr/>
            <p:nvPr/>
          </p:nvCxnSpPr>
          <p:spPr>
            <a:xfrm flipV="1">
              <a:off x="11383182" y="3510198"/>
              <a:ext cx="294803" cy="294803"/>
            </a:xfrm>
            <a:prstGeom prst="line">
              <a:avLst/>
            </a:prstGeom>
            <a:ln w="47244" cap="rnd">
              <a:solidFill>
                <a:srgbClr val="F2F2F2"/>
              </a:solidFill>
            </a:ln>
          </p:spPr>
        </p:cxnSp>
      </p:grpSp>
      <p:sp>
        <p:nvSpPr>
          <p:cNvPr id="79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She teaches. She does not run, check or fix your railway.</a:t>
            </a:r>
          </a:p>
        </p:txBody>
      </p:sp>
      <p:sp>
        <p:nvSpPr>
          <p:cNvPr id="82" name="NUM"/>
          <p:cNvSpPr txBox="1"/>
          <p:nvPr/>
        </p:nvSpPr>
        <p:spPr>
          <a:xfrm>
            <a:off x="10725912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Lessons, not answers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Lesson card and refused button" descr="A lesson card titled How blocks work, with a green tick. Beside it, a Fix my railway button with a red cross: she does not fix your railway for you."/>
          <p:cNvGrpSpPr/>
          <p:nvPr/>
        </p:nvGrpSpPr>
        <p:grpSpPr>
          <a:xfrm>
            <a:off x="1005840" y="1257300"/>
            <a:ext cx="10629900" cy="4046219"/>
            <a:chOff x="1005840" y="1257300"/>
            <a:chExt cx="10629900" cy="4046219"/>
          </a:xfrm>
        </p:grpSpPr>
        <p:sp>
          <p:nvSpPr>
            <p:cNvPr id="5" name="lesson card"/>
            <p:cNvSpPr/>
            <p:nvPr/>
          </p:nvSpPr>
          <p:spPr>
            <a:xfrm>
              <a:off x="1005840" y="1554480"/>
              <a:ext cx="4480560" cy="3749039"/>
            </a:xfrm>
            <a:prstGeom prst="roundRect">
              <a:avLst>
                <a:gd name="adj" fmla="val 2439"/>
              </a:avLst>
            </a:prstGeom>
            <a:solidFill>
              <a:srgbClr val="2B2F36"/>
            </a:solidFill>
            <a:ln w="3175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lesson preview"/>
            <p:cNvSpPr/>
            <p:nvPr/>
          </p:nvSpPr>
          <p:spPr>
            <a:xfrm>
              <a:off x="1371600" y="1920240"/>
              <a:ext cx="3749040" cy="1737360"/>
            </a:xfrm>
            <a:prstGeom prst="roundRect">
              <a:avLst>
                <a:gd name="adj" fmla="val 4210"/>
              </a:avLst>
            </a:prstGeom>
            <a:solidFill>
              <a:srgbClr val="F4F5F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review loop"/>
            <p:cNvSpPr/>
            <p:nvPr/>
          </p:nvSpPr>
          <p:spPr>
            <a:xfrm>
              <a:off x="1828800" y="2240280"/>
              <a:ext cx="2834640" cy="1097280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rgbClr val="7A828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play disc"/>
            <p:cNvSpPr/>
            <p:nvPr/>
          </p:nvSpPr>
          <p:spPr>
            <a:xfrm>
              <a:off x="2971800" y="2514600"/>
              <a:ext cx="548640" cy="548640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lay"/>
            <p:cNvSpPr/>
            <p:nvPr/>
          </p:nvSpPr>
          <p:spPr>
            <a:xfrm>
              <a:off x="3171139" y="2642615"/>
              <a:ext cx="248717" cy="292609"/>
            </a:xfrm>
            <a:custGeom>
              <a:avLst/>
              <a:gdLst/>
              <a:ahLst/>
              <a:cxnLst/>
              <a:rect l="l" t="t" r="r" b="b"/>
              <a:pathLst>
                <a:path w="248717" h="292609">
                  <a:moveTo>
                    <a:pt x="0" y="0"/>
                  </a:moveTo>
                  <a:lnTo>
                    <a:pt x="0" y="292609"/>
                  </a:lnTo>
                  <a:lnTo>
                    <a:pt x="248717" y="146305"/>
                  </a:lnTo>
                  <a:close/>
                </a:path>
              </a:pathLst>
            </a:cu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lesson title"/>
            <p:cNvSpPr txBox="1"/>
            <p:nvPr/>
          </p:nvSpPr>
          <p:spPr>
            <a:xfrm>
              <a:off x="1188720" y="3931920"/>
              <a:ext cx="4114800" cy="73152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800" b="1" i="0" lang="en-GB">
                  <a:solidFill>
                    <a:srgbClr val="F2F2F2"/>
                  </a:solidFill>
                  <a:latin typeface="Arial"/>
                </a:rPr>
                <a:t>How blocks work</a:t>
              </a:r>
            </a:p>
          </p:txBody>
        </p:sp>
        <p:sp>
          <p:nvSpPr>
            <p:cNvPr id="11" name="tick disc"/>
            <p:cNvSpPr/>
            <p:nvPr/>
          </p:nvSpPr>
          <p:spPr>
            <a:xfrm>
              <a:off x="5006340" y="1257300"/>
              <a:ext cx="777240" cy="777240"/>
            </a:xfrm>
            <a:prstGeom prst="ellipse">
              <a:avLst/>
            </a:prstGeom>
            <a:solidFill>
              <a:srgbClr val="3FB95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ick mark"/>
            <p:cNvSpPr/>
            <p:nvPr/>
          </p:nvSpPr>
          <p:spPr>
            <a:xfrm>
              <a:off x="5161788" y="1443837"/>
              <a:ext cx="497433" cy="404165"/>
            </a:xfrm>
            <a:custGeom>
              <a:avLst/>
              <a:gdLst/>
              <a:ahLst/>
              <a:cxnLst/>
              <a:rect l="l" t="t" r="r" b="b"/>
              <a:pathLst>
                <a:path w="497433" h="404165">
                  <a:moveTo>
                    <a:pt x="0" y="217627"/>
                  </a:moveTo>
                  <a:lnTo>
                    <a:pt x="170992" y="404165"/>
                  </a:lnTo>
                  <a:lnTo>
                    <a:pt x="497433" y="0"/>
                  </a:lnTo>
                </a:path>
              </a:pathLst>
            </a:custGeom>
            <a:noFill/>
            <a:ln w="75565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fused button"/>
            <p:cNvSpPr/>
            <p:nvPr/>
          </p:nvSpPr>
          <p:spPr>
            <a:xfrm>
              <a:off x="6858000" y="2743200"/>
              <a:ext cx="4480560" cy="1463040"/>
            </a:xfrm>
            <a:prstGeom prst="roundRect">
              <a:avLst>
                <a:gd name="adj" fmla="val 18749"/>
              </a:avLst>
            </a:prstGeom>
            <a:solidFill>
              <a:srgbClr val="343A43"/>
            </a:solidFill>
            <a:ln w="31750">
              <a:solidFill>
                <a:srgbClr val="A9B0B8"/>
              </a:solidFill>
              <a:prstDash val="dash"/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2800" b="1" i="0" lang="en-GB">
                  <a:solidFill>
                    <a:srgbClr val="A9B0B8"/>
                  </a:solidFill>
                  <a:latin typeface="Arial"/>
                </a:rPr>
                <a:t>Fix my railway</a:t>
              </a:r>
            </a:p>
          </p:txBody>
        </p:sp>
        <p:sp>
          <p:nvSpPr>
            <p:cNvPr id="14" name="cross disc"/>
            <p:cNvSpPr/>
            <p:nvPr/>
          </p:nvSpPr>
          <p:spPr>
            <a:xfrm>
              <a:off x="10858500" y="2446020"/>
              <a:ext cx="777240" cy="777240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ross bar"/>
            <p:cNvCxnSpPr/>
            <p:nvPr/>
          </p:nvCxnSpPr>
          <p:spPr>
            <a:xfrm>
              <a:off x="11045037" y="2632557"/>
              <a:ext cx="404165" cy="404165"/>
            </a:xfrm>
            <a:prstGeom prst="line">
              <a:avLst/>
            </a:prstGeom>
            <a:ln w="64769" cap="rnd">
              <a:solidFill>
                <a:srgbClr val="F2F2F2"/>
              </a:solidFill>
            </a:ln>
          </p:spPr>
        </p:cxnSp>
        <p:cxnSp>
          <p:nvCxnSpPr>
            <p:cNvPr id="16" name="cross bar"/>
            <p:cNvCxnSpPr/>
            <p:nvPr/>
          </p:nvCxnSpPr>
          <p:spPr>
            <a:xfrm flipV="1">
              <a:off x="11045037" y="2632557"/>
              <a:ext cx="404165" cy="404165"/>
            </a:xfrm>
            <a:prstGeom prst="line">
              <a:avLst/>
            </a:prstGeom>
            <a:ln w="64769" cap="rnd">
              <a:solidFill>
                <a:srgbClr val="F2F2F2"/>
              </a:solidFill>
            </a:ln>
          </p:spPr>
        </p:cxnSp>
      </p:grpSp>
      <p:sp>
        <p:nvSpPr>
          <p:cNvPr id="17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Lessons explain how railways work. You still solve your own problems.</a:t>
            </a:r>
          </a:p>
        </p:txBody>
      </p:sp>
      <p:sp>
        <p:nvSpPr>
          <p:cNvPr id="20" name="NUM"/>
          <p:cNvSpPr txBox="1"/>
          <p:nvPr/>
        </p:nvSpPr>
        <p:spPr>
          <a:xfrm>
            <a:off x="10725912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The railway library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Shelf of lesson tiles" descr="A shelf of seven lesson tiles. The first four are open and orange. The last three are locked, grey, with padlocks. An arrow shows that tiles open as you unlock technology."/>
          <p:cNvGrpSpPr/>
          <p:nvPr/>
        </p:nvGrpSpPr>
        <p:grpSpPr>
          <a:xfrm>
            <a:off x="608076" y="1627632"/>
            <a:ext cx="10972799" cy="3236976"/>
            <a:chOff x="608076" y="1627632"/>
            <a:chExt cx="10972799" cy="3236976"/>
          </a:xfrm>
        </p:grpSpPr>
        <p:sp>
          <p:nvSpPr>
            <p:cNvPr id="5" name="open tile"/>
            <p:cNvSpPr/>
            <p:nvPr/>
          </p:nvSpPr>
          <p:spPr>
            <a:xfrm>
              <a:off x="790956" y="2286000"/>
              <a:ext cx="1280160" cy="1737360"/>
            </a:xfrm>
            <a:prstGeom prst="roundRect">
              <a:avLst>
                <a:gd name="adj" fmla="val 714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ile screen"/>
            <p:cNvSpPr/>
            <p:nvPr/>
          </p:nvSpPr>
          <p:spPr>
            <a:xfrm>
              <a:off x="973836" y="2514600"/>
              <a:ext cx="914399" cy="822960"/>
            </a:xfrm>
            <a:prstGeom prst="roundRect">
              <a:avLst>
                <a:gd name="adj" fmla="val 5555"/>
              </a:avLst>
            </a:prstGeom>
            <a:solidFill>
              <a:srgbClr val="F4F5F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lay"/>
            <p:cNvSpPr/>
            <p:nvPr/>
          </p:nvSpPr>
          <p:spPr>
            <a:xfrm>
              <a:off x="1330452" y="2743200"/>
              <a:ext cx="310896" cy="365760"/>
            </a:xfrm>
            <a:custGeom>
              <a:avLst/>
              <a:gdLst/>
              <a:ahLst/>
              <a:cxnLst/>
              <a:rect l="l" t="t" r="r" b="b"/>
              <a:pathLst>
                <a:path w="310896" h="365760">
                  <a:moveTo>
                    <a:pt x="0" y="0"/>
                  </a:moveTo>
                  <a:lnTo>
                    <a:pt x="0" y="365760"/>
                  </a:lnTo>
                  <a:lnTo>
                    <a:pt x="310896" y="182880"/>
                  </a:lnTo>
                  <a:close/>
                </a:path>
              </a:pathLst>
            </a:cu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ile line"/>
            <p:cNvSpPr/>
            <p:nvPr/>
          </p:nvSpPr>
          <p:spPr>
            <a:xfrm>
              <a:off x="973836" y="3520440"/>
              <a:ext cx="914399" cy="9144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ile line"/>
            <p:cNvSpPr/>
            <p:nvPr/>
          </p:nvSpPr>
          <p:spPr>
            <a:xfrm>
              <a:off x="973836" y="3703320"/>
              <a:ext cx="548639" cy="9144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pen tile"/>
            <p:cNvSpPr/>
            <p:nvPr/>
          </p:nvSpPr>
          <p:spPr>
            <a:xfrm>
              <a:off x="2345436" y="2286000"/>
              <a:ext cx="1280160" cy="1737360"/>
            </a:xfrm>
            <a:prstGeom prst="roundRect">
              <a:avLst>
                <a:gd name="adj" fmla="val 714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ile screen"/>
            <p:cNvSpPr/>
            <p:nvPr/>
          </p:nvSpPr>
          <p:spPr>
            <a:xfrm>
              <a:off x="2528316" y="2514600"/>
              <a:ext cx="914399" cy="822960"/>
            </a:xfrm>
            <a:prstGeom prst="roundRect">
              <a:avLst>
                <a:gd name="adj" fmla="val 5555"/>
              </a:avLst>
            </a:prstGeom>
            <a:solidFill>
              <a:srgbClr val="F4F5F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lay"/>
            <p:cNvSpPr/>
            <p:nvPr/>
          </p:nvSpPr>
          <p:spPr>
            <a:xfrm>
              <a:off x="2884932" y="2743200"/>
              <a:ext cx="310896" cy="365760"/>
            </a:xfrm>
            <a:custGeom>
              <a:avLst/>
              <a:gdLst/>
              <a:ahLst/>
              <a:cxnLst/>
              <a:rect l="l" t="t" r="r" b="b"/>
              <a:pathLst>
                <a:path w="310896" h="365760">
                  <a:moveTo>
                    <a:pt x="0" y="0"/>
                  </a:moveTo>
                  <a:lnTo>
                    <a:pt x="0" y="365760"/>
                  </a:lnTo>
                  <a:lnTo>
                    <a:pt x="310896" y="182880"/>
                  </a:lnTo>
                  <a:close/>
                </a:path>
              </a:pathLst>
            </a:cu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ile line"/>
            <p:cNvSpPr/>
            <p:nvPr/>
          </p:nvSpPr>
          <p:spPr>
            <a:xfrm>
              <a:off x="2528316" y="3520440"/>
              <a:ext cx="914399" cy="9144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ile line"/>
            <p:cNvSpPr/>
            <p:nvPr/>
          </p:nvSpPr>
          <p:spPr>
            <a:xfrm>
              <a:off x="2528316" y="3703320"/>
              <a:ext cx="548639" cy="9144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open tile"/>
            <p:cNvSpPr/>
            <p:nvPr/>
          </p:nvSpPr>
          <p:spPr>
            <a:xfrm>
              <a:off x="3899916" y="2286000"/>
              <a:ext cx="1280160" cy="1737360"/>
            </a:xfrm>
            <a:prstGeom prst="roundRect">
              <a:avLst>
                <a:gd name="adj" fmla="val 714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ile screen"/>
            <p:cNvSpPr/>
            <p:nvPr/>
          </p:nvSpPr>
          <p:spPr>
            <a:xfrm>
              <a:off x="4082796" y="2514600"/>
              <a:ext cx="914399" cy="822960"/>
            </a:xfrm>
            <a:prstGeom prst="roundRect">
              <a:avLst>
                <a:gd name="adj" fmla="val 5555"/>
              </a:avLst>
            </a:prstGeom>
            <a:solidFill>
              <a:srgbClr val="F4F5F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play"/>
            <p:cNvSpPr/>
            <p:nvPr/>
          </p:nvSpPr>
          <p:spPr>
            <a:xfrm>
              <a:off x="4439412" y="2743200"/>
              <a:ext cx="310896" cy="365760"/>
            </a:xfrm>
            <a:custGeom>
              <a:avLst/>
              <a:gdLst/>
              <a:ahLst/>
              <a:cxnLst/>
              <a:rect l="l" t="t" r="r" b="b"/>
              <a:pathLst>
                <a:path w="310896" h="365760">
                  <a:moveTo>
                    <a:pt x="0" y="0"/>
                  </a:moveTo>
                  <a:lnTo>
                    <a:pt x="0" y="365760"/>
                  </a:lnTo>
                  <a:lnTo>
                    <a:pt x="310896" y="182880"/>
                  </a:lnTo>
                  <a:close/>
                </a:path>
              </a:pathLst>
            </a:cu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ile line"/>
            <p:cNvSpPr/>
            <p:nvPr/>
          </p:nvSpPr>
          <p:spPr>
            <a:xfrm>
              <a:off x="4082796" y="3520440"/>
              <a:ext cx="914399" cy="9144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ile line"/>
            <p:cNvSpPr/>
            <p:nvPr/>
          </p:nvSpPr>
          <p:spPr>
            <a:xfrm>
              <a:off x="4082796" y="3703320"/>
              <a:ext cx="548639" cy="9144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open tile"/>
            <p:cNvSpPr/>
            <p:nvPr/>
          </p:nvSpPr>
          <p:spPr>
            <a:xfrm>
              <a:off x="5454396" y="2286000"/>
              <a:ext cx="1280160" cy="1737360"/>
            </a:xfrm>
            <a:prstGeom prst="roundRect">
              <a:avLst>
                <a:gd name="adj" fmla="val 714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ile screen"/>
            <p:cNvSpPr/>
            <p:nvPr/>
          </p:nvSpPr>
          <p:spPr>
            <a:xfrm>
              <a:off x="5637276" y="2514600"/>
              <a:ext cx="914399" cy="822960"/>
            </a:xfrm>
            <a:prstGeom prst="roundRect">
              <a:avLst>
                <a:gd name="adj" fmla="val 5555"/>
              </a:avLst>
            </a:prstGeom>
            <a:solidFill>
              <a:srgbClr val="F4F5F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lay"/>
            <p:cNvSpPr/>
            <p:nvPr/>
          </p:nvSpPr>
          <p:spPr>
            <a:xfrm>
              <a:off x="5993892" y="2743200"/>
              <a:ext cx="310896" cy="365760"/>
            </a:xfrm>
            <a:custGeom>
              <a:avLst/>
              <a:gdLst/>
              <a:ahLst/>
              <a:cxnLst/>
              <a:rect l="l" t="t" r="r" b="b"/>
              <a:pathLst>
                <a:path w="310896" h="365760">
                  <a:moveTo>
                    <a:pt x="0" y="0"/>
                  </a:moveTo>
                  <a:lnTo>
                    <a:pt x="0" y="365760"/>
                  </a:lnTo>
                  <a:lnTo>
                    <a:pt x="310896" y="182880"/>
                  </a:lnTo>
                  <a:close/>
                </a:path>
              </a:pathLst>
            </a:cu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ile line"/>
            <p:cNvSpPr/>
            <p:nvPr/>
          </p:nvSpPr>
          <p:spPr>
            <a:xfrm>
              <a:off x="5637276" y="3520440"/>
              <a:ext cx="914399" cy="9144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ile line"/>
            <p:cNvSpPr/>
            <p:nvPr/>
          </p:nvSpPr>
          <p:spPr>
            <a:xfrm>
              <a:off x="5637276" y="3703320"/>
              <a:ext cx="548639" cy="9144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locked tile"/>
            <p:cNvSpPr/>
            <p:nvPr/>
          </p:nvSpPr>
          <p:spPr>
            <a:xfrm>
              <a:off x="7008876" y="2286000"/>
              <a:ext cx="1280160" cy="1737360"/>
            </a:xfrm>
            <a:prstGeom prst="roundRect">
              <a:avLst>
                <a:gd name="adj" fmla="val 7142"/>
              </a:avLst>
            </a:prstGeom>
            <a:solidFill>
              <a:srgbClr val="4A515B"/>
            </a:solidFill>
            <a:ln w="19050">
              <a:solidFill>
                <a:srgbClr val="A9B0B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padlock shackle"/>
            <p:cNvSpPr/>
            <p:nvPr/>
          </p:nvSpPr>
          <p:spPr>
            <a:xfrm>
              <a:off x="7473208" y="2751831"/>
              <a:ext cx="351495" cy="175748"/>
            </a:xfrm>
            <a:custGeom>
              <a:avLst/>
              <a:gdLst/>
              <a:ahLst/>
              <a:cxnLst/>
              <a:rect l="l" t="t" r="r" b="b"/>
              <a:pathLst>
                <a:path w="351495" h="175748">
                  <a:moveTo>
                    <a:pt x="351495" y="175748"/>
                  </a:moveTo>
                  <a:lnTo>
                    <a:pt x="349992" y="152808"/>
                  </a:lnTo>
                  <a:lnTo>
                    <a:pt x="345507" y="130261"/>
                  </a:lnTo>
                  <a:lnTo>
                    <a:pt x="338117" y="108492"/>
                  </a:lnTo>
                  <a:lnTo>
                    <a:pt x="327949" y="87874"/>
                  </a:lnTo>
                  <a:lnTo>
                    <a:pt x="315178" y="68760"/>
                  </a:lnTo>
                  <a:lnTo>
                    <a:pt x="300020" y="51476"/>
                  </a:lnTo>
                  <a:lnTo>
                    <a:pt x="282736" y="36318"/>
                  </a:lnTo>
                  <a:lnTo>
                    <a:pt x="263621" y="23546"/>
                  </a:lnTo>
                  <a:lnTo>
                    <a:pt x="243003" y="13378"/>
                  </a:lnTo>
                  <a:lnTo>
                    <a:pt x="221234" y="5989"/>
                  </a:lnTo>
                  <a:lnTo>
                    <a:pt x="198687" y="1504"/>
                  </a:lnTo>
                  <a:lnTo>
                    <a:pt x="175748" y="0"/>
                  </a:lnTo>
                  <a:lnTo>
                    <a:pt x="152808" y="1504"/>
                  </a:lnTo>
                  <a:lnTo>
                    <a:pt x="130261" y="5989"/>
                  </a:lnTo>
                  <a:lnTo>
                    <a:pt x="108492" y="13378"/>
                  </a:lnTo>
                  <a:lnTo>
                    <a:pt x="87874" y="23546"/>
                  </a:lnTo>
                  <a:lnTo>
                    <a:pt x="68759" y="36318"/>
                  </a:lnTo>
                  <a:lnTo>
                    <a:pt x="51475" y="51476"/>
                  </a:lnTo>
                  <a:lnTo>
                    <a:pt x="36317" y="68760"/>
                  </a:lnTo>
                  <a:lnTo>
                    <a:pt x="23546" y="87874"/>
                  </a:lnTo>
                  <a:lnTo>
                    <a:pt x="13378" y="108492"/>
                  </a:lnTo>
                  <a:lnTo>
                    <a:pt x="5988" y="130261"/>
                  </a:lnTo>
                  <a:lnTo>
                    <a:pt x="1503" y="152808"/>
                  </a:lnTo>
                  <a:lnTo>
                    <a:pt x="0" y="175748"/>
                  </a:lnTo>
                  <a:lnTo>
                    <a:pt x="68031" y="175748"/>
                  </a:lnTo>
                  <a:lnTo>
                    <a:pt x="68953" y="161688"/>
                  </a:lnTo>
                  <a:lnTo>
                    <a:pt x="71702" y="147869"/>
                  </a:lnTo>
                  <a:lnTo>
                    <a:pt x="76231" y="134527"/>
                  </a:lnTo>
                  <a:lnTo>
                    <a:pt x="82462" y="121890"/>
                  </a:lnTo>
                  <a:lnTo>
                    <a:pt x="90290" y="110175"/>
                  </a:lnTo>
                  <a:lnTo>
                    <a:pt x="99581" y="99581"/>
                  </a:lnTo>
                  <a:lnTo>
                    <a:pt x="110174" y="90291"/>
                  </a:lnTo>
                  <a:lnTo>
                    <a:pt x="121889" y="82463"/>
                  </a:lnTo>
                  <a:lnTo>
                    <a:pt x="134526" y="76231"/>
                  </a:lnTo>
                  <a:lnTo>
                    <a:pt x="147868" y="71702"/>
                  </a:lnTo>
                  <a:lnTo>
                    <a:pt x="161688" y="68953"/>
                  </a:lnTo>
                  <a:lnTo>
                    <a:pt x="175748" y="68032"/>
                  </a:lnTo>
                  <a:lnTo>
                    <a:pt x="189807" y="68953"/>
                  </a:lnTo>
                  <a:lnTo>
                    <a:pt x="203627" y="71702"/>
                  </a:lnTo>
                  <a:lnTo>
                    <a:pt x="216969" y="76231"/>
                  </a:lnTo>
                  <a:lnTo>
                    <a:pt x="229606" y="82463"/>
                  </a:lnTo>
                  <a:lnTo>
                    <a:pt x="241321" y="90291"/>
                  </a:lnTo>
                  <a:lnTo>
                    <a:pt x="251914" y="99581"/>
                  </a:lnTo>
                  <a:lnTo>
                    <a:pt x="261205" y="110175"/>
                  </a:lnTo>
                  <a:lnTo>
                    <a:pt x="269033" y="121890"/>
                  </a:lnTo>
                  <a:lnTo>
                    <a:pt x="275264" y="134527"/>
                  </a:lnTo>
                  <a:lnTo>
                    <a:pt x="279793" y="147869"/>
                  </a:lnTo>
                  <a:lnTo>
                    <a:pt x="282542" y="161688"/>
                  </a:lnTo>
                  <a:lnTo>
                    <a:pt x="283464" y="17574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adlock shackle leg"/>
            <p:cNvSpPr/>
            <p:nvPr/>
          </p:nvSpPr>
          <p:spPr>
            <a:xfrm>
              <a:off x="7473208" y="2927579"/>
              <a:ext cx="68031" cy="15477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padlock shackle leg"/>
            <p:cNvSpPr/>
            <p:nvPr/>
          </p:nvSpPr>
          <p:spPr>
            <a:xfrm>
              <a:off x="7756672" y="2927579"/>
              <a:ext cx="68031" cy="15477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padlock body"/>
            <p:cNvSpPr/>
            <p:nvPr/>
          </p:nvSpPr>
          <p:spPr>
            <a:xfrm>
              <a:off x="7365492" y="3016020"/>
              <a:ext cx="566928" cy="442203"/>
            </a:xfrm>
            <a:prstGeom prst="roundRect">
              <a:avLst>
                <a:gd name="adj" fmla="val 12820"/>
              </a:avLst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padlock keyhole"/>
            <p:cNvSpPr/>
            <p:nvPr/>
          </p:nvSpPr>
          <p:spPr>
            <a:xfrm>
              <a:off x="7609271" y="3126571"/>
              <a:ext cx="79369" cy="79369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ile line"/>
            <p:cNvSpPr/>
            <p:nvPr/>
          </p:nvSpPr>
          <p:spPr>
            <a:xfrm>
              <a:off x="7191756" y="3611880"/>
              <a:ext cx="914399" cy="91440"/>
            </a:xfrm>
            <a:prstGeom prst="rect">
              <a:avLst/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locked tile"/>
            <p:cNvSpPr/>
            <p:nvPr/>
          </p:nvSpPr>
          <p:spPr>
            <a:xfrm>
              <a:off x="8563356" y="2286000"/>
              <a:ext cx="1280160" cy="1737360"/>
            </a:xfrm>
            <a:prstGeom prst="roundRect">
              <a:avLst>
                <a:gd name="adj" fmla="val 7142"/>
              </a:avLst>
            </a:prstGeom>
            <a:solidFill>
              <a:srgbClr val="4A515B"/>
            </a:solidFill>
            <a:ln w="19050">
              <a:solidFill>
                <a:srgbClr val="A9B0B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padlock shackle"/>
            <p:cNvSpPr/>
            <p:nvPr/>
          </p:nvSpPr>
          <p:spPr>
            <a:xfrm>
              <a:off x="9027688" y="2751831"/>
              <a:ext cx="351495" cy="175748"/>
            </a:xfrm>
            <a:custGeom>
              <a:avLst/>
              <a:gdLst/>
              <a:ahLst/>
              <a:cxnLst/>
              <a:rect l="l" t="t" r="r" b="b"/>
              <a:pathLst>
                <a:path w="351495" h="175748">
                  <a:moveTo>
                    <a:pt x="351495" y="175748"/>
                  </a:moveTo>
                  <a:lnTo>
                    <a:pt x="349992" y="152808"/>
                  </a:lnTo>
                  <a:lnTo>
                    <a:pt x="345507" y="130261"/>
                  </a:lnTo>
                  <a:lnTo>
                    <a:pt x="338117" y="108492"/>
                  </a:lnTo>
                  <a:lnTo>
                    <a:pt x="327949" y="87874"/>
                  </a:lnTo>
                  <a:lnTo>
                    <a:pt x="315178" y="68760"/>
                  </a:lnTo>
                  <a:lnTo>
                    <a:pt x="300020" y="51476"/>
                  </a:lnTo>
                  <a:lnTo>
                    <a:pt x="282736" y="36318"/>
                  </a:lnTo>
                  <a:lnTo>
                    <a:pt x="263621" y="23546"/>
                  </a:lnTo>
                  <a:lnTo>
                    <a:pt x="243003" y="13378"/>
                  </a:lnTo>
                  <a:lnTo>
                    <a:pt x="221234" y="5989"/>
                  </a:lnTo>
                  <a:lnTo>
                    <a:pt x="198687" y="1504"/>
                  </a:lnTo>
                  <a:lnTo>
                    <a:pt x="175748" y="0"/>
                  </a:lnTo>
                  <a:lnTo>
                    <a:pt x="152808" y="1504"/>
                  </a:lnTo>
                  <a:lnTo>
                    <a:pt x="130261" y="5989"/>
                  </a:lnTo>
                  <a:lnTo>
                    <a:pt x="108492" y="13378"/>
                  </a:lnTo>
                  <a:lnTo>
                    <a:pt x="87874" y="23546"/>
                  </a:lnTo>
                  <a:lnTo>
                    <a:pt x="68759" y="36318"/>
                  </a:lnTo>
                  <a:lnTo>
                    <a:pt x="51475" y="51476"/>
                  </a:lnTo>
                  <a:lnTo>
                    <a:pt x="36317" y="68760"/>
                  </a:lnTo>
                  <a:lnTo>
                    <a:pt x="23546" y="87874"/>
                  </a:lnTo>
                  <a:lnTo>
                    <a:pt x="13378" y="108492"/>
                  </a:lnTo>
                  <a:lnTo>
                    <a:pt x="5988" y="130261"/>
                  </a:lnTo>
                  <a:lnTo>
                    <a:pt x="1503" y="152808"/>
                  </a:lnTo>
                  <a:lnTo>
                    <a:pt x="0" y="175748"/>
                  </a:lnTo>
                  <a:lnTo>
                    <a:pt x="68031" y="175748"/>
                  </a:lnTo>
                  <a:lnTo>
                    <a:pt x="68953" y="161688"/>
                  </a:lnTo>
                  <a:lnTo>
                    <a:pt x="71702" y="147869"/>
                  </a:lnTo>
                  <a:lnTo>
                    <a:pt x="76231" y="134527"/>
                  </a:lnTo>
                  <a:lnTo>
                    <a:pt x="82462" y="121890"/>
                  </a:lnTo>
                  <a:lnTo>
                    <a:pt x="90290" y="110175"/>
                  </a:lnTo>
                  <a:lnTo>
                    <a:pt x="99581" y="99581"/>
                  </a:lnTo>
                  <a:lnTo>
                    <a:pt x="110174" y="90291"/>
                  </a:lnTo>
                  <a:lnTo>
                    <a:pt x="121889" y="82463"/>
                  </a:lnTo>
                  <a:lnTo>
                    <a:pt x="134526" y="76231"/>
                  </a:lnTo>
                  <a:lnTo>
                    <a:pt x="147868" y="71702"/>
                  </a:lnTo>
                  <a:lnTo>
                    <a:pt x="161688" y="68953"/>
                  </a:lnTo>
                  <a:lnTo>
                    <a:pt x="175748" y="68032"/>
                  </a:lnTo>
                  <a:lnTo>
                    <a:pt x="189807" y="68953"/>
                  </a:lnTo>
                  <a:lnTo>
                    <a:pt x="203627" y="71702"/>
                  </a:lnTo>
                  <a:lnTo>
                    <a:pt x="216969" y="76231"/>
                  </a:lnTo>
                  <a:lnTo>
                    <a:pt x="229606" y="82463"/>
                  </a:lnTo>
                  <a:lnTo>
                    <a:pt x="241321" y="90291"/>
                  </a:lnTo>
                  <a:lnTo>
                    <a:pt x="251914" y="99581"/>
                  </a:lnTo>
                  <a:lnTo>
                    <a:pt x="261205" y="110175"/>
                  </a:lnTo>
                  <a:lnTo>
                    <a:pt x="269033" y="121890"/>
                  </a:lnTo>
                  <a:lnTo>
                    <a:pt x="275264" y="134527"/>
                  </a:lnTo>
                  <a:lnTo>
                    <a:pt x="279793" y="147869"/>
                  </a:lnTo>
                  <a:lnTo>
                    <a:pt x="282542" y="161688"/>
                  </a:lnTo>
                  <a:lnTo>
                    <a:pt x="283464" y="17574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padlock shackle leg"/>
            <p:cNvSpPr/>
            <p:nvPr/>
          </p:nvSpPr>
          <p:spPr>
            <a:xfrm>
              <a:off x="9027688" y="2927579"/>
              <a:ext cx="68031" cy="15477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padlock shackle leg"/>
            <p:cNvSpPr/>
            <p:nvPr/>
          </p:nvSpPr>
          <p:spPr>
            <a:xfrm>
              <a:off x="9311152" y="2927579"/>
              <a:ext cx="68031" cy="15477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padlock body"/>
            <p:cNvSpPr/>
            <p:nvPr/>
          </p:nvSpPr>
          <p:spPr>
            <a:xfrm>
              <a:off x="8919972" y="3016020"/>
              <a:ext cx="566928" cy="442203"/>
            </a:xfrm>
            <a:prstGeom prst="roundRect">
              <a:avLst>
                <a:gd name="adj" fmla="val 12820"/>
              </a:avLst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padlock keyhole"/>
            <p:cNvSpPr/>
            <p:nvPr/>
          </p:nvSpPr>
          <p:spPr>
            <a:xfrm>
              <a:off x="9163751" y="3126571"/>
              <a:ext cx="79369" cy="79369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ile line"/>
            <p:cNvSpPr/>
            <p:nvPr/>
          </p:nvSpPr>
          <p:spPr>
            <a:xfrm>
              <a:off x="8746236" y="3611880"/>
              <a:ext cx="914399" cy="91440"/>
            </a:xfrm>
            <a:prstGeom prst="rect">
              <a:avLst/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locked tile"/>
            <p:cNvSpPr/>
            <p:nvPr/>
          </p:nvSpPr>
          <p:spPr>
            <a:xfrm>
              <a:off x="10117836" y="2286000"/>
              <a:ext cx="1280160" cy="1737360"/>
            </a:xfrm>
            <a:prstGeom prst="roundRect">
              <a:avLst>
                <a:gd name="adj" fmla="val 7142"/>
              </a:avLst>
            </a:prstGeom>
            <a:solidFill>
              <a:srgbClr val="4A515B"/>
            </a:solidFill>
            <a:ln w="19050">
              <a:solidFill>
                <a:srgbClr val="A9B0B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adlock shackle"/>
            <p:cNvSpPr/>
            <p:nvPr/>
          </p:nvSpPr>
          <p:spPr>
            <a:xfrm>
              <a:off x="10582168" y="2751831"/>
              <a:ext cx="351495" cy="175748"/>
            </a:xfrm>
            <a:custGeom>
              <a:avLst/>
              <a:gdLst/>
              <a:ahLst/>
              <a:cxnLst/>
              <a:rect l="l" t="t" r="r" b="b"/>
              <a:pathLst>
                <a:path w="351495" h="175748">
                  <a:moveTo>
                    <a:pt x="351495" y="175748"/>
                  </a:moveTo>
                  <a:lnTo>
                    <a:pt x="349992" y="152808"/>
                  </a:lnTo>
                  <a:lnTo>
                    <a:pt x="345507" y="130261"/>
                  </a:lnTo>
                  <a:lnTo>
                    <a:pt x="338117" y="108492"/>
                  </a:lnTo>
                  <a:lnTo>
                    <a:pt x="327949" y="87874"/>
                  </a:lnTo>
                  <a:lnTo>
                    <a:pt x="315178" y="68760"/>
                  </a:lnTo>
                  <a:lnTo>
                    <a:pt x="300020" y="51476"/>
                  </a:lnTo>
                  <a:lnTo>
                    <a:pt x="282736" y="36318"/>
                  </a:lnTo>
                  <a:lnTo>
                    <a:pt x="263621" y="23546"/>
                  </a:lnTo>
                  <a:lnTo>
                    <a:pt x="243003" y="13378"/>
                  </a:lnTo>
                  <a:lnTo>
                    <a:pt x="221234" y="5989"/>
                  </a:lnTo>
                  <a:lnTo>
                    <a:pt x="198687" y="1504"/>
                  </a:lnTo>
                  <a:lnTo>
                    <a:pt x="175748" y="0"/>
                  </a:lnTo>
                  <a:lnTo>
                    <a:pt x="152808" y="1504"/>
                  </a:lnTo>
                  <a:lnTo>
                    <a:pt x="130261" y="5989"/>
                  </a:lnTo>
                  <a:lnTo>
                    <a:pt x="108492" y="13378"/>
                  </a:lnTo>
                  <a:lnTo>
                    <a:pt x="87874" y="23546"/>
                  </a:lnTo>
                  <a:lnTo>
                    <a:pt x="68759" y="36318"/>
                  </a:lnTo>
                  <a:lnTo>
                    <a:pt x="51475" y="51476"/>
                  </a:lnTo>
                  <a:lnTo>
                    <a:pt x="36317" y="68760"/>
                  </a:lnTo>
                  <a:lnTo>
                    <a:pt x="23546" y="87874"/>
                  </a:lnTo>
                  <a:lnTo>
                    <a:pt x="13378" y="108492"/>
                  </a:lnTo>
                  <a:lnTo>
                    <a:pt x="5988" y="130261"/>
                  </a:lnTo>
                  <a:lnTo>
                    <a:pt x="1503" y="152808"/>
                  </a:lnTo>
                  <a:lnTo>
                    <a:pt x="0" y="175748"/>
                  </a:lnTo>
                  <a:lnTo>
                    <a:pt x="68031" y="175748"/>
                  </a:lnTo>
                  <a:lnTo>
                    <a:pt x="68953" y="161688"/>
                  </a:lnTo>
                  <a:lnTo>
                    <a:pt x="71702" y="147869"/>
                  </a:lnTo>
                  <a:lnTo>
                    <a:pt x="76231" y="134527"/>
                  </a:lnTo>
                  <a:lnTo>
                    <a:pt x="82462" y="121890"/>
                  </a:lnTo>
                  <a:lnTo>
                    <a:pt x="90290" y="110175"/>
                  </a:lnTo>
                  <a:lnTo>
                    <a:pt x="99581" y="99581"/>
                  </a:lnTo>
                  <a:lnTo>
                    <a:pt x="110174" y="90291"/>
                  </a:lnTo>
                  <a:lnTo>
                    <a:pt x="121889" y="82463"/>
                  </a:lnTo>
                  <a:lnTo>
                    <a:pt x="134526" y="76231"/>
                  </a:lnTo>
                  <a:lnTo>
                    <a:pt x="147868" y="71702"/>
                  </a:lnTo>
                  <a:lnTo>
                    <a:pt x="161688" y="68953"/>
                  </a:lnTo>
                  <a:lnTo>
                    <a:pt x="175748" y="68032"/>
                  </a:lnTo>
                  <a:lnTo>
                    <a:pt x="189807" y="68953"/>
                  </a:lnTo>
                  <a:lnTo>
                    <a:pt x="203627" y="71702"/>
                  </a:lnTo>
                  <a:lnTo>
                    <a:pt x="216969" y="76231"/>
                  </a:lnTo>
                  <a:lnTo>
                    <a:pt x="229606" y="82463"/>
                  </a:lnTo>
                  <a:lnTo>
                    <a:pt x="241321" y="90291"/>
                  </a:lnTo>
                  <a:lnTo>
                    <a:pt x="251914" y="99581"/>
                  </a:lnTo>
                  <a:lnTo>
                    <a:pt x="261205" y="110175"/>
                  </a:lnTo>
                  <a:lnTo>
                    <a:pt x="269033" y="121890"/>
                  </a:lnTo>
                  <a:lnTo>
                    <a:pt x="275264" y="134527"/>
                  </a:lnTo>
                  <a:lnTo>
                    <a:pt x="279793" y="147869"/>
                  </a:lnTo>
                  <a:lnTo>
                    <a:pt x="282542" y="161688"/>
                  </a:lnTo>
                  <a:lnTo>
                    <a:pt x="283464" y="17574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padlock shackle leg"/>
            <p:cNvSpPr/>
            <p:nvPr/>
          </p:nvSpPr>
          <p:spPr>
            <a:xfrm>
              <a:off x="10582168" y="2927579"/>
              <a:ext cx="68031" cy="15477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padlock shackle leg"/>
            <p:cNvSpPr/>
            <p:nvPr/>
          </p:nvSpPr>
          <p:spPr>
            <a:xfrm>
              <a:off x="10865632" y="2927579"/>
              <a:ext cx="68031" cy="15477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padlock body"/>
            <p:cNvSpPr/>
            <p:nvPr/>
          </p:nvSpPr>
          <p:spPr>
            <a:xfrm>
              <a:off x="10474452" y="3016020"/>
              <a:ext cx="566928" cy="442203"/>
            </a:xfrm>
            <a:prstGeom prst="roundRect">
              <a:avLst>
                <a:gd name="adj" fmla="val 12820"/>
              </a:avLst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padlock keyhole"/>
            <p:cNvSpPr/>
            <p:nvPr/>
          </p:nvSpPr>
          <p:spPr>
            <a:xfrm>
              <a:off x="10718231" y="3126571"/>
              <a:ext cx="79369" cy="79369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tile line"/>
            <p:cNvSpPr/>
            <p:nvPr/>
          </p:nvSpPr>
          <p:spPr>
            <a:xfrm>
              <a:off x="10300716" y="3611880"/>
              <a:ext cx="914399" cy="91440"/>
            </a:xfrm>
            <a:prstGeom prst="rect">
              <a:avLst/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shelf board"/>
            <p:cNvSpPr/>
            <p:nvPr/>
          </p:nvSpPr>
          <p:spPr>
            <a:xfrm>
              <a:off x="608076" y="4023360"/>
              <a:ext cx="10972799" cy="182880"/>
            </a:xfrm>
            <a:prstGeom prst="roundRect">
              <a:avLst>
                <a:gd name="adj" fmla="val 20000"/>
              </a:avLst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bracket"/>
            <p:cNvCxnSpPr/>
            <p:nvPr/>
          </p:nvCxnSpPr>
          <p:spPr>
            <a:xfrm>
              <a:off x="790956" y="2103120"/>
              <a:ext cx="5943600" cy="0"/>
            </a:xfrm>
            <a:prstGeom prst="line">
              <a:avLst/>
            </a:prstGeom>
            <a:ln w="38100">
              <a:solidFill>
                <a:srgbClr val="F28C28"/>
              </a:solidFill>
            </a:ln>
          </p:spPr>
        </p:cxnSp>
        <p:cxnSp>
          <p:nvCxnSpPr>
            <p:cNvPr id="48" name="bracket tick"/>
            <p:cNvCxnSpPr/>
            <p:nvPr/>
          </p:nvCxnSpPr>
          <p:spPr>
            <a:xfrm>
              <a:off x="790956" y="2103120"/>
              <a:ext cx="0" cy="128016"/>
            </a:xfrm>
            <a:prstGeom prst="line">
              <a:avLst/>
            </a:prstGeom>
            <a:ln w="38100">
              <a:solidFill>
                <a:srgbClr val="F28C28"/>
              </a:solidFill>
            </a:ln>
          </p:spPr>
        </p:cxnSp>
        <p:cxnSp>
          <p:nvCxnSpPr>
            <p:cNvPr id="49" name="bracket tick"/>
            <p:cNvCxnSpPr/>
            <p:nvPr/>
          </p:nvCxnSpPr>
          <p:spPr>
            <a:xfrm>
              <a:off x="6734556" y="2103120"/>
              <a:ext cx="0" cy="128016"/>
            </a:xfrm>
            <a:prstGeom prst="line">
              <a:avLst/>
            </a:prstGeom>
            <a:ln w="38100">
              <a:solidFill>
                <a:srgbClr val="F28C28"/>
              </a:solidFill>
            </a:ln>
          </p:spPr>
        </p:cxnSp>
        <p:sp>
          <p:nvSpPr>
            <p:cNvPr id="50" name="bracket label"/>
            <p:cNvSpPr txBox="1"/>
            <p:nvPr/>
          </p:nvSpPr>
          <p:spPr>
            <a:xfrm>
              <a:off x="3122676" y="1627632"/>
              <a:ext cx="1280160" cy="384048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Open</a:t>
              </a:r>
            </a:p>
          </p:txBody>
        </p:sp>
        <p:cxnSp>
          <p:nvCxnSpPr>
            <p:cNvPr id="51" name="bracket"/>
            <p:cNvCxnSpPr/>
            <p:nvPr/>
          </p:nvCxnSpPr>
          <p:spPr>
            <a:xfrm>
              <a:off x="7008876" y="2103120"/>
              <a:ext cx="4389120" cy="0"/>
            </a:xfrm>
            <a:prstGeom prst="line">
              <a:avLst/>
            </a:prstGeom>
            <a:ln w="38100">
              <a:solidFill>
                <a:srgbClr val="A9B0B8"/>
              </a:solidFill>
            </a:ln>
          </p:spPr>
        </p:cxnSp>
        <p:cxnSp>
          <p:nvCxnSpPr>
            <p:cNvPr id="52" name="bracket tick"/>
            <p:cNvCxnSpPr/>
            <p:nvPr/>
          </p:nvCxnSpPr>
          <p:spPr>
            <a:xfrm>
              <a:off x="7008876" y="2103120"/>
              <a:ext cx="0" cy="128016"/>
            </a:xfrm>
            <a:prstGeom prst="line">
              <a:avLst/>
            </a:prstGeom>
            <a:ln w="38100">
              <a:solidFill>
                <a:srgbClr val="A9B0B8"/>
              </a:solidFill>
            </a:ln>
          </p:spPr>
        </p:cxnSp>
        <p:cxnSp>
          <p:nvCxnSpPr>
            <p:cNvPr id="53" name="bracket tick"/>
            <p:cNvCxnSpPr/>
            <p:nvPr/>
          </p:nvCxnSpPr>
          <p:spPr>
            <a:xfrm>
              <a:off x="11397996" y="2103120"/>
              <a:ext cx="0" cy="128016"/>
            </a:xfrm>
            <a:prstGeom prst="line">
              <a:avLst/>
            </a:prstGeom>
            <a:ln w="38100">
              <a:solidFill>
                <a:srgbClr val="A9B0B8"/>
              </a:solidFill>
            </a:ln>
          </p:spPr>
        </p:cxnSp>
        <p:sp>
          <p:nvSpPr>
            <p:cNvPr id="54" name="bracket label"/>
            <p:cNvSpPr txBox="1"/>
            <p:nvPr/>
          </p:nvSpPr>
          <p:spPr>
            <a:xfrm>
              <a:off x="8563356" y="1627632"/>
              <a:ext cx="1280160" cy="384048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Locked</a:t>
              </a:r>
            </a:p>
          </p:txBody>
        </p:sp>
        <p:cxnSp>
          <p:nvCxnSpPr>
            <p:cNvPr id="55" name="unlock arrow"/>
            <p:cNvCxnSpPr/>
            <p:nvPr/>
          </p:nvCxnSpPr>
          <p:spPr>
            <a:xfrm>
              <a:off x="790956" y="4434840"/>
              <a:ext cx="10607040" cy="0"/>
            </a:xfrm>
            <a:prstGeom prst="line">
              <a:avLst/>
            </a:prstGeom>
            <a:ln w="381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56" name="arrow label"/>
            <p:cNvSpPr txBox="1"/>
            <p:nvPr/>
          </p:nvSpPr>
          <p:spPr>
            <a:xfrm>
              <a:off x="4631436" y="4498848"/>
              <a:ext cx="292608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8C28"/>
                  </a:solidFill>
                  <a:latin typeface="Arial"/>
                </a:rPr>
                <a:t>Opens as you unlock</a:t>
              </a:r>
            </a:p>
          </p:txBody>
        </p:sp>
      </p:grpSp>
      <p:grpSp>
        <p:nvGrpSpPr>
          <p:cNvPr id="57" name="Library note" descr="Note with an open book icon: the library is always open to browse."/>
          <p:cNvGrpSpPr/>
          <p:nvPr/>
        </p:nvGrpSpPr>
        <p:grpSpPr>
          <a:xfrm>
            <a:off x="3168396" y="5029200"/>
            <a:ext cx="5852160" cy="530352"/>
            <a:chOff x="3168396" y="5029200"/>
            <a:chExt cx="5852160" cy="530352"/>
          </a:xfrm>
        </p:grpSpPr>
        <p:sp>
          <p:nvSpPr>
            <p:cNvPr id="58" name="note card"/>
            <p:cNvSpPr/>
            <p:nvPr/>
          </p:nvSpPr>
          <p:spPr>
            <a:xfrm>
              <a:off x="3168396" y="5029200"/>
              <a:ext cx="5852160" cy="530352"/>
            </a:xfrm>
            <a:prstGeom prst="roundRect">
              <a:avLst>
                <a:gd name="adj" fmla="val 1379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book left"/>
            <p:cNvSpPr/>
            <p:nvPr/>
          </p:nvSpPr>
          <p:spPr>
            <a:xfrm>
              <a:off x="3351276" y="5084064"/>
              <a:ext cx="457200" cy="329184"/>
            </a:xfrm>
            <a:custGeom>
              <a:avLst/>
              <a:gdLst/>
              <a:ahLst/>
              <a:cxnLst/>
              <a:rect l="l" t="t" r="r" b="b"/>
              <a:pathLst>
                <a:path w="457200" h="329184">
                  <a:moveTo>
                    <a:pt x="0" y="54864"/>
                  </a:moveTo>
                  <a:lnTo>
                    <a:pt x="228600" y="0"/>
                  </a:lnTo>
                  <a:lnTo>
                    <a:pt x="457200" y="54864"/>
                  </a:lnTo>
                  <a:lnTo>
                    <a:pt x="457200" y="329184"/>
                  </a:lnTo>
                  <a:lnTo>
                    <a:pt x="228600" y="274320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book right"/>
            <p:cNvSpPr/>
            <p:nvPr/>
          </p:nvSpPr>
          <p:spPr>
            <a:xfrm>
              <a:off x="3826763" y="5084064"/>
              <a:ext cx="457201" cy="329184"/>
            </a:xfrm>
            <a:custGeom>
              <a:avLst/>
              <a:gdLst/>
              <a:ahLst/>
              <a:cxnLst/>
              <a:rect l="l" t="t" r="r" b="b"/>
              <a:pathLst>
                <a:path w="457201" h="329184">
                  <a:moveTo>
                    <a:pt x="0" y="54864"/>
                  </a:moveTo>
                  <a:lnTo>
                    <a:pt x="228600" y="0"/>
                  </a:lnTo>
                  <a:lnTo>
                    <a:pt x="457201" y="54864"/>
                  </a:lnTo>
                  <a:lnTo>
                    <a:pt x="457201" y="329184"/>
                  </a:lnTo>
                  <a:lnTo>
                    <a:pt x="228600" y="274320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NOTE"/>
            <p:cNvSpPr txBox="1"/>
            <p:nvPr/>
          </p:nvSpPr>
          <p:spPr>
            <a:xfrm>
              <a:off x="4448556" y="5029200"/>
              <a:ext cx="4480560" cy="530352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The library is always open to browse.</a:t>
              </a:r>
            </a:p>
          </p:txBody>
        </p:sp>
      </p:grpSp>
      <p:sp>
        <p:nvSpPr>
          <p:cNvPr id="6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Lessons are optional and can be replayed. New ones open as you unlock technology.</a:t>
            </a:r>
          </a:p>
        </p:txBody>
      </p:sp>
      <p:sp>
        <p:nvSpPr>
          <p:cNvPr id="65" name="NUM"/>
          <p:cNvSpPr txBox="1"/>
          <p:nvPr/>
        </p:nvSpPr>
        <p:spPr>
          <a:xfrm>
            <a:off x="10725912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The miniature table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Miniature model-railway table" descr="A clean white model-railway table on a dark panel. It holds a small loop of track, a tiny train, a semaphore signal, a signal box and a small station, all drawn from simple shapes."/>
          <p:cNvGrpSpPr/>
          <p:nvPr/>
        </p:nvGrpSpPr>
        <p:grpSpPr>
          <a:xfrm>
            <a:off x="548640" y="1325880"/>
            <a:ext cx="11091672" cy="4297680"/>
            <a:chOff x="548640" y="1325880"/>
            <a:chExt cx="11091672" cy="4297680"/>
          </a:xfrm>
        </p:grpSpPr>
        <p:sp>
          <p:nvSpPr>
            <p:cNvPr id="5" name="dark panel"/>
            <p:cNvSpPr/>
            <p:nvPr/>
          </p:nvSpPr>
          <p:spPr>
            <a:xfrm>
              <a:off x="548640" y="1325880"/>
              <a:ext cx="11091672" cy="4297680"/>
            </a:xfrm>
            <a:prstGeom prst="roundRect">
              <a:avLst>
                <a:gd name="adj" fmla="val 1702"/>
              </a:avLst>
            </a:prstGeom>
            <a:solidFill>
              <a:srgbClr val="1B1D21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able edge"/>
            <p:cNvSpPr/>
            <p:nvPr/>
          </p:nvSpPr>
          <p:spPr>
            <a:xfrm>
              <a:off x="1014984" y="5155387"/>
              <a:ext cx="10158984" cy="201168"/>
            </a:xfrm>
            <a:prstGeom prst="roundRect">
              <a:avLst>
                <a:gd name="adj" fmla="val 18181"/>
              </a:avLst>
            </a:prstGeom>
            <a:solidFill>
              <a:srgbClr val="B5BBC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able top"/>
            <p:cNvSpPr/>
            <p:nvPr/>
          </p:nvSpPr>
          <p:spPr>
            <a:xfrm>
              <a:off x="1014984" y="1554480"/>
              <a:ext cx="10158984" cy="3621024"/>
            </a:xfrm>
            <a:prstGeom prst="roundRect">
              <a:avLst>
                <a:gd name="adj" fmla="val 3333"/>
              </a:avLst>
            </a:prstGeom>
            <a:solidFill>
              <a:srgbClr val="F4F5F6"/>
            </a:solidFill>
            <a:ln w="12700">
              <a:solidFill>
                <a:srgbClr val="D5D9D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>
              <a:off x="2775204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>
              <a:off x="2775204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>
              <a:off x="2996488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>
              <a:off x="2996488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>
              <a:off x="3217773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>
              <a:off x="3217773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>
              <a:off x="3439058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>
              <a:off x="3439058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>
              <a:off x="3660343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>
              <a:off x="3660343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>
              <a:off x="3881628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3881628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4102912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leeper"/>
            <p:cNvSpPr/>
            <p:nvPr/>
          </p:nvSpPr>
          <p:spPr>
            <a:xfrm>
              <a:off x="4102912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leeper"/>
            <p:cNvSpPr/>
            <p:nvPr/>
          </p:nvSpPr>
          <p:spPr>
            <a:xfrm>
              <a:off x="4324197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leeper"/>
            <p:cNvSpPr/>
            <p:nvPr/>
          </p:nvSpPr>
          <p:spPr>
            <a:xfrm>
              <a:off x="4324197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leeper"/>
            <p:cNvSpPr/>
            <p:nvPr/>
          </p:nvSpPr>
          <p:spPr>
            <a:xfrm>
              <a:off x="4545482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leeper"/>
            <p:cNvSpPr/>
            <p:nvPr/>
          </p:nvSpPr>
          <p:spPr>
            <a:xfrm>
              <a:off x="4545482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leeper"/>
            <p:cNvSpPr/>
            <p:nvPr/>
          </p:nvSpPr>
          <p:spPr>
            <a:xfrm>
              <a:off x="4766767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sleeper"/>
            <p:cNvSpPr/>
            <p:nvPr/>
          </p:nvSpPr>
          <p:spPr>
            <a:xfrm>
              <a:off x="4766767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leeper"/>
            <p:cNvSpPr/>
            <p:nvPr/>
          </p:nvSpPr>
          <p:spPr>
            <a:xfrm>
              <a:off x="4988052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sleeper"/>
            <p:cNvSpPr/>
            <p:nvPr/>
          </p:nvSpPr>
          <p:spPr>
            <a:xfrm>
              <a:off x="4988052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sleeper"/>
            <p:cNvSpPr/>
            <p:nvPr/>
          </p:nvSpPr>
          <p:spPr>
            <a:xfrm>
              <a:off x="5209336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sleeper"/>
            <p:cNvSpPr/>
            <p:nvPr/>
          </p:nvSpPr>
          <p:spPr>
            <a:xfrm>
              <a:off x="5209336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sleeper"/>
            <p:cNvSpPr/>
            <p:nvPr/>
          </p:nvSpPr>
          <p:spPr>
            <a:xfrm>
              <a:off x="5430621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sleeper"/>
            <p:cNvSpPr/>
            <p:nvPr/>
          </p:nvSpPr>
          <p:spPr>
            <a:xfrm>
              <a:off x="5430621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sleeper"/>
            <p:cNvSpPr/>
            <p:nvPr/>
          </p:nvSpPr>
          <p:spPr>
            <a:xfrm>
              <a:off x="5651906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sleeper"/>
            <p:cNvSpPr/>
            <p:nvPr/>
          </p:nvSpPr>
          <p:spPr>
            <a:xfrm>
              <a:off x="5651906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sleeper"/>
            <p:cNvSpPr/>
            <p:nvPr/>
          </p:nvSpPr>
          <p:spPr>
            <a:xfrm>
              <a:off x="5873191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sleeper"/>
            <p:cNvSpPr/>
            <p:nvPr/>
          </p:nvSpPr>
          <p:spPr>
            <a:xfrm>
              <a:off x="5873191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sleeper"/>
            <p:cNvSpPr/>
            <p:nvPr/>
          </p:nvSpPr>
          <p:spPr>
            <a:xfrm>
              <a:off x="6094476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sleeper"/>
            <p:cNvSpPr/>
            <p:nvPr/>
          </p:nvSpPr>
          <p:spPr>
            <a:xfrm>
              <a:off x="6094476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sleeper"/>
            <p:cNvSpPr/>
            <p:nvPr/>
          </p:nvSpPr>
          <p:spPr>
            <a:xfrm>
              <a:off x="6315760" y="2288743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sleeper"/>
            <p:cNvSpPr/>
            <p:nvPr/>
          </p:nvSpPr>
          <p:spPr>
            <a:xfrm>
              <a:off x="6315760" y="4431182"/>
              <a:ext cx="70408" cy="211226"/>
            </a:xfrm>
            <a:prstGeom prst="rect">
              <a:avLst/>
            </a:prstGeom>
            <a:solidFill>
              <a:srgbClr val="B9A5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outer rail"/>
            <p:cNvSpPr/>
            <p:nvPr/>
          </p:nvSpPr>
          <p:spPr>
            <a:xfrm>
              <a:off x="1618488" y="2308860"/>
              <a:ext cx="6035040" cy="2313432"/>
            </a:xfrm>
            <a:prstGeom prst="roundRect">
              <a:avLst>
                <a:gd name="adj" fmla="val 50000"/>
              </a:avLst>
            </a:prstGeom>
            <a:noFill/>
            <a:ln w="41910">
              <a:solidFill>
                <a:srgbClr val="7A828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inner rail"/>
            <p:cNvSpPr/>
            <p:nvPr/>
          </p:nvSpPr>
          <p:spPr>
            <a:xfrm>
              <a:off x="1769364" y="2459736"/>
              <a:ext cx="5733288" cy="2011679"/>
            </a:xfrm>
            <a:prstGeom prst="roundRect">
              <a:avLst>
                <a:gd name="adj" fmla="val 50000"/>
              </a:avLst>
            </a:prstGeom>
            <a:noFill/>
            <a:ln w="41910">
              <a:solidFill>
                <a:srgbClr val="7A828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mini train engine"/>
            <p:cNvSpPr/>
            <p:nvPr/>
          </p:nvSpPr>
          <p:spPr>
            <a:xfrm>
              <a:off x="3328415" y="2252532"/>
              <a:ext cx="649772" cy="420441"/>
            </a:xfrm>
            <a:prstGeom prst="roundRect">
              <a:avLst>
                <a:gd name="adj" fmla="val 18181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mini train chimney"/>
            <p:cNvSpPr/>
            <p:nvPr/>
          </p:nvSpPr>
          <p:spPr>
            <a:xfrm>
              <a:off x="3806189" y="2137867"/>
              <a:ext cx="133776" cy="191109"/>
            </a:xfrm>
            <a:prstGeom prst="rect">
              <a:avLst/>
            </a:prstGeom>
            <a:solidFill>
              <a:srgbClr val="3A3F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mini train frame"/>
            <p:cNvSpPr/>
            <p:nvPr/>
          </p:nvSpPr>
          <p:spPr>
            <a:xfrm>
              <a:off x="3328415" y="2520086"/>
              <a:ext cx="649772" cy="152887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mini train wagon"/>
            <p:cNvSpPr/>
            <p:nvPr/>
          </p:nvSpPr>
          <p:spPr>
            <a:xfrm>
              <a:off x="4016410" y="2309865"/>
              <a:ext cx="573328" cy="363108"/>
            </a:xfrm>
            <a:prstGeom prst="roundRect">
              <a:avLst>
                <a:gd name="adj" fmla="val 10526"/>
              </a:avLst>
            </a:prstGeom>
            <a:solidFill>
              <a:srgbClr val="6C7480"/>
            </a:solidFill>
            <a:ln w="9525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mini train wagon"/>
            <p:cNvSpPr/>
            <p:nvPr/>
          </p:nvSpPr>
          <p:spPr>
            <a:xfrm>
              <a:off x="4627961" y="2309865"/>
              <a:ext cx="573328" cy="363108"/>
            </a:xfrm>
            <a:prstGeom prst="roundRect">
              <a:avLst>
                <a:gd name="adj" fmla="val 10526"/>
              </a:avLst>
            </a:prstGeom>
            <a:solidFill>
              <a:srgbClr val="6C7480"/>
            </a:solidFill>
            <a:ln w="9525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mini train wheel"/>
            <p:cNvSpPr/>
            <p:nvPr/>
          </p:nvSpPr>
          <p:spPr>
            <a:xfrm>
              <a:off x="3427792" y="2600352"/>
              <a:ext cx="145243" cy="145243"/>
            </a:xfrm>
            <a:prstGeom prst="ellipse">
              <a:avLst/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mini train wheel"/>
            <p:cNvSpPr/>
            <p:nvPr/>
          </p:nvSpPr>
          <p:spPr>
            <a:xfrm>
              <a:off x="3733568" y="2600352"/>
              <a:ext cx="145243" cy="145243"/>
            </a:xfrm>
            <a:prstGeom prst="ellipse">
              <a:avLst/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mini train wheel"/>
            <p:cNvSpPr/>
            <p:nvPr/>
          </p:nvSpPr>
          <p:spPr>
            <a:xfrm>
              <a:off x="4096676" y="2600352"/>
              <a:ext cx="145243" cy="145243"/>
            </a:xfrm>
            <a:prstGeom prst="ellipse">
              <a:avLst/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mini train wheel"/>
            <p:cNvSpPr/>
            <p:nvPr/>
          </p:nvSpPr>
          <p:spPr>
            <a:xfrm>
              <a:off x="4402451" y="2600352"/>
              <a:ext cx="145243" cy="145243"/>
            </a:xfrm>
            <a:prstGeom prst="ellipse">
              <a:avLst/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mini train wheel"/>
            <p:cNvSpPr/>
            <p:nvPr/>
          </p:nvSpPr>
          <p:spPr>
            <a:xfrm>
              <a:off x="4708227" y="2600352"/>
              <a:ext cx="145243" cy="145243"/>
            </a:xfrm>
            <a:prstGeom prst="ellipse">
              <a:avLst/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mini train wheel"/>
            <p:cNvSpPr/>
            <p:nvPr/>
          </p:nvSpPr>
          <p:spPr>
            <a:xfrm>
              <a:off x="5014002" y="2600352"/>
              <a:ext cx="145243" cy="145243"/>
            </a:xfrm>
            <a:prstGeom prst="ellipse">
              <a:avLst/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latform"/>
            <p:cNvSpPr/>
            <p:nvPr/>
          </p:nvSpPr>
          <p:spPr>
            <a:xfrm>
              <a:off x="3026664" y="4089196"/>
              <a:ext cx="2615184" cy="201168"/>
            </a:xfrm>
            <a:prstGeom prst="rect">
              <a:avLst/>
            </a:prstGeom>
            <a:solidFill>
              <a:srgbClr val="D5D9DE"/>
            </a:solidFill>
            <a:ln w="9525">
              <a:solidFill>
                <a:srgbClr val="8C939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station body"/>
            <p:cNvSpPr/>
            <p:nvPr/>
          </p:nvSpPr>
          <p:spPr>
            <a:xfrm>
              <a:off x="3730752" y="3582253"/>
              <a:ext cx="1207008" cy="506943"/>
            </a:xfrm>
            <a:prstGeom prst="rect">
              <a:avLst/>
            </a:prstGeom>
            <a:solidFill>
              <a:srgbClr val="C9CED3"/>
            </a:solidFill>
            <a:ln w="9525">
              <a:solidFill>
                <a:srgbClr val="6B707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station roof"/>
            <p:cNvSpPr/>
            <p:nvPr/>
          </p:nvSpPr>
          <p:spPr>
            <a:xfrm>
              <a:off x="3658331" y="3364992"/>
              <a:ext cx="1351849" cy="217261"/>
            </a:xfrm>
            <a:custGeom>
              <a:avLst/>
              <a:gdLst/>
              <a:ahLst/>
              <a:cxnLst/>
              <a:rect l="l" t="t" r="r" b="b"/>
              <a:pathLst>
                <a:path w="1351849" h="217261">
                  <a:moveTo>
                    <a:pt x="0" y="217261"/>
                  </a:moveTo>
                  <a:lnTo>
                    <a:pt x="675925" y="0"/>
                  </a:lnTo>
                  <a:lnTo>
                    <a:pt x="1351849" y="217261"/>
                  </a:lnTo>
                  <a:close/>
                </a:path>
              </a:pathLst>
            </a:custGeom>
            <a:solidFill>
              <a:srgbClr val="6B707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station window"/>
            <p:cNvSpPr/>
            <p:nvPr/>
          </p:nvSpPr>
          <p:spPr>
            <a:xfrm>
              <a:off x="3851452" y="3727094"/>
              <a:ext cx="241401" cy="202777"/>
            </a:xfrm>
            <a:prstGeom prst="rect">
              <a:avLst/>
            </a:prstGeom>
            <a:solidFill>
              <a:srgbClr val="4DA3FF">
                <a:alpha val="75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station window"/>
            <p:cNvSpPr/>
            <p:nvPr/>
          </p:nvSpPr>
          <p:spPr>
            <a:xfrm>
              <a:off x="4213555" y="3727094"/>
              <a:ext cx="241401" cy="202777"/>
            </a:xfrm>
            <a:prstGeom prst="rect">
              <a:avLst/>
            </a:prstGeom>
            <a:solidFill>
              <a:srgbClr val="4DA3FF">
                <a:alpha val="75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station window"/>
            <p:cNvSpPr/>
            <p:nvPr/>
          </p:nvSpPr>
          <p:spPr>
            <a:xfrm>
              <a:off x="4575657" y="3727094"/>
              <a:ext cx="241401" cy="202777"/>
            </a:xfrm>
            <a:prstGeom prst="rect">
              <a:avLst/>
            </a:prstGeom>
            <a:solidFill>
              <a:srgbClr val="4DA3FF">
                <a:alpha val="75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semaphore post"/>
            <p:cNvSpPr/>
            <p:nvPr/>
          </p:nvSpPr>
          <p:spPr>
            <a:xfrm>
              <a:off x="8583930" y="3063239"/>
              <a:ext cx="150876" cy="1508760"/>
            </a:xfrm>
            <a:prstGeom prst="rect">
              <a:avLst/>
            </a:prstGeom>
            <a:solidFill>
              <a:srgbClr val="6B707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semaphore foot"/>
            <p:cNvSpPr/>
            <p:nvPr/>
          </p:nvSpPr>
          <p:spPr>
            <a:xfrm>
              <a:off x="8327440" y="4481474"/>
              <a:ext cx="663854" cy="90525"/>
            </a:xfrm>
            <a:prstGeom prst="rect">
              <a:avLst/>
            </a:prstGeom>
            <a:solidFill>
              <a:srgbClr val="3A3F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semaphore arm"/>
            <p:cNvSpPr/>
            <p:nvPr/>
          </p:nvSpPr>
          <p:spPr>
            <a:xfrm>
              <a:off x="8734805" y="3153765"/>
              <a:ext cx="935431" cy="181051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semaphore arm stripe"/>
            <p:cNvSpPr/>
            <p:nvPr/>
          </p:nvSpPr>
          <p:spPr>
            <a:xfrm>
              <a:off x="9249293" y="3153765"/>
              <a:ext cx="112251" cy="1810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semaphore lamp"/>
            <p:cNvSpPr/>
            <p:nvPr/>
          </p:nvSpPr>
          <p:spPr>
            <a:xfrm>
              <a:off x="8508492" y="3033064"/>
              <a:ext cx="301752" cy="301752"/>
            </a:xfrm>
            <a:prstGeom prst="ellipse">
              <a:avLst/>
            </a:prstGeom>
            <a:solidFill>
              <a:srgbClr val="E5484D"/>
            </a:solidFill>
            <a:ln w="12700">
              <a:solidFill>
                <a:srgbClr val="2B2F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semaphore pivot"/>
            <p:cNvSpPr/>
            <p:nvPr/>
          </p:nvSpPr>
          <p:spPr>
            <a:xfrm>
              <a:off x="8674455" y="3183940"/>
              <a:ext cx="120700" cy="120700"/>
            </a:xfrm>
            <a:prstGeom prst="ellipse">
              <a:avLst/>
            </a:prstGeom>
            <a:solidFill>
              <a:srgbClr val="3A3F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signal box lower"/>
            <p:cNvSpPr/>
            <p:nvPr/>
          </p:nvSpPr>
          <p:spPr>
            <a:xfrm>
              <a:off x="9614916" y="4113336"/>
              <a:ext cx="1106424" cy="458663"/>
            </a:xfrm>
            <a:prstGeom prst="rect">
              <a:avLst/>
            </a:prstGeom>
            <a:solidFill>
              <a:srgbClr val="8C5A3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signal box upper"/>
            <p:cNvSpPr/>
            <p:nvPr/>
          </p:nvSpPr>
          <p:spPr>
            <a:xfrm>
              <a:off x="9570659" y="3826672"/>
              <a:ext cx="1194937" cy="305775"/>
            </a:xfrm>
            <a:prstGeom prst="rect">
              <a:avLst/>
            </a:prstGeom>
            <a:solidFill>
              <a:srgbClr val="AEB4B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signal box windows"/>
            <p:cNvSpPr/>
            <p:nvPr/>
          </p:nvSpPr>
          <p:spPr>
            <a:xfrm>
              <a:off x="9703429" y="3884005"/>
              <a:ext cx="929396" cy="171998"/>
            </a:xfrm>
            <a:prstGeom prst="rect">
              <a:avLst/>
            </a:prstGeom>
            <a:solidFill>
              <a:srgbClr val="4DA3FF">
                <a:alpha val="75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signal box roof"/>
            <p:cNvSpPr/>
            <p:nvPr/>
          </p:nvSpPr>
          <p:spPr>
            <a:xfrm>
              <a:off x="9526402" y="3616452"/>
              <a:ext cx="1283451" cy="210220"/>
            </a:xfrm>
            <a:custGeom>
              <a:avLst/>
              <a:gdLst/>
              <a:ahLst/>
              <a:cxnLst/>
              <a:rect l="l" t="t" r="r" b="b"/>
              <a:pathLst>
                <a:path w="1283451" h="210220">
                  <a:moveTo>
                    <a:pt x="0" y="210220"/>
                  </a:moveTo>
                  <a:lnTo>
                    <a:pt x="641726" y="0"/>
                  </a:lnTo>
                  <a:lnTo>
                    <a:pt x="1283451" y="210220"/>
                  </a:lnTo>
                  <a:close/>
                </a:path>
              </a:pathLst>
            </a:cu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signal box door"/>
            <p:cNvSpPr/>
            <p:nvPr/>
          </p:nvSpPr>
          <p:spPr>
            <a:xfrm>
              <a:off x="10057485" y="4247113"/>
              <a:ext cx="221284" cy="324886"/>
            </a:xfrm>
            <a:prstGeom prst="rect">
              <a:avLst/>
            </a:prstGeom>
            <a:solidFill>
              <a:srgbClr val="3A3F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label pill"/>
            <p:cNvSpPr/>
            <p:nvPr/>
          </p:nvSpPr>
          <p:spPr>
            <a:xfrm>
              <a:off x="3934360" y="1775764"/>
              <a:ext cx="699206" cy="274320"/>
            </a:xfrm>
            <a:prstGeom prst="roundRect">
              <a:avLst>
                <a:gd name="adj" fmla="val 3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Train</a:t>
              </a:r>
            </a:p>
          </p:txBody>
        </p:sp>
        <p:sp>
          <p:nvSpPr>
            <p:cNvPr id="73" name="label pill"/>
            <p:cNvSpPr/>
            <p:nvPr/>
          </p:nvSpPr>
          <p:spPr>
            <a:xfrm>
              <a:off x="3895829" y="2982772"/>
              <a:ext cx="876853" cy="274320"/>
            </a:xfrm>
            <a:prstGeom prst="roundRect">
              <a:avLst>
                <a:gd name="adj" fmla="val 3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Station</a:t>
              </a:r>
            </a:p>
          </p:txBody>
        </p:sp>
        <p:sp>
          <p:nvSpPr>
            <p:cNvPr id="74" name="label pill"/>
            <p:cNvSpPr/>
            <p:nvPr/>
          </p:nvSpPr>
          <p:spPr>
            <a:xfrm>
              <a:off x="8038022" y="4672584"/>
              <a:ext cx="1242691" cy="274320"/>
            </a:xfrm>
            <a:prstGeom prst="roundRect">
              <a:avLst>
                <a:gd name="adj" fmla="val 3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Semaphore</a:t>
              </a:r>
            </a:p>
          </p:txBody>
        </p:sp>
        <p:sp>
          <p:nvSpPr>
            <p:cNvPr id="75" name="label pill"/>
            <p:cNvSpPr/>
            <p:nvPr/>
          </p:nvSpPr>
          <p:spPr>
            <a:xfrm>
              <a:off x="9581467" y="4672584"/>
              <a:ext cx="1173321" cy="274320"/>
            </a:xfrm>
            <a:prstGeom prst="roundRect">
              <a:avLst>
                <a:gd name="adj" fmla="val 3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Signal box</a:t>
              </a:r>
            </a:p>
          </p:txBody>
        </p:sp>
      </p:grpSp>
      <p:sp>
        <p:nvSpPr>
          <p:cNvPr id="76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Lessons play out on a clean white model-railway table.</a:t>
            </a:r>
          </a:p>
        </p:txBody>
      </p:sp>
      <p:sp>
        <p:nvSpPr>
          <p:cNvPr id="79" name="NUM"/>
          <p:cNvSpPr txBox="1"/>
          <p:nvPr/>
        </p:nvSpPr>
        <p:spPr>
          <a:xfrm>
            <a:off x="10725912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Railway Guide: Lessons and the Build Menu, Explained</dc:title>
  <dc:subject>Read-alone explainer deck 6 for the Early Locomotion mod for Satisfactory</dc:subject>
  <dc:creator>Claude (Early Locomotion project)</dc:creator>
  <cp:keywords>Satisfactory; Early Locomotion; railway guide; lessons; build menu</cp:keywords>
  <dc:description>generated using python-pptx</dc:description>
  <cp:lastModifiedBy>Claude (Early Locomotion project)</cp:lastModifiedBy>
  <cp:revision>1</cp:revision>
  <dcterms:created xsi:type="dcterms:W3CDTF">2013-01-27T09:14:16Z</dcterms:created>
  <dcterms:modified xsi:type="dcterms:W3CDTF">2013-01-27T09:15:58Z</dcterms:modified>
  <cp:category/>
  <dc:language>en-GB</dc:language>
</cp:coreProperties>
</file>